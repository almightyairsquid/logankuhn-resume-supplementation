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320" r:id="rId2"/>
    <p:sldId id="323" r:id="rId3"/>
    <p:sldId id="306" r:id="rId4"/>
    <p:sldId id="324" r:id="rId5"/>
    <p:sldId id="325" r:id="rId6"/>
    <p:sldId id="326" r:id="rId7"/>
    <p:sldId id="334" r:id="rId8"/>
    <p:sldId id="303" r:id="rId9"/>
    <p:sldId id="327" r:id="rId10"/>
    <p:sldId id="335" r:id="rId11"/>
    <p:sldId id="336" r:id="rId12"/>
    <p:sldId id="328" r:id="rId13"/>
    <p:sldId id="329" r:id="rId14"/>
    <p:sldId id="330" r:id="rId15"/>
    <p:sldId id="331" r:id="rId16"/>
    <p:sldId id="333" r:id="rId17"/>
    <p:sldId id="337" r:id="rId18"/>
    <p:sldId id="346" r:id="rId19"/>
    <p:sldId id="344" r:id="rId20"/>
    <p:sldId id="345" r:id="rId21"/>
    <p:sldId id="338" r:id="rId22"/>
    <p:sldId id="341" r:id="rId23"/>
    <p:sldId id="340" r:id="rId24"/>
    <p:sldId id="347" r:id="rId25"/>
    <p:sldId id="342" r:id="rId26"/>
    <p:sldId id="343" r:id="rId27"/>
    <p:sldId id="27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72"/>
    <a:srgbClr val="4E97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EBE724-E8AD-C371-005B-CF5BD6AD9FE5}" v="1" dt="2026-06-04T10:50:53.616"/>
    <p1510:client id="{ADE2AAD6-814B-8F4A-730E-D35AC5D0C74D}" v="6" dt="2026-06-04T07:42:39.306"/>
    <p1510:client id="{D71F8B03-4EF1-5417-59C3-AC9A401E3F57}" v="1" dt="2026-06-03T14:08:45.47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E94090-7C35-594A-8B17-FDFDAD40938A}"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ED0D2-16ED-5547-8DC8-59573C5E7DB0}" type="slidenum">
              <a:rPr lang="en-US" smtClean="0"/>
              <a:t>‹#›</a:t>
            </a:fld>
            <a:endParaRPr lang="en-US"/>
          </a:p>
        </p:txBody>
      </p:sp>
    </p:spTree>
    <p:extLst>
      <p:ext uri="{BB962C8B-B14F-4D97-AF65-F5344CB8AC3E}">
        <p14:creationId xmlns:p14="http://schemas.microsoft.com/office/powerpoint/2010/main" val="859080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Hi everyone, </a:t>
            </a:r>
            <a:r>
              <a:rPr lang="en-US" sz="1200" b="0" i="0" u="none" strike="noStrike" kern="1200" err="1">
                <a:solidFill>
                  <a:schemeClr val="tx1"/>
                </a:solidFill>
                <a:effectLst/>
                <a:latin typeface="+mn-lt"/>
                <a:ea typeface="+mn-ea"/>
                <a:cs typeface="+mn-cs"/>
              </a:rPr>
              <a:t>im</a:t>
            </a:r>
            <a:r>
              <a:rPr lang="en-US" sz="1200" b="0" i="0" u="none" strike="noStrike" kern="1200">
                <a:solidFill>
                  <a:schemeClr val="tx1"/>
                </a:solidFill>
                <a:effectLst/>
                <a:latin typeface="+mn-lt"/>
                <a:ea typeface="+mn-ea"/>
                <a:cs typeface="+mn-cs"/>
              </a:rPr>
              <a:t> .... and we'll be presenting on (title).  FMN (Flavin Mononucleotide) is a cofactor that transfers electrons in enzymes and it has applications in Thyroid synthesis and Environmental Remediation.  The semiquinone is a radical intermediate with one unpaired electron and we are going to be using DFT (Density Functional Theory) and MD (Molecular Dynamics) simulations to understand how it works. </a:t>
            </a:r>
            <a:endParaRPr lang="en-US"/>
          </a:p>
        </p:txBody>
      </p:sp>
      <p:sp>
        <p:nvSpPr>
          <p:cNvPr id="4" name="Slide Number Placeholder 3"/>
          <p:cNvSpPr>
            <a:spLocks noGrp="1"/>
          </p:cNvSpPr>
          <p:nvPr>
            <p:ph type="sldNum" sz="quarter" idx="5"/>
          </p:nvPr>
        </p:nvSpPr>
        <p:spPr/>
        <p:txBody>
          <a:bodyPr/>
          <a:lstStyle/>
          <a:p>
            <a:fld id="{C64ED0D2-16ED-5547-8DC8-59573C5E7DB0}" type="slidenum">
              <a:rPr lang="en-US" smtClean="0"/>
              <a:t>1</a:t>
            </a:fld>
            <a:endParaRPr lang="en-US"/>
          </a:p>
        </p:txBody>
      </p:sp>
    </p:spTree>
    <p:extLst>
      <p:ext uri="{BB962C8B-B14F-4D97-AF65-F5344CB8AC3E}">
        <p14:creationId xmlns:p14="http://schemas.microsoft.com/office/powerpoint/2010/main" val="860459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IYD (</a:t>
            </a:r>
            <a:r>
              <a:rPr lang="en-US" sz="1200" b="0" i="0" u="none" strike="noStrike" kern="1200" err="1">
                <a:solidFill>
                  <a:schemeClr val="tx1"/>
                </a:solidFill>
                <a:effectLst/>
                <a:latin typeface="+mn-lt"/>
                <a:ea typeface="+mn-ea"/>
                <a:cs typeface="+mn-cs"/>
              </a:rPr>
              <a:t>Iodotyrosine</a:t>
            </a:r>
            <a:r>
              <a:rPr lang="en-US" sz="1200" b="0" i="0" u="none" strike="noStrike" kern="1200">
                <a:solidFill>
                  <a:schemeClr val="tx1"/>
                </a:solidFill>
                <a:effectLst/>
                <a:latin typeface="+mn-lt"/>
                <a:ea typeface="+mn-ea"/>
                <a:cs typeface="+mn-cs"/>
              </a:rPr>
              <a:t> Deiodinase) belongs to a large enzyme family called the </a:t>
            </a:r>
            <a:r>
              <a:rPr lang="en-US" sz="1200" b="0" i="0" u="none" strike="noStrike" kern="1200" err="1">
                <a:solidFill>
                  <a:schemeClr val="tx1"/>
                </a:solidFill>
                <a:effectLst/>
                <a:latin typeface="+mn-lt"/>
                <a:ea typeface="+mn-ea"/>
                <a:cs typeface="+mn-cs"/>
              </a:rPr>
              <a:t>Nitroreductase</a:t>
            </a:r>
            <a:r>
              <a:rPr lang="en-US" sz="1200" b="0" i="0" u="none" strike="noStrike" kern="1200">
                <a:solidFill>
                  <a:schemeClr val="tx1"/>
                </a:solidFill>
                <a:effectLst/>
                <a:latin typeface="+mn-lt"/>
                <a:ea typeface="+mn-ea"/>
                <a:cs typeface="+mn-cs"/>
              </a:rPr>
              <a:t> superfamily. This family has over 24,000 enzymes that all: 1. Use FMN (Flavin Mononucleotide) as their cofactor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a:ea typeface="Calibri"/>
                <a:cs typeface="Calibri"/>
              </a:rPr>
              <a:t>2. </a:t>
            </a:r>
            <a:r>
              <a:rPr lang="en-US" sz="1200" b="0" i="0" u="none" strike="noStrike" kern="1200">
                <a:solidFill>
                  <a:schemeClr val="tx1"/>
                </a:solidFill>
                <a:effectLst/>
                <a:latin typeface="+mn-lt"/>
                <a:ea typeface="+mn-ea"/>
                <a:cs typeface="+mn-cs"/>
              </a:rPr>
              <a:t>Use a ping-pong mechanism where electrons go in, then out. The image shows a Sequence Similarity Network. So, each cluster is a group of related enzymes. Even though all these enzymes share the same cofactor and general mechanism, they do different chemistries like (l*</a:t>
            </a:r>
            <a:r>
              <a:rPr lang="en-US" sz="1200" b="0" i="0" u="none" strike="noStrike" kern="1200" err="1">
                <a:solidFill>
                  <a:schemeClr val="tx1"/>
                </a:solidFill>
                <a:effectLst/>
                <a:latin typeface="+mn-lt"/>
                <a:ea typeface="+mn-ea"/>
                <a:cs typeface="+mn-cs"/>
              </a:rPr>
              <a:t>ist</a:t>
            </a:r>
            <a:r>
              <a:rPr lang="en-US" sz="1200" b="0" i="0" u="none" strike="noStrike" kern="1200">
                <a:solidFill>
                  <a:schemeClr val="tx1"/>
                </a:solidFill>
                <a:effectLst/>
                <a:latin typeface="+mn-lt"/>
                <a:ea typeface="+mn-ea"/>
                <a:cs typeface="+mn-cs"/>
              </a:rPr>
              <a:t> the activities*). Our enzyme does </a:t>
            </a:r>
            <a:r>
              <a:rPr lang="en-US" sz="1200" b="1" i="0" u="none" strike="noStrike" kern="1200">
                <a:solidFill>
                  <a:schemeClr val="tx1"/>
                </a:solidFill>
                <a:effectLst/>
                <a:latin typeface="+mn-lt"/>
                <a:ea typeface="+mn-ea"/>
                <a:cs typeface="+mn-cs"/>
              </a:rPr>
              <a:t>dehalogenation</a:t>
            </a:r>
            <a:r>
              <a:rPr lang="en-US" sz="1200" b="0" i="0" u="none" strike="noStrike" kern="1200">
                <a:solidFill>
                  <a:schemeClr val="tx1"/>
                </a:solidFill>
                <a:effectLst/>
                <a:latin typeface="+mn-lt"/>
                <a:ea typeface="+mn-ea"/>
                <a:cs typeface="+mn-cs"/>
              </a:rPr>
              <a:t> (removing halogens). The important thing about is that it is one of only 2 enzymes that can do dehalogenation.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mn-lt"/>
              <a:ea typeface="+mn-ea"/>
              <a:cs typeface="+mn-cs"/>
            </a:endParaRPr>
          </a:p>
          <a:p>
            <a:r>
              <a:rPr lang="en-US">
                <a:latin typeface="Calibri"/>
                <a:ea typeface="Calibri"/>
                <a:cs typeface="Calibri"/>
              </a:rPr>
              <a:t> </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C64ED0D2-16ED-5547-8DC8-59573C5E7DB0}" type="slidenum">
              <a:rPr lang="en-US" smtClean="0"/>
              <a:t>2</a:t>
            </a:fld>
            <a:endParaRPr lang="en-US"/>
          </a:p>
        </p:txBody>
      </p:sp>
    </p:spTree>
    <p:extLst>
      <p:ext uri="{BB962C8B-B14F-4D97-AF65-F5344CB8AC3E}">
        <p14:creationId xmlns:p14="http://schemas.microsoft.com/office/powerpoint/2010/main" val="1584278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"IYD (</a:t>
            </a:r>
            <a:r>
              <a:rPr lang="en-US" sz="1200" b="0" i="0" u="none" strike="noStrike" kern="1200" err="1">
                <a:solidFill>
                  <a:schemeClr val="tx1"/>
                </a:solidFill>
                <a:effectLst/>
                <a:latin typeface="+mn-lt"/>
                <a:ea typeface="+mn-ea"/>
                <a:cs typeface="+mn-cs"/>
              </a:rPr>
              <a:t>Iodotyrosine</a:t>
            </a:r>
            <a:r>
              <a:rPr lang="en-US" sz="1200" b="0" i="0" u="none" strike="noStrike" kern="1200">
                <a:solidFill>
                  <a:schemeClr val="tx1"/>
                </a:solidFill>
                <a:effectLst/>
                <a:latin typeface="+mn-lt"/>
                <a:ea typeface="+mn-ea"/>
                <a:cs typeface="+mn-cs"/>
              </a:rPr>
              <a:t> Deiodinase) removes halogen atoms from tyrosine using electrons. The reaction: 1. Takes in halo-tyrosine (tyrosine with I, Br, or Cl attached). 2. Uses reduced FMN (Flavin Mononucleotide) as electron donor. 2. Releases tyrosine + halide ion + oxidized FMN</a:t>
            </a:r>
          </a:p>
          <a:p>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It is important to note that it works Iodine, Bromine, and Chlorine, but NOT Fluorine. the C-F (carbon-fluorine) bond is too strong. </a:t>
            </a:r>
          </a:p>
          <a:p>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It has 2 main applications: </a:t>
            </a:r>
          </a:p>
          <a:p>
            <a:r>
              <a:rPr lang="en-US" sz="1200" b="0" i="0" u="none" strike="noStrike" kern="1200">
                <a:solidFill>
                  <a:schemeClr val="tx1"/>
                </a:solidFill>
                <a:effectLst/>
                <a:latin typeface="+mn-lt"/>
                <a:ea typeface="+mn-ea"/>
                <a:cs typeface="+mn-cs"/>
              </a:rPr>
              <a:t>Thyroid synthesis - recycles iodine for making thyroid hormones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Bioremediation - can be engineered to potentially clean up halogenated pollutants and detoxify them. </a:t>
            </a:r>
          </a:p>
          <a:p>
            <a:endParaRPr lang="en-AZ"/>
          </a:p>
        </p:txBody>
      </p:sp>
      <p:sp>
        <p:nvSpPr>
          <p:cNvPr id="4" name="Slide Number Placeholder 3"/>
          <p:cNvSpPr>
            <a:spLocks noGrp="1"/>
          </p:cNvSpPr>
          <p:nvPr>
            <p:ph type="sldNum" sz="quarter" idx="5"/>
          </p:nvPr>
        </p:nvSpPr>
        <p:spPr/>
        <p:txBody>
          <a:bodyPr/>
          <a:lstStyle/>
          <a:p>
            <a:fld id="{C64ED0D2-16ED-5547-8DC8-59573C5E7DB0}" type="slidenum">
              <a:rPr lang="en-US" smtClean="0"/>
              <a:t>3</a:t>
            </a:fld>
            <a:endParaRPr lang="en-US"/>
          </a:p>
        </p:txBody>
      </p:sp>
    </p:spTree>
    <p:extLst>
      <p:ext uri="{BB962C8B-B14F-4D97-AF65-F5344CB8AC3E}">
        <p14:creationId xmlns:p14="http://schemas.microsoft.com/office/powerpoint/2010/main" val="494306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The FMN (Flavin Mononucleotide) cofactor is what actually donates electrons to break the carbon-halogen bond. The crystal structure on the right shows FMN and the substrate I-Tyr (</a:t>
            </a:r>
            <a:r>
              <a:rPr lang="en-US" sz="1200" b="0" i="0" u="none" strike="noStrike" kern="1200" err="1">
                <a:solidFill>
                  <a:schemeClr val="tx1"/>
                </a:solidFill>
                <a:effectLst/>
                <a:latin typeface="+mn-lt"/>
                <a:ea typeface="+mn-ea"/>
                <a:cs typeface="+mn-cs"/>
              </a:rPr>
              <a:t>iodotyrosine</a:t>
            </a:r>
            <a:r>
              <a:rPr lang="en-US" sz="1200" b="0" i="0" u="none" strike="noStrike" kern="1200">
                <a:solidFill>
                  <a:schemeClr val="tx1"/>
                </a:solidFill>
                <a:effectLst/>
                <a:latin typeface="+mn-lt"/>
                <a:ea typeface="+mn-ea"/>
                <a:cs typeface="+mn-cs"/>
              </a:rPr>
              <a:t>). </a:t>
            </a:r>
            <a:endParaRPr lang="en-US">
              <a:latin typeface="Calibri"/>
              <a:ea typeface="Calibri"/>
              <a:cs typeface="Calibri"/>
            </a:endParaRPr>
          </a:p>
          <a:p>
            <a:endParaRPr lang="en-US">
              <a:latin typeface="Calibri"/>
              <a:ea typeface="Calibri"/>
              <a:cs typeface="Calibri"/>
            </a:endParaRPr>
          </a:p>
          <a:p>
            <a:r>
              <a:rPr lang="en-US">
                <a:latin typeface="Calibri"/>
                <a:ea typeface="Calibri"/>
                <a:cs typeface="Calibri"/>
              </a:rPr>
              <a:t>An important thing to mention is the </a:t>
            </a:r>
            <a:r>
              <a:rPr lang="en-US" err="1">
                <a:latin typeface="Calibri"/>
                <a:ea typeface="Calibri"/>
                <a:cs typeface="Calibri"/>
              </a:rPr>
              <a:t>isoaxollazine</a:t>
            </a:r>
            <a:r>
              <a:rPr lang="en-US">
                <a:latin typeface="Calibri"/>
                <a:ea typeface="Calibri"/>
                <a:cs typeface="Calibri"/>
              </a:rPr>
              <a:t> ring of the cofactor. It has nuclei which interact with environment (substrate and protein residues) to help facili</a:t>
            </a:r>
            <a:r>
              <a:rPr lang="en-US">
                <a:solidFill>
                  <a:srgbClr val="000000"/>
                </a:solidFill>
                <a:latin typeface="Calibri"/>
                <a:ea typeface="Calibri"/>
                <a:cs typeface="Calibri"/>
              </a:rPr>
              <a:t>tate electron transfer whether it is single or double electron transfer. </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C64ED0D2-16ED-5547-8DC8-59573C5E7DB0}" type="slidenum">
              <a:rPr lang="en-US" smtClean="0"/>
              <a:t>4</a:t>
            </a:fld>
            <a:endParaRPr lang="en-US"/>
          </a:p>
        </p:txBody>
      </p:sp>
    </p:spTree>
    <p:extLst>
      <p:ext uri="{BB962C8B-B14F-4D97-AF65-F5344CB8AC3E}">
        <p14:creationId xmlns:p14="http://schemas.microsoft.com/office/powerpoint/2010/main" val="2372281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Z"/>
              <a:t>It has 3 forms: </a:t>
            </a:r>
          </a:p>
          <a:p>
            <a:endParaRPr lang="en-AZ"/>
          </a:p>
          <a:p>
            <a:pPr marL="0" marR="0" lvl="0" indent="0" algn="l" defTabSz="914400" rtl="0" eaLnBrk="1" fontAlgn="auto" latinLnBrk="0" hangingPunct="1">
              <a:lnSpc>
                <a:spcPct val="100000"/>
              </a:lnSpc>
              <a:spcBef>
                <a:spcPts val="0"/>
              </a:spcBef>
              <a:spcAft>
                <a:spcPts val="0"/>
              </a:spcAft>
              <a:buClrTx/>
              <a:buSzTx/>
              <a:buFontTx/>
              <a:buNone/>
              <a:tabLst/>
              <a:defRPr/>
            </a:pPr>
            <a:r>
              <a:rPr lang="en-AZ"/>
              <a:t>1. </a:t>
            </a:r>
            <a:r>
              <a:rPr lang="en-US"/>
              <a:t>hydroquinone form is fully reduced , it has 2 extra electrons and it is ready to donate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2. semiquinone form is  half-reduced, it has 1 extra electron and this is a radical. That is the state we mainly study in this project.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3. oxidized form is the one with no extra electrons and that is basically the resting state for FMN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AZ"/>
          </a:p>
        </p:txBody>
      </p:sp>
      <p:sp>
        <p:nvSpPr>
          <p:cNvPr id="4" name="Slide Number Placeholder 3"/>
          <p:cNvSpPr>
            <a:spLocks noGrp="1"/>
          </p:cNvSpPr>
          <p:nvPr>
            <p:ph type="sldNum" sz="quarter" idx="5"/>
          </p:nvPr>
        </p:nvSpPr>
        <p:spPr/>
        <p:txBody>
          <a:bodyPr/>
          <a:lstStyle/>
          <a:p>
            <a:fld id="{C64ED0D2-16ED-5547-8DC8-59573C5E7DB0}" type="slidenum">
              <a:rPr lang="en-US" smtClean="0"/>
              <a:t>5</a:t>
            </a:fld>
            <a:endParaRPr lang="en-US"/>
          </a:p>
        </p:txBody>
      </p:sp>
    </p:spTree>
    <p:extLst>
      <p:ext uri="{BB962C8B-B14F-4D97-AF65-F5344CB8AC3E}">
        <p14:creationId xmlns:p14="http://schemas.microsoft.com/office/powerpoint/2010/main" val="3548968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Threonine that sits below and bonds to the N5 position of </a:t>
            </a:r>
            <a:r>
              <a:rPr lang="en-US" err="1"/>
              <a:t>isoaxollized</a:t>
            </a:r>
            <a:r>
              <a:rPr lang="en-US"/>
              <a:t> ring</a:t>
            </a:r>
          </a:p>
          <a:p>
            <a:pPr marL="228600" indent="-228600">
              <a:buAutoNum type="arabicPeriod"/>
            </a:pPr>
            <a:r>
              <a:rPr lang="en-US"/>
              <a:t>Zwitterion of the substrate forms a bond to the N3 and O4 locations on the cofactor </a:t>
            </a:r>
          </a:p>
          <a:p>
            <a:pPr marL="228600" indent="-228600">
              <a:buAutoNum type="arabicPeriod"/>
            </a:pPr>
            <a:r>
              <a:rPr lang="en-US"/>
              <a:t>Guanidine side group forming a bond with N1 and O2 on the flavin </a:t>
            </a:r>
          </a:p>
        </p:txBody>
      </p:sp>
      <p:sp>
        <p:nvSpPr>
          <p:cNvPr id="4" name="Slide Number Placeholder 3"/>
          <p:cNvSpPr>
            <a:spLocks noGrp="1"/>
          </p:cNvSpPr>
          <p:nvPr>
            <p:ph type="sldNum" sz="quarter" idx="5"/>
          </p:nvPr>
        </p:nvSpPr>
        <p:spPr/>
        <p:txBody>
          <a:bodyPr/>
          <a:lstStyle/>
          <a:p>
            <a:fld id="{C64ED0D2-16ED-5547-8DC8-59573C5E7DB0}" type="slidenum">
              <a:rPr lang="en-US" smtClean="0"/>
              <a:t>6</a:t>
            </a:fld>
            <a:endParaRPr lang="en-US"/>
          </a:p>
        </p:txBody>
      </p:sp>
    </p:spTree>
    <p:extLst>
      <p:ext uri="{BB962C8B-B14F-4D97-AF65-F5344CB8AC3E}">
        <p14:creationId xmlns:p14="http://schemas.microsoft.com/office/powerpoint/2010/main" val="1766105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 study performed by Rokita et al characterized the catalytic efficiency of the enzyme in the presence of different substrates. The first (2IP) is 2-iodophenol which lacks zwitterion that the other substrate, (IYR) </a:t>
            </a:r>
            <a:r>
              <a:rPr lang="en-US" err="1">
                <a:latin typeface="Calibri"/>
                <a:ea typeface="Calibri"/>
                <a:cs typeface="Calibri"/>
              </a:rPr>
              <a:t>iodotyrosine</a:t>
            </a:r>
            <a:r>
              <a:rPr lang="en-US">
                <a:latin typeface="Calibri"/>
                <a:ea typeface="Calibri"/>
                <a:cs typeface="Calibri"/>
              </a:rPr>
              <a:t> has. The lack of interactions between the substrate and the cofactor correlates to a decrease in catalytic efficiency illustrated by the decrease in </a:t>
            </a:r>
            <a:r>
              <a:rPr lang="en-US" err="1">
                <a:latin typeface="Calibri"/>
                <a:ea typeface="Calibri"/>
                <a:cs typeface="Calibri"/>
              </a:rPr>
              <a:t>kcat</a:t>
            </a:r>
            <a:r>
              <a:rPr lang="en-US">
                <a:latin typeface="Calibri"/>
                <a:ea typeface="Calibri"/>
                <a:cs typeface="Calibri"/>
              </a:rPr>
              <a:t>/km rate.  </a:t>
            </a:r>
          </a:p>
        </p:txBody>
      </p:sp>
      <p:sp>
        <p:nvSpPr>
          <p:cNvPr id="4" name="Slide Number Placeholder 3"/>
          <p:cNvSpPr>
            <a:spLocks noGrp="1"/>
          </p:cNvSpPr>
          <p:nvPr>
            <p:ph type="sldNum" sz="quarter" idx="5"/>
          </p:nvPr>
        </p:nvSpPr>
        <p:spPr/>
        <p:txBody>
          <a:bodyPr/>
          <a:lstStyle/>
          <a:p>
            <a:fld id="{C64ED0D2-16ED-5547-8DC8-59573C5E7DB0}" type="slidenum">
              <a:rPr lang="en-US" smtClean="0"/>
              <a:t>7</a:t>
            </a:fld>
            <a:endParaRPr lang="en-US"/>
          </a:p>
        </p:txBody>
      </p:sp>
    </p:spTree>
    <p:extLst>
      <p:ext uri="{BB962C8B-B14F-4D97-AF65-F5344CB8AC3E}">
        <p14:creationId xmlns:p14="http://schemas.microsoft.com/office/powerpoint/2010/main" val="11884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are using DFT to see if we can better understand the electron distribution of the Flavin cofactor in hopes that it will give researchers a better understanding of what is happening in the system during bond formation with other residues especially in its radical Transition state. We want to know the reaction mechanism of FMN and flavoproteins. We are performing an MD simulation to get configuration of the active site geometry of the TS state so we can see bond distances and angles of the active site of the enzyme during its crucial step. </a:t>
            </a:r>
          </a:p>
          <a:p>
            <a:endParaRPr lang="en-US"/>
          </a:p>
        </p:txBody>
      </p:sp>
      <p:sp>
        <p:nvSpPr>
          <p:cNvPr id="4" name="Slide Number Placeholder 3"/>
          <p:cNvSpPr>
            <a:spLocks noGrp="1"/>
          </p:cNvSpPr>
          <p:nvPr>
            <p:ph type="sldNum" sz="quarter" idx="5"/>
          </p:nvPr>
        </p:nvSpPr>
        <p:spPr/>
        <p:txBody>
          <a:bodyPr/>
          <a:lstStyle/>
          <a:p>
            <a:fld id="{C64ED0D2-16ED-5547-8DC8-59573C5E7DB0}" type="slidenum">
              <a:rPr lang="en-US" smtClean="0"/>
              <a:t>8</a:t>
            </a:fld>
            <a:endParaRPr lang="en-US"/>
          </a:p>
        </p:txBody>
      </p:sp>
    </p:spTree>
    <p:extLst>
      <p:ext uri="{BB962C8B-B14F-4D97-AF65-F5344CB8AC3E}">
        <p14:creationId xmlns:p14="http://schemas.microsoft.com/office/powerpoint/2010/main" val="1048147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We can </a:t>
            </a:r>
            <a:r>
              <a:rPr lang="en-US" err="1">
                <a:latin typeface="Calibri"/>
                <a:ea typeface="Calibri"/>
                <a:cs typeface="Calibri"/>
              </a:rPr>
              <a:t>starrt</a:t>
            </a:r>
            <a:r>
              <a:rPr lang="en-US">
                <a:latin typeface="Calibri"/>
                <a:ea typeface="Calibri"/>
                <a:cs typeface="Calibri"/>
              </a:rPr>
              <a:t> with either the oxidized FMN structure and work backwards to get to transition state </a:t>
            </a:r>
            <a:r>
              <a:rPr lang="en-US" err="1">
                <a:latin typeface="Calibri"/>
                <a:ea typeface="Calibri"/>
                <a:cs typeface="Calibri"/>
              </a:rPr>
              <a:t>gemetry</a:t>
            </a:r>
            <a:r>
              <a:rPr lang="en-US">
                <a:latin typeface="Calibri"/>
                <a:ea typeface="Calibri"/>
                <a:cs typeface="Calibri"/>
              </a:rPr>
              <a:t> or begin at reduced flavin and work forward through energy landscape to get the TS state. </a:t>
            </a:r>
          </a:p>
        </p:txBody>
      </p:sp>
      <p:sp>
        <p:nvSpPr>
          <p:cNvPr id="4" name="Slide Number Placeholder 3"/>
          <p:cNvSpPr>
            <a:spLocks noGrp="1"/>
          </p:cNvSpPr>
          <p:nvPr>
            <p:ph type="sldNum" sz="quarter" idx="5"/>
          </p:nvPr>
        </p:nvSpPr>
        <p:spPr/>
        <p:txBody>
          <a:bodyPr/>
          <a:lstStyle/>
          <a:p>
            <a:fld id="{C64ED0D2-16ED-5547-8DC8-59573C5E7DB0}" type="slidenum">
              <a:rPr lang="en-US" smtClean="0"/>
              <a:t>10</a:t>
            </a:fld>
            <a:endParaRPr lang="en-US"/>
          </a:p>
        </p:txBody>
      </p:sp>
    </p:spTree>
    <p:extLst>
      <p:ext uri="{BB962C8B-B14F-4D97-AF65-F5344CB8AC3E}">
        <p14:creationId xmlns:p14="http://schemas.microsoft.com/office/powerpoint/2010/main" val="3512812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Typical workflow of </a:t>
            </a:r>
            <a:r>
              <a:rPr lang="en-US" err="1">
                <a:latin typeface="Calibri"/>
                <a:ea typeface="Calibri"/>
                <a:cs typeface="Calibri"/>
              </a:rPr>
              <a:t>AmberTools</a:t>
            </a:r>
            <a:r>
              <a:rPr lang="en-US">
                <a:latin typeface="Calibri"/>
                <a:ea typeface="Calibri"/>
                <a:cs typeface="Calibri"/>
              </a:rPr>
              <a:t> usage </a:t>
            </a:r>
          </a:p>
          <a:p>
            <a:pPr marL="228600" indent="-228600">
              <a:buAutoNum type="arabicPeriod"/>
            </a:pPr>
            <a:r>
              <a:rPr lang="en-US">
                <a:latin typeface="Calibri"/>
                <a:ea typeface="Calibri"/>
                <a:cs typeface="Calibri"/>
              </a:rPr>
              <a:t>Begin with a starting </a:t>
            </a:r>
            <a:r>
              <a:rPr lang="en-US" err="1">
                <a:latin typeface="Calibri"/>
                <a:ea typeface="Calibri"/>
                <a:cs typeface="Calibri"/>
              </a:rPr>
              <a:t>structre</a:t>
            </a:r>
            <a:r>
              <a:rPr lang="en-US">
                <a:latin typeface="Calibri"/>
                <a:ea typeface="Calibri"/>
                <a:cs typeface="Calibri"/>
              </a:rPr>
              <a:t> </a:t>
            </a:r>
          </a:p>
          <a:p>
            <a:pPr marL="228600" indent="-228600">
              <a:buAutoNum type="arabicPeriod"/>
            </a:pPr>
            <a:r>
              <a:rPr lang="en-US">
                <a:latin typeface="Calibri"/>
                <a:ea typeface="Calibri"/>
                <a:cs typeface="Calibri"/>
              </a:rPr>
              <a:t>Use PACKMOL-</a:t>
            </a:r>
            <a:r>
              <a:rPr lang="en-US" err="1">
                <a:latin typeface="Calibri"/>
                <a:ea typeface="Calibri"/>
                <a:cs typeface="Calibri"/>
              </a:rPr>
              <a:t>Memgen</a:t>
            </a:r>
            <a:r>
              <a:rPr lang="en-US">
                <a:latin typeface="Calibri"/>
                <a:ea typeface="Calibri"/>
                <a:cs typeface="Calibri"/>
              </a:rPr>
              <a:t> to build complex (protein systems for MD simulation)</a:t>
            </a:r>
          </a:p>
          <a:p>
            <a:pPr marL="228600" indent="-228600">
              <a:buAutoNum type="arabicPeriod"/>
            </a:pPr>
            <a:r>
              <a:rPr lang="en-US">
                <a:latin typeface="Calibri"/>
                <a:ea typeface="Calibri"/>
                <a:cs typeface="Calibri"/>
              </a:rPr>
              <a:t>Prepare PDB files for </a:t>
            </a:r>
            <a:r>
              <a:rPr lang="en-US" err="1">
                <a:latin typeface="Calibri"/>
                <a:ea typeface="Calibri"/>
                <a:cs typeface="Calibri"/>
              </a:rPr>
              <a:t>LEaP</a:t>
            </a:r>
            <a:r>
              <a:rPr lang="en-US">
                <a:latin typeface="Calibri"/>
                <a:ea typeface="Calibri"/>
                <a:cs typeface="Calibri"/>
              </a:rPr>
              <a:t> (Link, Edit, and </a:t>
            </a:r>
            <a:r>
              <a:rPr lang="en-US" err="1">
                <a:latin typeface="Calibri"/>
                <a:ea typeface="Calibri"/>
                <a:cs typeface="Calibri"/>
              </a:rPr>
              <a:t>PArm</a:t>
            </a:r>
            <a:r>
              <a:rPr lang="en-US">
                <a:latin typeface="Calibri"/>
                <a:ea typeface="Calibri"/>
                <a:cs typeface="Calibri"/>
              </a:rPr>
              <a:t>) program for automated MD simulation </a:t>
            </a:r>
          </a:p>
          <a:p>
            <a:pPr marL="228600" indent="-228600">
              <a:buAutoNum type="arabicPeriod"/>
            </a:pPr>
            <a:r>
              <a:rPr lang="en-US" err="1">
                <a:latin typeface="Calibri"/>
                <a:ea typeface="Calibri"/>
                <a:cs typeface="Calibri"/>
              </a:rPr>
              <a:t>LEaP</a:t>
            </a:r>
            <a:r>
              <a:rPr lang="en-US">
                <a:latin typeface="Calibri"/>
                <a:ea typeface="Calibri"/>
                <a:cs typeface="Calibri"/>
              </a:rPr>
              <a:t> program parameterizes by </a:t>
            </a:r>
            <a:r>
              <a:rPr lang="en-US" err="1">
                <a:latin typeface="Calibri"/>
                <a:ea typeface="Calibri"/>
                <a:cs typeface="Calibri"/>
              </a:rPr>
              <a:t>cnnecting</a:t>
            </a:r>
            <a:r>
              <a:rPr lang="en-US">
                <a:latin typeface="Calibri"/>
                <a:ea typeface="Calibri"/>
                <a:cs typeface="Calibri"/>
              </a:rPr>
              <a:t> molecules to force fields to assign atom types, charges and bond </a:t>
            </a:r>
            <a:r>
              <a:rPr lang="en-US" err="1">
                <a:latin typeface="Calibri"/>
                <a:ea typeface="Calibri"/>
                <a:cs typeface="Calibri"/>
              </a:rPr>
              <a:t>paramters</a:t>
            </a:r>
            <a:r>
              <a:rPr lang="en-US">
                <a:latin typeface="Calibri"/>
                <a:ea typeface="Calibri"/>
                <a:cs typeface="Calibri"/>
              </a:rPr>
              <a:t> </a:t>
            </a:r>
          </a:p>
          <a:p>
            <a:r>
              <a:rPr lang="en-US">
                <a:latin typeface="Calibri"/>
                <a:ea typeface="Calibri"/>
                <a:cs typeface="Calibri"/>
              </a:rPr>
              <a:t>- Adds water boxes and neutralizes the system by adding counterions </a:t>
            </a:r>
          </a:p>
          <a:p>
            <a:r>
              <a:rPr lang="en-US">
                <a:latin typeface="Calibri"/>
                <a:ea typeface="Calibri"/>
                <a:cs typeface="Calibri"/>
              </a:rPr>
              <a:t>- Creates topology file and coordinate files for the system during steps </a:t>
            </a:r>
          </a:p>
          <a:p>
            <a:r>
              <a:rPr lang="en-US">
                <a:latin typeface="Calibri"/>
                <a:ea typeface="Calibri"/>
                <a:cs typeface="Calibri"/>
              </a:rPr>
              <a:t>5. Post-processing tool is </a:t>
            </a:r>
            <a:r>
              <a:rPr lang="en-US" b="1" err="1">
                <a:latin typeface="Calibri"/>
                <a:ea typeface="Calibri"/>
                <a:cs typeface="Calibri"/>
              </a:rPr>
              <a:t>parmed</a:t>
            </a:r>
            <a:r>
              <a:rPr lang="en-US">
                <a:latin typeface="Calibri"/>
                <a:ea typeface="Calibri"/>
                <a:cs typeface="Calibri"/>
              </a:rPr>
              <a:t> which edits molecular system topologies and parameters before MD simulation without needing to rebuild the system </a:t>
            </a:r>
          </a:p>
          <a:p>
            <a:r>
              <a:rPr lang="en-US">
                <a:latin typeface="Calibri"/>
                <a:ea typeface="Calibri"/>
                <a:cs typeface="Calibri"/>
              </a:rPr>
              <a:t>6. Simulation engine of the MD simulation </a:t>
            </a:r>
          </a:p>
          <a:p>
            <a:r>
              <a:rPr lang="en-US">
                <a:latin typeface="Calibri"/>
                <a:ea typeface="Calibri"/>
                <a:cs typeface="Calibri"/>
              </a:rPr>
              <a:t>7. Generate trajectories and </a:t>
            </a:r>
            <a:r>
              <a:rPr lang="en-US" err="1">
                <a:latin typeface="Calibri"/>
                <a:ea typeface="Calibri"/>
                <a:cs typeface="Calibri"/>
              </a:rPr>
              <a:t>topolgy</a:t>
            </a:r>
            <a:r>
              <a:rPr lang="en-US">
                <a:latin typeface="Calibri"/>
                <a:ea typeface="Calibri"/>
                <a:cs typeface="Calibri"/>
              </a:rPr>
              <a:t> files into datasets </a:t>
            </a:r>
          </a:p>
        </p:txBody>
      </p:sp>
      <p:sp>
        <p:nvSpPr>
          <p:cNvPr id="4" name="Slide Number Placeholder 3"/>
          <p:cNvSpPr>
            <a:spLocks noGrp="1"/>
          </p:cNvSpPr>
          <p:nvPr>
            <p:ph type="sldNum" sz="quarter" idx="5"/>
          </p:nvPr>
        </p:nvSpPr>
        <p:spPr/>
        <p:txBody>
          <a:bodyPr/>
          <a:lstStyle/>
          <a:p>
            <a:fld id="{C64ED0D2-16ED-5547-8DC8-59573C5E7DB0}" type="slidenum">
              <a:rPr lang="en-US" smtClean="0"/>
              <a:t>11</a:t>
            </a:fld>
            <a:endParaRPr lang="en-US"/>
          </a:p>
        </p:txBody>
      </p:sp>
    </p:spTree>
    <p:extLst>
      <p:ext uri="{BB962C8B-B14F-4D97-AF65-F5344CB8AC3E}">
        <p14:creationId xmlns:p14="http://schemas.microsoft.com/office/powerpoint/2010/main" val="3699986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AMI-BCC method </a:t>
            </a:r>
            <a:r>
              <a:rPr lang="en-US">
                <a:solidFill>
                  <a:srgbClr val="000000"/>
                </a:solidFill>
              </a:rPr>
              <a:t>(</a:t>
            </a:r>
            <a:r>
              <a:rPr lang="en-US">
                <a:solidFill>
                  <a:srgbClr val="0A0A0A"/>
                </a:solidFill>
                <a:highlight>
                  <a:srgbClr val="FFFFFF"/>
                </a:highlight>
              </a:rPr>
              <a:t>Austin Model 1-Bond Charge Correction)</a:t>
            </a:r>
            <a:r>
              <a:rPr lang="en-US"/>
              <a:t>: Used instead of QM calculations to generate basic atomic charges of the ligands </a:t>
            </a:r>
          </a:p>
          <a:p>
            <a:r>
              <a:rPr lang="en-US"/>
              <a:t>Used to emulate the accuracy of Hartree-Fock electrostatic fit charges</a:t>
            </a:r>
          </a:p>
        </p:txBody>
      </p:sp>
      <p:sp>
        <p:nvSpPr>
          <p:cNvPr id="4" name="Slide Number Placeholder 3"/>
          <p:cNvSpPr>
            <a:spLocks noGrp="1"/>
          </p:cNvSpPr>
          <p:nvPr>
            <p:ph type="sldNum" sz="quarter" idx="5"/>
          </p:nvPr>
        </p:nvSpPr>
        <p:spPr/>
        <p:txBody>
          <a:bodyPr/>
          <a:lstStyle/>
          <a:p>
            <a:fld id="{C64ED0D2-16ED-5547-8DC8-59573C5E7DB0}" type="slidenum">
              <a:rPr lang="en-US" smtClean="0"/>
              <a:t>12</a:t>
            </a:fld>
            <a:endParaRPr lang="en-US"/>
          </a:p>
        </p:txBody>
      </p:sp>
    </p:spTree>
    <p:extLst>
      <p:ext uri="{BB962C8B-B14F-4D97-AF65-F5344CB8AC3E}">
        <p14:creationId xmlns:p14="http://schemas.microsoft.com/office/powerpoint/2010/main" val="2789835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4ED0D2-16ED-5547-8DC8-59573C5E7DB0}" type="slidenum">
              <a:rPr lang="en-US" smtClean="0"/>
              <a:t>13</a:t>
            </a:fld>
            <a:endParaRPr lang="en-US"/>
          </a:p>
        </p:txBody>
      </p:sp>
    </p:spTree>
    <p:extLst>
      <p:ext uri="{BB962C8B-B14F-4D97-AF65-F5344CB8AC3E}">
        <p14:creationId xmlns:p14="http://schemas.microsoft.com/office/powerpoint/2010/main" val="2690293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Although we were warned to not just go based off the lowest potential energy snapshot, I had to. I chose the snapshot with the lowest energy potential to analyze the bond distance and angles of key residues and the interactions between the FMN ring as well as the substrate interaction with FMN ring. </a:t>
            </a:r>
          </a:p>
        </p:txBody>
      </p:sp>
      <p:sp>
        <p:nvSpPr>
          <p:cNvPr id="4" name="Slide Number Placeholder 3"/>
          <p:cNvSpPr>
            <a:spLocks noGrp="1"/>
          </p:cNvSpPr>
          <p:nvPr>
            <p:ph type="sldNum" sz="quarter" idx="5"/>
          </p:nvPr>
        </p:nvSpPr>
        <p:spPr/>
        <p:txBody>
          <a:bodyPr/>
          <a:lstStyle/>
          <a:p>
            <a:fld id="{C64ED0D2-16ED-5547-8DC8-59573C5E7DB0}" type="slidenum">
              <a:rPr lang="en-US" smtClean="0"/>
              <a:t>17</a:t>
            </a:fld>
            <a:endParaRPr lang="en-US"/>
          </a:p>
        </p:txBody>
      </p:sp>
    </p:spTree>
    <p:extLst>
      <p:ext uri="{BB962C8B-B14F-4D97-AF65-F5344CB8AC3E}">
        <p14:creationId xmlns:p14="http://schemas.microsoft.com/office/powerpoint/2010/main" val="2322251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We can see if our results match or come close to what the researchers in this paper had for the electron density of the FMN cofactor in semiquinone </a:t>
            </a:r>
            <a:r>
              <a:rPr lang="en-US" err="1">
                <a:latin typeface="Calibri"/>
                <a:ea typeface="Calibri"/>
                <a:cs typeface="Calibri"/>
              </a:rPr>
              <a:t>radiacal</a:t>
            </a:r>
            <a:r>
              <a:rPr lang="en-US">
                <a:latin typeface="Calibri"/>
                <a:ea typeface="Calibri"/>
                <a:cs typeface="Calibri"/>
              </a:rPr>
              <a:t> state </a:t>
            </a:r>
          </a:p>
          <a:p>
            <a:r>
              <a:rPr lang="en-US">
                <a:latin typeface="Calibri"/>
                <a:ea typeface="Calibri"/>
                <a:cs typeface="Calibri"/>
              </a:rPr>
              <a:t>Paper from 2021 which uses DFT calculations to understand the Spin Density </a:t>
            </a:r>
            <a:r>
              <a:rPr lang="en-US" err="1">
                <a:latin typeface="Calibri"/>
                <a:ea typeface="Calibri"/>
                <a:cs typeface="Calibri"/>
              </a:rPr>
              <a:t>Distri</a:t>
            </a:r>
            <a:r>
              <a:rPr lang="en-US">
                <a:latin typeface="Calibri"/>
                <a:ea typeface="Calibri"/>
                <a:cs typeface="Calibri"/>
              </a:rPr>
              <a:t>bution of </a:t>
            </a:r>
            <a:r>
              <a:rPr lang="en-US" err="1">
                <a:latin typeface="Calibri"/>
                <a:ea typeface="Calibri"/>
                <a:cs typeface="Calibri"/>
              </a:rPr>
              <a:t>FMNsq</a:t>
            </a:r>
            <a:r>
              <a:rPr lang="en-US">
                <a:latin typeface="Calibri"/>
                <a:ea typeface="Calibri"/>
                <a:cs typeface="Calibri"/>
              </a:rPr>
              <a:t>.</a:t>
            </a:r>
            <a:br>
              <a:rPr lang="en-US">
                <a:latin typeface="Calibri"/>
                <a:ea typeface="Calibri"/>
                <a:cs typeface="Calibri"/>
              </a:rPr>
            </a:br>
            <a:r>
              <a:rPr lang="en-US" b="1"/>
              <a:t>Figure is an image of Neutral lumiflavin semiquinone surrounded by the “</a:t>
            </a:r>
            <a:r>
              <a:rPr lang="en-US" b="1" err="1"/>
              <a:t>inplane</a:t>
            </a:r>
            <a:r>
              <a:rPr lang="en-US" b="1"/>
              <a:t>” interactions considered in the calculations. </a:t>
            </a:r>
            <a:endParaRPr lang="en-US" b="1">
              <a:latin typeface="Calibri"/>
              <a:ea typeface="Calibri"/>
              <a:cs typeface="Calibri"/>
            </a:endParaRPr>
          </a:p>
        </p:txBody>
      </p:sp>
      <p:sp>
        <p:nvSpPr>
          <p:cNvPr id="4" name="Slide Number Placeholder 3"/>
          <p:cNvSpPr>
            <a:spLocks noGrp="1"/>
          </p:cNvSpPr>
          <p:nvPr>
            <p:ph type="sldNum" sz="quarter" idx="5"/>
          </p:nvPr>
        </p:nvSpPr>
        <p:spPr/>
        <p:txBody>
          <a:bodyPr/>
          <a:lstStyle/>
          <a:p>
            <a:fld id="{C64ED0D2-16ED-5547-8DC8-59573C5E7DB0}" type="slidenum">
              <a:rPr lang="en-US" smtClean="0"/>
              <a:t>19</a:t>
            </a:fld>
            <a:endParaRPr lang="en-US"/>
          </a:p>
        </p:txBody>
      </p:sp>
    </p:spTree>
    <p:extLst>
      <p:ext uri="{BB962C8B-B14F-4D97-AF65-F5344CB8AC3E}">
        <p14:creationId xmlns:p14="http://schemas.microsoft.com/office/powerpoint/2010/main" val="1394027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Based on the results. . . they do not solve the assignment problem in their calculations</a:t>
            </a:r>
          </a:p>
          <a:p>
            <a:pPr marL="228600" indent="-228600">
              <a:buAutoNum type="arabicPeriod"/>
            </a:pPr>
            <a:r>
              <a:rPr lang="en-US">
                <a:latin typeface="Calibri"/>
                <a:ea typeface="Calibri"/>
                <a:cs typeface="Calibri"/>
              </a:rPr>
              <a:t>Theoretical data of a reported on N1 indicates it should be the nucleus (lowest a value) </a:t>
            </a:r>
          </a:p>
          <a:p>
            <a:r>
              <a:rPr lang="en-US">
                <a:latin typeface="Calibri"/>
                <a:ea typeface="Calibri"/>
                <a:cs typeface="Calibri"/>
              </a:rPr>
              <a:t>2. Hyperfine interactions of N(5) has not been experimentally </a:t>
            </a:r>
            <a:r>
              <a:rPr lang="en-US" err="1">
                <a:latin typeface="Calibri"/>
                <a:ea typeface="Calibri"/>
                <a:cs typeface="Calibri"/>
              </a:rPr>
              <a:t>deteced</a:t>
            </a:r>
            <a:r>
              <a:rPr lang="en-US">
                <a:latin typeface="Calibri"/>
                <a:ea typeface="Calibri"/>
                <a:cs typeface="Calibri"/>
              </a:rPr>
              <a:t> in flavoproteins, but theoretical calculations indicate N(5) must be nucleus w strongest hyperfine interaction</a:t>
            </a:r>
          </a:p>
          <a:p>
            <a:r>
              <a:rPr lang="en-US" b="1" err="1">
                <a:latin typeface="Calibri"/>
                <a:ea typeface="Calibri"/>
                <a:cs typeface="Calibri"/>
              </a:rPr>
              <a:t>Proble</a:t>
            </a:r>
            <a:r>
              <a:rPr lang="en-US" b="1">
                <a:latin typeface="Calibri"/>
                <a:ea typeface="Calibri"/>
                <a:cs typeface="Calibri"/>
              </a:rPr>
              <a:t>ms</a:t>
            </a:r>
          </a:p>
          <a:p>
            <a:pPr marL="228600" indent="-228600">
              <a:buAutoNum type="arabicPeriod"/>
            </a:pPr>
            <a:r>
              <a:rPr lang="en-US">
                <a:latin typeface="Calibri"/>
                <a:ea typeface="Calibri"/>
                <a:cs typeface="Calibri"/>
              </a:rPr>
              <a:t>Calculations underestimate the impact of the anisotropy of the interaction </a:t>
            </a:r>
          </a:p>
          <a:p>
            <a:r>
              <a:rPr lang="en-US">
                <a:latin typeface="Calibri"/>
                <a:ea typeface="Calibri"/>
                <a:cs typeface="Calibri"/>
              </a:rPr>
              <a:t>2. The experimentally calculated values are in question because the tumbling of flavin model complexes in water at room temperature is not fast enough to average completely anisotropic hyperfine contribution</a:t>
            </a:r>
          </a:p>
          <a:p>
            <a:endParaRPr lang="en-US">
              <a:latin typeface="Calibri"/>
              <a:ea typeface="Calibri"/>
              <a:cs typeface="Calibri"/>
            </a:endParaRPr>
          </a:p>
          <a:p>
            <a:r>
              <a:rPr lang="en-US">
                <a:latin typeface="Calibri"/>
                <a:ea typeface="Calibri"/>
                <a:cs typeface="Calibri"/>
              </a:rPr>
              <a:t>Alpha value is hyperfine coupling constant which quantifies the interaction between an unpaired electron and nuclear spin</a:t>
            </a:r>
          </a:p>
        </p:txBody>
      </p:sp>
      <p:sp>
        <p:nvSpPr>
          <p:cNvPr id="4" name="Slide Number Placeholder 3"/>
          <p:cNvSpPr>
            <a:spLocks noGrp="1"/>
          </p:cNvSpPr>
          <p:nvPr>
            <p:ph type="sldNum" sz="quarter" idx="5"/>
          </p:nvPr>
        </p:nvSpPr>
        <p:spPr/>
        <p:txBody>
          <a:bodyPr/>
          <a:lstStyle/>
          <a:p>
            <a:fld id="{C64ED0D2-16ED-5547-8DC8-59573C5E7DB0}" type="slidenum">
              <a:rPr lang="en-US" smtClean="0"/>
              <a:t>20</a:t>
            </a:fld>
            <a:endParaRPr lang="en-US"/>
          </a:p>
        </p:txBody>
      </p:sp>
    </p:spTree>
    <p:extLst>
      <p:ext uri="{BB962C8B-B14F-4D97-AF65-F5344CB8AC3E}">
        <p14:creationId xmlns:p14="http://schemas.microsoft.com/office/powerpoint/2010/main" val="3642223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Tip: </a:t>
            </a:r>
            <a:r>
              <a:rPr lang="en-US"/>
              <a:t>There’s no need to include WWW or HTTPS in front of your URL. </a:t>
            </a:r>
          </a:p>
        </p:txBody>
      </p:sp>
      <p:sp>
        <p:nvSpPr>
          <p:cNvPr id="4" name="Slide Number Placeholder 3"/>
          <p:cNvSpPr>
            <a:spLocks noGrp="1"/>
          </p:cNvSpPr>
          <p:nvPr>
            <p:ph type="sldNum" sz="quarter" idx="5"/>
          </p:nvPr>
        </p:nvSpPr>
        <p:spPr/>
        <p:txBody>
          <a:bodyPr/>
          <a:lstStyle/>
          <a:p>
            <a:fld id="{C64ED0D2-16ED-5547-8DC8-59573C5E7DB0}" type="slidenum">
              <a:rPr lang="en-US" smtClean="0"/>
              <a:t>27</a:t>
            </a:fld>
            <a:endParaRPr lang="en-US"/>
          </a:p>
        </p:txBody>
      </p:sp>
    </p:spTree>
    <p:extLst>
      <p:ext uri="{BB962C8B-B14F-4D97-AF65-F5344CB8AC3E}">
        <p14:creationId xmlns:p14="http://schemas.microsoft.com/office/powerpoint/2010/main" val="23340219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017400-3825-46C6-4D34-8D7F9DDE337E}"/>
              </a:ext>
            </a:extLst>
          </p:cNvPr>
          <p:cNvSpPr/>
          <p:nvPr userDrawn="1"/>
        </p:nvSpPr>
        <p:spPr>
          <a:xfrm>
            <a:off x="0" y="0"/>
            <a:ext cx="12192000" cy="6858000"/>
          </a:xfrm>
          <a:prstGeom prst="rect">
            <a:avLst/>
          </a:prstGeom>
          <a:gradFill flip="none" rotWithShape="1">
            <a:gsLst>
              <a:gs pos="0">
                <a:srgbClr val="002D72">
                  <a:shade val="30000"/>
                  <a:satMod val="115000"/>
                </a:srgbClr>
              </a:gs>
              <a:gs pos="50000">
                <a:srgbClr val="002D72">
                  <a:shade val="67500"/>
                  <a:satMod val="115000"/>
                </a:srgbClr>
              </a:gs>
              <a:gs pos="100000">
                <a:srgbClr val="002D72">
                  <a:shade val="100000"/>
                  <a:satMod val="115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1755132-02B7-F237-8FA1-F867CF88FB25}"/>
              </a:ext>
            </a:extLst>
          </p:cNvPr>
          <p:cNvSpPr>
            <a:spLocks noGrp="1"/>
          </p:cNvSpPr>
          <p:nvPr>
            <p:ph type="subTitle" idx="1" hasCustomPrompt="1"/>
          </p:nvPr>
        </p:nvSpPr>
        <p:spPr>
          <a:xfrm>
            <a:off x="576649" y="3692901"/>
            <a:ext cx="5519351" cy="784095"/>
          </a:xfrm>
        </p:spPr>
        <p:txBody>
          <a:bodyPr anchor="ctr">
            <a:normAutofit/>
          </a:bodyPr>
          <a:lstStyle>
            <a:lvl1pPr marL="0" indent="0" algn="l">
              <a:lnSpc>
                <a:spcPts val="2480"/>
              </a:lnSpc>
              <a:spcBef>
                <a:spcPts val="1000"/>
              </a:spcBef>
              <a:spcAft>
                <a:spcPts val="0"/>
              </a:spcAft>
              <a:buNone/>
              <a:defRPr sz="2400" b="1">
                <a:solidFill>
                  <a:srgbClr val="4E97E0"/>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Add Subtitle</a:t>
            </a:r>
          </a:p>
        </p:txBody>
      </p:sp>
      <p:pic>
        <p:nvPicPr>
          <p:cNvPr id="12" name="Picture 11" descr="A black background with white text&#10;&#10;Description automatically generated">
            <a:extLst>
              <a:ext uri="{FF2B5EF4-FFF2-40B4-BE49-F238E27FC236}">
                <a16:creationId xmlns:a16="http://schemas.microsoft.com/office/drawing/2014/main" id="{5E5E73B6-2798-2A91-EEE6-2BB4284BE9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 y="5095306"/>
            <a:ext cx="4293230" cy="1784270"/>
          </a:xfrm>
          <a:prstGeom prst="rect">
            <a:avLst/>
          </a:prstGeom>
        </p:spPr>
      </p:pic>
      <p:sp>
        <p:nvSpPr>
          <p:cNvPr id="7" name="Text Placeholder 6">
            <a:extLst>
              <a:ext uri="{FF2B5EF4-FFF2-40B4-BE49-F238E27FC236}">
                <a16:creationId xmlns:a16="http://schemas.microsoft.com/office/drawing/2014/main" id="{9E77B635-698D-CEB4-EA5A-566854E400B9}"/>
              </a:ext>
            </a:extLst>
          </p:cNvPr>
          <p:cNvSpPr>
            <a:spLocks noGrp="1"/>
          </p:cNvSpPr>
          <p:nvPr>
            <p:ph type="body" sz="quarter" idx="10" hasCustomPrompt="1"/>
          </p:nvPr>
        </p:nvSpPr>
        <p:spPr>
          <a:xfrm>
            <a:off x="576262" y="4476751"/>
            <a:ext cx="5519738" cy="451510"/>
          </a:xfrm>
        </p:spPr>
        <p:txBody>
          <a:bodyPr anchor="ctr">
            <a:normAutofit/>
          </a:bodyPr>
          <a:lstStyle>
            <a:lvl1pPr marL="0" indent="0">
              <a:buNone/>
              <a:defRPr sz="1800">
                <a:solidFill>
                  <a:schemeClr val="bg1"/>
                </a:solidFill>
              </a:defRPr>
            </a:lvl1pPr>
          </a:lstStyle>
          <a:p>
            <a:pPr lvl="0"/>
            <a:r>
              <a:rPr lang="en-US"/>
              <a:t>Department Name and/or Date</a:t>
            </a:r>
          </a:p>
        </p:txBody>
      </p:sp>
      <p:pic>
        <p:nvPicPr>
          <p:cNvPr id="6" name="Picture 5" descr="A logo of a book and a globe&#10;&#10;AI-generated content may be incorrect.">
            <a:extLst>
              <a:ext uri="{FF2B5EF4-FFF2-40B4-BE49-F238E27FC236}">
                <a16:creationId xmlns:a16="http://schemas.microsoft.com/office/drawing/2014/main" id="{E021BB48-4E61-35BD-BAA2-EFCC8513D198}"/>
              </a:ext>
            </a:extLst>
          </p:cNvPr>
          <p:cNvPicPr>
            <a:picLocks noChangeAspect="1"/>
          </p:cNvPicPr>
          <p:nvPr userDrawn="1"/>
        </p:nvPicPr>
        <p:blipFill>
          <a:blip r:embed="rId3">
            <a:alphaModFix amt="20000"/>
          </a:blip>
          <a:srcRect l="2482" t="8062" r="24988" b="7189"/>
          <a:stretch/>
        </p:blipFill>
        <p:spPr>
          <a:xfrm>
            <a:off x="6668565" y="0"/>
            <a:ext cx="5519738" cy="6879577"/>
          </a:xfrm>
          <a:prstGeom prst="rect">
            <a:avLst/>
          </a:prstGeom>
        </p:spPr>
      </p:pic>
      <p:sp>
        <p:nvSpPr>
          <p:cNvPr id="9" name="Rectangle 8">
            <a:extLst>
              <a:ext uri="{FF2B5EF4-FFF2-40B4-BE49-F238E27FC236}">
                <a16:creationId xmlns:a16="http://schemas.microsoft.com/office/drawing/2014/main" id="{C1072A52-005D-6E24-DED0-CBD32E5A71F9}"/>
              </a:ext>
            </a:extLst>
          </p:cNvPr>
          <p:cNvSpPr/>
          <p:nvPr userDrawn="1"/>
        </p:nvSpPr>
        <p:spPr>
          <a:xfrm>
            <a:off x="0" y="2123768"/>
            <a:ext cx="12192000" cy="1418829"/>
          </a:xfrm>
          <a:prstGeom prst="rect">
            <a:avLst/>
          </a:prstGeom>
          <a:solidFill>
            <a:srgbClr val="4E97E0">
              <a:alpha val="7451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BC76EE-BBDD-9DAC-BD3C-14DC174D2E84}"/>
              </a:ext>
            </a:extLst>
          </p:cNvPr>
          <p:cNvSpPr>
            <a:spLocks noGrp="1"/>
          </p:cNvSpPr>
          <p:nvPr>
            <p:ph type="ctrTitle" hasCustomPrompt="1"/>
          </p:nvPr>
        </p:nvSpPr>
        <p:spPr>
          <a:xfrm>
            <a:off x="576649" y="2212258"/>
            <a:ext cx="9231027" cy="1273341"/>
          </a:xfrm>
          <a:prstGeom prst="rect">
            <a:avLst/>
          </a:prstGeom>
        </p:spPr>
        <p:txBody>
          <a:bodyPr anchor="ctr" anchorCtr="0">
            <a:noAutofit/>
          </a:bodyPr>
          <a:lstStyle>
            <a:lvl1pPr algn="l">
              <a:defRPr sz="400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of the Presentation</a:t>
            </a:r>
          </a:p>
        </p:txBody>
      </p:sp>
    </p:spTree>
    <p:extLst>
      <p:ext uri="{BB962C8B-B14F-4D97-AF65-F5344CB8AC3E}">
        <p14:creationId xmlns:p14="http://schemas.microsoft.com/office/powerpoint/2010/main" val="1149155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_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CC74154-920A-7908-96E4-FCAB9EB05834}"/>
              </a:ext>
            </a:extLst>
          </p:cNvPr>
          <p:cNvSpPr>
            <a:spLocks noGrp="1"/>
          </p:cNvSpPr>
          <p:nvPr>
            <p:ph type="ctrTitle" hasCustomPrompt="1"/>
          </p:nvPr>
        </p:nvSpPr>
        <p:spPr>
          <a:xfrm>
            <a:off x="4706223" y="2104373"/>
            <a:ext cx="6909127" cy="1778695"/>
          </a:xfrm>
          <a:prstGeom prst="rect">
            <a:avLst/>
          </a:prstGeom>
        </p:spPr>
        <p:txBody>
          <a:bodyPr lIns="0" tIns="0" rIns="0" bIns="0" anchor="b" anchorCtr="0">
            <a:noAutofit/>
          </a:bodyPr>
          <a:lstStyle>
            <a:lvl1pPr algn="l">
              <a:defRPr sz="4000">
                <a:solidFill>
                  <a:schemeClr val="tx2"/>
                </a:solidFill>
              </a:defRPr>
            </a:lvl1pPr>
          </a:lstStyle>
          <a:p>
            <a:r>
              <a:rPr lang="en-US"/>
              <a:t>Click here to add title for section break</a:t>
            </a:r>
          </a:p>
        </p:txBody>
      </p:sp>
      <p:sp>
        <p:nvSpPr>
          <p:cNvPr id="9" name="Subtitle 2">
            <a:extLst>
              <a:ext uri="{FF2B5EF4-FFF2-40B4-BE49-F238E27FC236}">
                <a16:creationId xmlns:a16="http://schemas.microsoft.com/office/drawing/2014/main" id="{DACA531E-D6C1-E9A7-B39A-A410B89BA0D5}"/>
              </a:ext>
            </a:extLst>
          </p:cNvPr>
          <p:cNvSpPr>
            <a:spLocks noGrp="1"/>
          </p:cNvSpPr>
          <p:nvPr>
            <p:ph type="subTitle" idx="1" hasCustomPrompt="1"/>
          </p:nvPr>
        </p:nvSpPr>
        <p:spPr>
          <a:xfrm>
            <a:off x="4706223" y="4108537"/>
            <a:ext cx="6909128" cy="967275"/>
          </a:xfrm>
        </p:spPr>
        <p:txBody>
          <a:bodyPr lIns="0" tIns="0" rIns="0" bIns="0">
            <a:normAutofit/>
          </a:bodyPr>
          <a:lstStyle>
            <a:lvl1pPr marL="0" indent="0" algn="l">
              <a:buNone/>
              <a:defRPr sz="2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2" name="Straight Connector 1">
            <a:extLst>
              <a:ext uri="{FF2B5EF4-FFF2-40B4-BE49-F238E27FC236}">
                <a16:creationId xmlns:a16="http://schemas.microsoft.com/office/drawing/2014/main" id="{EB25B380-0B57-4162-9BED-4DF840156EA3}"/>
              </a:ext>
            </a:extLst>
          </p:cNvPr>
          <p:cNvCxnSpPr/>
          <p:nvPr userDrawn="1"/>
        </p:nvCxnSpPr>
        <p:spPr>
          <a:xfrm>
            <a:off x="529817" y="1937657"/>
            <a:ext cx="11085533"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16" name="Slide Number Placeholder 15">
            <a:extLst>
              <a:ext uri="{FF2B5EF4-FFF2-40B4-BE49-F238E27FC236}">
                <a16:creationId xmlns:a16="http://schemas.microsoft.com/office/drawing/2014/main" id="{0CBFCBDA-8C1A-ECAC-E989-0D8F8E7E4C0D}"/>
              </a:ext>
            </a:extLst>
          </p:cNvPr>
          <p:cNvSpPr>
            <a:spLocks noGrp="1"/>
          </p:cNvSpPr>
          <p:nvPr>
            <p:ph type="sldNum" sz="quarter" idx="12"/>
          </p:nvPr>
        </p:nvSpPr>
        <p:spPr/>
        <p:txBody>
          <a:bodyPr/>
          <a:lstStyle/>
          <a:p>
            <a:fld id="{1876332E-97D2-CC49-9E46-E6E0DDE407EB}" type="slidenum">
              <a:rPr lang="en-US" smtClean="0"/>
              <a:pPr/>
              <a:t>‹#›</a:t>
            </a:fld>
            <a:endParaRPr lang="en-US"/>
          </a:p>
        </p:txBody>
      </p:sp>
      <p:sp>
        <p:nvSpPr>
          <p:cNvPr id="4" name="Picture Placeholder 3">
            <a:extLst>
              <a:ext uri="{FF2B5EF4-FFF2-40B4-BE49-F238E27FC236}">
                <a16:creationId xmlns:a16="http://schemas.microsoft.com/office/drawing/2014/main" id="{558ECB7B-306C-6137-62C5-DFCDB0C9049E}"/>
              </a:ext>
            </a:extLst>
          </p:cNvPr>
          <p:cNvSpPr>
            <a:spLocks noGrp="1"/>
          </p:cNvSpPr>
          <p:nvPr>
            <p:ph type="pic" sz="quarter" idx="13"/>
          </p:nvPr>
        </p:nvSpPr>
        <p:spPr>
          <a:xfrm>
            <a:off x="0" y="0"/>
            <a:ext cx="4010526" cy="685800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384359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23F7C4-9605-1C92-C986-C090692E25FE}"/>
              </a:ext>
            </a:extLst>
          </p:cNvPr>
          <p:cNvSpPr/>
          <p:nvPr userDrawn="1"/>
        </p:nvSpPr>
        <p:spPr>
          <a:xfrm>
            <a:off x="0" y="0"/>
            <a:ext cx="12192000" cy="6858000"/>
          </a:xfrm>
          <a:prstGeom prst="rect">
            <a:avLst/>
          </a:prstGeom>
          <a:gradFill flip="none" rotWithShape="1">
            <a:gsLst>
              <a:gs pos="0">
                <a:srgbClr val="002D72">
                  <a:shade val="30000"/>
                  <a:satMod val="115000"/>
                </a:srgbClr>
              </a:gs>
              <a:gs pos="50000">
                <a:srgbClr val="002D72">
                  <a:shade val="67500"/>
                  <a:satMod val="115000"/>
                </a:srgbClr>
              </a:gs>
              <a:gs pos="100000">
                <a:srgbClr val="002D72">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logo of a book and a globe&#10;&#10;AI-generated content may be incorrect.">
            <a:extLst>
              <a:ext uri="{FF2B5EF4-FFF2-40B4-BE49-F238E27FC236}">
                <a16:creationId xmlns:a16="http://schemas.microsoft.com/office/drawing/2014/main" id="{DF75DAA6-D42F-663C-B995-9DED44C22567}"/>
              </a:ext>
            </a:extLst>
          </p:cNvPr>
          <p:cNvPicPr>
            <a:picLocks noChangeAspect="1"/>
          </p:cNvPicPr>
          <p:nvPr userDrawn="1"/>
        </p:nvPicPr>
        <p:blipFill>
          <a:blip r:embed="rId2">
            <a:alphaModFix amt="20000"/>
          </a:blip>
          <a:srcRect l="2482" t="-886" r="24988" b="7188"/>
          <a:stretch/>
        </p:blipFill>
        <p:spPr>
          <a:xfrm>
            <a:off x="9684181" y="3429001"/>
            <a:ext cx="2504121" cy="3450576"/>
          </a:xfrm>
          <a:prstGeom prst="rect">
            <a:avLst/>
          </a:prstGeom>
        </p:spPr>
      </p:pic>
      <p:sp>
        <p:nvSpPr>
          <p:cNvPr id="8" name="Title 1">
            <a:extLst>
              <a:ext uri="{FF2B5EF4-FFF2-40B4-BE49-F238E27FC236}">
                <a16:creationId xmlns:a16="http://schemas.microsoft.com/office/drawing/2014/main" id="{FCC74154-920A-7908-96E4-FCAB9EB05834}"/>
              </a:ext>
            </a:extLst>
          </p:cNvPr>
          <p:cNvSpPr>
            <a:spLocks noGrp="1"/>
          </p:cNvSpPr>
          <p:nvPr>
            <p:ph type="ctrTitle" hasCustomPrompt="1"/>
          </p:nvPr>
        </p:nvSpPr>
        <p:spPr>
          <a:xfrm>
            <a:off x="1475873" y="723901"/>
            <a:ext cx="9240253" cy="3034640"/>
          </a:xfrm>
          <a:prstGeom prst="rect">
            <a:avLst/>
          </a:prstGeom>
        </p:spPr>
        <p:txBody>
          <a:bodyPr lIns="0" tIns="0" rIns="0" bIns="0" anchor="b" anchorCtr="0">
            <a:noAutofit/>
          </a:bodyPr>
          <a:lstStyle>
            <a:lvl1pPr algn="l">
              <a:defRPr sz="4000" b="1">
                <a:solidFill>
                  <a:schemeClr val="bg1"/>
                </a:solidFill>
              </a:defRPr>
            </a:lvl1pPr>
          </a:lstStyle>
          <a:p>
            <a:r>
              <a:rPr lang="en-US"/>
              <a:t>Click here to add title </a:t>
            </a:r>
            <a:br>
              <a:rPr lang="en-US"/>
            </a:br>
            <a:r>
              <a:rPr lang="en-US"/>
              <a:t>for section break</a:t>
            </a:r>
          </a:p>
        </p:txBody>
      </p:sp>
      <p:sp>
        <p:nvSpPr>
          <p:cNvPr id="9" name="Subtitle 2">
            <a:extLst>
              <a:ext uri="{FF2B5EF4-FFF2-40B4-BE49-F238E27FC236}">
                <a16:creationId xmlns:a16="http://schemas.microsoft.com/office/drawing/2014/main" id="{DACA531E-D6C1-E9A7-B39A-A410B89BA0D5}"/>
              </a:ext>
            </a:extLst>
          </p:cNvPr>
          <p:cNvSpPr>
            <a:spLocks noGrp="1"/>
          </p:cNvSpPr>
          <p:nvPr>
            <p:ph type="subTitle" idx="1" hasCustomPrompt="1"/>
          </p:nvPr>
        </p:nvSpPr>
        <p:spPr>
          <a:xfrm>
            <a:off x="1475873" y="4061125"/>
            <a:ext cx="9240253" cy="2072975"/>
          </a:xfrm>
        </p:spPr>
        <p:txBody>
          <a:bodyPr lIns="0" tIns="0" rIns="0" bIns="0">
            <a:normAutofit/>
          </a:bodyPr>
          <a:lstStyle>
            <a:lvl1pPr marL="0" indent="0" algn="l">
              <a:lnSpc>
                <a:spcPts val="2280"/>
              </a:lnSpc>
              <a:buNone/>
              <a:defRPr sz="2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782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30C6B7-4A46-4C41-FF74-E03BE5E36710}"/>
              </a:ext>
            </a:extLst>
          </p:cNvPr>
          <p:cNvSpPr/>
          <p:nvPr userDrawn="1"/>
        </p:nvSpPr>
        <p:spPr>
          <a:xfrm>
            <a:off x="0" y="0"/>
            <a:ext cx="12192000" cy="6858000"/>
          </a:xfrm>
          <a:prstGeom prst="rect">
            <a:avLst/>
          </a:prstGeom>
          <a:gradFill flip="none" rotWithShape="1">
            <a:gsLst>
              <a:gs pos="0">
                <a:srgbClr val="002D72">
                  <a:shade val="30000"/>
                  <a:satMod val="115000"/>
                </a:srgbClr>
              </a:gs>
              <a:gs pos="50000">
                <a:srgbClr val="002D72">
                  <a:shade val="67500"/>
                  <a:satMod val="115000"/>
                </a:srgbClr>
              </a:gs>
              <a:gs pos="100000">
                <a:srgbClr val="002D72">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of a book and a globe&#10;&#10;AI-generated content may be incorrect.">
            <a:extLst>
              <a:ext uri="{FF2B5EF4-FFF2-40B4-BE49-F238E27FC236}">
                <a16:creationId xmlns:a16="http://schemas.microsoft.com/office/drawing/2014/main" id="{70E61FC2-F53C-68E4-FD72-B7D5DC45C116}"/>
              </a:ext>
            </a:extLst>
          </p:cNvPr>
          <p:cNvPicPr>
            <a:picLocks noChangeAspect="1"/>
          </p:cNvPicPr>
          <p:nvPr userDrawn="1"/>
        </p:nvPicPr>
        <p:blipFill>
          <a:blip r:embed="rId2">
            <a:alphaModFix amt="20000"/>
          </a:blip>
          <a:srcRect l="2482" t="-886" r="24988" b="7188"/>
          <a:stretch/>
        </p:blipFill>
        <p:spPr>
          <a:xfrm>
            <a:off x="9684181" y="3429001"/>
            <a:ext cx="2504121" cy="3450576"/>
          </a:xfrm>
          <a:prstGeom prst="rect">
            <a:avLst/>
          </a:prstGeom>
        </p:spPr>
      </p:pic>
      <p:sp>
        <p:nvSpPr>
          <p:cNvPr id="8" name="Title 1">
            <a:extLst>
              <a:ext uri="{FF2B5EF4-FFF2-40B4-BE49-F238E27FC236}">
                <a16:creationId xmlns:a16="http://schemas.microsoft.com/office/drawing/2014/main" id="{FCC74154-920A-7908-96E4-FCAB9EB05834}"/>
              </a:ext>
            </a:extLst>
          </p:cNvPr>
          <p:cNvSpPr>
            <a:spLocks noGrp="1"/>
          </p:cNvSpPr>
          <p:nvPr>
            <p:ph type="ctrTitle" hasCustomPrompt="1"/>
          </p:nvPr>
        </p:nvSpPr>
        <p:spPr>
          <a:xfrm>
            <a:off x="1475873" y="1979845"/>
            <a:ext cx="9240253" cy="1778695"/>
          </a:xfrm>
          <a:prstGeom prst="rect">
            <a:avLst/>
          </a:prstGeom>
        </p:spPr>
        <p:txBody>
          <a:bodyPr lIns="0" tIns="0" rIns="0" bIns="0" anchor="ctr" anchorCtr="0">
            <a:noAutofit/>
          </a:bodyPr>
          <a:lstStyle>
            <a:lvl1pPr algn="ctr">
              <a:defRPr sz="3600" b="0">
                <a:solidFill>
                  <a:schemeClr val="bg1"/>
                </a:solidFill>
              </a:defRPr>
            </a:lvl1pPr>
          </a:lstStyle>
          <a:p>
            <a:r>
              <a:rPr lang="en-US"/>
              <a:t>Our simple aim is to make scholars, strong, bright, useful, and true. </a:t>
            </a:r>
          </a:p>
        </p:txBody>
      </p:sp>
      <p:sp>
        <p:nvSpPr>
          <p:cNvPr id="9" name="Subtitle 2">
            <a:extLst>
              <a:ext uri="{FF2B5EF4-FFF2-40B4-BE49-F238E27FC236}">
                <a16:creationId xmlns:a16="http://schemas.microsoft.com/office/drawing/2014/main" id="{DACA531E-D6C1-E9A7-B39A-A410B89BA0D5}"/>
              </a:ext>
            </a:extLst>
          </p:cNvPr>
          <p:cNvSpPr>
            <a:spLocks noGrp="1"/>
          </p:cNvSpPr>
          <p:nvPr>
            <p:ph type="subTitle" idx="1" hasCustomPrompt="1"/>
          </p:nvPr>
        </p:nvSpPr>
        <p:spPr>
          <a:xfrm>
            <a:off x="1475873" y="4264325"/>
            <a:ext cx="9240253" cy="967275"/>
          </a:xfrm>
        </p:spPr>
        <p:txBody>
          <a:bodyPr lIns="0" tIns="0" rIns="0" bIns="0">
            <a:normAutofit/>
          </a:bodyPr>
          <a:lstStyle>
            <a:lvl1pPr marL="0" indent="0" algn="ctr">
              <a:lnSpc>
                <a:spcPts val="2280"/>
              </a:lnSpc>
              <a:buNone/>
              <a:defRPr sz="2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 Daniel </a:t>
            </a:r>
            <a:r>
              <a:rPr lang="en-US" err="1"/>
              <a:t>Coit</a:t>
            </a:r>
            <a:r>
              <a:rPr lang="en-US"/>
              <a:t> Gilman</a:t>
            </a:r>
          </a:p>
          <a:p>
            <a:r>
              <a:rPr lang="en-US"/>
              <a:t>Inaugural President, Johns Hopkins University</a:t>
            </a:r>
          </a:p>
        </p:txBody>
      </p:sp>
      <p:sp>
        <p:nvSpPr>
          <p:cNvPr id="3" name="TextBox 2">
            <a:extLst>
              <a:ext uri="{FF2B5EF4-FFF2-40B4-BE49-F238E27FC236}">
                <a16:creationId xmlns:a16="http://schemas.microsoft.com/office/drawing/2014/main" id="{066154EB-7911-64A6-95DC-22B178C18A30}"/>
              </a:ext>
            </a:extLst>
          </p:cNvPr>
          <p:cNvSpPr txBox="1"/>
          <p:nvPr userDrawn="1"/>
        </p:nvSpPr>
        <p:spPr>
          <a:xfrm>
            <a:off x="5313093" y="990422"/>
            <a:ext cx="1565814" cy="1446550"/>
          </a:xfrm>
          <a:prstGeom prst="rect">
            <a:avLst/>
          </a:prstGeom>
          <a:noFill/>
        </p:spPr>
        <p:txBody>
          <a:bodyPr wrap="square" rtlCol="0">
            <a:spAutoFit/>
          </a:bodyPr>
          <a:lstStyle/>
          <a:p>
            <a:pPr algn="ctr"/>
            <a:r>
              <a:rPr lang="en-US" sz="8800">
                <a:solidFill>
                  <a:schemeClr val="accent1"/>
                </a:solidFill>
                <a:latin typeface="Georgia" panose="02040502050405020303" pitchFamily="18"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651745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w/ Capt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276E625-3DBE-99DF-9FAC-87EDA3386FDE}"/>
              </a:ext>
            </a:extLst>
          </p:cNvPr>
          <p:cNvSpPr/>
          <p:nvPr userDrawn="1"/>
        </p:nvSpPr>
        <p:spPr>
          <a:xfrm>
            <a:off x="0" y="5274365"/>
            <a:ext cx="12192000" cy="1583634"/>
          </a:xfrm>
          <a:prstGeom prst="rect">
            <a:avLst/>
          </a:prstGeom>
          <a:gradFill flip="none" rotWithShape="1">
            <a:gsLst>
              <a:gs pos="0">
                <a:srgbClr val="002D72">
                  <a:shade val="30000"/>
                  <a:satMod val="115000"/>
                </a:srgbClr>
              </a:gs>
              <a:gs pos="50000">
                <a:srgbClr val="002D72">
                  <a:shade val="67500"/>
                  <a:satMod val="115000"/>
                </a:srgbClr>
              </a:gs>
              <a:gs pos="100000">
                <a:srgbClr val="002D72">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a:extLst>
              <a:ext uri="{FF2B5EF4-FFF2-40B4-BE49-F238E27FC236}">
                <a16:creationId xmlns:a16="http://schemas.microsoft.com/office/drawing/2014/main" id="{35E57361-756C-1EF8-A20B-34F47C4CA4DB}"/>
              </a:ext>
            </a:extLst>
          </p:cNvPr>
          <p:cNvSpPr>
            <a:spLocks noGrp="1"/>
          </p:cNvSpPr>
          <p:nvPr>
            <p:ph type="body" sz="quarter" idx="13" hasCustomPrompt="1"/>
          </p:nvPr>
        </p:nvSpPr>
        <p:spPr>
          <a:xfrm>
            <a:off x="290065" y="5590552"/>
            <a:ext cx="9247777" cy="528638"/>
          </a:xfrm>
        </p:spPr>
        <p:txBody>
          <a:bodyPr anchor="ctr">
            <a:normAutofit/>
          </a:bodyPr>
          <a:lstStyle>
            <a:lvl1pPr marL="0" indent="0">
              <a:lnSpc>
                <a:spcPts val="1260"/>
              </a:lnSpc>
              <a:buNone/>
              <a:defRPr sz="180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Image caption</a:t>
            </a:r>
          </a:p>
        </p:txBody>
      </p:sp>
      <p:sp>
        <p:nvSpPr>
          <p:cNvPr id="6" name="Picture Placeholder 5">
            <a:extLst>
              <a:ext uri="{FF2B5EF4-FFF2-40B4-BE49-F238E27FC236}">
                <a16:creationId xmlns:a16="http://schemas.microsoft.com/office/drawing/2014/main" id="{06BC0C77-4541-0E28-C5EF-BEF1E3824D63}"/>
              </a:ext>
            </a:extLst>
          </p:cNvPr>
          <p:cNvSpPr>
            <a:spLocks noGrp="1"/>
          </p:cNvSpPr>
          <p:nvPr>
            <p:ph type="pic" sz="quarter" idx="14"/>
          </p:nvPr>
        </p:nvSpPr>
        <p:spPr>
          <a:xfrm>
            <a:off x="0" y="9571"/>
            <a:ext cx="12192000" cy="5264794"/>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670412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Coll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6BC0C77-4541-0E28-C5EF-BEF1E3824D63}"/>
              </a:ext>
            </a:extLst>
          </p:cNvPr>
          <p:cNvSpPr>
            <a:spLocks noGrp="1"/>
          </p:cNvSpPr>
          <p:nvPr>
            <p:ph type="pic" sz="quarter" idx="14"/>
          </p:nvPr>
        </p:nvSpPr>
        <p:spPr>
          <a:xfrm>
            <a:off x="0" y="9571"/>
            <a:ext cx="5844209" cy="5264794"/>
          </a:xfrm>
        </p:spPr>
        <p:txBody>
          <a:bodyPr/>
          <a:lstStyle>
            <a:lvl1pPr marL="0" indent="0">
              <a:buNone/>
              <a:defRPr/>
            </a:lvl1pPr>
          </a:lstStyle>
          <a:p>
            <a:r>
              <a:rPr lang="en-US"/>
              <a:t>Click icon to add picture</a:t>
            </a:r>
          </a:p>
        </p:txBody>
      </p:sp>
      <p:sp>
        <p:nvSpPr>
          <p:cNvPr id="3" name="Picture Placeholder 5">
            <a:extLst>
              <a:ext uri="{FF2B5EF4-FFF2-40B4-BE49-F238E27FC236}">
                <a16:creationId xmlns:a16="http://schemas.microsoft.com/office/drawing/2014/main" id="{3742F7E9-E0FF-5CA6-D9B2-6EB4AE0FF618}"/>
              </a:ext>
            </a:extLst>
          </p:cNvPr>
          <p:cNvSpPr>
            <a:spLocks noGrp="1"/>
          </p:cNvSpPr>
          <p:nvPr>
            <p:ph type="pic" sz="quarter" idx="18"/>
          </p:nvPr>
        </p:nvSpPr>
        <p:spPr>
          <a:xfrm>
            <a:off x="5989983" y="1"/>
            <a:ext cx="6202018" cy="2769704"/>
          </a:xfrm>
        </p:spPr>
        <p:txBody>
          <a:bodyPr/>
          <a:lstStyle>
            <a:lvl1pPr marL="0" indent="0">
              <a:buNone/>
              <a:defRPr/>
            </a:lvl1pPr>
          </a:lstStyle>
          <a:p>
            <a:r>
              <a:rPr lang="en-US"/>
              <a:t>Click icon to add picture</a:t>
            </a:r>
          </a:p>
        </p:txBody>
      </p:sp>
      <p:sp>
        <p:nvSpPr>
          <p:cNvPr id="4" name="Picture Placeholder 5">
            <a:extLst>
              <a:ext uri="{FF2B5EF4-FFF2-40B4-BE49-F238E27FC236}">
                <a16:creationId xmlns:a16="http://schemas.microsoft.com/office/drawing/2014/main" id="{0C815D15-4E2C-9C49-1D73-284AB8400582}"/>
              </a:ext>
            </a:extLst>
          </p:cNvPr>
          <p:cNvSpPr>
            <a:spLocks noGrp="1"/>
          </p:cNvSpPr>
          <p:nvPr>
            <p:ph type="pic" sz="quarter" idx="19"/>
          </p:nvPr>
        </p:nvSpPr>
        <p:spPr>
          <a:xfrm>
            <a:off x="5989983" y="2914543"/>
            <a:ext cx="3028122" cy="2359822"/>
          </a:xfrm>
        </p:spPr>
        <p:txBody>
          <a:bodyPr/>
          <a:lstStyle>
            <a:lvl1pPr marL="0" indent="0">
              <a:buNone/>
              <a:defRPr/>
            </a:lvl1pPr>
          </a:lstStyle>
          <a:p>
            <a:r>
              <a:rPr lang="en-US"/>
              <a:t>Click icon to add picture</a:t>
            </a:r>
          </a:p>
        </p:txBody>
      </p:sp>
      <p:sp>
        <p:nvSpPr>
          <p:cNvPr id="5" name="Picture Placeholder 5">
            <a:extLst>
              <a:ext uri="{FF2B5EF4-FFF2-40B4-BE49-F238E27FC236}">
                <a16:creationId xmlns:a16="http://schemas.microsoft.com/office/drawing/2014/main" id="{7287FCA5-2296-2BA7-7E61-5E7893C39AD6}"/>
              </a:ext>
            </a:extLst>
          </p:cNvPr>
          <p:cNvSpPr>
            <a:spLocks noGrp="1"/>
          </p:cNvSpPr>
          <p:nvPr>
            <p:ph type="pic" sz="quarter" idx="20"/>
          </p:nvPr>
        </p:nvSpPr>
        <p:spPr>
          <a:xfrm>
            <a:off x="9163879" y="2907917"/>
            <a:ext cx="3028122" cy="2359822"/>
          </a:xfrm>
        </p:spPr>
        <p:txBody>
          <a:bodyPr/>
          <a:lstStyle>
            <a:lvl1pPr marL="0" indent="0">
              <a:buNone/>
              <a:defRPr/>
            </a:lvl1pPr>
          </a:lstStyle>
          <a:p>
            <a:r>
              <a:rPr lang="en-US"/>
              <a:t>Click icon to add picture</a:t>
            </a:r>
          </a:p>
        </p:txBody>
      </p:sp>
      <p:sp>
        <p:nvSpPr>
          <p:cNvPr id="2" name="Rectangle 1">
            <a:extLst>
              <a:ext uri="{FF2B5EF4-FFF2-40B4-BE49-F238E27FC236}">
                <a16:creationId xmlns:a16="http://schemas.microsoft.com/office/drawing/2014/main" id="{B93C14AC-49E0-17C6-8B6C-EB36EDA59AED}"/>
              </a:ext>
            </a:extLst>
          </p:cNvPr>
          <p:cNvSpPr/>
          <p:nvPr userDrawn="1"/>
        </p:nvSpPr>
        <p:spPr>
          <a:xfrm>
            <a:off x="0" y="5274365"/>
            <a:ext cx="12192000" cy="1583634"/>
          </a:xfrm>
          <a:prstGeom prst="rect">
            <a:avLst/>
          </a:prstGeom>
          <a:gradFill flip="none" rotWithShape="1">
            <a:gsLst>
              <a:gs pos="0">
                <a:srgbClr val="002D72">
                  <a:shade val="30000"/>
                  <a:satMod val="115000"/>
                </a:srgbClr>
              </a:gs>
              <a:gs pos="50000">
                <a:srgbClr val="002D72">
                  <a:shade val="67500"/>
                  <a:satMod val="115000"/>
                </a:srgbClr>
              </a:gs>
              <a:gs pos="100000">
                <a:srgbClr val="002D72">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a:extLst>
              <a:ext uri="{FF2B5EF4-FFF2-40B4-BE49-F238E27FC236}">
                <a16:creationId xmlns:a16="http://schemas.microsoft.com/office/drawing/2014/main" id="{35E57361-756C-1EF8-A20B-34F47C4CA4DB}"/>
              </a:ext>
            </a:extLst>
          </p:cNvPr>
          <p:cNvSpPr>
            <a:spLocks noGrp="1"/>
          </p:cNvSpPr>
          <p:nvPr>
            <p:ph type="body" sz="quarter" idx="13" hasCustomPrompt="1"/>
          </p:nvPr>
        </p:nvSpPr>
        <p:spPr>
          <a:xfrm>
            <a:off x="266700" y="5605462"/>
            <a:ext cx="9247777" cy="528638"/>
          </a:xfrm>
        </p:spPr>
        <p:txBody>
          <a:bodyPr anchor="ctr">
            <a:normAutofit/>
          </a:bodyPr>
          <a:lstStyle>
            <a:lvl1pPr marL="0" indent="0">
              <a:lnSpc>
                <a:spcPts val="1260"/>
              </a:lnSpc>
              <a:buNone/>
              <a:defRPr sz="180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Image caption</a:t>
            </a:r>
          </a:p>
        </p:txBody>
      </p:sp>
    </p:spTree>
    <p:extLst>
      <p:ext uri="{BB962C8B-B14F-4D97-AF65-F5344CB8AC3E}">
        <p14:creationId xmlns:p14="http://schemas.microsoft.com/office/powerpoint/2010/main" val="3009445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6" name="Content Placeholder 8">
            <a:extLst>
              <a:ext uri="{FF2B5EF4-FFF2-40B4-BE49-F238E27FC236}">
                <a16:creationId xmlns:a16="http://schemas.microsoft.com/office/drawing/2014/main" id="{7C024065-7E6C-8CAE-4BFC-708DD5ABDF72}"/>
              </a:ext>
            </a:extLst>
          </p:cNvPr>
          <p:cNvSpPr>
            <a:spLocks noGrp="1"/>
          </p:cNvSpPr>
          <p:nvPr>
            <p:ph sz="quarter" idx="13"/>
          </p:nvPr>
        </p:nvSpPr>
        <p:spPr>
          <a:xfrm>
            <a:off x="266701" y="952500"/>
            <a:ext cx="11621982" cy="5181599"/>
          </a:xfrm>
        </p:spPr>
        <p:txBody>
          <a:bodyPr/>
          <a:lstStyle>
            <a:lvl2pPr>
              <a:defRPr sz="2000"/>
            </a:lvl2pPr>
            <a:lvl3pPr marL="1143000" indent="-228600">
              <a:buFont typeface="System Font Regular"/>
              <a:buChar cha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Straight Connector 13">
            <a:extLst>
              <a:ext uri="{FF2B5EF4-FFF2-40B4-BE49-F238E27FC236}">
                <a16:creationId xmlns:a16="http://schemas.microsoft.com/office/drawing/2014/main" id="{9296FAC1-DAD3-8ADC-4F81-DC0F1CC64FB7}"/>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16" name="Slide Number Placeholder 15">
            <a:extLst>
              <a:ext uri="{FF2B5EF4-FFF2-40B4-BE49-F238E27FC236}">
                <a16:creationId xmlns:a16="http://schemas.microsoft.com/office/drawing/2014/main" id="{2D131D2B-40EF-191C-E868-B98E49C48068}"/>
              </a:ext>
            </a:extLst>
          </p:cNvPr>
          <p:cNvSpPr>
            <a:spLocks noGrp="1"/>
          </p:cNvSpPr>
          <p:nvPr>
            <p:ph type="sldNum" sz="quarter" idx="16"/>
          </p:nvPr>
        </p:nvSpPr>
        <p:spPr/>
        <p:txBody>
          <a:bodyPr/>
          <a:lstStyle/>
          <a:p>
            <a:fld id="{1876332E-97D2-CC49-9E46-E6E0DDE407EB}" type="slidenum">
              <a:rPr lang="en-US" smtClean="0"/>
              <a:pPr/>
              <a:t>‹#›</a:t>
            </a:fld>
            <a:endParaRPr lang="en-US"/>
          </a:p>
        </p:txBody>
      </p:sp>
      <p:sp>
        <p:nvSpPr>
          <p:cNvPr id="17" name="Title 16">
            <a:extLst>
              <a:ext uri="{FF2B5EF4-FFF2-40B4-BE49-F238E27FC236}">
                <a16:creationId xmlns:a16="http://schemas.microsoft.com/office/drawing/2014/main" id="{D74036E4-C55C-EA02-B734-36F87EDACA5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74438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_60/40">
    <p:spTree>
      <p:nvGrpSpPr>
        <p:cNvPr id="1" name=""/>
        <p:cNvGrpSpPr/>
        <p:nvPr/>
      </p:nvGrpSpPr>
      <p:grpSpPr>
        <a:xfrm>
          <a:off x="0" y="0"/>
          <a:ext cx="0" cy="0"/>
          <a:chOff x="0" y="0"/>
          <a:chExt cx="0" cy="0"/>
        </a:xfrm>
      </p:grpSpPr>
      <p:sp>
        <p:nvSpPr>
          <p:cNvPr id="7" name="Content Placeholder 8">
            <a:extLst>
              <a:ext uri="{FF2B5EF4-FFF2-40B4-BE49-F238E27FC236}">
                <a16:creationId xmlns:a16="http://schemas.microsoft.com/office/drawing/2014/main" id="{209356EC-295E-5603-B486-43CADD66F6A8}"/>
              </a:ext>
            </a:extLst>
          </p:cNvPr>
          <p:cNvSpPr>
            <a:spLocks noGrp="1"/>
          </p:cNvSpPr>
          <p:nvPr>
            <p:ph sz="quarter" idx="13" hasCustomPrompt="1"/>
          </p:nvPr>
        </p:nvSpPr>
        <p:spPr>
          <a:xfrm>
            <a:off x="303317" y="2054087"/>
            <a:ext cx="6654074" cy="4080013"/>
          </a:xfrm>
        </p:spPr>
        <p:txBody>
          <a:bodyPr>
            <a:normAutofit/>
          </a:bodyPr>
          <a:lstStyle>
            <a:lvl1pPr marL="0" indent="0">
              <a:lnSpc>
                <a:spcPts val="2600"/>
              </a:lnSpc>
              <a:buFont typeface="Arial" panose="020B0604020202020204" pitchFamily="34" charset="0"/>
              <a:buNone/>
              <a:defRPr sz="2000"/>
            </a:lvl1pPr>
            <a:lvl2pPr marL="457200" indent="0">
              <a:buNone/>
              <a:defRPr sz="2000"/>
            </a:lvl2pPr>
            <a:lvl3pPr marL="914400" indent="0">
              <a:buFont typeface="System Font Regular"/>
              <a:buNone/>
              <a:defRPr sz="1800"/>
            </a:lvl3pPr>
            <a:lvl4pPr marL="1371600" indent="0">
              <a:buNone/>
              <a:defRPr sz="1600"/>
            </a:lvl4pPr>
            <a:lvl5pPr marL="1828800" indent="0">
              <a:buNone/>
              <a:defRPr sz="1600"/>
            </a:lvl5pPr>
          </a:lstStyle>
          <a:p>
            <a:pPr lvl="0"/>
            <a:r>
              <a:rPr lang="en-US"/>
              <a:t>For text heavy slides, consider this layout option that uses smaller not bulleted text</a:t>
            </a:r>
          </a:p>
          <a:p>
            <a:pPr lvl="0"/>
            <a:endParaRPr lang="en-US"/>
          </a:p>
          <a:p>
            <a:pPr lvl="0"/>
            <a:r>
              <a:rPr lang="en-US"/>
              <a:t>Bullets can be added if needed</a:t>
            </a:r>
          </a:p>
        </p:txBody>
      </p:sp>
      <p:sp>
        <p:nvSpPr>
          <p:cNvPr id="10" name="Slide Number Placeholder 9">
            <a:extLst>
              <a:ext uri="{FF2B5EF4-FFF2-40B4-BE49-F238E27FC236}">
                <a16:creationId xmlns:a16="http://schemas.microsoft.com/office/drawing/2014/main" id="{5A6BE6B5-4DC4-B1E9-5F84-01E6D86F86B7}"/>
              </a:ext>
            </a:extLst>
          </p:cNvPr>
          <p:cNvSpPr>
            <a:spLocks noGrp="1"/>
          </p:cNvSpPr>
          <p:nvPr>
            <p:ph type="sldNum" sz="quarter" idx="16"/>
          </p:nvPr>
        </p:nvSpPr>
        <p:spPr/>
        <p:txBody>
          <a:bodyPr/>
          <a:lstStyle/>
          <a:p>
            <a:fld id="{1876332E-97D2-CC49-9E46-E6E0DDE407EB}" type="slidenum">
              <a:rPr lang="en-US" smtClean="0"/>
              <a:pPr/>
              <a:t>‹#›</a:t>
            </a:fld>
            <a:endParaRPr lang="en-US"/>
          </a:p>
        </p:txBody>
      </p:sp>
      <p:cxnSp>
        <p:nvCxnSpPr>
          <p:cNvPr id="2" name="Straight Connector 1">
            <a:extLst>
              <a:ext uri="{FF2B5EF4-FFF2-40B4-BE49-F238E27FC236}">
                <a16:creationId xmlns:a16="http://schemas.microsoft.com/office/drawing/2014/main" id="{EBBA4FE0-B93E-8941-C17B-03FD59A778DC}"/>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 name="Title 16">
            <a:extLst>
              <a:ext uri="{FF2B5EF4-FFF2-40B4-BE49-F238E27FC236}">
                <a16:creationId xmlns:a16="http://schemas.microsoft.com/office/drawing/2014/main" id="{C4AAA89D-E180-20A4-47AC-311E8945492E}"/>
              </a:ext>
            </a:extLst>
          </p:cNvPr>
          <p:cNvSpPr>
            <a:spLocks noGrp="1"/>
          </p:cNvSpPr>
          <p:nvPr>
            <p:ph type="title"/>
          </p:nvPr>
        </p:nvSpPr>
        <p:spPr>
          <a:xfrm>
            <a:off x="303317" y="244386"/>
            <a:ext cx="11585366" cy="524541"/>
          </a:xfrm>
        </p:spPr>
        <p:txBody>
          <a:bodyPr/>
          <a:lstStyle/>
          <a:p>
            <a:r>
              <a:rPr lang="en-US"/>
              <a:t>Click to edit Master title style</a:t>
            </a:r>
          </a:p>
        </p:txBody>
      </p:sp>
      <p:sp>
        <p:nvSpPr>
          <p:cNvPr id="4" name="Picture Placeholder 3">
            <a:extLst>
              <a:ext uri="{FF2B5EF4-FFF2-40B4-BE49-F238E27FC236}">
                <a16:creationId xmlns:a16="http://schemas.microsoft.com/office/drawing/2014/main" id="{FECA534C-9414-13D4-979B-668555B852D5}"/>
              </a:ext>
            </a:extLst>
          </p:cNvPr>
          <p:cNvSpPr>
            <a:spLocks noGrp="1"/>
          </p:cNvSpPr>
          <p:nvPr>
            <p:ph type="pic" sz="quarter" idx="14"/>
          </p:nvPr>
        </p:nvSpPr>
        <p:spPr>
          <a:xfrm>
            <a:off x="7076661" y="992842"/>
            <a:ext cx="4812022" cy="5141258"/>
          </a:xfrm>
        </p:spPr>
        <p:txBody>
          <a:bodyPr/>
          <a:lstStyle>
            <a:lvl1pPr marL="0" indent="0">
              <a:buNone/>
              <a:defRPr/>
            </a:lvl1pPr>
          </a:lstStyle>
          <a:p>
            <a:r>
              <a:rPr lang="en-US"/>
              <a:t>Click icon to add picture</a:t>
            </a:r>
          </a:p>
        </p:txBody>
      </p:sp>
      <p:sp>
        <p:nvSpPr>
          <p:cNvPr id="5" name="Content Placeholder 8">
            <a:extLst>
              <a:ext uri="{FF2B5EF4-FFF2-40B4-BE49-F238E27FC236}">
                <a16:creationId xmlns:a16="http://schemas.microsoft.com/office/drawing/2014/main" id="{FF3F1551-9A0A-137E-0C7C-8D33E2549EC9}"/>
              </a:ext>
            </a:extLst>
          </p:cNvPr>
          <p:cNvSpPr>
            <a:spLocks noGrp="1"/>
          </p:cNvSpPr>
          <p:nvPr>
            <p:ph sz="quarter" idx="17" hasCustomPrompt="1"/>
          </p:nvPr>
        </p:nvSpPr>
        <p:spPr>
          <a:xfrm>
            <a:off x="303316" y="992842"/>
            <a:ext cx="6654075" cy="964912"/>
          </a:xfrm>
        </p:spPr>
        <p:txBody>
          <a:bodyPr anchor="ctr">
            <a:normAutofit/>
          </a:bodyPr>
          <a:lstStyle>
            <a:lvl1pPr marL="0" indent="0">
              <a:buNone/>
              <a:defRPr sz="2200">
                <a:solidFill>
                  <a:schemeClr val="accent2"/>
                </a:solidFill>
              </a:defRPr>
            </a:lvl1pPr>
            <a:lvl2pPr>
              <a:defRPr sz="2000"/>
            </a:lvl2pPr>
            <a:lvl3pPr marL="1143000" indent="-228600">
              <a:buFont typeface="System Font Regular"/>
              <a:buChar char="–"/>
              <a:defRPr sz="1800"/>
            </a:lvl3pPr>
            <a:lvl4pPr>
              <a:defRPr sz="1800"/>
            </a:lvl4pPr>
            <a:lvl5pPr>
              <a:defRPr sz="1800"/>
            </a:lvl5pPr>
          </a:lstStyle>
          <a:p>
            <a:pPr lvl="0"/>
            <a:r>
              <a:rPr lang="en-US"/>
              <a:t>Click to add slide introduction sentence</a:t>
            </a:r>
          </a:p>
        </p:txBody>
      </p:sp>
    </p:spTree>
    <p:extLst>
      <p:ext uri="{BB962C8B-B14F-4D97-AF65-F5344CB8AC3E}">
        <p14:creationId xmlns:p14="http://schemas.microsoft.com/office/powerpoint/2010/main" val="270602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_50/50">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D39FD01-6F3D-63A2-0253-0AF855236B9E}"/>
              </a:ext>
            </a:extLst>
          </p:cNvPr>
          <p:cNvSpPr>
            <a:spLocks noGrp="1"/>
          </p:cNvSpPr>
          <p:nvPr>
            <p:ph type="pic" sz="quarter" idx="14"/>
          </p:nvPr>
        </p:nvSpPr>
        <p:spPr>
          <a:xfrm>
            <a:off x="6188765" y="0"/>
            <a:ext cx="6003235" cy="6858000"/>
          </a:xfrm>
        </p:spPr>
        <p:txBody>
          <a:bodyPr/>
          <a:lstStyle/>
          <a:p>
            <a:r>
              <a:rPr lang="en-US"/>
              <a:t>Click icon to add picture</a:t>
            </a:r>
          </a:p>
        </p:txBody>
      </p:sp>
      <p:sp>
        <p:nvSpPr>
          <p:cNvPr id="9" name="Slide Number Placeholder 8">
            <a:extLst>
              <a:ext uri="{FF2B5EF4-FFF2-40B4-BE49-F238E27FC236}">
                <a16:creationId xmlns:a16="http://schemas.microsoft.com/office/drawing/2014/main" id="{3F8D463F-0025-C992-6AEC-0AA43D7F2CAF}"/>
              </a:ext>
            </a:extLst>
          </p:cNvPr>
          <p:cNvSpPr>
            <a:spLocks noGrp="1"/>
          </p:cNvSpPr>
          <p:nvPr>
            <p:ph type="sldNum" sz="quarter" idx="17"/>
          </p:nvPr>
        </p:nvSpPr>
        <p:spPr/>
        <p:txBody>
          <a:bodyPr/>
          <a:lstStyle/>
          <a:p>
            <a:fld id="{1876332E-97D2-CC49-9E46-E6E0DDE407EB}" type="slidenum">
              <a:rPr lang="en-US" smtClean="0"/>
              <a:pPr/>
              <a:t>‹#›</a:t>
            </a:fld>
            <a:endParaRPr lang="en-US"/>
          </a:p>
        </p:txBody>
      </p:sp>
      <p:sp>
        <p:nvSpPr>
          <p:cNvPr id="10" name="Title 9">
            <a:extLst>
              <a:ext uri="{FF2B5EF4-FFF2-40B4-BE49-F238E27FC236}">
                <a16:creationId xmlns:a16="http://schemas.microsoft.com/office/drawing/2014/main" id="{F4C77AE1-1500-C1E6-7E7B-44BDADCE051C}"/>
              </a:ext>
            </a:extLst>
          </p:cNvPr>
          <p:cNvSpPr>
            <a:spLocks noGrp="1"/>
          </p:cNvSpPr>
          <p:nvPr>
            <p:ph type="title" hasCustomPrompt="1"/>
          </p:nvPr>
        </p:nvSpPr>
        <p:spPr>
          <a:xfrm>
            <a:off x="303317" y="244386"/>
            <a:ext cx="5695739" cy="550385"/>
          </a:xfrm>
        </p:spPr>
        <p:txBody>
          <a:bodyPr anchor="ctr"/>
          <a:lstStyle/>
          <a:p>
            <a:r>
              <a:rPr lang="en-US"/>
              <a:t>Click to edit title</a:t>
            </a:r>
          </a:p>
        </p:txBody>
      </p:sp>
      <p:cxnSp>
        <p:nvCxnSpPr>
          <p:cNvPr id="2" name="Straight Connector 1">
            <a:extLst>
              <a:ext uri="{FF2B5EF4-FFF2-40B4-BE49-F238E27FC236}">
                <a16:creationId xmlns:a16="http://schemas.microsoft.com/office/drawing/2014/main" id="{18680618-A88A-876A-8969-104E127B336D}"/>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 name="Content Placeholder 8">
            <a:extLst>
              <a:ext uri="{FF2B5EF4-FFF2-40B4-BE49-F238E27FC236}">
                <a16:creationId xmlns:a16="http://schemas.microsoft.com/office/drawing/2014/main" id="{A86DE1F0-3790-E00F-94D7-F6BF8C020852}"/>
              </a:ext>
            </a:extLst>
          </p:cNvPr>
          <p:cNvSpPr>
            <a:spLocks noGrp="1"/>
          </p:cNvSpPr>
          <p:nvPr>
            <p:ph sz="quarter" idx="13"/>
          </p:nvPr>
        </p:nvSpPr>
        <p:spPr>
          <a:xfrm>
            <a:off x="303317" y="952500"/>
            <a:ext cx="5695741"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4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_50/50_images">
    <p:spTree>
      <p:nvGrpSpPr>
        <p:cNvPr id="1" name=""/>
        <p:cNvGrpSpPr/>
        <p:nvPr/>
      </p:nvGrpSpPr>
      <p:grpSpPr>
        <a:xfrm>
          <a:off x="0" y="0"/>
          <a:ext cx="0" cy="0"/>
          <a:chOff x="0" y="0"/>
          <a:chExt cx="0" cy="0"/>
        </a:xfrm>
      </p:grpSpPr>
      <p:sp>
        <p:nvSpPr>
          <p:cNvPr id="12" name="Content Placeholder 8">
            <a:extLst>
              <a:ext uri="{FF2B5EF4-FFF2-40B4-BE49-F238E27FC236}">
                <a16:creationId xmlns:a16="http://schemas.microsoft.com/office/drawing/2014/main" id="{C0CBFE90-8411-F7CE-A7C3-3BB1F8350647}"/>
              </a:ext>
            </a:extLst>
          </p:cNvPr>
          <p:cNvSpPr>
            <a:spLocks noGrp="1"/>
          </p:cNvSpPr>
          <p:nvPr>
            <p:ph sz="quarter" idx="13"/>
          </p:nvPr>
        </p:nvSpPr>
        <p:spPr>
          <a:xfrm>
            <a:off x="266701" y="952500"/>
            <a:ext cx="5732358"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FD39FD01-6F3D-63A2-0253-0AF855236B9E}"/>
              </a:ext>
            </a:extLst>
          </p:cNvPr>
          <p:cNvSpPr>
            <a:spLocks noGrp="1"/>
          </p:cNvSpPr>
          <p:nvPr>
            <p:ph type="pic" sz="quarter" idx="14"/>
          </p:nvPr>
        </p:nvSpPr>
        <p:spPr>
          <a:xfrm>
            <a:off x="6188765" y="0"/>
            <a:ext cx="6003235" cy="3428996"/>
          </a:xfrm>
        </p:spPr>
        <p:txBody>
          <a:bodyPr/>
          <a:lstStyle/>
          <a:p>
            <a:r>
              <a:rPr lang="en-US"/>
              <a:t>Click icon to add picture</a:t>
            </a:r>
          </a:p>
        </p:txBody>
      </p:sp>
      <p:sp>
        <p:nvSpPr>
          <p:cNvPr id="3" name="Picture Placeholder 3">
            <a:extLst>
              <a:ext uri="{FF2B5EF4-FFF2-40B4-BE49-F238E27FC236}">
                <a16:creationId xmlns:a16="http://schemas.microsoft.com/office/drawing/2014/main" id="{C0458907-6624-6FF1-C3C1-7020AD3DD395}"/>
              </a:ext>
            </a:extLst>
          </p:cNvPr>
          <p:cNvSpPr>
            <a:spLocks noGrp="1"/>
          </p:cNvSpPr>
          <p:nvPr>
            <p:ph type="pic" sz="quarter" idx="15"/>
          </p:nvPr>
        </p:nvSpPr>
        <p:spPr>
          <a:xfrm>
            <a:off x="6188764" y="3565069"/>
            <a:ext cx="6003235" cy="3428996"/>
          </a:xfrm>
        </p:spPr>
        <p:txBody>
          <a:bodyPr/>
          <a:lstStyle/>
          <a:p>
            <a:r>
              <a:rPr lang="en-US"/>
              <a:t>Click icon to add picture</a:t>
            </a:r>
          </a:p>
        </p:txBody>
      </p:sp>
      <p:sp>
        <p:nvSpPr>
          <p:cNvPr id="10" name="Slide Number Placeholder 9">
            <a:extLst>
              <a:ext uri="{FF2B5EF4-FFF2-40B4-BE49-F238E27FC236}">
                <a16:creationId xmlns:a16="http://schemas.microsoft.com/office/drawing/2014/main" id="{D404A05D-00F5-1EA0-7624-6F0DBB16BA58}"/>
              </a:ext>
            </a:extLst>
          </p:cNvPr>
          <p:cNvSpPr>
            <a:spLocks noGrp="1"/>
          </p:cNvSpPr>
          <p:nvPr>
            <p:ph type="sldNum" sz="quarter" idx="18"/>
          </p:nvPr>
        </p:nvSpPr>
        <p:spPr/>
        <p:txBody>
          <a:bodyPr/>
          <a:lstStyle/>
          <a:p>
            <a:fld id="{1876332E-97D2-CC49-9E46-E6E0DDE407EB}" type="slidenum">
              <a:rPr lang="en-US" smtClean="0"/>
              <a:pPr/>
              <a:t>‹#›</a:t>
            </a:fld>
            <a:endParaRPr lang="en-US"/>
          </a:p>
        </p:txBody>
      </p:sp>
      <p:cxnSp>
        <p:nvCxnSpPr>
          <p:cNvPr id="2" name="Straight Connector 1">
            <a:extLst>
              <a:ext uri="{FF2B5EF4-FFF2-40B4-BE49-F238E27FC236}">
                <a16:creationId xmlns:a16="http://schemas.microsoft.com/office/drawing/2014/main" id="{A82250F8-8D52-D1D5-1B20-A83964DAEF8F}"/>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7" name="Title 16">
            <a:extLst>
              <a:ext uri="{FF2B5EF4-FFF2-40B4-BE49-F238E27FC236}">
                <a16:creationId xmlns:a16="http://schemas.microsoft.com/office/drawing/2014/main" id="{B8B77F34-E1EC-4981-129E-CF8A34B8EB4D}"/>
              </a:ext>
            </a:extLst>
          </p:cNvPr>
          <p:cNvSpPr>
            <a:spLocks noGrp="1"/>
          </p:cNvSpPr>
          <p:nvPr>
            <p:ph type="title" hasCustomPrompt="1"/>
          </p:nvPr>
        </p:nvSpPr>
        <p:spPr>
          <a:xfrm>
            <a:off x="303317" y="244389"/>
            <a:ext cx="5695742" cy="550388"/>
          </a:xfrm>
        </p:spPr>
        <p:txBody>
          <a:bodyPr/>
          <a:lstStyle/>
          <a:p>
            <a:r>
              <a:rPr lang="en-US"/>
              <a:t>Click to edit title</a:t>
            </a:r>
          </a:p>
        </p:txBody>
      </p:sp>
    </p:spTree>
    <p:extLst>
      <p:ext uri="{BB962C8B-B14F-4D97-AF65-F5344CB8AC3E}">
        <p14:creationId xmlns:p14="http://schemas.microsoft.com/office/powerpoint/2010/main" val="29338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debar w/ Image">
    <p:spTree>
      <p:nvGrpSpPr>
        <p:cNvPr id="1" name=""/>
        <p:cNvGrpSpPr/>
        <p:nvPr/>
      </p:nvGrpSpPr>
      <p:grpSpPr>
        <a:xfrm>
          <a:off x="0" y="0"/>
          <a:ext cx="0" cy="0"/>
          <a:chOff x="0" y="0"/>
          <a:chExt cx="0" cy="0"/>
        </a:xfrm>
      </p:grpSpPr>
      <p:sp>
        <p:nvSpPr>
          <p:cNvPr id="12" name="Content Placeholder 8">
            <a:extLst>
              <a:ext uri="{FF2B5EF4-FFF2-40B4-BE49-F238E27FC236}">
                <a16:creationId xmlns:a16="http://schemas.microsoft.com/office/drawing/2014/main" id="{C0CBFE90-8411-F7CE-A7C3-3BB1F8350647}"/>
              </a:ext>
            </a:extLst>
          </p:cNvPr>
          <p:cNvSpPr>
            <a:spLocks noGrp="1"/>
          </p:cNvSpPr>
          <p:nvPr>
            <p:ph sz="quarter" idx="13" hasCustomPrompt="1"/>
          </p:nvPr>
        </p:nvSpPr>
        <p:spPr>
          <a:xfrm>
            <a:off x="266700" y="952500"/>
            <a:ext cx="3231874" cy="5181600"/>
          </a:xfrm>
        </p:spPr>
        <p:txBody>
          <a:bodyPr>
            <a:normAutofit/>
          </a:bodyPr>
          <a:lstStyle>
            <a:lvl1pPr marL="0" indent="0">
              <a:buNone/>
              <a:defRPr sz="2000"/>
            </a:lvl1pPr>
          </a:lstStyle>
          <a:p>
            <a:pPr lvl="0"/>
            <a:r>
              <a:rPr lang="en-US"/>
              <a:t>Click to edit text</a:t>
            </a:r>
          </a:p>
        </p:txBody>
      </p:sp>
      <p:sp>
        <p:nvSpPr>
          <p:cNvPr id="3" name="Picture Placeholder 3">
            <a:extLst>
              <a:ext uri="{FF2B5EF4-FFF2-40B4-BE49-F238E27FC236}">
                <a16:creationId xmlns:a16="http://schemas.microsoft.com/office/drawing/2014/main" id="{C0458907-6624-6FF1-C3C1-7020AD3DD395}"/>
              </a:ext>
            </a:extLst>
          </p:cNvPr>
          <p:cNvSpPr>
            <a:spLocks noGrp="1"/>
          </p:cNvSpPr>
          <p:nvPr>
            <p:ph type="pic" sz="quarter" idx="15"/>
          </p:nvPr>
        </p:nvSpPr>
        <p:spPr>
          <a:xfrm>
            <a:off x="3795231" y="952500"/>
            <a:ext cx="8093438" cy="5181600"/>
          </a:xfrm>
        </p:spPr>
        <p:txBody>
          <a:bodyPr/>
          <a:lstStyle/>
          <a:p>
            <a:r>
              <a:rPr lang="en-US"/>
              <a:t>Click icon to add picture</a:t>
            </a:r>
          </a:p>
        </p:txBody>
      </p:sp>
      <p:sp>
        <p:nvSpPr>
          <p:cNvPr id="10" name="Slide Number Placeholder 9">
            <a:extLst>
              <a:ext uri="{FF2B5EF4-FFF2-40B4-BE49-F238E27FC236}">
                <a16:creationId xmlns:a16="http://schemas.microsoft.com/office/drawing/2014/main" id="{D404A05D-00F5-1EA0-7624-6F0DBB16BA58}"/>
              </a:ext>
            </a:extLst>
          </p:cNvPr>
          <p:cNvSpPr>
            <a:spLocks noGrp="1"/>
          </p:cNvSpPr>
          <p:nvPr>
            <p:ph type="sldNum" sz="quarter" idx="18"/>
          </p:nvPr>
        </p:nvSpPr>
        <p:spPr/>
        <p:txBody>
          <a:bodyPr/>
          <a:lstStyle/>
          <a:p>
            <a:fld id="{1876332E-97D2-CC49-9E46-E6E0DDE407EB}" type="slidenum">
              <a:rPr lang="en-US" smtClean="0"/>
              <a:pPr/>
              <a:t>‹#›</a:t>
            </a:fld>
            <a:endParaRPr lang="en-US"/>
          </a:p>
        </p:txBody>
      </p:sp>
      <p:cxnSp>
        <p:nvCxnSpPr>
          <p:cNvPr id="2" name="Straight Connector 1">
            <a:extLst>
              <a:ext uri="{FF2B5EF4-FFF2-40B4-BE49-F238E27FC236}">
                <a16:creationId xmlns:a16="http://schemas.microsoft.com/office/drawing/2014/main" id="{A82250F8-8D52-D1D5-1B20-A83964DAEF8F}"/>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7" name="Title 16">
            <a:extLst>
              <a:ext uri="{FF2B5EF4-FFF2-40B4-BE49-F238E27FC236}">
                <a16:creationId xmlns:a16="http://schemas.microsoft.com/office/drawing/2014/main" id="{B8B77F34-E1EC-4981-129E-CF8A34B8EB4D}"/>
              </a:ext>
            </a:extLst>
          </p:cNvPr>
          <p:cNvSpPr>
            <a:spLocks noGrp="1"/>
          </p:cNvSpPr>
          <p:nvPr>
            <p:ph type="title" hasCustomPrompt="1"/>
          </p:nvPr>
        </p:nvSpPr>
        <p:spPr>
          <a:xfrm>
            <a:off x="303317" y="244389"/>
            <a:ext cx="11585351" cy="550388"/>
          </a:xfrm>
        </p:spPr>
        <p:txBody>
          <a:bodyPr/>
          <a:lstStyle/>
          <a:p>
            <a:r>
              <a:rPr lang="en-US"/>
              <a:t>Click to edit title</a:t>
            </a:r>
          </a:p>
        </p:txBody>
      </p:sp>
      <p:cxnSp>
        <p:nvCxnSpPr>
          <p:cNvPr id="5" name="Straight Connector 4">
            <a:extLst>
              <a:ext uri="{FF2B5EF4-FFF2-40B4-BE49-F238E27FC236}">
                <a16:creationId xmlns:a16="http://schemas.microsoft.com/office/drawing/2014/main" id="{DAC29002-067D-6FC3-B50D-DFCDA74C0BFB}"/>
              </a:ext>
            </a:extLst>
          </p:cNvPr>
          <p:cNvCxnSpPr>
            <a:cxnSpLocks/>
          </p:cNvCxnSpPr>
          <p:nvPr userDrawn="1"/>
        </p:nvCxnSpPr>
        <p:spPr>
          <a:xfrm>
            <a:off x="3646902" y="952500"/>
            <a:ext cx="0" cy="5181600"/>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5839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2" name="Content Placeholder 8">
            <a:extLst>
              <a:ext uri="{FF2B5EF4-FFF2-40B4-BE49-F238E27FC236}">
                <a16:creationId xmlns:a16="http://schemas.microsoft.com/office/drawing/2014/main" id="{C0CBFE90-8411-F7CE-A7C3-3BB1F8350647}"/>
              </a:ext>
            </a:extLst>
          </p:cNvPr>
          <p:cNvSpPr>
            <a:spLocks noGrp="1"/>
          </p:cNvSpPr>
          <p:nvPr>
            <p:ph sz="quarter" idx="13"/>
          </p:nvPr>
        </p:nvSpPr>
        <p:spPr>
          <a:xfrm>
            <a:off x="301228" y="2054093"/>
            <a:ext cx="5715011" cy="4057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8C1AE1B3-157E-FD62-09F5-6FD7CC2D8ED0}"/>
              </a:ext>
            </a:extLst>
          </p:cNvPr>
          <p:cNvSpPr>
            <a:spLocks noGrp="1"/>
          </p:cNvSpPr>
          <p:nvPr>
            <p:ph sz="quarter" idx="14"/>
          </p:nvPr>
        </p:nvSpPr>
        <p:spPr>
          <a:xfrm>
            <a:off x="6173672" y="2054091"/>
            <a:ext cx="5715011" cy="4057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C36082A-4B83-1DF1-A516-4DDADFA783B7}"/>
              </a:ext>
            </a:extLst>
          </p:cNvPr>
          <p:cNvSpPr>
            <a:spLocks noGrp="1"/>
          </p:cNvSpPr>
          <p:nvPr>
            <p:ph type="sldNum" sz="quarter" idx="19"/>
          </p:nvPr>
        </p:nvSpPr>
        <p:spPr/>
        <p:txBody>
          <a:bodyPr/>
          <a:lstStyle/>
          <a:p>
            <a:fld id="{1876332E-97D2-CC49-9E46-E6E0DDE407EB}" type="slidenum">
              <a:rPr lang="en-US" smtClean="0"/>
              <a:pPr/>
              <a:t>‹#›</a:t>
            </a:fld>
            <a:endParaRPr lang="en-US"/>
          </a:p>
        </p:txBody>
      </p:sp>
      <p:cxnSp>
        <p:nvCxnSpPr>
          <p:cNvPr id="2" name="Straight Connector 1">
            <a:extLst>
              <a:ext uri="{FF2B5EF4-FFF2-40B4-BE49-F238E27FC236}">
                <a16:creationId xmlns:a16="http://schemas.microsoft.com/office/drawing/2014/main" id="{98BCAB42-8CF6-48FD-E164-840F6AB36B6E}"/>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7" name="Title 16">
            <a:extLst>
              <a:ext uri="{FF2B5EF4-FFF2-40B4-BE49-F238E27FC236}">
                <a16:creationId xmlns:a16="http://schemas.microsoft.com/office/drawing/2014/main" id="{910C9DFF-91FA-4E55-24AE-E1B41C94647F}"/>
              </a:ext>
            </a:extLst>
          </p:cNvPr>
          <p:cNvSpPr>
            <a:spLocks noGrp="1"/>
          </p:cNvSpPr>
          <p:nvPr>
            <p:ph type="title"/>
          </p:nvPr>
        </p:nvSpPr>
        <p:spPr>
          <a:xfrm>
            <a:off x="303317" y="244386"/>
            <a:ext cx="11585366" cy="524541"/>
          </a:xfrm>
        </p:spPr>
        <p:txBody>
          <a:bodyPr/>
          <a:lstStyle/>
          <a:p>
            <a:r>
              <a:rPr lang="en-US"/>
              <a:t>Click to edit Master title style</a:t>
            </a:r>
          </a:p>
        </p:txBody>
      </p:sp>
      <p:sp>
        <p:nvSpPr>
          <p:cNvPr id="3" name="Content Placeholder 8">
            <a:extLst>
              <a:ext uri="{FF2B5EF4-FFF2-40B4-BE49-F238E27FC236}">
                <a16:creationId xmlns:a16="http://schemas.microsoft.com/office/drawing/2014/main" id="{5E2AD5A3-7D0A-0907-D2E4-AD51F790518A}"/>
              </a:ext>
            </a:extLst>
          </p:cNvPr>
          <p:cNvSpPr>
            <a:spLocks noGrp="1"/>
          </p:cNvSpPr>
          <p:nvPr>
            <p:ph sz="quarter" idx="17" hasCustomPrompt="1"/>
          </p:nvPr>
        </p:nvSpPr>
        <p:spPr>
          <a:xfrm>
            <a:off x="303316" y="992842"/>
            <a:ext cx="11585365" cy="964912"/>
          </a:xfrm>
        </p:spPr>
        <p:txBody>
          <a:bodyPr anchor="ctr"/>
          <a:lstStyle>
            <a:lvl1pPr marL="0" indent="0">
              <a:buNone/>
              <a:defRPr>
                <a:solidFill>
                  <a:schemeClr val="accent2"/>
                </a:solidFill>
              </a:defRPr>
            </a:lvl1pPr>
            <a:lvl2pPr>
              <a:defRPr sz="2000"/>
            </a:lvl2pPr>
            <a:lvl3pPr marL="1143000" indent="-228600">
              <a:buFont typeface="System Font Regular"/>
              <a:buChar char="–"/>
              <a:defRPr sz="1800"/>
            </a:lvl3pPr>
            <a:lvl4pPr>
              <a:defRPr sz="1800"/>
            </a:lvl4pPr>
            <a:lvl5pPr>
              <a:defRPr sz="1800"/>
            </a:lvl5pPr>
          </a:lstStyle>
          <a:p>
            <a:pPr lvl="0"/>
            <a:r>
              <a:rPr lang="en-US"/>
              <a:t>Click to add slide introduction sentence</a:t>
            </a:r>
          </a:p>
          <a:p>
            <a:pPr lvl="0"/>
            <a:r>
              <a:rPr lang="en-US"/>
              <a:t>Two lines max</a:t>
            </a:r>
          </a:p>
        </p:txBody>
      </p:sp>
    </p:spTree>
    <p:extLst>
      <p:ext uri="{BB962C8B-B14F-4D97-AF65-F5344CB8AC3E}">
        <p14:creationId xmlns:p14="http://schemas.microsoft.com/office/powerpoint/2010/main" val="3273689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w/ Image">
    <p:spTree>
      <p:nvGrpSpPr>
        <p:cNvPr id="1" name=""/>
        <p:cNvGrpSpPr/>
        <p:nvPr/>
      </p:nvGrpSpPr>
      <p:grpSpPr>
        <a:xfrm>
          <a:off x="0" y="0"/>
          <a:ext cx="0" cy="0"/>
          <a:chOff x="0" y="0"/>
          <a:chExt cx="0" cy="0"/>
        </a:xfrm>
      </p:grpSpPr>
      <p:sp>
        <p:nvSpPr>
          <p:cNvPr id="12" name="Content Placeholder 8">
            <a:extLst>
              <a:ext uri="{FF2B5EF4-FFF2-40B4-BE49-F238E27FC236}">
                <a16:creationId xmlns:a16="http://schemas.microsoft.com/office/drawing/2014/main" id="{C0CBFE90-8411-F7CE-A7C3-3BB1F8350647}"/>
              </a:ext>
            </a:extLst>
          </p:cNvPr>
          <p:cNvSpPr>
            <a:spLocks noGrp="1"/>
          </p:cNvSpPr>
          <p:nvPr>
            <p:ph sz="quarter" idx="13"/>
          </p:nvPr>
        </p:nvSpPr>
        <p:spPr>
          <a:xfrm>
            <a:off x="301228" y="3723861"/>
            <a:ext cx="5715011" cy="23873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8C1AE1B3-157E-FD62-09F5-6FD7CC2D8ED0}"/>
              </a:ext>
            </a:extLst>
          </p:cNvPr>
          <p:cNvSpPr>
            <a:spLocks noGrp="1"/>
          </p:cNvSpPr>
          <p:nvPr>
            <p:ph sz="quarter" idx="14"/>
          </p:nvPr>
        </p:nvSpPr>
        <p:spPr>
          <a:xfrm>
            <a:off x="6173672" y="3723859"/>
            <a:ext cx="5715011" cy="23873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C36082A-4B83-1DF1-A516-4DDADFA783B7}"/>
              </a:ext>
            </a:extLst>
          </p:cNvPr>
          <p:cNvSpPr>
            <a:spLocks noGrp="1"/>
          </p:cNvSpPr>
          <p:nvPr>
            <p:ph type="sldNum" sz="quarter" idx="19"/>
          </p:nvPr>
        </p:nvSpPr>
        <p:spPr/>
        <p:txBody>
          <a:bodyPr/>
          <a:lstStyle/>
          <a:p>
            <a:fld id="{1876332E-97D2-CC49-9E46-E6E0DDE407EB}" type="slidenum">
              <a:rPr lang="en-US" smtClean="0"/>
              <a:pPr/>
              <a:t>‹#›</a:t>
            </a:fld>
            <a:endParaRPr lang="en-US"/>
          </a:p>
        </p:txBody>
      </p:sp>
      <p:cxnSp>
        <p:nvCxnSpPr>
          <p:cNvPr id="2" name="Straight Connector 1">
            <a:extLst>
              <a:ext uri="{FF2B5EF4-FFF2-40B4-BE49-F238E27FC236}">
                <a16:creationId xmlns:a16="http://schemas.microsoft.com/office/drawing/2014/main" id="{98BCAB42-8CF6-48FD-E164-840F6AB36B6E}"/>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7" name="Title 16">
            <a:extLst>
              <a:ext uri="{FF2B5EF4-FFF2-40B4-BE49-F238E27FC236}">
                <a16:creationId xmlns:a16="http://schemas.microsoft.com/office/drawing/2014/main" id="{910C9DFF-91FA-4E55-24AE-E1B41C94647F}"/>
              </a:ext>
            </a:extLst>
          </p:cNvPr>
          <p:cNvSpPr>
            <a:spLocks noGrp="1"/>
          </p:cNvSpPr>
          <p:nvPr>
            <p:ph type="title"/>
          </p:nvPr>
        </p:nvSpPr>
        <p:spPr>
          <a:xfrm>
            <a:off x="303317" y="244386"/>
            <a:ext cx="11585366" cy="524541"/>
          </a:xfrm>
        </p:spPr>
        <p:txBody>
          <a:bodyPr/>
          <a:lstStyle/>
          <a:p>
            <a:r>
              <a:rPr lang="en-US"/>
              <a:t>Click to edit Master title style</a:t>
            </a:r>
          </a:p>
        </p:txBody>
      </p:sp>
      <p:sp>
        <p:nvSpPr>
          <p:cNvPr id="3" name="Picture Placeholder 3">
            <a:extLst>
              <a:ext uri="{FF2B5EF4-FFF2-40B4-BE49-F238E27FC236}">
                <a16:creationId xmlns:a16="http://schemas.microsoft.com/office/drawing/2014/main" id="{63FC08A4-A279-5F64-1CFA-7A9FB44BF991}"/>
              </a:ext>
            </a:extLst>
          </p:cNvPr>
          <p:cNvSpPr>
            <a:spLocks noGrp="1"/>
          </p:cNvSpPr>
          <p:nvPr>
            <p:ph type="pic" sz="quarter" idx="15"/>
          </p:nvPr>
        </p:nvSpPr>
        <p:spPr>
          <a:xfrm>
            <a:off x="296870" y="952500"/>
            <a:ext cx="5719369" cy="2599083"/>
          </a:xfrm>
        </p:spPr>
        <p:txBody>
          <a:bodyPr/>
          <a:lstStyle/>
          <a:p>
            <a:r>
              <a:rPr lang="en-US"/>
              <a:t>Click icon to add picture</a:t>
            </a:r>
          </a:p>
        </p:txBody>
      </p:sp>
      <p:sp>
        <p:nvSpPr>
          <p:cNvPr id="4" name="Picture Placeholder 3">
            <a:extLst>
              <a:ext uri="{FF2B5EF4-FFF2-40B4-BE49-F238E27FC236}">
                <a16:creationId xmlns:a16="http://schemas.microsoft.com/office/drawing/2014/main" id="{EFF94F2C-95AA-D7C2-FF40-F1A958891053}"/>
              </a:ext>
            </a:extLst>
          </p:cNvPr>
          <p:cNvSpPr>
            <a:spLocks noGrp="1"/>
          </p:cNvSpPr>
          <p:nvPr>
            <p:ph type="pic" sz="quarter" idx="20"/>
          </p:nvPr>
        </p:nvSpPr>
        <p:spPr>
          <a:xfrm>
            <a:off x="6180119" y="952500"/>
            <a:ext cx="5715011" cy="2599083"/>
          </a:xfrm>
        </p:spPr>
        <p:txBody>
          <a:bodyPr/>
          <a:lstStyle/>
          <a:p>
            <a:r>
              <a:rPr lang="en-US"/>
              <a:t>Click icon to add picture</a:t>
            </a:r>
          </a:p>
        </p:txBody>
      </p:sp>
    </p:spTree>
    <p:extLst>
      <p:ext uri="{BB962C8B-B14F-4D97-AF65-F5344CB8AC3E}">
        <p14:creationId xmlns:p14="http://schemas.microsoft.com/office/powerpoint/2010/main" val="461972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2" name="Content Placeholder 8">
            <a:extLst>
              <a:ext uri="{FF2B5EF4-FFF2-40B4-BE49-F238E27FC236}">
                <a16:creationId xmlns:a16="http://schemas.microsoft.com/office/drawing/2014/main" id="{C0CBFE90-8411-F7CE-A7C3-3BB1F8350647}"/>
              </a:ext>
            </a:extLst>
          </p:cNvPr>
          <p:cNvSpPr>
            <a:spLocks noGrp="1"/>
          </p:cNvSpPr>
          <p:nvPr>
            <p:ph sz="quarter" idx="13"/>
          </p:nvPr>
        </p:nvSpPr>
        <p:spPr>
          <a:xfrm>
            <a:off x="303317" y="1530122"/>
            <a:ext cx="3602718" cy="46039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FD005257-7F98-7F3C-80F0-246539CA0D12}"/>
              </a:ext>
            </a:extLst>
          </p:cNvPr>
          <p:cNvSpPr>
            <a:spLocks noGrp="1"/>
          </p:cNvSpPr>
          <p:nvPr>
            <p:ph sz="quarter" idx="17"/>
          </p:nvPr>
        </p:nvSpPr>
        <p:spPr>
          <a:xfrm>
            <a:off x="4292249" y="1530121"/>
            <a:ext cx="3602718" cy="4603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a:extLst>
              <a:ext uri="{FF2B5EF4-FFF2-40B4-BE49-F238E27FC236}">
                <a16:creationId xmlns:a16="http://schemas.microsoft.com/office/drawing/2014/main" id="{F0759B36-1EA9-7840-36B2-8753D29167B1}"/>
              </a:ext>
            </a:extLst>
          </p:cNvPr>
          <p:cNvSpPr>
            <a:spLocks noGrp="1"/>
          </p:cNvSpPr>
          <p:nvPr>
            <p:ph sz="quarter" idx="18"/>
          </p:nvPr>
        </p:nvSpPr>
        <p:spPr>
          <a:xfrm>
            <a:off x="8281181" y="1530121"/>
            <a:ext cx="3602718" cy="4603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03BC7135-A999-7620-CD45-D05A7D428F3A}"/>
              </a:ext>
            </a:extLst>
          </p:cNvPr>
          <p:cNvSpPr>
            <a:spLocks noGrp="1"/>
          </p:cNvSpPr>
          <p:nvPr>
            <p:ph type="sldNum" sz="quarter" idx="21"/>
          </p:nvPr>
        </p:nvSpPr>
        <p:spPr/>
        <p:txBody>
          <a:bodyPr/>
          <a:lstStyle/>
          <a:p>
            <a:fld id="{1876332E-97D2-CC49-9E46-E6E0DDE407EB}" type="slidenum">
              <a:rPr lang="en-US" smtClean="0"/>
              <a:pPr/>
              <a:t>‹#›</a:t>
            </a:fld>
            <a:endParaRPr lang="en-US"/>
          </a:p>
        </p:txBody>
      </p:sp>
      <p:cxnSp>
        <p:nvCxnSpPr>
          <p:cNvPr id="2" name="Straight Connector 1">
            <a:extLst>
              <a:ext uri="{FF2B5EF4-FFF2-40B4-BE49-F238E27FC236}">
                <a16:creationId xmlns:a16="http://schemas.microsoft.com/office/drawing/2014/main" id="{2ABB7FF5-69CE-4FF7-EBE6-993F23194E33}"/>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7" name="Title 16">
            <a:extLst>
              <a:ext uri="{FF2B5EF4-FFF2-40B4-BE49-F238E27FC236}">
                <a16:creationId xmlns:a16="http://schemas.microsoft.com/office/drawing/2014/main" id="{EE1180EE-03E9-5AF2-0219-D9A1014EDE30}"/>
              </a:ext>
            </a:extLst>
          </p:cNvPr>
          <p:cNvSpPr>
            <a:spLocks noGrp="1"/>
          </p:cNvSpPr>
          <p:nvPr>
            <p:ph type="title"/>
          </p:nvPr>
        </p:nvSpPr>
        <p:spPr>
          <a:xfrm>
            <a:off x="303317" y="244386"/>
            <a:ext cx="11585366" cy="524541"/>
          </a:xfrm>
        </p:spPr>
        <p:txBody>
          <a:bodyPr/>
          <a:lstStyle/>
          <a:p>
            <a:r>
              <a:rPr lang="en-US"/>
              <a:t>Click to edit Master title style</a:t>
            </a:r>
          </a:p>
        </p:txBody>
      </p:sp>
      <p:cxnSp>
        <p:nvCxnSpPr>
          <p:cNvPr id="3" name="Straight Connector 2">
            <a:extLst>
              <a:ext uri="{FF2B5EF4-FFF2-40B4-BE49-F238E27FC236}">
                <a16:creationId xmlns:a16="http://schemas.microsoft.com/office/drawing/2014/main" id="{A9198083-AF5C-6D42-9DA2-30BBD549FE0D}"/>
              </a:ext>
            </a:extLst>
          </p:cNvPr>
          <p:cNvCxnSpPr>
            <a:cxnSpLocks/>
          </p:cNvCxnSpPr>
          <p:nvPr userDrawn="1"/>
        </p:nvCxnSpPr>
        <p:spPr>
          <a:xfrm>
            <a:off x="4097475" y="1530121"/>
            <a:ext cx="0" cy="4581064"/>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E4B9D6BA-C770-374C-B662-16D32D4142DA}"/>
              </a:ext>
            </a:extLst>
          </p:cNvPr>
          <p:cNvCxnSpPr>
            <a:cxnSpLocks/>
          </p:cNvCxnSpPr>
          <p:nvPr userDrawn="1"/>
        </p:nvCxnSpPr>
        <p:spPr>
          <a:xfrm>
            <a:off x="8085352" y="1530121"/>
            <a:ext cx="0" cy="4581064"/>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3" name="Content Placeholder 8">
            <a:extLst>
              <a:ext uri="{FF2B5EF4-FFF2-40B4-BE49-F238E27FC236}">
                <a16:creationId xmlns:a16="http://schemas.microsoft.com/office/drawing/2014/main" id="{78753652-D1B0-AFAA-09CC-1F59F8EA5731}"/>
              </a:ext>
            </a:extLst>
          </p:cNvPr>
          <p:cNvSpPr>
            <a:spLocks noGrp="1"/>
          </p:cNvSpPr>
          <p:nvPr>
            <p:ph sz="quarter" idx="22" hasCustomPrompt="1"/>
          </p:nvPr>
        </p:nvSpPr>
        <p:spPr>
          <a:xfrm>
            <a:off x="303316" y="992842"/>
            <a:ext cx="11585365" cy="416255"/>
          </a:xfrm>
        </p:spPr>
        <p:txBody>
          <a:bodyPr anchor="ctr"/>
          <a:lstStyle>
            <a:lvl1pPr marL="0" indent="0">
              <a:buNone/>
              <a:defRPr>
                <a:solidFill>
                  <a:schemeClr val="accent2"/>
                </a:solidFill>
              </a:defRPr>
            </a:lvl1pPr>
            <a:lvl2pPr>
              <a:defRPr sz="2000"/>
            </a:lvl2pPr>
            <a:lvl3pPr marL="1143000" indent="-228600">
              <a:buFont typeface="System Font Regular"/>
              <a:buChar char="–"/>
              <a:defRPr sz="1800"/>
            </a:lvl3pPr>
            <a:lvl4pPr>
              <a:defRPr sz="1800"/>
            </a:lvl4pPr>
            <a:lvl5pPr>
              <a:defRPr sz="1800"/>
            </a:lvl5pPr>
          </a:lstStyle>
          <a:p>
            <a:pPr lvl="0"/>
            <a:r>
              <a:rPr lang="en-US"/>
              <a:t>Click to add slide introduction sentence</a:t>
            </a:r>
          </a:p>
        </p:txBody>
      </p:sp>
    </p:spTree>
    <p:extLst>
      <p:ext uri="{BB962C8B-B14F-4D97-AF65-F5344CB8AC3E}">
        <p14:creationId xmlns:p14="http://schemas.microsoft.com/office/powerpoint/2010/main" val="2723902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w/ Image">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3C5BF3D7-0C7F-66B2-EE1F-3A9B05B8B63A}"/>
              </a:ext>
            </a:extLst>
          </p:cNvPr>
          <p:cNvSpPr>
            <a:spLocks noGrp="1"/>
          </p:cNvSpPr>
          <p:nvPr>
            <p:ph type="body" sz="quarter" idx="15" hasCustomPrompt="1"/>
          </p:nvPr>
        </p:nvSpPr>
        <p:spPr>
          <a:xfrm>
            <a:off x="303257" y="3976028"/>
            <a:ext cx="3593619" cy="2135161"/>
          </a:xfrm>
        </p:spPr>
        <p:txBody>
          <a:bodyPr anchor="t">
            <a:normAutofit/>
          </a:bodyPr>
          <a:lstStyle>
            <a:lvl1pPr marL="0" indent="0">
              <a:buNone/>
              <a:defRPr sz="2000" b="0"/>
            </a:lvl1pPr>
          </a:lstStyle>
          <a:p>
            <a:pPr lvl="0"/>
            <a:r>
              <a:rPr lang="en-US"/>
              <a:t>Image description</a:t>
            </a:r>
          </a:p>
        </p:txBody>
      </p:sp>
      <p:sp>
        <p:nvSpPr>
          <p:cNvPr id="20" name="Text Placeholder 18">
            <a:extLst>
              <a:ext uri="{FF2B5EF4-FFF2-40B4-BE49-F238E27FC236}">
                <a16:creationId xmlns:a16="http://schemas.microsoft.com/office/drawing/2014/main" id="{05118AA7-3D1E-ED41-C884-FC043818947B}"/>
              </a:ext>
            </a:extLst>
          </p:cNvPr>
          <p:cNvSpPr>
            <a:spLocks noGrp="1"/>
          </p:cNvSpPr>
          <p:nvPr>
            <p:ph type="body" sz="quarter" idx="16" hasCustomPrompt="1"/>
          </p:nvPr>
        </p:nvSpPr>
        <p:spPr>
          <a:xfrm>
            <a:off x="4308562" y="3976028"/>
            <a:ext cx="3570653" cy="2135160"/>
          </a:xfrm>
        </p:spPr>
        <p:txBody>
          <a:bodyPr anchor="t">
            <a:normAutofit/>
          </a:bodyPr>
          <a:lstStyle>
            <a:lvl1pPr marL="0" indent="0">
              <a:buNone/>
              <a:defRPr sz="2000" b="0"/>
            </a:lvl1pPr>
          </a:lstStyle>
          <a:p>
            <a:pPr lvl="0"/>
            <a:r>
              <a:rPr lang="en-US"/>
              <a:t>Image description</a:t>
            </a:r>
          </a:p>
        </p:txBody>
      </p:sp>
      <p:sp>
        <p:nvSpPr>
          <p:cNvPr id="14" name="Text Placeholder 18">
            <a:extLst>
              <a:ext uri="{FF2B5EF4-FFF2-40B4-BE49-F238E27FC236}">
                <a16:creationId xmlns:a16="http://schemas.microsoft.com/office/drawing/2014/main" id="{4757F6C8-BF41-B8A4-3479-9941BC7DC041}"/>
              </a:ext>
            </a:extLst>
          </p:cNvPr>
          <p:cNvSpPr>
            <a:spLocks noGrp="1"/>
          </p:cNvSpPr>
          <p:nvPr>
            <p:ph type="body" sz="quarter" idx="19" hasCustomPrompt="1"/>
          </p:nvPr>
        </p:nvSpPr>
        <p:spPr>
          <a:xfrm>
            <a:off x="8317987" y="3976028"/>
            <a:ext cx="3570637" cy="2135157"/>
          </a:xfrm>
        </p:spPr>
        <p:txBody>
          <a:bodyPr anchor="t">
            <a:normAutofit/>
          </a:bodyPr>
          <a:lstStyle>
            <a:lvl1pPr marL="0" indent="0">
              <a:buNone/>
              <a:defRPr sz="2000" b="0"/>
            </a:lvl1pPr>
          </a:lstStyle>
          <a:p>
            <a:pPr lvl="0"/>
            <a:r>
              <a:rPr lang="en-US"/>
              <a:t>Image description</a:t>
            </a:r>
          </a:p>
        </p:txBody>
      </p:sp>
      <p:sp>
        <p:nvSpPr>
          <p:cNvPr id="3" name="Picture Placeholder 3">
            <a:extLst>
              <a:ext uri="{FF2B5EF4-FFF2-40B4-BE49-F238E27FC236}">
                <a16:creationId xmlns:a16="http://schemas.microsoft.com/office/drawing/2014/main" id="{51C61B61-2E78-5336-3272-F364959B7A4E}"/>
              </a:ext>
            </a:extLst>
          </p:cNvPr>
          <p:cNvSpPr>
            <a:spLocks noGrp="1"/>
          </p:cNvSpPr>
          <p:nvPr>
            <p:ph type="pic" sz="quarter" idx="20"/>
          </p:nvPr>
        </p:nvSpPr>
        <p:spPr>
          <a:xfrm>
            <a:off x="288542" y="1516674"/>
            <a:ext cx="3593619" cy="2356067"/>
          </a:xfrm>
        </p:spPr>
        <p:txBody>
          <a:bodyPr/>
          <a:lstStyle/>
          <a:p>
            <a:r>
              <a:rPr lang="en-US"/>
              <a:t>Click icon to add picture</a:t>
            </a:r>
          </a:p>
        </p:txBody>
      </p:sp>
      <p:cxnSp>
        <p:nvCxnSpPr>
          <p:cNvPr id="6" name="Straight Connector 5">
            <a:extLst>
              <a:ext uri="{FF2B5EF4-FFF2-40B4-BE49-F238E27FC236}">
                <a16:creationId xmlns:a16="http://schemas.microsoft.com/office/drawing/2014/main" id="{90D960AA-0D86-885A-F579-2E30A003F0A5}"/>
              </a:ext>
            </a:extLst>
          </p:cNvPr>
          <p:cNvCxnSpPr>
            <a:cxnSpLocks/>
          </p:cNvCxnSpPr>
          <p:nvPr userDrawn="1"/>
        </p:nvCxnSpPr>
        <p:spPr>
          <a:xfrm>
            <a:off x="4097475" y="1516674"/>
            <a:ext cx="0" cy="459451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1017644-9EE0-61FB-2B50-EFB7EB664550}"/>
              </a:ext>
            </a:extLst>
          </p:cNvPr>
          <p:cNvCxnSpPr>
            <a:cxnSpLocks/>
          </p:cNvCxnSpPr>
          <p:nvPr userDrawn="1"/>
        </p:nvCxnSpPr>
        <p:spPr>
          <a:xfrm>
            <a:off x="8085352" y="1516674"/>
            <a:ext cx="0" cy="459451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2" name="Slide Number Placeholder 11">
            <a:extLst>
              <a:ext uri="{FF2B5EF4-FFF2-40B4-BE49-F238E27FC236}">
                <a16:creationId xmlns:a16="http://schemas.microsoft.com/office/drawing/2014/main" id="{5E8C4133-66D9-03B9-783E-5072D68DF4A6}"/>
              </a:ext>
            </a:extLst>
          </p:cNvPr>
          <p:cNvSpPr>
            <a:spLocks noGrp="1"/>
          </p:cNvSpPr>
          <p:nvPr>
            <p:ph type="sldNum" sz="quarter" idx="25"/>
          </p:nvPr>
        </p:nvSpPr>
        <p:spPr/>
        <p:txBody>
          <a:bodyPr/>
          <a:lstStyle/>
          <a:p>
            <a:fld id="{1876332E-97D2-CC49-9E46-E6E0DDE407EB}" type="slidenum">
              <a:rPr lang="en-US" smtClean="0"/>
              <a:pPr/>
              <a:t>‹#›</a:t>
            </a:fld>
            <a:endParaRPr lang="en-US"/>
          </a:p>
        </p:txBody>
      </p:sp>
      <p:sp>
        <p:nvSpPr>
          <p:cNvPr id="17" name="Picture Placeholder 3">
            <a:extLst>
              <a:ext uri="{FF2B5EF4-FFF2-40B4-BE49-F238E27FC236}">
                <a16:creationId xmlns:a16="http://schemas.microsoft.com/office/drawing/2014/main" id="{D0BEF9F1-EB8A-61E3-3782-8F36AF7CF80B}"/>
              </a:ext>
            </a:extLst>
          </p:cNvPr>
          <p:cNvSpPr>
            <a:spLocks noGrp="1"/>
          </p:cNvSpPr>
          <p:nvPr>
            <p:ph type="pic" sz="quarter" idx="26"/>
          </p:nvPr>
        </p:nvSpPr>
        <p:spPr>
          <a:xfrm>
            <a:off x="4308562" y="1516674"/>
            <a:ext cx="3570695" cy="2378338"/>
          </a:xfrm>
        </p:spPr>
        <p:txBody>
          <a:bodyPr/>
          <a:lstStyle/>
          <a:p>
            <a:r>
              <a:rPr lang="en-US"/>
              <a:t>Click icon to add picture</a:t>
            </a:r>
          </a:p>
        </p:txBody>
      </p:sp>
      <p:sp>
        <p:nvSpPr>
          <p:cNvPr id="18" name="Picture Placeholder 3">
            <a:extLst>
              <a:ext uri="{FF2B5EF4-FFF2-40B4-BE49-F238E27FC236}">
                <a16:creationId xmlns:a16="http://schemas.microsoft.com/office/drawing/2014/main" id="{2C8994EE-25CE-5453-BFFC-B40C91A22EEB}"/>
              </a:ext>
            </a:extLst>
          </p:cNvPr>
          <p:cNvSpPr>
            <a:spLocks noGrp="1"/>
          </p:cNvSpPr>
          <p:nvPr>
            <p:ph type="pic" sz="quarter" idx="27"/>
          </p:nvPr>
        </p:nvSpPr>
        <p:spPr>
          <a:xfrm>
            <a:off x="8305658" y="1516674"/>
            <a:ext cx="3570695" cy="2384567"/>
          </a:xfrm>
        </p:spPr>
        <p:txBody>
          <a:bodyPr/>
          <a:lstStyle/>
          <a:p>
            <a:r>
              <a:rPr lang="en-US"/>
              <a:t>Click icon to add picture</a:t>
            </a:r>
          </a:p>
        </p:txBody>
      </p:sp>
      <p:cxnSp>
        <p:nvCxnSpPr>
          <p:cNvPr id="2" name="Straight Connector 1">
            <a:extLst>
              <a:ext uri="{FF2B5EF4-FFF2-40B4-BE49-F238E27FC236}">
                <a16:creationId xmlns:a16="http://schemas.microsoft.com/office/drawing/2014/main" id="{093277AA-710A-9A19-F037-664318F91A68}"/>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4" name="Title 16">
            <a:extLst>
              <a:ext uri="{FF2B5EF4-FFF2-40B4-BE49-F238E27FC236}">
                <a16:creationId xmlns:a16="http://schemas.microsoft.com/office/drawing/2014/main" id="{B5790A35-F2A2-D491-BEC4-CF2DA53DB86E}"/>
              </a:ext>
            </a:extLst>
          </p:cNvPr>
          <p:cNvSpPr>
            <a:spLocks noGrp="1"/>
          </p:cNvSpPr>
          <p:nvPr>
            <p:ph type="title"/>
          </p:nvPr>
        </p:nvSpPr>
        <p:spPr>
          <a:xfrm>
            <a:off x="303317" y="244386"/>
            <a:ext cx="11585366" cy="524541"/>
          </a:xfrm>
        </p:spPr>
        <p:txBody>
          <a:bodyPr/>
          <a:lstStyle/>
          <a:p>
            <a:r>
              <a:rPr lang="en-US"/>
              <a:t>Click to edit Master title style</a:t>
            </a:r>
          </a:p>
        </p:txBody>
      </p:sp>
      <p:sp>
        <p:nvSpPr>
          <p:cNvPr id="8" name="Content Placeholder 8">
            <a:extLst>
              <a:ext uri="{FF2B5EF4-FFF2-40B4-BE49-F238E27FC236}">
                <a16:creationId xmlns:a16="http://schemas.microsoft.com/office/drawing/2014/main" id="{BC4602FB-66A0-5911-4495-C4A6AB25735F}"/>
              </a:ext>
            </a:extLst>
          </p:cNvPr>
          <p:cNvSpPr>
            <a:spLocks noGrp="1"/>
          </p:cNvSpPr>
          <p:nvPr>
            <p:ph sz="quarter" idx="17" hasCustomPrompt="1"/>
          </p:nvPr>
        </p:nvSpPr>
        <p:spPr>
          <a:xfrm>
            <a:off x="303316" y="992842"/>
            <a:ext cx="11585365" cy="416255"/>
          </a:xfrm>
        </p:spPr>
        <p:txBody>
          <a:bodyPr anchor="ctr"/>
          <a:lstStyle>
            <a:lvl1pPr marL="0" indent="0">
              <a:buNone/>
              <a:defRPr>
                <a:solidFill>
                  <a:schemeClr val="accent2"/>
                </a:solidFill>
              </a:defRPr>
            </a:lvl1pPr>
            <a:lvl2pPr>
              <a:defRPr sz="2000"/>
            </a:lvl2pPr>
            <a:lvl3pPr marL="1143000" indent="-228600">
              <a:buFont typeface="System Font Regular"/>
              <a:buChar char="–"/>
              <a:defRPr sz="1800"/>
            </a:lvl3pPr>
            <a:lvl4pPr>
              <a:defRPr sz="1800"/>
            </a:lvl4pPr>
            <a:lvl5pPr>
              <a:defRPr sz="1800"/>
            </a:lvl5pPr>
          </a:lstStyle>
          <a:p>
            <a:pPr lvl="0"/>
            <a:r>
              <a:rPr lang="en-US"/>
              <a:t>Click to add slide introduction sentence</a:t>
            </a:r>
          </a:p>
        </p:txBody>
      </p:sp>
    </p:spTree>
    <p:extLst>
      <p:ext uri="{BB962C8B-B14F-4D97-AF65-F5344CB8AC3E}">
        <p14:creationId xmlns:p14="http://schemas.microsoft.com/office/powerpoint/2010/main" val="3836944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12" name="Content Placeholder 8">
            <a:extLst>
              <a:ext uri="{FF2B5EF4-FFF2-40B4-BE49-F238E27FC236}">
                <a16:creationId xmlns:a16="http://schemas.microsoft.com/office/drawing/2014/main" id="{C0CBFE90-8411-F7CE-A7C3-3BB1F8350647}"/>
              </a:ext>
            </a:extLst>
          </p:cNvPr>
          <p:cNvSpPr>
            <a:spLocks noGrp="1"/>
          </p:cNvSpPr>
          <p:nvPr>
            <p:ph sz="quarter" idx="13"/>
          </p:nvPr>
        </p:nvSpPr>
        <p:spPr>
          <a:xfrm>
            <a:off x="303317" y="1546418"/>
            <a:ext cx="2660444" cy="4564768"/>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8">
            <a:extLst>
              <a:ext uri="{FF2B5EF4-FFF2-40B4-BE49-F238E27FC236}">
                <a16:creationId xmlns:a16="http://schemas.microsoft.com/office/drawing/2014/main" id="{8174707A-55F1-CD8B-3EAB-9C4C03F912ED}"/>
              </a:ext>
            </a:extLst>
          </p:cNvPr>
          <p:cNvSpPr>
            <a:spLocks noGrp="1"/>
          </p:cNvSpPr>
          <p:nvPr>
            <p:ph sz="quarter" idx="14"/>
          </p:nvPr>
        </p:nvSpPr>
        <p:spPr>
          <a:xfrm>
            <a:off x="3268158" y="1546417"/>
            <a:ext cx="2660444" cy="4564764"/>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5A71FE2B-D18D-6F42-1053-0D74A8A4EDE5}"/>
              </a:ext>
            </a:extLst>
          </p:cNvPr>
          <p:cNvSpPr>
            <a:spLocks noGrp="1"/>
          </p:cNvSpPr>
          <p:nvPr>
            <p:ph sz="quarter" idx="15"/>
          </p:nvPr>
        </p:nvSpPr>
        <p:spPr>
          <a:xfrm>
            <a:off x="6233000" y="1546418"/>
            <a:ext cx="2660444" cy="4564758"/>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8D3C944F-6D0E-4F39-79C7-55A4C32EC564}"/>
              </a:ext>
            </a:extLst>
          </p:cNvPr>
          <p:cNvSpPr>
            <a:spLocks noGrp="1"/>
          </p:cNvSpPr>
          <p:nvPr>
            <p:ph sz="quarter" idx="16"/>
          </p:nvPr>
        </p:nvSpPr>
        <p:spPr>
          <a:xfrm>
            <a:off x="9228239" y="1546418"/>
            <a:ext cx="2660444" cy="4564754"/>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15BBF4C9-5C2B-20D6-5BF5-40872F884F09}"/>
              </a:ext>
            </a:extLst>
          </p:cNvPr>
          <p:cNvSpPr>
            <a:spLocks noGrp="1"/>
          </p:cNvSpPr>
          <p:nvPr>
            <p:ph type="sldNum" sz="quarter" idx="19"/>
          </p:nvPr>
        </p:nvSpPr>
        <p:spPr/>
        <p:txBody>
          <a:bodyPr/>
          <a:lstStyle/>
          <a:p>
            <a:fld id="{1876332E-97D2-CC49-9E46-E6E0DDE407EB}" type="slidenum">
              <a:rPr lang="en-US" smtClean="0"/>
              <a:pPr/>
              <a:t>‹#›</a:t>
            </a:fld>
            <a:endParaRPr lang="en-US"/>
          </a:p>
        </p:txBody>
      </p:sp>
      <p:cxnSp>
        <p:nvCxnSpPr>
          <p:cNvPr id="2" name="Straight Connector 1">
            <a:extLst>
              <a:ext uri="{FF2B5EF4-FFF2-40B4-BE49-F238E27FC236}">
                <a16:creationId xmlns:a16="http://schemas.microsoft.com/office/drawing/2014/main" id="{5CE7BB06-4721-8BCB-6303-28D5DA265C5D}"/>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7" name="Title 16">
            <a:extLst>
              <a:ext uri="{FF2B5EF4-FFF2-40B4-BE49-F238E27FC236}">
                <a16:creationId xmlns:a16="http://schemas.microsoft.com/office/drawing/2014/main" id="{2F40FC04-4BD9-9158-F5AC-7900F242CF39}"/>
              </a:ext>
            </a:extLst>
          </p:cNvPr>
          <p:cNvSpPr>
            <a:spLocks noGrp="1"/>
          </p:cNvSpPr>
          <p:nvPr>
            <p:ph type="title"/>
          </p:nvPr>
        </p:nvSpPr>
        <p:spPr>
          <a:xfrm>
            <a:off x="303317" y="244386"/>
            <a:ext cx="11585366" cy="524541"/>
          </a:xfrm>
        </p:spPr>
        <p:txBody>
          <a:bodyPr/>
          <a:lstStyle/>
          <a:p>
            <a:r>
              <a:rPr lang="en-US"/>
              <a:t>Click to edit Master title style</a:t>
            </a:r>
          </a:p>
        </p:txBody>
      </p:sp>
      <p:cxnSp>
        <p:nvCxnSpPr>
          <p:cNvPr id="4" name="Straight Connector 3">
            <a:extLst>
              <a:ext uri="{FF2B5EF4-FFF2-40B4-BE49-F238E27FC236}">
                <a16:creationId xmlns:a16="http://schemas.microsoft.com/office/drawing/2014/main" id="{A433B511-8470-C081-14A5-E0EBCC1D010C}"/>
              </a:ext>
            </a:extLst>
          </p:cNvPr>
          <p:cNvCxnSpPr>
            <a:cxnSpLocks/>
          </p:cNvCxnSpPr>
          <p:nvPr userDrawn="1"/>
        </p:nvCxnSpPr>
        <p:spPr>
          <a:xfrm>
            <a:off x="3116283" y="1546417"/>
            <a:ext cx="0" cy="4587683"/>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B028EAB8-60E6-C8A7-764E-8D549AD13E3A}"/>
              </a:ext>
            </a:extLst>
          </p:cNvPr>
          <p:cNvCxnSpPr>
            <a:cxnSpLocks/>
          </p:cNvCxnSpPr>
          <p:nvPr userDrawn="1"/>
        </p:nvCxnSpPr>
        <p:spPr>
          <a:xfrm>
            <a:off x="6093912" y="1569332"/>
            <a:ext cx="2088" cy="456476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F990569-498F-4BBD-6C96-CDC17227ECD1}"/>
              </a:ext>
            </a:extLst>
          </p:cNvPr>
          <p:cNvCxnSpPr>
            <a:cxnSpLocks/>
          </p:cNvCxnSpPr>
          <p:nvPr userDrawn="1"/>
        </p:nvCxnSpPr>
        <p:spPr>
          <a:xfrm>
            <a:off x="9061158" y="1569332"/>
            <a:ext cx="0" cy="456476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8" name="Content Placeholder 8">
            <a:extLst>
              <a:ext uri="{FF2B5EF4-FFF2-40B4-BE49-F238E27FC236}">
                <a16:creationId xmlns:a16="http://schemas.microsoft.com/office/drawing/2014/main" id="{F112F4C1-E577-4E63-6D40-9DF27704F018}"/>
              </a:ext>
            </a:extLst>
          </p:cNvPr>
          <p:cNvSpPr>
            <a:spLocks noGrp="1"/>
          </p:cNvSpPr>
          <p:nvPr>
            <p:ph sz="quarter" idx="17" hasCustomPrompt="1"/>
          </p:nvPr>
        </p:nvSpPr>
        <p:spPr>
          <a:xfrm>
            <a:off x="303316" y="992842"/>
            <a:ext cx="11585365" cy="416255"/>
          </a:xfrm>
        </p:spPr>
        <p:txBody>
          <a:bodyPr anchor="ctr"/>
          <a:lstStyle>
            <a:lvl1pPr marL="0" indent="0">
              <a:buNone/>
              <a:defRPr>
                <a:solidFill>
                  <a:schemeClr val="accent2"/>
                </a:solidFill>
              </a:defRPr>
            </a:lvl1pPr>
            <a:lvl2pPr>
              <a:defRPr sz="2000"/>
            </a:lvl2pPr>
            <a:lvl3pPr marL="1143000" indent="-228600">
              <a:buFont typeface="System Font Regular"/>
              <a:buChar char="–"/>
              <a:defRPr sz="1800"/>
            </a:lvl3pPr>
            <a:lvl4pPr>
              <a:defRPr sz="1800"/>
            </a:lvl4pPr>
            <a:lvl5pPr>
              <a:defRPr sz="1800"/>
            </a:lvl5pPr>
          </a:lstStyle>
          <a:p>
            <a:pPr lvl="0"/>
            <a:r>
              <a:rPr lang="en-US"/>
              <a:t>Click to add slide introduction sentence</a:t>
            </a:r>
          </a:p>
        </p:txBody>
      </p:sp>
    </p:spTree>
    <p:extLst>
      <p:ext uri="{BB962C8B-B14F-4D97-AF65-F5344CB8AC3E}">
        <p14:creationId xmlns:p14="http://schemas.microsoft.com/office/powerpoint/2010/main" val="33585271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w/ Image">
    <p:spTree>
      <p:nvGrpSpPr>
        <p:cNvPr id="1" name=""/>
        <p:cNvGrpSpPr/>
        <p:nvPr/>
      </p:nvGrpSpPr>
      <p:grpSpPr>
        <a:xfrm>
          <a:off x="0" y="0"/>
          <a:ext cx="0" cy="0"/>
          <a:chOff x="0" y="0"/>
          <a:chExt cx="0" cy="0"/>
        </a:xfrm>
      </p:grpSpPr>
      <p:sp>
        <p:nvSpPr>
          <p:cNvPr id="4" name="Content Placeholder 8">
            <a:extLst>
              <a:ext uri="{FF2B5EF4-FFF2-40B4-BE49-F238E27FC236}">
                <a16:creationId xmlns:a16="http://schemas.microsoft.com/office/drawing/2014/main" id="{BABAB7EE-4A14-DD5D-BEC2-405EEA7B428E}"/>
              </a:ext>
            </a:extLst>
          </p:cNvPr>
          <p:cNvSpPr>
            <a:spLocks noGrp="1"/>
          </p:cNvSpPr>
          <p:nvPr>
            <p:ph sz="quarter" idx="13" hasCustomPrompt="1"/>
          </p:nvPr>
        </p:nvSpPr>
        <p:spPr>
          <a:xfrm>
            <a:off x="303315" y="3429000"/>
            <a:ext cx="2684391" cy="2705100"/>
          </a:xfrm>
        </p:spPr>
        <p:txBody>
          <a:bodyPr>
            <a:normAutofit/>
          </a:bodyPr>
          <a:lstStyle>
            <a:lvl1pPr marL="0" indent="0">
              <a:buNone/>
              <a:defRPr sz="2000"/>
            </a:lvl1pPr>
          </a:lstStyle>
          <a:p>
            <a:pPr lvl="0"/>
            <a:r>
              <a:rPr lang="en-US"/>
              <a:t>Text</a:t>
            </a:r>
          </a:p>
        </p:txBody>
      </p:sp>
      <p:sp>
        <p:nvSpPr>
          <p:cNvPr id="5" name="Content Placeholder 8">
            <a:extLst>
              <a:ext uri="{FF2B5EF4-FFF2-40B4-BE49-F238E27FC236}">
                <a16:creationId xmlns:a16="http://schemas.microsoft.com/office/drawing/2014/main" id="{D26C261F-5DFC-5751-B7F4-F438B6256FAF}"/>
              </a:ext>
            </a:extLst>
          </p:cNvPr>
          <p:cNvSpPr>
            <a:spLocks noGrp="1"/>
          </p:cNvSpPr>
          <p:nvPr>
            <p:ph sz="quarter" idx="14" hasCustomPrompt="1"/>
          </p:nvPr>
        </p:nvSpPr>
        <p:spPr>
          <a:xfrm>
            <a:off x="3284887" y="3429000"/>
            <a:ext cx="2683117" cy="2705100"/>
          </a:xfrm>
        </p:spPr>
        <p:txBody>
          <a:bodyPr/>
          <a:lstStyle>
            <a:lvl1pPr marL="0" indent="0">
              <a:buNone/>
              <a:defRPr sz="2000"/>
            </a:lvl1pPr>
          </a:lstStyle>
          <a:p>
            <a:pPr lvl="0"/>
            <a:r>
              <a:rPr lang="en-US"/>
              <a:t>Text</a:t>
            </a:r>
          </a:p>
        </p:txBody>
      </p:sp>
      <p:sp>
        <p:nvSpPr>
          <p:cNvPr id="9" name="Content Placeholder 8">
            <a:extLst>
              <a:ext uri="{FF2B5EF4-FFF2-40B4-BE49-F238E27FC236}">
                <a16:creationId xmlns:a16="http://schemas.microsoft.com/office/drawing/2014/main" id="{87C05C53-5C4E-97E4-529D-5B41D4F97F11}"/>
              </a:ext>
            </a:extLst>
          </p:cNvPr>
          <p:cNvSpPr>
            <a:spLocks noGrp="1"/>
          </p:cNvSpPr>
          <p:nvPr>
            <p:ph sz="quarter" idx="15" hasCustomPrompt="1"/>
          </p:nvPr>
        </p:nvSpPr>
        <p:spPr>
          <a:xfrm>
            <a:off x="6244586" y="3429000"/>
            <a:ext cx="2684393" cy="2705100"/>
          </a:xfrm>
        </p:spPr>
        <p:txBody>
          <a:bodyPr/>
          <a:lstStyle>
            <a:lvl1pPr marL="0" indent="0">
              <a:buNone/>
              <a:defRPr sz="2000"/>
            </a:lvl1pPr>
          </a:lstStyle>
          <a:p>
            <a:pPr lvl="0"/>
            <a:r>
              <a:rPr lang="en-US"/>
              <a:t>Text</a:t>
            </a:r>
          </a:p>
        </p:txBody>
      </p:sp>
      <p:sp>
        <p:nvSpPr>
          <p:cNvPr id="10" name="Content Placeholder 8">
            <a:extLst>
              <a:ext uri="{FF2B5EF4-FFF2-40B4-BE49-F238E27FC236}">
                <a16:creationId xmlns:a16="http://schemas.microsoft.com/office/drawing/2014/main" id="{28E3C20D-EAD4-AE1B-D2F6-E5D764142A29}"/>
              </a:ext>
            </a:extLst>
          </p:cNvPr>
          <p:cNvSpPr>
            <a:spLocks noGrp="1"/>
          </p:cNvSpPr>
          <p:nvPr>
            <p:ph sz="quarter" idx="16" hasCustomPrompt="1"/>
          </p:nvPr>
        </p:nvSpPr>
        <p:spPr>
          <a:xfrm>
            <a:off x="9204288" y="3429000"/>
            <a:ext cx="2684376" cy="2705100"/>
          </a:xfrm>
        </p:spPr>
        <p:txBody>
          <a:bodyPr>
            <a:normAutofit/>
          </a:bodyPr>
          <a:lstStyle>
            <a:lvl1pPr marL="0" indent="0">
              <a:buNone/>
              <a:defRPr sz="2000"/>
            </a:lvl1pPr>
          </a:lstStyle>
          <a:p>
            <a:pPr lvl="0"/>
            <a:r>
              <a:rPr lang="en-US"/>
              <a:t>Text</a:t>
            </a:r>
          </a:p>
        </p:txBody>
      </p:sp>
      <p:sp>
        <p:nvSpPr>
          <p:cNvPr id="14" name="Picture Placeholder 4">
            <a:extLst>
              <a:ext uri="{FF2B5EF4-FFF2-40B4-BE49-F238E27FC236}">
                <a16:creationId xmlns:a16="http://schemas.microsoft.com/office/drawing/2014/main" id="{D8B251DC-6D53-7CAC-6AD5-B2B59B623CE1}"/>
              </a:ext>
            </a:extLst>
          </p:cNvPr>
          <p:cNvSpPr>
            <a:spLocks noGrp="1"/>
          </p:cNvSpPr>
          <p:nvPr>
            <p:ph type="pic" sz="quarter" idx="17"/>
          </p:nvPr>
        </p:nvSpPr>
        <p:spPr>
          <a:xfrm>
            <a:off x="294324" y="1518191"/>
            <a:ext cx="2684395" cy="1816679"/>
          </a:xfrm>
        </p:spPr>
        <p:txBody>
          <a:bodyPr/>
          <a:lstStyle/>
          <a:p>
            <a:r>
              <a:rPr lang="en-US"/>
              <a:t>Click icon to add picture</a:t>
            </a:r>
          </a:p>
        </p:txBody>
      </p:sp>
      <p:cxnSp>
        <p:nvCxnSpPr>
          <p:cNvPr id="18" name="Straight Connector 17">
            <a:extLst>
              <a:ext uri="{FF2B5EF4-FFF2-40B4-BE49-F238E27FC236}">
                <a16:creationId xmlns:a16="http://schemas.microsoft.com/office/drawing/2014/main" id="{CDAFBA2A-2072-002A-E855-4E657FF1A7BF}"/>
              </a:ext>
            </a:extLst>
          </p:cNvPr>
          <p:cNvCxnSpPr>
            <a:cxnSpLocks/>
          </p:cNvCxnSpPr>
          <p:nvPr userDrawn="1"/>
        </p:nvCxnSpPr>
        <p:spPr>
          <a:xfrm>
            <a:off x="3140347" y="1518191"/>
            <a:ext cx="0" cy="4615909"/>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2" name="Slide Number Placeholder 11">
            <a:extLst>
              <a:ext uri="{FF2B5EF4-FFF2-40B4-BE49-F238E27FC236}">
                <a16:creationId xmlns:a16="http://schemas.microsoft.com/office/drawing/2014/main" id="{8C560291-B5AC-F0FA-165E-2C9BF9005643}"/>
              </a:ext>
            </a:extLst>
          </p:cNvPr>
          <p:cNvSpPr>
            <a:spLocks noGrp="1"/>
          </p:cNvSpPr>
          <p:nvPr>
            <p:ph type="sldNum" sz="quarter" idx="23"/>
          </p:nvPr>
        </p:nvSpPr>
        <p:spPr/>
        <p:txBody>
          <a:bodyPr/>
          <a:lstStyle/>
          <a:p>
            <a:fld id="{1876332E-97D2-CC49-9E46-E6E0DDE407EB}" type="slidenum">
              <a:rPr lang="en-US" smtClean="0"/>
              <a:pPr/>
              <a:t>‹#›</a:t>
            </a:fld>
            <a:endParaRPr lang="en-US"/>
          </a:p>
        </p:txBody>
      </p:sp>
      <p:sp>
        <p:nvSpPr>
          <p:cNvPr id="24" name="Picture Placeholder 4">
            <a:extLst>
              <a:ext uri="{FF2B5EF4-FFF2-40B4-BE49-F238E27FC236}">
                <a16:creationId xmlns:a16="http://schemas.microsoft.com/office/drawing/2014/main" id="{4119E0C5-7DA0-680A-8DE9-98B9202AEAE8}"/>
              </a:ext>
            </a:extLst>
          </p:cNvPr>
          <p:cNvSpPr>
            <a:spLocks noGrp="1"/>
          </p:cNvSpPr>
          <p:nvPr>
            <p:ph type="pic" sz="quarter" idx="24"/>
          </p:nvPr>
        </p:nvSpPr>
        <p:spPr>
          <a:xfrm>
            <a:off x="3275895" y="1518191"/>
            <a:ext cx="2684395" cy="1816680"/>
          </a:xfrm>
        </p:spPr>
        <p:txBody>
          <a:bodyPr/>
          <a:lstStyle/>
          <a:p>
            <a:r>
              <a:rPr lang="en-US"/>
              <a:t>Click icon to add picture</a:t>
            </a:r>
          </a:p>
        </p:txBody>
      </p:sp>
      <p:sp>
        <p:nvSpPr>
          <p:cNvPr id="25" name="Picture Placeholder 4">
            <a:extLst>
              <a:ext uri="{FF2B5EF4-FFF2-40B4-BE49-F238E27FC236}">
                <a16:creationId xmlns:a16="http://schemas.microsoft.com/office/drawing/2014/main" id="{0A33F29B-394A-8FEA-8285-839A68A62A4C}"/>
              </a:ext>
            </a:extLst>
          </p:cNvPr>
          <p:cNvSpPr>
            <a:spLocks noGrp="1"/>
          </p:cNvSpPr>
          <p:nvPr>
            <p:ph type="pic" sz="quarter" idx="25"/>
          </p:nvPr>
        </p:nvSpPr>
        <p:spPr>
          <a:xfrm>
            <a:off x="6235595" y="1518191"/>
            <a:ext cx="2684395" cy="1816680"/>
          </a:xfrm>
        </p:spPr>
        <p:txBody>
          <a:bodyPr/>
          <a:lstStyle/>
          <a:p>
            <a:r>
              <a:rPr lang="en-US"/>
              <a:t>Click icon to add picture</a:t>
            </a:r>
          </a:p>
        </p:txBody>
      </p:sp>
      <p:sp>
        <p:nvSpPr>
          <p:cNvPr id="26" name="Picture Placeholder 4">
            <a:extLst>
              <a:ext uri="{FF2B5EF4-FFF2-40B4-BE49-F238E27FC236}">
                <a16:creationId xmlns:a16="http://schemas.microsoft.com/office/drawing/2014/main" id="{BA4047AD-5D09-3E06-36BF-C173B11DC52A}"/>
              </a:ext>
            </a:extLst>
          </p:cNvPr>
          <p:cNvSpPr>
            <a:spLocks noGrp="1"/>
          </p:cNvSpPr>
          <p:nvPr>
            <p:ph type="pic" sz="quarter" idx="26"/>
          </p:nvPr>
        </p:nvSpPr>
        <p:spPr>
          <a:xfrm>
            <a:off x="9195296" y="1518191"/>
            <a:ext cx="2684395" cy="1816680"/>
          </a:xfrm>
        </p:spPr>
        <p:txBody>
          <a:bodyPr/>
          <a:lstStyle/>
          <a:p>
            <a:r>
              <a:rPr lang="en-US"/>
              <a:t>Click icon to add picture</a:t>
            </a:r>
          </a:p>
        </p:txBody>
      </p:sp>
      <p:cxnSp>
        <p:nvCxnSpPr>
          <p:cNvPr id="27" name="Straight Connector 26">
            <a:extLst>
              <a:ext uri="{FF2B5EF4-FFF2-40B4-BE49-F238E27FC236}">
                <a16:creationId xmlns:a16="http://schemas.microsoft.com/office/drawing/2014/main" id="{9470F7D6-E2DF-39C1-69BF-0D532F2E4270}"/>
              </a:ext>
            </a:extLst>
          </p:cNvPr>
          <p:cNvCxnSpPr>
            <a:cxnSpLocks/>
          </p:cNvCxnSpPr>
          <p:nvPr userDrawn="1"/>
        </p:nvCxnSpPr>
        <p:spPr>
          <a:xfrm>
            <a:off x="6096000" y="1518191"/>
            <a:ext cx="0" cy="4615909"/>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E14A8E6-31D6-A4B3-AD61-3F7468794426}"/>
              </a:ext>
            </a:extLst>
          </p:cNvPr>
          <p:cNvCxnSpPr>
            <a:cxnSpLocks/>
          </p:cNvCxnSpPr>
          <p:nvPr userDrawn="1"/>
        </p:nvCxnSpPr>
        <p:spPr>
          <a:xfrm>
            <a:off x="9061158" y="1518191"/>
            <a:ext cx="0" cy="4615909"/>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D3EEEAD7-089D-ACC8-ECEC-97636D739886}"/>
              </a:ext>
            </a:extLst>
          </p:cNvPr>
          <p:cNvCxnSpPr>
            <a:cxnSpLocks/>
          </p:cNvCxnSpPr>
          <p:nvPr userDrawn="1"/>
        </p:nvCxnSpPr>
        <p:spPr>
          <a:xfrm>
            <a:off x="303317" y="794776"/>
            <a:ext cx="11585366"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7" name="Title 16">
            <a:extLst>
              <a:ext uri="{FF2B5EF4-FFF2-40B4-BE49-F238E27FC236}">
                <a16:creationId xmlns:a16="http://schemas.microsoft.com/office/drawing/2014/main" id="{79E917C0-58C0-D352-82CF-536C8BD9A2AE}"/>
              </a:ext>
            </a:extLst>
          </p:cNvPr>
          <p:cNvSpPr>
            <a:spLocks noGrp="1"/>
          </p:cNvSpPr>
          <p:nvPr>
            <p:ph type="title"/>
          </p:nvPr>
        </p:nvSpPr>
        <p:spPr>
          <a:xfrm>
            <a:off x="303317" y="244386"/>
            <a:ext cx="11585366" cy="524541"/>
          </a:xfrm>
        </p:spPr>
        <p:txBody>
          <a:bodyPr/>
          <a:lstStyle/>
          <a:p>
            <a:r>
              <a:rPr lang="en-US"/>
              <a:t>Click to edit Master title style</a:t>
            </a:r>
          </a:p>
        </p:txBody>
      </p:sp>
      <p:sp>
        <p:nvSpPr>
          <p:cNvPr id="16" name="Content Placeholder 8">
            <a:extLst>
              <a:ext uri="{FF2B5EF4-FFF2-40B4-BE49-F238E27FC236}">
                <a16:creationId xmlns:a16="http://schemas.microsoft.com/office/drawing/2014/main" id="{5CDBD747-7325-128A-4387-5AFCF8491CE8}"/>
              </a:ext>
            </a:extLst>
          </p:cNvPr>
          <p:cNvSpPr>
            <a:spLocks noGrp="1"/>
          </p:cNvSpPr>
          <p:nvPr>
            <p:ph sz="quarter" idx="27" hasCustomPrompt="1"/>
          </p:nvPr>
        </p:nvSpPr>
        <p:spPr>
          <a:xfrm>
            <a:off x="303316" y="992842"/>
            <a:ext cx="11585365" cy="416255"/>
          </a:xfrm>
        </p:spPr>
        <p:txBody>
          <a:bodyPr anchor="ctr"/>
          <a:lstStyle>
            <a:lvl1pPr marL="0" indent="0">
              <a:buNone/>
              <a:defRPr>
                <a:solidFill>
                  <a:schemeClr val="accent2"/>
                </a:solidFill>
              </a:defRPr>
            </a:lvl1pPr>
            <a:lvl2pPr>
              <a:defRPr sz="2000"/>
            </a:lvl2pPr>
            <a:lvl3pPr marL="1143000" indent="-228600">
              <a:buFont typeface="System Font Regular"/>
              <a:buChar char="–"/>
              <a:defRPr sz="1800"/>
            </a:lvl3pPr>
            <a:lvl4pPr>
              <a:defRPr sz="1800"/>
            </a:lvl4pPr>
            <a:lvl5pPr>
              <a:defRPr sz="1800"/>
            </a:lvl5pPr>
          </a:lstStyle>
          <a:p>
            <a:pPr lvl="0"/>
            <a:r>
              <a:rPr lang="en-US"/>
              <a:t>Click to add slide introduction sentence</a:t>
            </a:r>
          </a:p>
        </p:txBody>
      </p:sp>
    </p:spTree>
    <p:extLst>
      <p:ext uri="{BB962C8B-B14F-4D97-AF65-F5344CB8AC3E}">
        <p14:creationId xmlns:p14="http://schemas.microsoft.com/office/powerpoint/2010/main" val="7557074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4CF429-7A35-E6C9-AEC1-2500144BD0E3}"/>
              </a:ext>
            </a:extLst>
          </p:cNvPr>
          <p:cNvSpPr/>
          <p:nvPr userDrawn="1"/>
        </p:nvSpPr>
        <p:spPr>
          <a:xfrm>
            <a:off x="0" y="0"/>
            <a:ext cx="12192000" cy="6858000"/>
          </a:xfrm>
          <a:prstGeom prst="rect">
            <a:avLst/>
          </a:prstGeom>
          <a:gradFill flip="none" rotWithShape="1">
            <a:gsLst>
              <a:gs pos="0">
                <a:srgbClr val="002D72">
                  <a:shade val="30000"/>
                  <a:satMod val="115000"/>
                </a:srgbClr>
              </a:gs>
              <a:gs pos="50000">
                <a:srgbClr val="002D72">
                  <a:shade val="67500"/>
                  <a:satMod val="115000"/>
                </a:srgbClr>
              </a:gs>
              <a:gs pos="100000">
                <a:srgbClr val="002D72">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logo of a book and a globe&#10;&#10;AI-generated content may be incorrect.">
            <a:extLst>
              <a:ext uri="{FF2B5EF4-FFF2-40B4-BE49-F238E27FC236}">
                <a16:creationId xmlns:a16="http://schemas.microsoft.com/office/drawing/2014/main" id="{ED75E6AB-B781-158C-30D8-C1DF357B167D}"/>
              </a:ext>
            </a:extLst>
          </p:cNvPr>
          <p:cNvPicPr>
            <a:picLocks noChangeAspect="1"/>
          </p:cNvPicPr>
          <p:nvPr userDrawn="1"/>
        </p:nvPicPr>
        <p:blipFill>
          <a:blip r:embed="rId2">
            <a:alphaModFix amt="20000"/>
          </a:blip>
          <a:srcRect l="2482" t="-886" r="24988" b="7188"/>
          <a:stretch/>
        </p:blipFill>
        <p:spPr>
          <a:xfrm>
            <a:off x="9684181" y="3429001"/>
            <a:ext cx="2504121" cy="3450576"/>
          </a:xfrm>
          <a:prstGeom prst="rect">
            <a:avLst/>
          </a:prstGeom>
        </p:spPr>
      </p:pic>
      <p:sp>
        <p:nvSpPr>
          <p:cNvPr id="8" name="Title 1">
            <a:extLst>
              <a:ext uri="{FF2B5EF4-FFF2-40B4-BE49-F238E27FC236}">
                <a16:creationId xmlns:a16="http://schemas.microsoft.com/office/drawing/2014/main" id="{FCC74154-920A-7908-96E4-FCAB9EB05834}"/>
              </a:ext>
            </a:extLst>
          </p:cNvPr>
          <p:cNvSpPr>
            <a:spLocks noGrp="1"/>
          </p:cNvSpPr>
          <p:nvPr>
            <p:ph type="ctrTitle" hasCustomPrompt="1"/>
          </p:nvPr>
        </p:nvSpPr>
        <p:spPr>
          <a:xfrm>
            <a:off x="882316" y="953546"/>
            <a:ext cx="10379241" cy="1778695"/>
          </a:xfrm>
          <a:prstGeom prst="rect">
            <a:avLst/>
          </a:prstGeom>
        </p:spPr>
        <p:txBody>
          <a:bodyPr lIns="0" tIns="0" rIns="0" bIns="0" anchor="b" anchorCtr="0">
            <a:noAutofit/>
          </a:bodyPr>
          <a:lstStyle>
            <a:lvl1pPr algn="ctr">
              <a:defRPr sz="6000">
                <a:solidFill>
                  <a:schemeClr val="bg1"/>
                </a:solidFill>
              </a:defRPr>
            </a:lvl1pPr>
          </a:lstStyle>
          <a:p>
            <a:r>
              <a:rPr lang="en-US"/>
              <a:t>Closing Slide</a:t>
            </a:r>
          </a:p>
        </p:txBody>
      </p:sp>
      <p:sp>
        <p:nvSpPr>
          <p:cNvPr id="9" name="Subtitle 2">
            <a:extLst>
              <a:ext uri="{FF2B5EF4-FFF2-40B4-BE49-F238E27FC236}">
                <a16:creationId xmlns:a16="http://schemas.microsoft.com/office/drawing/2014/main" id="{DACA531E-D6C1-E9A7-B39A-A410B89BA0D5}"/>
              </a:ext>
            </a:extLst>
          </p:cNvPr>
          <p:cNvSpPr>
            <a:spLocks noGrp="1"/>
          </p:cNvSpPr>
          <p:nvPr>
            <p:ph type="subTitle" idx="1" hasCustomPrompt="1"/>
          </p:nvPr>
        </p:nvSpPr>
        <p:spPr>
          <a:xfrm>
            <a:off x="882316" y="3015916"/>
            <a:ext cx="10379241" cy="896721"/>
          </a:xfrm>
        </p:spPr>
        <p:txBody>
          <a:bodyPr lIns="0" tIns="0" rIns="0" bIns="0">
            <a:normAutofit/>
          </a:bodyPr>
          <a:lstStyle>
            <a:lvl1pPr marL="0" indent="0" algn="ctr">
              <a:buNone/>
              <a:defRPr sz="2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CTA or URL</a:t>
            </a:r>
          </a:p>
        </p:txBody>
      </p:sp>
      <p:sp>
        <p:nvSpPr>
          <p:cNvPr id="6" name="Text Placeholder 5">
            <a:extLst>
              <a:ext uri="{FF2B5EF4-FFF2-40B4-BE49-F238E27FC236}">
                <a16:creationId xmlns:a16="http://schemas.microsoft.com/office/drawing/2014/main" id="{4810872C-6ED3-1495-01D5-B22FBFD03747}"/>
              </a:ext>
            </a:extLst>
          </p:cNvPr>
          <p:cNvSpPr>
            <a:spLocks noGrp="1"/>
          </p:cNvSpPr>
          <p:nvPr>
            <p:ph type="body" sz="quarter" idx="10" hasCustomPrompt="1"/>
          </p:nvPr>
        </p:nvSpPr>
        <p:spPr>
          <a:xfrm>
            <a:off x="882650" y="4090988"/>
            <a:ext cx="10379075" cy="1989137"/>
          </a:xfrm>
        </p:spPr>
        <p:txBody>
          <a:bodyPr>
            <a:norm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 Names and Contact</a:t>
            </a:r>
          </a:p>
        </p:txBody>
      </p:sp>
    </p:spTree>
    <p:extLst>
      <p:ext uri="{BB962C8B-B14F-4D97-AF65-F5344CB8AC3E}">
        <p14:creationId xmlns:p14="http://schemas.microsoft.com/office/powerpoint/2010/main" val="12635789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ogo">
    <p:spTree>
      <p:nvGrpSpPr>
        <p:cNvPr id="1" name=""/>
        <p:cNvGrpSpPr/>
        <p:nvPr/>
      </p:nvGrpSpPr>
      <p:grpSpPr>
        <a:xfrm>
          <a:off x="0" y="0"/>
          <a:ext cx="0" cy="0"/>
          <a:chOff x="0" y="0"/>
          <a:chExt cx="0" cy="0"/>
        </a:xfrm>
      </p:grpSpPr>
      <p:pic>
        <p:nvPicPr>
          <p:cNvPr id="4" name="Picture 3" descr="A blue square with white lines&#10;&#10;Description automatically generated with medium confidence">
            <a:extLst>
              <a:ext uri="{FF2B5EF4-FFF2-40B4-BE49-F238E27FC236}">
                <a16:creationId xmlns:a16="http://schemas.microsoft.com/office/drawing/2014/main" id="{596D2A21-2E76-5B18-DE93-32E809FDBF2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1"/>
            <a:ext cx="12192001" cy="6858001"/>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DE177EC9-C768-378C-1033-4D5D55FC0ADA}"/>
              </a:ext>
            </a:extLst>
          </p:cNvPr>
          <p:cNvPicPr>
            <a:picLocks noChangeAspect="1"/>
          </p:cNvPicPr>
          <p:nvPr userDrawn="1"/>
        </p:nvPicPr>
        <p:blipFill>
          <a:blip r:embed="rId3"/>
          <a:stretch>
            <a:fillRect/>
          </a:stretch>
        </p:blipFill>
        <p:spPr>
          <a:xfrm>
            <a:off x="1158058" y="1376787"/>
            <a:ext cx="9875883" cy="4104425"/>
          </a:xfrm>
          <a:prstGeom prst="rect">
            <a:avLst/>
          </a:prstGeom>
        </p:spPr>
      </p:pic>
    </p:spTree>
    <p:extLst>
      <p:ext uri="{BB962C8B-B14F-4D97-AF65-F5344CB8AC3E}">
        <p14:creationId xmlns:p14="http://schemas.microsoft.com/office/powerpoint/2010/main" val="1958301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A511FF8-3303-EA6D-2092-61820AC40EBA}"/>
              </a:ext>
            </a:extLst>
          </p:cNvPr>
          <p:cNvSpPr>
            <a:spLocks noGrp="1"/>
          </p:cNvSpPr>
          <p:nvPr>
            <p:ph type="body" idx="1"/>
          </p:nvPr>
        </p:nvSpPr>
        <p:spPr>
          <a:xfrm>
            <a:off x="303317" y="966354"/>
            <a:ext cx="11585366" cy="51561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CD998A8C-F91E-2561-5295-7822C1343BDE}"/>
              </a:ext>
            </a:extLst>
          </p:cNvPr>
          <p:cNvSpPr>
            <a:spLocks noGrp="1"/>
          </p:cNvSpPr>
          <p:nvPr>
            <p:ph type="sldNum" sz="quarter" idx="4"/>
          </p:nvPr>
        </p:nvSpPr>
        <p:spPr>
          <a:xfrm>
            <a:off x="10218545" y="6248487"/>
            <a:ext cx="1232722" cy="365125"/>
          </a:xfrm>
          <a:prstGeom prst="rect">
            <a:avLst/>
          </a:prstGeom>
        </p:spPr>
        <p:txBody>
          <a:bodyPr vert="horz" lIns="0" tIns="0" rIns="0" bIns="0" rtlCol="0" anchor="ctr"/>
          <a:lstStyle>
            <a:lvl1pPr algn="r">
              <a:defRPr sz="1100">
                <a:solidFill>
                  <a:schemeClr val="tx1">
                    <a:tint val="82000"/>
                  </a:schemeClr>
                </a:solidFill>
                <a:latin typeface="Tahoma" panose="020B0604030504040204" pitchFamily="34" charset="0"/>
                <a:ea typeface="Tahoma" panose="020B0604030504040204" pitchFamily="34" charset="0"/>
                <a:cs typeface="Tahoma" panose="020B0604030504040204" pitchFamily="34" charset="0"/>
              </a:defRPr>
            </a:lvl1pPr>
          </a:lstStyle>
          <a:p>
            <a:fld id="{1876332E-97D2-CC49-9E46-E6E0DDE407EB}" type="slidenum">
              <a:rPr lang="en-US" smtClean="0"/>
              <a:pPr/>
              <a:t>‹#›</a:t>
            </a:fld>
            <a:endParaRPr lang="en-US"/>
          </a:p>
        </p:txBody>
      </p:sp>
      <p:pic>
        <p:nvPicPr>
          <p:cNvPr id="8" name="Picture 7" descr="A blue shield with a book and a globe&#10;&#10;Description automatically generated">
            <a:extLst>
              <a:ext uri="{FF2B5EF4-FFF2-40B4-BE49-F238E27FC236}">
                <a16:creationId xmlns:a16="http://schemas.microsoft.com/office/drawing/2014/main" id="{F9F559AB-D836-7FEC-22E7-0E9D0BA2459F}"/>
              </a:ext>
            </a:extLst>
          </p:cNvPr>
          <p:cNvPicPr>
            <a:picLocks noChangeAspect="1"/>
          </p:cNvPicPr>
          <p:nvPr userDrawn="1"/>
        </p:nvPicPr>
        <p:blipFill>
          <a:blip r:embed="rId21" cstate="screen">
            <a:extLst>
              <a:ext uri="{28A0092B-C50C-407E-A947-70E740481C1C}">
                <a14:useLocalDpi xmlns:a14="http://schemas.microsoft.com/office/drawing/2010/main"/>
              </a:ext>
            </a:extLst>
          </a:blip>
          <a:stretch>
            <a:fillRect/>
          </a:stretch>
        </p:blipFill>
        <p:spPr>
          <a:xfrm>
            <a:off x="11537907" y="6234732"/>
            <a:ext cx="350776" cy="375831"/>
          </a:xfrm>
          <a:prstGeom prst="rect">
            <a:avLst/>
          </a:prstGeom>
        </p:spPr>
      </p:pic>
      <p:sp>
        <p:nvSpPr>
          <p:cNvPr id="9" name="Title Placeholder 8">
            <a:extLst>
              <a:ext uri="{FF2B5EF4-FFF2-40B4-BE49-F238E27FC236}">
                <a16:creationId xmlns:a16="http://schemas.microsoft.com/office/drawing/2014/main" id="{44886E26-62DC-86B0-AFD4-D076A2541189}"/>
              </a:ext>
            </a:extLst>
          </p:cNvPr>
          <p:cNvSpPr>
            <a:spLocks noGrp="1"/>
          </p:cNvSpPr>
          <p:nvPr>
            <p:ph type="title"/>
          </p:nvPr>
        </p:nvSpPr>
        <p:spPr>
          <a:xfrm>
            <a:off x="303317" y="244386"/>
            <a:ext cx="11585366" cy="52454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4237123374"/>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80" r:id="rId3"/>
    <p:sldLayoutId id="2147483669" r:id="rId4"/>
    <p:sldLayoutId id="2147483672" r:id="rId5"/>
    <p:sldLayoutId id="2147483686" r:id="rId6"/>
    <p:sldLayoutId id="2147483652" r:id="rId7"/>
    <p:sldLayoutId id="2147483682" r:id="rId8"/>
    <p:sldLayoutId id="2147483661" r:id="rId9"/>
    <p:sldLayoutId id="2147483677" r:id="rId10"/>
    <p:sldLayoutId id="2147483687" r:id="rId11"/>
    <p:sldLayoutId id="2147483689" r:id="rId12"/>
    <p:sldLayoutId id="2147483688" r:id="rId13"/>
    <p:sldLayoutId id="2147483662" r:id="rId14"/>
    <p:sldLayoutId id="2147483675" r:id="rId15"/>
    <p:sldLayoutId id="2147483663" r:id="rId16"/>
    <p:sldLayoutId id="2147483676" r:id="rId17"/>
    <p:sldLayoutId id="2147483670" r:id="rId18"/>
    <p:sldLayoutId id="2147483671" r:id="rId19"/>
  </p:sldLayoutIdLst>
  <p:hf hdr="0"/>
  <p:txStyles>
    <p:titleStyle>
      <a:lvl1pPr algn="l" defTabSz="914400" rtl="0" eaLnBrk="1" latinLnBrk="0" hangingPunct="1">
        <a:lnSpc>
          <a:spcPct val="90000"/>
        </a:lnSpc>
        <a:spcBef>
          <a:spcPct val="0"/>
        </a:spcBef>
        <a:buNone/>
        <a:defRPr sz="3000" b="1" i="0"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b="0" i="0" kern="1200">
          <a:solidFill>
            <a:schemeClr val="tx2"/>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i="0" kern="1200">
          <a:solidFill>
            <a:schemeClr val="tx2"/>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chemeClr val="tx2"/>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2"/>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00" userDrawn="1">
          <p15:clr>
            <a:srgbClr val="F26B43"/>
          </p15:clr>
        </p15:guide>
        <p15:guide id="2" pos="3840" userDrawn="1">
          <p15:clr>
            <a:srgbClr val="F26B43"/>
          </p15:clr>
        </p15:guide>
        <p15:guide id="3" orient="horz" pos="3864" userDrawn="1">
          <p15:clr>
            <a:srgbClr val="F26B43"/>
          </p15:clr>
        </p15:guide>
        <p15:guide id="4" orient="horz" pos="1224" userDrawn="1">
          <p15:clr>
            <a:srgbClr val="F26B43"/>
          </p15:clr>
        </p15:guide>
        <p15:guide id="5" pos="7488" userDrawn="1">
          <p15:clr>
            <a:srgbClr val="F26B43"/>
          </p15:clr>
        </p15:guide>
        <p15:guide id="6" pos="1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7.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4719F4-45CE-CCE4-1585-B198B1D945FC}"/>
              </a:ext>
            </a:extLst>
          </p:cNvPr>
          <p:cNvSpPr>
            <a:spLocks noGrp="1"/>
          </p:cNvSpPr>
          <p:nvPr>
            <p:ph type="ctrTitle"/>
          </p:nvPr>
        </p:nvSpPr>
        <p:spPr/>
        <p:txBody>
          <a:bodyPr/>
          <a:lstStyle/>
          <a:p>
            <a:r>
              <a:rPr lang="en-US" sz="3200">
                <a:latin typeface="Tahoma"/>
                <a:ea typeface="Tahoma"/>
                <a:cs typeface="Tahoma"/>
              </a:rPr>
              <a:t>Understanding Redox Chemistry of FMN semiquinone with DFT and MD simulation</a:t>
            </a:r>
          </a:p>
        </p:txBody>
      </p:sp>
      <p:sp>
        <p:nvSpPr>
          <p:cNvPr id="3" name="Text Placeholder 2">
            <a:extLst>
              <a:ext uri="{FF2B5EF4-FFF2-40B4-BE49-F238E27FC236}">
                <a16:creationId xmlns:a16="http://schemas.microsoft.com/office/drawing/2014/main" id="{30C726C2-6AEA-68BC-585C-6C762369CFB2}"/>
              </a:ext>
            </a:extLst>
          </p:cNvPr>
          <p:cNvSpPr>
            <a:spLocks noGrp="1"/>
          </p:cNvSpPr>
          <p:nvPr>
            <p:ph type="body" sz="quarter" idx="10"/>
          </p:nvPr>
        </p:nvSpPr>
        <p:spPr/>
        <p:txBody>
          <a:bodyPr/>
          <a:lstStyle/>
          <a:p>
            <a:r>
              <a:rPr lang="en-US">
                <a:latin typeface="Tahoma"/>
                <a:ea typeface="Tahoma"/>
                <a:cs typeface="Tahoma"/>
              </a:rPr>
              <a:t>Anar </a:t>
            </a:r>
            <a:r>
              <a:rPr lang="en-US" err="1">
                <a:latin typeface="Tahoma"/>
                <a:ea typeface="Tahoma"/>
                <a:cs typeface="Tahoma"/>
              </a:rPr>
              <a:t>Nuruzada</a:t>
            </a:r>
            <a:r>
              <a:rPr lang="en-US">
                <a:latin typeface="Tahoma"/>
                <a:ea typeface="Tahoma"/>
                <a:cs typeface="Tahoma"/>
              </a:rPr>
              <a:t>, Logan Kuhn, Gilbert Otoo</a:t>
            </a:r>
          </a:p>
        </p:txBody>
      </p:sp>
    </p:spTree>
    <p:extLst>
      <p:ext uri="{BB962C8B-B14F-4D97-AF65-F5344CB8AC3E}">
        <p14:creationId xmlns:p14="http://schemas.microsoft.com/office/powerpoint/2010/main" val="1450990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1BD13F-4B05-2C13-4AFB-90D0F1BC10B3}"/>
              </a:ext>
            </a:extLst>
          </p:cNvPr>
          <p:cNvSpPr>
            <a:spLocks noGrp="1"/>
          </p:cNvSpPr>
          <p:nvPr>
            <p:ph sz="quarter" idx="13"/>
          </p:nvPr>
        </p:nvSpPr>
        <p:spPr>
          <a:xfrm>
            <a:off x="266701" y="952501"/>
            <a:ext cx="6395356" cy="1703614"/>
          </a:xfrm>
        </p:spPr>
        <p:txBody>
          <a:bodyPr>
            <a:normAutofit lnSpcReduction="10000"/>
          </a:bodyPr>
          <a:lstStyle/>
          <a:p>
            <a:r>
              <a:rPr lang="en-US"/>
              <a:t>“nitro reductase” enzymes </a:t>
            </a:r>
          </a:p>
          <a:p>
            <a:r>
              <a:rPr lang="en-US"/>
              <a:t>Flav mononucleotide (FMN) cofactor dependent</a:t>
            </a:r>
          </a:p>
          <a:p>
            <a:r>
              <a:rPr lang="en-US"/>
              <a:t>Use bi-bi redox reaction mechanism </a:t>
            </a:r>
          </a:p>
          <a:p>
            <a:endParaRPr lang="en-US"/>
          </a:p>
        </p:txBody>
      </p:sp>
      <p:sp>
        <p:nvSpPr>
          <p:cNvPr id="3" name="Slide Number Placeholder 2">
            <a:extLst>
              <a:ext uri="{FF2B5EF4-FFF2-40B4-BE49-F238E27FC236}">
                <a16:creationId xmlns:a16="http://schemas.microsoft.com/office/drawing/2014/main" id="{F5EE7F97-8FB8-27B3-CC5C-2A4BE9C88069}"/>
              </a:ext>
            </a:extLst>
          </p:cNvPr>
          <p:cNvSpPr>
            <a:spLocks noGrp="1"/>
          </p:cNvSpPr>
          <p:nvPr>
            <p:ph type="sldNum" sz="quarter" idx="16"/>
          </p:nvPr>
        </p:nvSpPr>
        <p:spPr/>
        <p:txBody>
          <a:bodyPr/>
          <a:lstStyle/>
          <a:p>
            <a:fld id="{1876332E-97D2-CC49-9E46-E6E0DDE407EB}" type="slidenum">
              <a:rPr lang="en-US" smtClean="0"/>
              <a:pPr/>
              <a:t>2</a:t>
            </a:fld>
            <a:endParaRPr lang="en-US"/>
          </a:p>
        </p:txBody>
      </p:sp>
      <p:sp>
        <p:nvSpPr>
          <p:cNvPr id="4" name="Title 3">
            <a:extLst>
              <a:ext uri="{FF2B5EF4-FFF2-40B4-BE49-F238E27FC236}">
                <a16:creationId xmlns:a16="http://schemas.microsoft.com/office/drawing/2014/main" id="{1EC452FD-A1CB-6646-9B9A-7B425C29B24F}"/>
              </a:ext>
            </a:extLst>
          </p:cNvPr>
          <p:cNvSpPr>
            <a:spLocks noGrp="1"/>
          </p:cNvSpPr>
          <p:nvPr>
            <p:ph type="title"/>
          </p:nvPr>
        </p:nvSpPr>
        <p:spPr/>
        <p:txBody>
          <a:bodyPr/>
          <a:lstStyle/>
          <a:p>
            <a:r>
              <a:rPr lang="en-US"/>
              <a:t>Nitro reductase superfamily</a:t>
            </a:r>
          </a:p>
        </p:txBody>
      </p:sp>
      <p:sp>
        <p:nvSpPr>
          <p:cNvPr id="5" name="TextBox 4">
            <a:extLst>
              <a:ext uri="{FF2B5EF4-FFF2-40B4-BE49-F238E27FC236}">
                <a16:creationId xmlns:a16="http://schemas.microsoft.com/office/drawing/2014/main" id="{1121613B-D20D-3E45-2DFF-F2C65ED7D856}"/>
              </a:ext>
            </a:extLst>
          </p:cNvPr>
          <p:cNvSpPr txBox="1"/>
          <p:nvPr/>
        </p:nvSpPr>
        <p:spPr>
          <a:xfrm>
            <a:off x="266701" y="2739834"/>
            <a:ext cx="3022622" cy="3508653"/>
          </a:xfrm>
          <a:prstGeom prst="rect">
            <a:avLst/>
          </a:prstGeom>
          <a:noFill/>
        </p:spPr>
        <p:txBody>
          <a:bodyPr wrap="none" rtlCol="0">
            <a:spAutoFit/>
          </a:bodyPr>
          <a:lstStyle/>
          <a:p>
            <a:pPr marL="285750" indent="-285750">
              <a:buFont typeface="Arial" panose="020B0604020202020204" pitchFamily="34" charset="0"/>
              <a:buChar char="•"/>
            </a:pPr>
            <a:r>
              <a:rPr lang="en-US" sz="2400"/>
              <a:t>Catalytic Activities </a:t>
            </a:r>
          </a:p>
          <a:p>
            <a:r>
              <a:rPr lang="en-US"/>
              <a:t>- Nitroaromatic </a:t>
            </a:r>
          </a:p>
          <a:p>
            <a:endParaRPr lang="en-US"/>
          </a:p>
          <a:p>
            <a:r>
              <a:rPr lang="en-US"/>
              <a:t>- </a:t>
            </a:r>
            <a:r>
              <a:rPr lang="en-US" err="1"/>
              <a:t>Enone</a:t>
            </a:r>
            <a:r>
              <a:rPr lang="en-US"/>
              <a:t> reduction</a:t>
            </a:r>
          </a:p>
          <a:p>
            <a:endParaRPr lang="en-US"/>
          </a:p>
          <a:p>
            <a:r>
              <a:rPr lang="en-US"/>
              <a:t>- Quinone reduction</a:t>
            </a:r>
          </a:p>
          <a:p>
            <a:endParaRPr lang="en-US"/>
          </a:p>
          <a:p>
            <a:r>
              <a:rPr lang="en-US"/>
              <a:t>- Fatty Acid reduction</a:t>
            </a:r>
          </a:p>
          <a:p>
            <a:endParaRPr lang="en-US"/>
          </a:p>
          <a:p>
            <a:r>
              <a:rPr lang="en-US" b="1"/>
              <a:t>- Dehalogenation</a:t>
            </a:r>
          </a:p>
          <a:p>
            <a:endParaRPr lang="en-US"/>
          </a:p>
          <a:p>
            <a:r>
              <a:rPr lang="en-US"/>
              <a:t>- Flavin Fragmentation</a:t>
            </a:r>
          </a:p>
        </p:txBody>
      </p:sp>
      <p:sp>
        <p:nvSpPr>
          <p:cNvPr id="8" name="Oval 7">
            <a:extLst>
              <a:ext uri="{FF2B5EF4-FFF2-40B4-BE49-F238E27FC236}">
                <a16:creationId xmlns:a16="http://schemas.microsoft.com/office/drawing/2014/main" id="{64A72FC9-05AC-D802-0D19-BAF0D69C1533}"/>
              </a:ext>
            </a:extLst>
          </p:cNvPr>
          <p:cNvSpPr/>
          <p:nvPr/>
        </p:nvSpPr>
        <p:spPr>
          <a:xfrm>
            <a:off x="1095" y="5046908"/>
            <a:ext cx="2681098" cy="77232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DC1DCB4-A75E-01B0-075F-4C12E5283131}"/>
              </a:ext>
            </a:extLst>
          </p:cNvPr>
          <p:cNvPicPr>
            <a:picLocks noChangeAspect="1"/>
          </p:cNvPicPr>
          <p:nvPr/>
        </p:nvPicPr>
        <p:blipFill>
          <a:blip r:embed="rId3"/>
          <a:stretch>
            <a:fillRect/>
          </a:stretch>
        </p:blipFill>
        <p:spPr>
          <a:xfrm>
            <a:off x="5976977" y="1295940"/>
            <a:ext cx="5851404" cy="4609559"/>
          </a:xfrm>
          <a:prstGeom prst="rect">
            <a:avLst/>
          </a:prstGeom>
        </p:spPr>
      </p:pic>
      <p:sp>
        <p:nvSpPr>
          <p:cNvPr id="11" name="Oval 10">
            <a:extLst>
              <a:ext uri="{FF2B5EF4-FFF2-40B4-BE49-F238E27FC236}">
                <a16:creationId xmlns:a16="http://schemas.microsoft.com/office/drawing/2014/main" id="{12E78827-283F-1AF7-77B2-6DE17AE6DA4B}"/>
              </a:ext>
            </a:extLst>
          </p:cNvPr>
          <p:cNvSpPr/>
          <p:nvPr/>
        </p:nvSpPr>
        <p:spPr>
          <a:xfrm>
            <a:off x="5918920" y="3183128"/>
            <a:ext cx="699898" cy="69400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D30852-B0E4-D5F8-D0AC-D48C01C7272C}"/>
              </a:ext>
            </a:extLst>
          </p:cNvPr>
          <p:cNvSpPr txBox="1"/>
          <p:nvPr/>
        </p:nvSpPr>
        <p:spPr>
          <a:xfrm>
            <a:off x="6702083" y="6241627"/>
            <a:ext cx="471187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tx2">
                    <a:lumMod val="49000"/>
                  </a:schemeClr>
                </a:solidFill>
                <a:highlight>
                  <a:srgbClr val="FFFFFF"/>
                </a:highlight>
                <a:latin typeface="Arial"/>
                <a:ea typeface="Tahoma"/>
                <a:cs typeface="Arial"/>
              </a:rPr>
              <a:t>Copp JN, Akiva E, Babbitt PC, </a:t>
            </a:r>
            <a:r>
              <a:rPr lang="en-US" sz="1400" err="1">
                <a:solidFill>
                  <a:schemeClr val="tx2">
                    <a:lumMod val="49000"/>
                  </a:schemeClr>
                </a:solidFill>
                <a:highlight>
                  <a:srgbClr val="FFFFFF"/>
                </a:highlight>
                <a:latin typeface="Arial"/>
                <a:ea typeface="Tahoma"/>
                <a:cs typeface="Arial"/>
              </a:rPr>
              <a:t>Tokuriki</a:t>
            </a:r>
            <a:r>
              <a:rPr lang="en-US" sz="1400">
                <a:solidFill>
                  <a:schemeClr val="tx2">
                    <a:lumMod val="49000"/>
                  </a:schemeClr>
                </a:solidFill>
                <a:highlight>
                  <a:srgbClr val="FFFFFF"/>
                </a:highlight>
                <a:latin typeface="Arial"/>
                <a:ea typeface="Tahoma"/>
                <a:cs typeface="Arial"/>
              </a:rPr>
              <a:t> N.</a:t>
            </a:r>
            <a:r>
              <a:rPr lang="en-US" sz="1400">
                <a:solidFill>
                  <a:schemeClr val="tx2">
                    <a:lumMod val="49000"/>
                  </a:schemeClr>
                </a:solidFill>
                <a:cs typeface="Arial"/>
              </a:rPr>
              <a:t>  et al. 2018</a:t>
            </a:r>
            <a:endParaRPr lang="en-US" sz="1400">
              <a:solidFill>
                <a:schemeClr val="tx2">
                  <a:lumMod val="49000"/>
                </a:schemeClr>
              </a:solidFill>
            </a:endParaRPr>
          </a:p>
        </p:txBody>
      </p:sp>
    </p:spTree>
    <p:extLst>
      <p:ext uri="{BB962C8B-B14F-4D97-AF65-F5344CB8AC3E}">
        <p14:creationId xmlns:p14="http://schemas.microsoft.com/office/powerpoint/2010/main" val="1253180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280824-7BC5-0299-9803-C185BE532950}"/>
              </a:ext>
            </a:extLst>
          </p:cNvPr>
          <p:cNvSpPr>
            <a:spLocks noGrp="1"/>
          </p:cNvSpPr>
          <p:nvPr>
            <p:ph type="sldNum" sz="quarter" idx="16"/>
          </p:nvPr>
        </p:nvSpPr>
        <p:spPr/>
        <p:txBody>
          <a:bodyPr/>
          <a:lstStyle/>
          <a:p>
            <a:fld id="{1876332E-97D2-CC49-9E46-E6E0DDE407EB}" type="slidenum">
              <a:rPr lang="en-US" smtClean="0"/>
              <a:pPr/>
              <a:t>3</a:t>
            </a:fld>
            <a:endParaRPr lang="en-US"/>
          </a:p>
        </p:txBody>
      </p:sp>
      <p:sp>
        <p:nvSpPr>
          <p:cNvPr id="4" name="Title 3">
            <a:extLst>
              <a:ext uri="{FF2B5EF4-FFF2-40B4-BE49-F238E27FC236}">
                <a16:creationId xmlns:a16="http://schemas.microsoft.com/office/drawing/2014/main" id="{95757D7F-D911-75A7-1AF5-46D3C1AF6AED}"/>
              </a:ext>
            </a:extLst>
          </p:cNvPr>
          <p:cNvSpPr>
            <a:spLocks noGrp="1"/>
          </p:cNvSpPr>
          <p:nvPr>
            <p:ph type="title"/>
          </p:nvPr>
        </p:nvSpPr>
        <p:spPr/>
        <p:txBody>
          <a:bodyPr/>
          <a:lstStyle/>
          <a:p>
            <a:r>
              <a:rPr lang="en-US"/>
              <a:t>IYD subgroup of NTR superfamily perform bioremediation</a:t>
            </a:r>
          </a:p>
        </p:txBody>
      </p:sp>
      <p:sp>
        <p:nvSpPr>
          <p:cNvPr id="9" name="TextBox 8">
            <a:extLst>
              <a:ext uri="{FF2B5EF4-FFF2-40B4-BE49-F238E27FC236}">
                <a16:creationId xmlns:a16="http://schemas.microsoft.com/office/drawing/2014/main" id="{897E1A44-806E-B4A8-C8E5-F5FF4DBB0525}"/>
              </a:ext>
            </a:extLst>
          </p:cNvPr>
          <p:cNvSpPr txBox="1"/>
          <p:nvPr/>
        </p:nvSpPr>
        <p:spPr>
          <a:xfrm>
            <a:off x="303317" y="1016001"/>
            <a:ext cx="5942652" cy="369332"/>
          </a:xfrm>
          <a:prstGeom prst="rect">
            <a:avLst/>
          </a:prstGeom>
          <a:noFill/>
        </p:spPr>
        <p:txBody>
          <a:bodyPr wrap="none" rtlCol="0">
            <a:spAutoFit/>
          </a:bodyPr>
          <a:lstStyle/>
          <a:p>
            <a:r>
              <a:rPr lang="en-US" err="1"/>
              <a:t>Iodotyrosine</a:t>
            </a:r>
            <a:r>
              <a:rPr lang="en-US"/>
              <a:t> (IYD) performs </a:t>
            </a:r>
            <a:r>
              <a:rPr lang="en-US" b="1"/>
              <a:t>reductive dehalogenation </a:t>
            </a:r>
          </a:p>
        </p:txBody>
      </p:sp>
      <p:pic>
        <p:nvPicPr>
          <p:cNvPr id="10" name="Picture 9" descr="A diagram of a function&#10;&#10;AI-generated content may be incorrect.">
            <a:extLst>
              <a:ext uri="{FF2B5EF4-FFF2-40B4-BE49-F238E27FC236}">
                <a16:creationId xmlns:a16="http://schemas.microsoft.com/office/drawing/2014/main" id="{453B09DE-7B1B-99B1-1A45-9B754E03B03B}"/>
              </a:ext>
            </a:extLst>
          </p:cNvPr>
          <p:cNvPicPr>
            <a:picLocks noChangeAspect="1"/>
          </p:cNvPicPr>
          <p:nvPr/>
        </p:nvPicPr>
        <p:blipFill>
          <a:blip r:embed="rId3"/>
          <a:stretch>
            <a:fillRect/>
          </a:stretch>
        </p:blipFill>
        <p:spPr>
          <a:xfrm>
            <a:off x="422298" y="1516852"/>
            <a:ext cx="5704689" cy="1462278"/>
          </a:xfrm>
          <a:prstGeom prst="rect">
            <a:avLst/>
          </a:prstGeom>
        </p:spPr>
      </p:pic>
      <p:sp>
        <p:nvSpPr>
          <p:cNvPr id="12" name="TextBox 11">
            <a:extLst>
              <a:ext uri="{FF2B5EF4-FFF2-40B4-BE49-F238E27FC236}">
                <a16:creationId xmlns:a16="http://schemas.microsoft.com/office/drawing/2014/main" id="{A06FA9A2-BE9C-77A7-C0D2-95A69D2858A2}"/>
              </a:ext>
            </a:extLst>
          </p:cNvPr>
          <p:cNvSpPr txBox="1"/>
          <p:nvPr/>
        </p:nvSpPr>
        <p:spPr>
          <a:xfrm>
            <a:off x="6966857" y="1924825"/>
            <a:ext cx="4198585" cy="646331"/>
          </a:xfrm>
          <a:prstGeom prst="rect">
            <a:avLst/>
          </a:prstGeom>
          <a:noFill/>
        </p:spPr>
        <p:txBody>
          <a:bodyPr wrap="none" rtlCol="0">
            <a:spAutoFit/>
          </a:bodyPr>
          <a:lstStyle/>
          <a:p>
            <a:r>
              <a:rPr lang="en-US"/>
              <a:t>Reduction step removes halogen atom </a:t>
            </a:r>
          </a:p>
          <a:p>
            <a:r>
              <a:rPr lang="en-US"/>
              <a:t>Replaces with H atom </a:t>
            </a:r>
          </a:p>
        </p:txBody>
      </p:sp>
      <p:cxnSp>
        <p:nvCxnSpPr>
          <p:cNvPr id="18" name="Straight Arrow Connector 17">
            <a:extLst>
              <a:ext uri="{FF2B5EF4-FFF2-40B4-BE49-F238E27FC236}">
                <a16:creationId xmlns:a16="http://schemas.microsoft.com/office/drawing/2014/main" id="{DF264313-8DE6-5747-DB14-74A1B45A4939}"/>
              </a:ext>
            </a:extLst>
          </p:cNvPr>
          <p:cNvCxnSpPr>
            <a:cxnSpLocks/>
          </p:cNvCxnSpPr>
          <p:nvPr/>
        </p:nvCxnSpPr>
        <p:spPr>
          <a:xfrm>
            <a:off x="5249333" y="3169587"/>
            <a:ext cx="2834057" cy="1896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A8BE281-0A74-B36D-C378-B1F1B651093B}"/>
              </a:ext>
            </a:extLst>
          </p:cNvPr>
          <p:cNvCxnSpPr>
            <a:cxnSpLocks/>
          </p:cNvCxnSpPr>
          <p:nvPr/>
        </p:nvCxnSpPr>
        <p:spPr>
          <a:xfrm flipH="1">
            <a:off x="2599221" y="3146531"/>
            <a:ext cx="2650112" cy="1919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770DDFB0-3997-271D-7253-77924FBA2847}"/>
              </a:ext>
            </a:extLst>
          </p:cNvPr>
          <p:cNvSpPr txBox="1"/>
          <p:nvPr/>
        </p:nvSpPr>
        <p:spPr>
          <a:xfrm>
            <a:off x="1557911" y="5065971"/>
            <a:ext cx="2082621" cy="369332"/>
          </a:xfrm>
          <a:prstGeom prst="rect">
            <a:avLst/>
          </a:prstGeom>
          <a:noFill/>
        </p:spPr>
        <p:txBody>
          <a:bodyPr wrap="none" rtlCol="0">
            <a:spAutoFit/>
          </a:bodyPr>
          <a:lstStyle/>
          <a:p>
            <a:r>
              <a:rPr lang="en-US"/>
              <a:t>Thyroid Synthesis </a:t>
            </a:r>
          </a:p>
        </p:txBody>
      </p:sp>
      <p:sp>
        <p:nvSpPr>
          <p:cNvPr id="23" name="TextBox 22">
            <a:extLst>
              <a:ext uri="{FF2B5EF4-FFF2-40B4-BE49-F238E27FC236}">
                <a16:creationId xmlns:a16="http://schemas.microsoft.com/office/drawing/2014/main" id="{004846F2-518E-469C-1701-C45DEAE6D133}"/>
              </a:ext>
            </a:extLst>
          </p:cNvPr>
          <p:cNvSpPr txBox="1"/>
          <p:nvPr/>
        </p:nvSpPr>
        <p:spPr>
          <a:xfrm>
            <a:off x="6574003" y="5104153"/>
            <a:ext cx="3018775" cy="369332"/>
          </a:xfrm>
          <a:prstGeom prst="rect">
            <a:avLst/>
          </a:prstGeom>
          <a:noFill/>
        </p:spPr>
        <p:txBody>
          <a:bodyPr wrap="none" rtlCol="0">
            <a:spAutoFit/>
          </a:bodyPr>
          <a:lstStyle/>
          <a:p>
            <a:r>
              <a:rPr lang="en-US"/>
              <a:t>Environmental Remediation</a:t>
            </a:r>
          </a:p>
        </p:txBody>
      </p:sp>
      <p:sp>
        <p:nvSpPr>
          <p:cNvPr id="2" name="TextBox 1">
            <a:extLst>
              <a:ext uri="{FF2B5EF4-FFF2-40B4-BE49-F238E27FC236}">
                <a16:creationId xmlns:a16="http://schemas.microsoft.com/office/drawing/2014/main" id="{502C0A91-0C34-CB9C-08EE-447E5F8D061B}"/>
              </a:ext>
            </a:extLst>
          </p:cNvPr>
          <p:cNvSpPr txBox="1"/>
          <p:nvPr/>
        </p:nvSpPr>
        <p:spPr>
          <a:xfrm>
            <a:off x="8453155" y="6285829"/>
            <a:ext cx="32056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1B1B1B"/>
                </a:solidFill>
                <a:highlight>
                  <a:srgbClr val="FFFFFF"/>
                </a:highlight>
                <a:latin typeface="Tahoma"/>
                <a:ea typeface="Tahoma"/>
                <a:cs typeface="Tahoma"/>
              </a:rPr>
              <a:t>Mukherjee A, Rokita et al. 2015</a:t>
            </a:r>
          </a:p>
        </p:txBody>
      </p:sp>
    </p:spTree>
    <p:extLst>
      <p:ext uri="{BB962C8B-B14F-4D97-AF65-F5344CB8AC3E}">
        <p14:creationId xmlns:p14="http://schemas.microsoft.com/office/powerpoint/2010/main" val="643045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2F3FC9-4326-4C30-DA48-2570581281FA}"/>
              </a:ext>
            </a:extLst>
          </p:cNvPr>
          <p:cNvSpPr>
            <a:spLocks noGrp="1"/>
          </p:cNvSpPr>
          <p:nvPr>
            <p:ph sz="quarter" idx="13"/>
          </p:nvPr>
        </p:nvSpPr>
        <p:spPr>
          <a:xfrm>
            <a:off x="266701" y="952501"/>
            <a:ext cx="11621982" cy="1837614"/>
          </a:xfrm>
        </p:spPr>
        <p:txBody>
          <a:bodyPr/>
          <a:lstStyle/>
          <a:p>
            <a:r>
              <a:rPr lang="en-US"/>
              <a:t>FMN cofactor = primary electron donor to substrate </a:t>
            </a:r>
          </a:p>
          <a:p>
            <a:r>
              <a:rPr lang="en-US"/>
              <a:t>Two single-electron transfer steps </a:t>
            </a:r>
          </a:p>
          <a:p>
            <a:r>
              <a:rPr lang="en-US"/>
              <a:t>Unstable substrate radical undergoes reductive cleavage releasing halogen atom</a:t>
            </a:r>
          </a:p>
        </p:txBody>
      </p:sp>
      <p:sp>
        <p:nvSpPr>
          <p:cNvPr id="3" name="Slide Number Placeholder 2">
            <a:extLst>
              <a:ext uri="{FF2B5EF4-FFF2-40B4-BE49-F238E27FC236}">
                <a16:creationId xmlns:a16="http://schemas.microsoft.com/office/drawing/2014/main" id="{DC30A427-6AF1-B78A-BE62-97761FF0DFD4}"/>
              </a:ext>
            </a:extLst>
          </p:cNvPr>
          <p:cNvSpPr>
            <a:spLocks noGrp="1"/>
          </p:cNvSpPr>
          <p:nvPr>
            <p:ph type="sldNum" sz="quarter" idx="16"/>
          </p:nvPr>
        </p:nvSpPr>
        <p:spPr/>
        <p:txBody>
          <a:bodyPr/>
          <a:lstStyle/>
          <a:p>
            <a:fld id="{1876332E-97D2-CC49-9E46-E6E0DDE407EB}" type="slidenum">
              <a:rPr lang="en-US" smtClean="0"/>
              <a:pPr/>
              <a:t>4</a:t>
            </a:fld>
            <a:endParaRPr lang="en-US"/>
          </a:p>
        </p:txBody>
      </p:sp>
      <p:sp>
        <p:nvSpPr>
          <p:cNvPr id="4" name="Title 3">
            <a:extLst>
              <a:ext uri="{FF2B5EF4-FFF2-40B4-BE49-F238E27FC236}">
                <a16:creationId xmlns:a16="http://schemas.microsoft.com/office/drawing/2014/main" id="{571F32D7-74D0-B80E-5F71-6C45C90FD0F4}"/>
              </a:ext>
            </a:extLst>
          </p:cNvPr>
          <p:cNvSpPr>
            <a:spLocks noGrp="1"/>
          </p:cNvSpPr>
          <p:nvPr>
            <p:ph type="title"/>
          </p:nvPr>
        </p:nvSpPr>
        <p:spPr/>
        <p:txBody>
          <a:bodyPr/>
          <a:lstStyle/>
          <a:p>
            <a:r>
              <a:rPr lang="en-US"/>
              <a:t>Reductive dehalogenation is catalyzed by FMN cofactor </a:t>
            </a:r>
          </a:p>
        </p:txBody>
      </p:sp>
      <p:pic>
        <p:nvPicPr>
          <p:cNvPr id="5" name="Picture 4" descr="Green spirals of green and blue objects&#10;&#10;AI-generated content may be incorrect.">
            <a:extLst>
              <a:ext uri="{FF2B5EF4-FFF2-40B4-BE49-F238E27FC236}">
                <a16:creationId xmlns:a16="http://schemas.microsoft.com/office/drawing/2014/main" id="{ECD58D4A-0907-2812-5C3A-68739A8958AF}"/>
              </a:ext>
            </a:extLst>
          </p:cNvPr>
          <p:cNvPicPr>
            <a:picLocks noChangeAspect="1"/>
          </p:cNvPicPr>
          <p:nvPr/>
        </p:nvPicPr>
        <p:blipFill>
          <a:blip r:embed="rId3"/>
          <a:stretch>
            <a:fillRect/>
          </a:stretch>
        </p:blipFill>
        <p:spPr>
          <a:xfrm>
            <a:off x="302701" y="2787689"/>
            <a:ext cx="4655026" cy="3142935"/>
          </a:xfrm>
          <a:prstGeom prst="rect">
            <a:avLst/>
          </a:prstGeom>
        </p:spPr>
      </p:pic>
      <p:sp>
        <p:nvSpPr>
          <p:cNvPr id="6" name="Oval 5">
            <a:extLst>
              <a:ext uri="{FF2B5EF4-FFF2-40B4-BE49-F238E27FC236}">
                <a16:creationId xmlns:a16="http://schemas.microsoft.com/office/drawing/2014/main" id="{2BFFA9AC-DC33-B1C7-B783-ADAF164FCD8D}"/>
              </a:ext>
            </a:extLst>
          </p:cNvPr>
          <p:cNvSpPr/>
          <p:nvPr/>
        </p:nvSpPr>
        <p:spPr>
          <a:xfrm>
            <a:off x="3046787" y="4009155"/>
            <a:ext cx="699898" cy="69400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een blue and red hexagons&#10;&#10;AI-generated content may be incorrect.">
            <a:extLst>
              <a:ext uri="{FF2B5EF4-FFF2-40B4-BE49-F238E27FC236}">
                <a16:creationId xmlns:a16="http://schemas.microsoft.com/office/drawing/2014/main" id="{3900249D-9F36-3FF9-FFD2-D9F9ED969037}"/>
              </a:ext>
            </a:extLst>
          </p:cNvPr>
          <p:cNvPicPr>
            <a:picLocks noChangeAspect="1"/>
          </p:cNvPicPr>
          <p:nvPr/>
        </p:nvPicPr>
        <p:blipFill>
          <a:blip r:embed="rId4"/>
          <a:stretch>
            <a:fillRect/>
          </a:stretch>
        </p:blipFill>
        <p:spPr>
          <a:xfrm>
            <a:off x="6340275" y="3012705"/>
            <a:ext cx="4495800" cy="2374900"/>
          </a:xfrm>
          <a:prstGeom prst="rect">
            <a:avLst/>
          </a:prstGeom>
        </p:spPr>
      </p:pic>
      <p:cxnSp>
        <p:nvCxnSpPr>
          <p:cNvPr id="9" name="Straight Arrow Connector 8">
            <a:extLst>
              <a:ext uri="{FF2B5EF4-FFF2-40B4-BE49-F238E27FC236}">
                <a16:creationId xmlns:a16="http://schemas.microsoft.com/office/drawing/2014/main" id="{B32822A0-5854-B363-6026-04B610C6F616}"/>
              </a:ext>
            </a:extLst>
          </p:cNvPr>
          <p:cNvCxnSpPr>
            <a:cxnSpLocks/>
          </p:cNvCxnSpPr>
          <p:nvPr/>
        </p:nvCxnSpPr>
        <p:spPr>
          <a:xfrm>
            <a:off x="4106685" y="4327221"/>
            <a:ext cx="1875497"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D8DD9C2-9FE9-1F69-FB86-84BD06323861}"/>
              </a:ext>
            </a:extLst>
          </p:cNvPr>
          <p:cNvSpPr txBox="1"/>
          <p:nvPr/>
        </p:nvSpPr>
        <p:spPr>
          <a:xfrm>
            <a:off x="1384270" y="6123966"/>
            <a:ext cx="980023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Tahoma"/>
                <a:ea typeface="Tahoma"/>
                <a:cs typeface="Tahoma"/>
              </a:rPr>
              <a:t>PDB 5KO8</a:t>
            </a:r>
            <a:r>
              <a:rPr lang="en-US" sz="1400">
                <a:latin typeface="Tahoma"/>
                <a:ea typeface="Tahoma"/>
                <a:cs typeface="Tahoma"/>
              </a:rPr>
              <a:t> </a:t>
            </a:r>
            <a:r>
              <a:rPr lang="en-US" sz="1400" err="1">
                <a:highlight>
                  <a:srgbClr val="FFFFFF"/>
                </a:highlight>
                <a:latin typeface="Tahoma"/>
                <a:ea typeface="Tahoma"/>
                <a:cs typeface="Tahoma"/>
              </a:rPr>
              <a:t>haliscomenobacter</a:t>
            </a:r>
            <a:r>
              <a:rPr lang="en-US" sz="1400">
                <a:highlight>
                  <a:srgbClr val="FFFFFF"/>
                </a:highlight>
                <a:latin typeface="Tahoma"/>
                <a:ea typeface="Tahoma"/>
                <a:cs typeface="Tahoma"/>
              </a:rPr>
              <a:t> </a:t>
            </a:r>
            <a:r>
              <a:rPr lang="en-US" sz="1400" err="1">
                <a:highlight>
                  <a:srgbClr val="FFFFFF"/>
                </a:highlight>
                <a:latin typeface="Tahoma"/>
                <a:ea typeface="Tahoma"/>
                <a:cs typeface="Tahoma"/>
              </a:rPr>
              <a:t>hydrossis</a:t>
            </a:r>
            <a:r>
              <a:rPr lang="en-US" sz="1400">
                <a:highlight>
                  <a:srgbClr val="FFFFFF"/>
                </a:highlight>
                <a:latin typeface="Tahoma"/>
                <a:ea typeface="Tahoma"/>
                <a:cs typeface="Tahoma"/>
              </a:rPr>
              <a:t> </a:t>
            </a:r>
            <a:r>
              <a:rPr lang="en-US" sz="1400" err="1">
                <a:highlight>
                  <a:srgbClr val="FFFFFF"/>
                </a:highlight>
                <a:latin typeface="Tahoma"/>
                <a:ea typeface="Tahoma"/>
                <a:cs typeface="Tahoma"/>
              </a:rPr>
              <a:t>iodotyrosine</a:t>
            </a:r>
            <a:r>
              <a:rPr lang="en-US" sz="1400">
                <a:highlight>
                  <a:srgbClr val="FFFFFF"/>
                </a:highlight>
                <a:latin typeface="Tahoma"/>
                <a:ea typeface="Tahoma"/>
                <a:cs typeface="Tahoma"/>
              </a:rPr>
              <a:t> deiodinase (IYD) bound to FMN and mono-</a:t>
            </a:r>
            <a:r>
              <a:rPr lang="en-US" sz="1400" err="1">
                <a:highlight>
                  <a:srgbClr val="FFFFFF"/>
                </a:highlight>
                <a:latin typeface="Tahoma"/>
                <a:ea typeface="Tahoma"/>
                <a:cs typeface="Tahoma"/>
              </a:rPr>
              <a:t>iodotyrosine</a:t>
            </a:r>
            <a:r>
              <a:rPr lang="en-US" sz="1400">
                <a:highlight>
                  <a:srgbClr val="FFFFFF"/>
                </a:highlight>
                <a:latin typeface="Tahoma"/>
                <a:ea typeface="Tahoma"/>
                <a:cs typeface="Tahoma"/>
              </a:rPr>
              <a:t> (I-Tyr)</a:t>
            </a:r>
            <a:endParaRPr lang="en-US" sz="1400">
              <a:latin typeface="Tahoma"/>
              <a:ea typeface="Tahoma"/>
              <a:cs typeface="Tahoma"/>
            </a:endParaRPr>
          </a:p>
          <a:p>
            <a:endParaRPr lang="en-US" sz="1400">
              <a:latin typeface="Tahoma"/>
              <a:ea typeface="Tahoma"/>
              <a:cs typeface="Tahoma"/>
            </a:endParaRPr>
          </a:p>
        </p:txBody>
      </p:sp>
    </p:spTree>
    <p:extLst>
      <p:ext uri="{BB962C8B-B14F-4D97-AF65-F5344CB8AC3E}">
        <p14:creationId xmlns:p14="http://schemas.microsoft.com/office/powerpoint/2010/main" val="3598372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56FE833-437A-3472-27DC-604016FBB67D}"/>
              </a:ext>
            </a:extLst>
          </p:cNvPr>
          <p:cNvSpPr txBox="1"/>
          <p:nvPr/>
        </p:nvSpPr>
        <p:spPr>
          <a:xfrm>
            <a:off x="182033" y="1902883"/>
            <a:ext cx="3231874" cy="3280833"/>
          </a:xfrm>
          <a:prstGeom prst="rect">
            <a:avLst/>
          </a:prstGeom>
        </p:spPr>
        <p:txBody>
          <a:bodyPr vert="horz" lIns="91440" tIns="45720" rIns="91440" bIns="45720" rtlCol="0" anchor="t">
            <a:normAutofit/>
          </a:bodyPr>
          <a:lstStyle/>
          <a:p>
            <a:pPr>
              <a:spcBef>
                <a:spcPts val="1000"/>
              </a:spcBef>
            </a:pPr>
            <a:r>
              <a:rPr lang="en-US" sz="2000">
                <a:solidFill>
                  <a:schemeClr val="tx2"/>
                </a:solidFill>
                <a:latin typeface="Tahoma"/>
                <a:ea typeface="Tahoma"/>
                <a:cs typeface="Tahoma"/>
              </a:rPr>
              <a:t>Hydroquinone</a:t>
            </a:r>
            <a:r>
              <a:rPr lang="en-US" sz="2000" b="0" i="0" kern="1200">
                <a:solidFill>
                  <a:schemeClr val="tx2"/>
                </a:solidFill>
                <a:latin typeface="Tahoma"/>
                <a:ea typeface="Tahoma"/>
                <a:cs typeface="Tahoma"/>
              </a:rPr>
              <a:t> (</a:t>
            </a:r>
            <a:r>
              <a:rPr lang="en-US" sz="2000" b="0" i="0" kern="1200" err="1">
                <a:solidFill>
                  <a:schemeClr val="tx2"/>
                </a:solidFill>
                <a:latin typeface="Tahoma"/>
                <a:ea typeface="Tahoma"/>
                <a:cs typeface="Tahoma"/>
              </a:rPr>
              <a:t>FMN</a:t>
            </a:r>
            <a:r>
              <a:rPr lang="en-US" sz="2000" b="0" i="0" kern="1200" baseline="-25000" err="1">
                <a:solidFill>
                  <a:schemeClr val="tx2"/>
                </a:solidFill>
                <a:latin typeface="Tahoma"/>
                <a:ea typeface="Tahoma"/>
                <a:cs typeface="Tahoma"/>
              </a:rPr>
              <a:t>hq</a:t>
            </a:r>
            <a:r>
              <a:rPr lang="en-US" sz="2000" b="0" i="0" kern="1200">
                <a:solidFill>
                  <a:schemeClr val="tx2"/>
                </a:solidFill>
                <a:latin typeface="Tahoma"/>
                <a:ea typeface="Tahoma"/>
                <a:cs typeface="Tahoma"/>
              </a:rPr>
              <a:t>)  = reduced form </a:t>
            </a:r>
          </a:p>
          <a:p>
            <a:pPr>
              <a:spcBef>
                <a:spcPts val="1000"/>
              </a:spcBef>
            </a:pPr>
            <a:endParaRPr lang="en-US" sz="2000" b="0" i="0" kern="1200">
              <a:solidFill>
                <a:schemeClr val="tx2"/>
              </a:solidFill>
              <a:latin typeface="Tahoma" panose="020B0604030504040204" pitchFamily="34" charset="0"/>
              <a:ea typeface="Tahoma" panose="020B0604030504040204" pitchFamily="34" charset="0"/>
              <a:cs typeface="Tahoma" panose="020B0604030504040204" pitchFamily="34" charset="0"/>
            </a:endParaRPr>
          </a:p>
          <a:p>
            <a:pPr>
              <a:spcBef>
                <a:spcPts val="1000"/>
              </a:spcBef>
            </a:pPr>
            <a:r>
              <a:rPr lang="en-US" sz="2000" b="0" i="0" kern="1200">
                <a:solidFill>
                  <a:schemeClr val="tx2"/>
                </a:solidFill>
                <a:latin typeface="Tahoma"/>
                <a:ea typeface="Tahoma"/>
                <a:cs typeface="Tahoma"/>
              </a:rPr>
              <a:t>Semiquinone (</a:t>
            </a:r>
            <a:r>
              <a:rPr lang="en-US" sz="2000" b="0" i="0" kern="1200" err="1">
                <a:solidFill>
                  <a:schemeClr val="tx2"/>
                </a:solidFill>
                <a:latin typeface="Tahoma"/>
                <a:ea typeface="Tahoma"/>
                <a:cs typeface="Tahoma"/>
              </a:rPr>
              <a:t>FMN</a:t>
            </a:r>
            <a:r>
              <a:rPr lang="en-US" sz="2000" b="0" i="0" kern="1200" baseline="-25000" err="1">
                <a:solidFill>
                  <a:schemeClr val="tx2"/>
                </a:solidFill>
                <a:latin typeface="Tahoma"/>
                <a:ea typeface="Tahoma"/>
                <a:cs typeface="Tahoma"/>
              </a:rPr>
              <a:t>sq</a:t>
            </a:r>
            <a:r>
              <a:rPr lang="en-US" sz="2000" b="0" i="0" kern="1200">
                <a:solidFill>
                  <a:schemeClr val="tx2"/>
                </a:solidFill>
                <a:latin typeface="Tahoma"/>
                <a:ea typeface="Tahoma"/>
                <a:cs typeface="Tahoma"/>
              </a:rPr>
              <a:t>)  = one electron reduced form </a:t>
            </a:r>
          </a:p>
          <a:p>
            <a:pPr>
              <a:spcBef>
                <a:spcPts val="1000"/>
              </a:spcBef>
            </a:pPr>
            <a:endParaRPr lang="en-US" sz="2000" b="0" i="0" kern="1200">
              <a:solidFill>
                <a:schemeClr val="tx2"/>
              </a:solidFill>
              <a:latin typeface="Tahoma" panose="020B0604030504040204" pitchFamily="34" charset="0"/>
              <a:ea typeface="Tahoma" panose="020B0604030504040204" pitchFamily="34" charset="0"/>
              <a:cs typeface="Tahoma" panose="020B0604030504040204" pitchFamily="34" charset="0"/>
            </a:endParaRPr>
          </a:p>
          <a:p>
            <a:pPr>
              <a:spcBef>
                <a:spcPts val="1000"/>
              </a:spcBef>
            </a:pPr>
            <a:r>
              <a:rPr lang="en-US" sz="2000" b="0" i="0" kern="1200">
                <a:solidFill>
                  <a:schemeClr val="tx2"/>
                </a:solidFill>
                <a:latin typeface="Tahoma"/>
                <a:ea typeface="Tahoma"/>
                <a:cs typeface="Tahoma"/>
              </a:rPr>
              <a:t>Oxidized (</a:t>
            </a:r>
            <a:r>
              <a:rPr lang="en-US" sz="2000" b="0" i="0" kern="1200" err="1">
                <a:solidFill>
                  <a:schemeClr val="tx2"/>
                </a:solidFill>
                <a:latin typeface="Tahoma"/>
                <a:ea typeface="Tahoma"/>
                <a:cs typeface="Tahoma"/>
              </a:rPr>
              <a:t>FMN</a:t>
            </a:r>
            <a:r>
              <a:rPr lang="en-US" sz="2000" b="0" i="0" kern="1200" baseline="-25000" err="1">
                <a:solidFill>
                  <a:schemeClr val="tx2"/>
                </a:solidFill>
                <a:latin typeface="Tahoma"/>
                <a:ea typeface="Tahoma"/>
                <a:cs typeface="Tahoma"/>
              </a:rPr>
              <a:t>ox</a:t>
            </a:r>
            <a:r>
              <a:rPr lang="en-US" sz="2000" b="0" i="0" kern="1200">
                <a:solidFill>
                  <a:schemeClr val="tx2"/>
                </a:solidFill>
                <a:latin typeface="Tahoma"/>
                <a:ea typeface="Tahoma"/>
                <a:cs typeface="Tahoma"/>
              </a:rPr>
              <a:t>)  = oxidized form</a:t>
            </a:r>
          </a:p>
          <a:p>
            <a:pPr>
              <a:spcBef>
                <a:spcPts val="1000"/>
              </a:spcBef>
            </a:pPr>
            <a:endParaRPr lang="en-US" sz="2000" b="0" i="0" kern="1200">
              <a:solidFill>
                <a:schemeClr val="tx2"/>
              </a:solidFill>
              <a:latin typeface="Tahoma" panose="020B0604030504040204" pitchFamily="34" charset="0"/>
              <a:ea typeface="Tahoma" panose="020B0604030504040204" pitchFamily="34" charset="0"/>
              <a:cs typeface="Tahoma" panose="020B0604030504040204" pitchFamily="34" charset="0"/>
            </a:endParaRPr>
          </a:p>
        </p:txBody>
      </p:sp>
      <p:pic>
        <p:nvPicPr>
          <p:cNvPr id="5" name="Content Placeholder 4" descr="A diagram of a chemical structure&#10;&#10;AI-generated content may be incorrect.">
            <a:extLst>
              <a:ext uri="{FF2B5EF4-FFF2-40B4-BE49-F238E27FC236}">
                <a16:creationId xmlns:a16="http://schemas.microsoft.com/office/drawing/2014/main" id="{FA11C63A-CEC5-B04B-5D32-AA246F4581D8}"/>
              </a:ext>
            </a:extLst>
          </p:cNvPr>
          <p:cNvPicPr>
            <a:picLocks noGrp="1" noChangeAspect="1"/>
          </p:cNvPicPr>
          <p:nvPr>
            <p:ph type="pic" sz="quarter" idx="15"/>
          </p:nvPr>
        </p:nvPicPr>
        <p:blipFill>
          <a:blip r:embed="rId3"/>
          <a:stretch/>
        </p:blipFill>
        <p:spPr>
          <a:xfrm>
            <a:off x="3795231" y="2116832"/>
            <a:ext cx="8093438" cy="2852936"/>
          </a:xfrm>
          <a:prstGeom prst="rect">
            <a:avLst/>
          </a:prstGeom>
          <a:noFill/>
        </p:spPr>
      </p:pic>
      <p:sp>
        <p:nvSpPr>
          <p:cNvPr id="3" name="Slide Number Placeholder 2">
            <a:extLst>
              <a:ext uri="{FF2B5EF4-FFF2-40B4-BE49-F238E27FC236}">
                <a16:creationId xmlns:a16="http://schemas.microsoft.com/office/drawing/2014/main" id="{51E9DC19-4970-E9C3-2B27-FACC55F47501}"/>
              </a:ext>
            </a:extLst>
          </p:cNvPr>
          <p:cNvSpPr>
            <a:spLocks noGrp="1"/>
          </p:cNvSpPr>
          <p:nvPr>
            <p:ph type="sldNum" sz="quarter" idx="18"/>
          </p:nvPr>
        </p:nvSpPr>
        <p:spPr>
          <a:xfrm>
            <a:off x="10218545" y="6248487"/>
            <a:ext cx="1232722" cy="365125"/>
          </a:xfrm>
        </p:spPr>
        <p:txBody>
          <a:bodyPr vert="horz" lIns="0" tIns="0" rIns="0" bIns="0" rtlCol="0" anchor="ctr">
            <a:normAutofit/>
          </a:bodyPr>
          <a:lstStyle/>
          <a:p>
            <a:pPr>
              <a:spcAft>
                <a:spcPts val="600"/>
              </a:spcAft>
            </a:pPr>
            <a:fld id="{1876332E-97D2-CC49-9E46-E6E0DDE407EB}" type="slidenum">
              <a:rPr lang="en-US" smtClean="0"/>
              <a:pPr>
                <a:spcAft>
                  <a:spcPts val="600"/>
                </a:spcAft>
              </a:pPr>
              <a:t>5</a:t>
            </a:fld>
            <a:endParaRPr lang="en-US"/>
          </a:p>
        </p:txBody>
      </p:sp>
      <p:sp>
        <p:nvSpPr>
          <p:cNvPr id="4" name="Title 3">
            <a:extLst>
              <a:ext uri="{FF2B5EF4-FFF2-40B4-BE49-F238E27FC236}">
                <a16:creationId xmlns:a16="http://schemas.microsoft.com/office/drawing/2014/main" id="{E01A5643-846F-375D-736F-4932B605B635}"/>
              </a:ext>
            </a:extLst>
          </p:cNvPr>
          <p:cNvSpPr>
            <a:spLocks noGrp="1"/>
          </p:cNvSpPr>
          <p:nvPr>
            <p:ph type="title"/>
          </p:nvPr>
        </p:nvSpPr>
        <p:spPr>
          <a:xfrm>
            <a:off x="303317" y="244389"/>
            <a:ext cx="11585351" cy="550388"/>
          </a:xfrm>
        </p:spPr>
        <p:txBody>
          <a:bodyPr vert="horz" lIns="91440" tIns="45720" rIns="91440" bIns="45720" rtlCol="0" anchor="ctr">
            <a:normAutofit/>
          </a:bodyPr>
          <a:lstStyle/>
          <a:p>
            <a:r>
              <a:rPr lang="en-US" b="1" i="0" kern="1200">
                <a:latin typeface="Tahoma" panose="020B0604030504040204" pitchFamily="34" charset="0"/>
                <a:ea typeface="Tahoma" panose="020B0604030504040204" pitchFamily="34" charset="0"/>
                <a:cs typeface="Tahoma" panose="020B0604030504040204" pitchFamily="34" charset="0"/>
              </a:rPr>
              <a:t>FMN Characterization</a:t>
            </a:r>
          </a:p>
        </p:txBody>
      </p:sp>
      <p:sp>
        <p:nvSpPr>
          <p:cNvPr id="2" name="TextBox 1">
            <a:extLst>
              <a:ext uri="{FF2B5EF4-FFF2-40B4-BE49-F238E27FC236}">
                <a16:creationId xmlns:a16="http://schemas.microsoft.com/office/drawing/2014/main" id="{55141421-35EB-F18F-4105-54C49C77D477}"/>
              </a:ext>
            </a:extLst>
          </p:cNvPr>
          <p:cNvSpPr txBox="1"/>
          <p:nvPr/>
        </p:nvSpPr>
        <p:spPr>
          <a:xfrm>
            <a:off x="8344527" y="6248403"/>
            <a:ext cx="28428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1B1B1B"/>
                </a:solidFill>
                <a:highlight>
                  <a:srgbClr val="FFFFFF"/>
                </a:highlight>
                <a:latin typeface="Tahoma"/>
                <a:ea typeface="Tahoma"/>
                <a:cs typeface="Tahoma"/>
              </a:rPr>
              <a:t>Mukherjee A, Rokita et al. 2015</a:t>
            </a:r>
          </a:p>
          <a:p>
            <a:endParaRPr lang="en-US" b="1">
              <a:cs typeface="Arial"/>
            </a:endParaRPr>
          </a:p>
        </p:txBody>
      </p:sp>
    </p:spTree>
    <p:extLst>
      <p:ext uri="{BB962C8B-B14F-4D97-AF65-F5344CB8AC3E}">
        <p14:creationId xmlns:p14="http://schemas.microsoft.com/office/powerpoint/2010/main" val="215085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CC06D8-7995-4E26-E4A2-37EF7F26F616}"/>
              </a:ext>
            </a:extLst>
          </p:cNvPr>
          <p:cNvSpPr>
            <a:spLocks noGrp="1"/>
          </p:cNvSpPr>
          <p:nvPr>
            <p:ph type="sldNum" sz="quarter" idx="16"/>
          </p:nvPr>
        </p:nvSpPr>
        <p:spPr/>
        <p:txBody>
          <a:bodyPr/>
          <a:lstStyle/>
          <a:p>
            <a:fld id="{1876332E-97D2-CC49-9E46-E6E0DDE407EB}" type="slidenum">
              <a:rPr lang="en-US" smtClean="0"/>
              <a:pPr/>
              <a:t>6</a:t>
            </a:fld>
            <a:endParaRPr lang="en-US"/>
          </a:p>
        </p:txBody>
      </p:sp>
      <p:sp>
        <p:nvSpPr>
          <p:cNvPr id="4" name="Title 3">
            <a:extLst>
              <a:ext uri="{FF2B5EF4-FFF2-40B4-BE49-F238E27FC236}">
                <a16:creationId xmlns:a16="http://schemas.microsoft.com/office/drawing/2014/main" id="{5D9A1DE3-6C04-B386-824F-561D2C1FB779}"/>
              </a:ext>
            </a:extLst>
          </p:cNvPr>
          <p:cNvSpPr>
            <a:spLocks noGrp="1"/>
          </p:cNvSpPr>
          <p:nvPr>
            <p:ph type="title"/>
          </p:nvPr>
        </p:nvSpPr>
        <p:spPr/>
        <p:txBody>
          <a:bodyPr>
            <a:normAutofit fontScale="90000"/>
          </a:bodyPr>
          <a:lstStyle/>
          <a:p>
            <a:r>
              <a:rPr lang="en-US">
                <a:latin typeface="Tahoma"/>
                <a:ea typeface="Tahoma"/>
                <a:cs typeface="Tahoma"/>
              </a:rPr>
              <a:t>Polar coordination is necessary for semiquinone stabilization</a:t>
            </a:r>
          </a:p>
        </p:txBody>
      </p:sp>
      <p:pic>
        <p:nvPicPr>
          <p:cNvPr id="5" name="Content Placeholder 4">
            <a:extLst>
              <a:ext uri="{FF2B5EF4-FFF2-40B4-BE49-F238E27FC236}">
                <a16:creationId xmlns:a16="http://schemas.microsoft.com/office/drawing/2014/main" id="{99734DBC-1A5B-C597-0234-721FAA6FC936}"/>
              </a:ext>
            </a:extLst>
          </p:cNvPr>
          <p:cNvPicPr>
            <a:picLocks noGrp="1" noChangeAspect="1"/>
          </p:cNvPicPr>
          <p:nvPr>
            <p:ph sz="quarter" idx="13"/>
          </p:nvPr>
        </p:nvPicPr>
        <p:blipFill>
          <a:blip r:embed="rId3"/>
          <a:stretch>
            <a:fillRect/>
          </a:stretch>
        </p:blipFill>
        <p:spPr>
          <a:xfrm>
            <a:off x="303317" y="1292725"/>
            <a:ext cx="5386219" cy="4003816"/>
          </a:xfrm>
          <a:prstGeom prst="rect">
            <a:avLst/>
          </a:prstGeom>
        </p:spPr>
      </p:pic>
      <p:sp>
        <p:nvSpPr>
          <p:cNvPr id="6" name="Rectangle 5">
            <a:extLst>
              <a:ext uri="{FF2B5EF4-FFF2-40B4-BE49-F238E27FC236}">
                <a16:creationId xmlns:a16="http://schemas.microsoft.com/office/drawing/2014/main" id="{9831CF52-0AC5-3921-80D4-5BC83065476E}"/>
              </a:ext>
            </a:extLst>
          </p:cNvPr>
          <p:cNvSpPr/>
          <p:nvPr/>
        </p:nvSpPr>
        <p:spPr>
          <a:xfrm>
            <a:off x="440267" y="1236133"/>
            <a:ext cx="1079066" cy="76266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CA462AA-C9D0-4094-711F-117C1F28C74B}"/>
              </a:ext>
            </a:extLst>
          </p:cNvPr>
          <p:cNvSpPr txBox="1"/>
          <p:nvPr/>
        </p:nvSpPr>
        <p:spPr>
          <a:xfrm>
            <a:off x="6511017" y="2506373"/>
            <a:ext cx="494572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Active site configuration </a:t>
            </a:r>
          </a:p>
          <a:p>
            <a:r>
              <a:rPr lang="en-US">
                <a:cs typeface="Arial"/>
              </a:rPr>
              <a:t>side chain functional groups and </a:t>
            </a:r>
            <a:r>
              <a:rPr lang="en-US">
                <a:ea typeface="+mn-lt"/>
                <a:cs typeface="+mn-lt"/>
              </a:rPr>
              <a:t>isoalloxazine </a:t>
            </a:r>
            <a:r>
              <a:rPr lang="en-US">
                <a:solidFill>
                  <a:srgbClr val="002C71"/>
                </a:solidFill>
                <a:ea typeface="+mn-lt"/>
                <a:cs typeface="+mn-lt"/>
              </a:rPr>
              <a:t>ring</a:t>
            </a:r>
            <a:r>
              <a:rPr lang="en-US">
                <a:cs typeface="Arial"/>
              </a:rPr>
              <a:t> of flavin bond formation </a:t>
            </a:r>
          </a:p>
        </p:txBody>
      </p:sp>
      <p:sp>
        <p:nvSpPr>
          <p:cNvPr id="9" name="TextBox 8">
            <a:extLst>
              <a:ext uri="{FF2B5EF4-FFF2-40B4-BE49-F238E27FC236}">
                <a16:creationId xmlns:a16="http://schemas.microsoft.com/office/drawing/2014/main" id="{57B8F313-2F6F-4012-2C04-8E6905CAB6AB}"/>
              </a:ext>
            </a:extLst>
          </p:cNvPr>
          <p:cNvSpPr txBox="1"/>
          <p:nvPr/>
        </p:nvSpPr>
        <p:spPr>
          <a:xfrm>
            <a:off x="1570799" y="1348588"/>
            <a:ext cx="215011" cy="369332"/>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cs typeface="Arial"/>
              </a:rPr>
              <a:t>2</a:t>
            </a:r>
            <a:endParaRPr lang="en-US"/>
          </a:p>
        </p:txBody>
      </p:sp>
      <p:sp>
        <p:nvSpPr>
          <p:cNvPr id="10" name="TextBox 9">
            <a:extLst>
              <a:ext uri="{FF2B5EF4-FFF2-40B4-BE49-F238E27FC236}">
                <a16:creationId xmlns:a16="http://schemas.microsoft.com/office/drawing/2014/main" id="{2568A7CB-6E3B-2C68-8B2C-D32EFB090F26}"/>
              </a:ext>
            </a:extLst>
          </p:cNvPr>
          <p:cNvSpPr txBox="1"/>
          <p:nvPr/>
        </p:nvSpPr>
        <p:spPr>
          <a:xfrm>
            <a:off x="4804798" y="1294588"/>
            <a:ext cx="215011" cy="369332"/>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cs typeface="Arial"/>
              </a:rPr>
              <a:t>1</a:t>
            </a:r>
          </a:p>
        </p:txBody>
      </p:sp>
      <p:sp>
        <p:nvSpPr>
          <p:cNvPr id="11" name="TextBox 10">
            <a:extLst>
              <a:ext uri="{FF2B5EF4-FFF2-40B4-BE49-F238E27FC236}">
                <a16:creationId xmlns:a16="http://schemas.microsoft.com/office/drawing/2014/main" id="{DAC8C96C-5684-1666-BC1B-CDCFA1402A72}"/>
              </a:ext>
            </a:extLst>
          </p:cNvPr>
          <p:cNvSpPr txBox="1"/>
          <p:nvPr/>
        </p:nvSpPr>
        <p:spPr>
          <a:xfrm>
            <a:off x="2794798" y="4480588"/>
            <a:ext cx="215011" cy="369332"/>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cs typeface="Arial"/>
              </a:rPr>
              <a:t>3</a:t>
            </a:r>
          </a:p>
        </p:txBody>
      </p:sp>
      <p:sp>
        <p:nvSpPr>
          <p:cNvPr id="8" name="TextBox 7">
            <a:extLst>
              <a:ext uri="{FF2B5EF4-FFF2-40B4-BE49-F238E27FC236}">
                <a16:creationId xmlns:a16="http://schemas.microsoft.com/office/drawing/2014/main" id="{FB761279-9F1E-22F1-8E51-71DA6C5A222A}"/>
              </a:ext>
            </a:extLst>
          </p:cNvPr>
          <p:cNvSpPr txBox="1"/>
          <p:nvPr/>
        </p:nvSpPr>
        <p:spPr>
          <a:xfrm>
            <a:off x="8617696" y="6248403"/>
            <a:ext cx="282844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1B1B1B"/>
                </a:solidFill>
                <a:highlight>
                  <a:srgbClr val="FFFFFF"/>
                </a:highlight>
                <a:latin typeface="Tahoma"/>
                <a:ea typeface="Tahoma"/>
                <a:cs typeface="Tahoma"/>
              </a:rPr>
              <a:t>Sun Z, Su Q, Rokita et al. 2017</a:t>
            </a:r>
            <a:endParaRPr lang="en-US" sz="1400">
              <a:latin typeface="Tahoma"/>
              <a:ea typeface="Tahoma"/>
              <a:cs typeface="Tahoma"/>
            </a:endParaRPr>
          </a:p>
        </p:txBody>
      </p:sp>
    </p:spTree>
    <p:extLst>
      <p:ext uri="{BB962C8B-B14F-4D97-AF65-F5344CB8AC3E}">
        <p14:creationId xmlns:p14="http://schemas.microsoft.com/office/powerpoint/2010/main" val="1183077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78F481-5AF3-A3B3-A755-E463E807147C}"/>
              </a:ext>
            </a:extLst>
          </p:cNvPr>
          <p:cNvSpPr>
            <a:spLocks noGrp="1"/>
          </p:cNvSpPr>
          <p:nvPr>
            <p:ph type="sldNum" sz="quarter" idx="16"/>
          </p:nvPr>
        </p:nvSpPr>
        <p:spPr/>
        <p:txBody>
          <a:bodyPr/>
          <a:lstStyle/>
          <a:p>
            <a:fld id="{1876332E-97D2-CC49-9E46-E6E0DDE407EB}" type="slidenum">
              <a:rPr lang="en-US" smtClean="0"/>
              <a:pPr/>
              <a:t>7</a:t>
            </a:fld>
            <a:endParaRPr lang="en-US"/>
          </a:p>
        </p:txBody>
      </p:sp>
      <p:sp>
        <p:nvSpPr>
          <p:cNvPr id="4" name="Title 3">
            <a:extLst>
              <a:ext uri="{FF2B5EF4-FFF2-40B4-BE49-F238E27FC236}">
                <a16:creationId xmlns:a16="http://schemas.microsoft.com/office/drawing/2014/main" id="{EBBC3F10-00BA-AEF9-1552-AF89C516F75A}"/>
              </a:ext>
            </a:extLst>
          </p:cNvPr>
          <p:cNvSpPr>
            <a:spLocks noGrp="1"/>
          </p:cNvSpPr>
          <p:nvPr>
            <p:ph type="title"/>
          </p:nvPr>
        </p:nvSpPr>
        <p:spPr>
          <a:xfrm>
            <a:off x="303317" y="244386"/>
            <a:ext cx="11021366" cy="356541"/>
          </a:xfrm>
        </p:spPr>
        <p:txBody>
          <a:bodyPr>
            <a:normAutofit fontScale="90000"/>
          </a:bodyPr>
          <a:lstStyle/>
          <a:p>
            <a:pPr algn="ctr"/>
            <a:r>
              <a:rPr lang="en-US">
                <a:latin typeface="Tahoma"/>
                <a:ea typeface="Tahoma"/>
                <a:cs typeface="Tahoma"/>
              </a:rPr>
              <a:t>Catalytic efficiency and semiquinone stabilization diminish without key interactions </a:t>
            </a:r>
            <a:endParaRPr lang="en-US"/>
          </a:p>
        </p:txBody>
      </p:sp>
      <p:pic>
        <p:nvPicPr>
          <p:cNvPr id="5" name="Picture 4" descr="A diagram of a chemical structure&#10;&#10;AI-generated content may be incorrect.">
            <a:extLst>
              <a:ext uri="{FF2B5EF4-FFF2-40B4-BE49-F238E27FC236}">
                <a16:creationId xmlns:a16="http://schemas.microsoft.com/office/drawing/2014/main" id="{2B6158AD-9C39-C6EC-8051-90E08CFAF413}"/>
              </a:ext>
            </a:extLst>
          </p:cNvPr>
          <p:cNvPicPr>
            <a:picLocks noChangeAspect="1"/>
          </p:cNvPicPr>
          <p:nvPr/>
        </p:nvPicPr>
        <p:blipFill>
          <a:blip r:embed="rId3"/>
          <a:stretch>
            <a:fillRect/>
          </a:stretch>
        </p:blipFill>
        <p:spPr>
          <a:xfrm>
            <a:off x="187480" y="1110000"/>
            <a:ext cx="3891041" cy="2712000"/>
          </a:xfrm>
          <a:prstGeom prst="rect">
            <a:avLst/>
          </a:prstGeom>
        </p:spPr>
      </p:pic>
      <p:pic>
        <p:nvPicPr>
          <p:cNvPr id="6" name="Picture 5">
            <a:extLst>
              <a:ext uri="{FF2B5EF4-FFF2-40B4-BE49-F238E27FC236}">
                <a16:creationId xmlns:a16="http://schemas.microsoft.com/office/drawing/2014/main" id="{7F424483-7AC1-DA98-9D74-9CCE0A8F9B6B}"/>
              </a:ext>
            </a:extLst>
          </p:cNvPr>
          <p:cNvPicPr>
            <a:picLocks noChangeAspect="1"/>
          </p:cNvPicPr>
          <p:nvPr/>
        </p:nvPicPr>
        <p:blipFill>
          <a:blip r:embed="rId4"/>
          <a:stretch>
            <a:fillRect/>
          </a:stretch>
        </p:blipFill>
        <p:spPr>
          <a:xfrm>
            <a:off x="4296000" y="985151"/>
            <a:ext cx="7734000" cy="3813697"/>
          </a:xfrm>
          <a:prstGeom prst="rect">
            <a:avLst/>
          </a:prstGeom>
        </p:spPr>
      </p:pic>
      <p:pic>
        <p:nvPicPr>
          <p:cNvPr id="7" name="Picture 6">
            <a:extLst>
              <a:ext uri="{FF2B5EF4-FFF2-40B4-BE49-F238E27FC236}">
                <a16:creationId xmlns:a16="http://schemas.microsoft.com/office/drawing/2014/main" id="{69D26AC8-3AA7-533F-5230-A0568B44ABBA}"/>
              </a:ext>
            </a:extLst>
          </p:cNvPr>
          <p:cNvPicPr>
            <a:picLocks noChangeAspect="1"/>
          </p:cNvPicPr>
          <p:nvPr/>
        </p:nvPicPr>
        <p:blipFill>
          <a:blip r:embed="rId5"/>
          <a:stretch>
            <a:fillRect/>
          </a:stretch>
        </p:blipFill>
        <p:spPr>
          <a:xfrm>
            <a:off x="186600" y="3958725"/>
            <a:ext cx="3898800" cy="2756550"/>
          </a:xfrm>
          <a:prstGeom prst="rect">
            <a:avLst/>
          </a:prstGeom>
        </p:spPr>
      </p:pic>
      <p:pic>
        <p:nvPicPr>
          <p:cNvPr id="8" name="Picture 7" descr="A red circle with black background&#10;&#10;AI-generated content may be incorrect.">
            <a:extLst>
              <a:ext uri="{FF2B5EF4-FFF2-40B4-BE49-F238E27FC236}">
                <a16:creationId xmlns:a16="http://schemas.microsoft.com/office/drawing/2014/main" id="{13654E10-A4D9-22BB-9EB6-EEF84FB286C3}"/>
              </a:ext>
            </a:extLst>
          </p:cNvPr>
          <p:cNvPicPr>
            <a:picLocks noChangeAspect="1"/>
          </p:cNvPicPr>
          <p:nvPr/>
        </p:nvPicPr>
        <p:blipFill>
          <a:blip r:embed="rId6"/>
          <a:stretch>
            <a:fillRect/>
          </a:stretch>
        </p:blipFill>
        <p:spPr>
          <a:xfrm>
            <a:off x="2136150" y="4143750"/>
            <a:ext cx="1523700" cy="1198500"/>
          </a:xfrm>
          <a:prstGeom prst="rect">
            <a:avLst/>
          </a:prstGeom>
        </p:spPr>
      </p:pic>
      <p:pic>
        <p:nvPicPr>
          <p:cNvPr id="9" name="Picture 8" descr="A red circle with black background&#10;&#10;AI-generated content may be incorrect.">
            <a:extLst>
              <a:ext uri="{FF2B5EF4-FFF2-40B4-BE49-F238E27FC236}">
                <a16:creationId xmlns:a16="http://schemas.microsoft.com/office/drawing/2014/main" id="{867647B4-349F-79AF-68D6-0D96E3BD4351}"/>
              </a:ext>
            </a:extLst>
          </p:cNvPr>
          <p:cNvPicPr>
            <a:picLocks noChangeAspect="1"/>
          </p:cNvPicPr>
          <p:nvPr/>
        </p:nvPicPr>
        <p:blipFill>
          <a:blip r:embed="rId6"/>
          <a:stretch>
            <a:fillRect/>
          </a:stretch>
        </p:blipFill>
        <p:spPr>
          <a:xfrm rot="1320000">
            <a:off x="10404150" y="2775749"/>
            <a:ext cx="827700" cy="628500"/>
          </a:xfrm>
          <a:prstGeom prst="rect">
            <a:avLst/>
          </a:prstGeom>
        </p:spPr>
      </p:pic>
      <p:pic>
        <p:nvPicPr>
          <p:cNvPr id="10" name="Picture 9" descr="A red circle with black background&#10;&#10;AI-generated content may be incorrect.">
            <a:extLst>
              <a:ext uri="{FF2B5EF4-FFF2-40B4-BE49-F238E27FC236}">
                <a16:creationId xmlns:a16="http://schemas.microsoft.com/office/drawing/2014/main" id="{04F89FFD-4973-AD73-54E3-5DEC688311C3}"/>
              </a:ext>
            </a:extLst>
          </p:cNvPr>
          <p:cNvPicPr>
            <a:picLocks noChangeAspect="1"/>
          </p:cNvPicPr>
          <p:nvPr/>
        </p:nvPicPr>
        <p:blipFill>
          <a:blip r:embed="rId6"/>
          <a:stretch>
            <a:fillRect/>
          </a:stretch>
        </p:blipFill>
        <p:spPr>
          <a:xfrm rot="660000">
            <a:off x="10160858" y="1612415"/>
            <a:ext cx="1247700" cy="628500"/>
          </a:xfrm>
          <a:prstGeom prst="rect">
            <a:avLst/>
          </a:prstGeom>
        </p:spPr>
      </p:pic>
      <p:sp>
        <p:nvSpPr>
          <p:cNvPr id="11" name="TextBox 10">
            <a:extLst>
              <a:ext uri="{FF2B5EF4-FFF2-40B4-BE49-F238E27FC236}">
                <a16:creationId xmlns:a16="http://schemas.microsoft.com/office/drawing/2014/main" id="{E7D65CFE-38FA-4998-660E-E0C7F9ECD1E2}"/>
              </a:ext>
            </a:extLst>
          </p:cNvPr>
          <p:cNvSpPr txBox="1"/>
          <p:nvPr/>
        </p:nvSpPr>
        <p:spPr>
          <a:xfrm>
            <a:off x="4298947" y="5788000"/>
            <a:ext cx="532063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PDB 5KRD:</a:t>
            </a:r>
            <a:r>
              <a:rPr lang="en-US">
                <a:cs typeface="Arial"/>
              </a:rPr>
              <a:t> FMN cofactor interacting with 2IP (substrate that lacks zwitterion) </a:t>
            </a:r>
            <a:endParaRPr lang="en-US"/>
          </a:p>
        </p:txBody>
      </p:sp>
      <p:sp>
        <p:nvSpPr>
          <p:cNvPr id="12" name="TextBox 11">
            <a:extLst>
              <a:ext uri="{FF2B5EF4-FFF2-40B4-BE49-F238E27FC236}">
                <a16:creationId xmlns:a16="http://schemas.microsoft.com/office/drawing/2014/main" id="{8602F7BC-0EA0-353A-D056-7F05B367AEDE}"/>
              </a:ext>
            </a:extLst>
          </p:cNvPr>
          <p:cNvSpPr txBox="1"/>
          <p:nvPr/>
        </p:nvSpPr>
        <p:spPr>
          <a:xfrm>
            <a:off x="9039323" y="6309094"/>
            <a:ext cx="256673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212121"/>
                </a:solidFill>
                <a:highlight>
                  <a:srgbClr val="FFFFFF"/>
                </a:highlight>
                <a:latin typeface="Tahoma"/>
                <a:ea typeface="Tahoma"/>
                <a:cs typeface="Tahoma"/>
              </a:rPr>
              <a:t>Lemen D, Rokita et al. 2024</a:t>
            </a:r>
            <a:endParaRPr lang="en-US" sz="1400">
              <a:latin typeface="Tahoma"/>
              <a:ea typeface="Tahoma"/>
              <a:cs typeface="Tahoma"/>
            </a:endParaRPr>
          </a:p>
        </p:txBody>
      </p:sp>
    </p:spTree>
    <p:extLst>
      <p:ext uri="{BB962C8B-B14F-4D97-AF65-F5344CB8AC3E}">
        <p14:creationId xmlns:p14="http://schemas.microsoft.com/office/powerpoint/2010/main" val="1374608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E0E4-0BF2-73AA-FF1A-3BC7B59696B7}"/>
              </a:ext>
            </a:extLst>
          </p:cNvPr>
          <p:cNvSpPr>
            <a:spLocks noGrp="1"/>
          </p:cNvSpPr>
          <p:nvPr>
            <p:ph type="ctrTitle"/>
          </p:nvPr>
        </p:nvSpPr>
        <p:spPr>
          <a:xfrm>
            <a:off x="5487736" y="2796875"/>
            <a:ext cx="1216526" cy="632125"/>
          </a:xfrm>
        </p:spPr>
        <p:txBody>
          <a:bodyPr/>
          <a:lstStyle/>
          <a:p>
            <a:r>
              <a:rPr lang="en-US"/>
              <a:t>Goal</a:t>
            </a:r>
          </a:p>
        </p:txBody>
      </p:sp>
      <p:sp>
        <p:nvSpPr>
          <p:cNvPr id="3" name="Subtitle 2">
            <a:extLst>
              <a:ext uri="{FF2B5EF4-FFF2-40B4-BE49-F238E27FC236}">
                <a16:creationId xmlns:a16="http://schemas.microsoft.com/office/drawing/2014/main" id="{1A5BBFA0-10E7-47EC-3702-C26EB5873032}"/>
              </a:ext>
            </a:extLst>
          </p:cNvPr>
          <p:cNvSpPr>
            <a:spLocks noGrp="1"/>
          </p:cNvSpPr>
          <p:nvPr>
            <p:ph type="subTitle" idx="1"/>
          </p:nvPr>
        </p:nvSpPr>
        <p:spPr>
          <a:xfrm>
            <a:off x="1475872" y="3722458"/>
            <a:ext cx="9240253" cy="2072975"/>
          </a:xfrm>
        </p:spPr>
        <p:txBody>
          <a:bodyPr vert="horz" lIns="0" tIns="0" rIns="0" bIns="0" rtlCol="0" anchor="t">
            <a:normAutofit/>
          </a:bodyPr>
          <a:lstStyle/>
          <a:p>
            <a:pPr algn="ctr">
              <a:lnSpc>
                <a:spcPct val="100000"/>
              </a:lnSpc>
            </a:pPr>
            <a:r>
              <a:rPr lang="en-US" sz="2800">
                <a:solidFill>
                  <a:schemeClr val="bg2"/>
                </a:solidFill>
                <a:latin typeface="Tahoma"/>
                <a:ea typeface="Tahoma"/>
                <a:cs typeface="Tahoma"/>
              </a:rPr>
              <a:t>Use DFT calculation to analyze electron density of FMN and MD Simulation to obtain the geometry of  catalytic environment of Transition State of IYD</a:t>
            </a:r>
          </a:p>
        </p:txBody>
      </p:sp>
    </p:spTree>
    <p:extLst>
      <p:ext uri="{BB962C8B-B14F-4D97-AF65-F5344CB8AC3E}">
        <p14:creationId xmlns:p14="http://schemas.microsoft.com/office/powerpoint/2010/main" val="2668243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554916-605A-0F6D-12C2-F41AD6C0EE43}"/>
              </a:ext>
            </a:extLst>
          </p:cNvPr>
          <p:cNvSpPr>
            <a:spLocks noGrp="1"/>
          </p:cNvSpPr>
          <p:nvPr>
            <p:ph sz="quarter" idx="13"/>
          </p:nvPr>
        </p:nvSpPr>
        <p:spPr>
          <a:xfrm>
            <a:off x="296701" y="952501"/>
            <a:ext cx="6863166" cy="1451500"/>
          </a:xfrm>
        </p:spPr>
        <p:txBody>
          <a:bodyPr vert="horz" lIns="91440" tIns="45720" rIns="91440" bIns="45720" rtlCol="0" anchor="t">
            <a:normAutofit/>
          </a:bodyPr>
          <a:lstStyle/>
          <a:p>
            <a:pPr marL="0" indent="0">
              <a:buNone/>
            </a:pPr>
            <a:r>
              <a:rPr lang="en-US" b="1"/>
              <a:t>Active site geometry optimization</a:t>
            </a:r>
          </a:p>
          <a:p>
            <a:pPr marL="0" indent="0">
              <a:buNone/>
            </a:pPr>
            <a:r>
              <a:rPr lang="en-US">
                <a:latin typeface="Tahoma"/>
                <a:ea typeface="Tahoma"/>
                <a:cs typeface="Tahoma"/>
              </a:rPr>
              <a:t>Molecular Dynamics Simulation (MD Simulation)  </a:t>
            </a:r>
            <a:endParaRPr lang="en-US"/>
          </a:p>
          <a:p>
            <a:pPr marL="0" indent="0">
              <a:buNone/>
            </a:pPr>
            <a:r>
              <a:rPr lang="en-US">
                <a:latin typeface="Tahoma"/>
                <a:ea typeface="Tahoma"/>
                <a:cs typeface="Tahoma"/>
              </a:rPr>
              <a:t>Active Site generation</a:t>
            </a:r>
          </a:p>
        </p:txBody>
      </p:sp>
      <p:sp>
        <p:nvSpPr>
          <p:cNvPr id="3" name="Slide Number Placeholder 2">
            <a:extLst>
              <a:ext uri="{FF2B5EF4-FFF2-40B4-BE49-F238E27FC236}">
                <a16:creationId xmlns:a16="http://schemas.microsoft.com/office/drawing/2014/main" id="{66F9518D-B7E3-0D5B-9AC6-01453D22A57E}"/>
              </a:ext>
            </a:extLst>
          </p:cNvPr>
          <p:cNvSpPr>
            <a:spLocks noGrp="1"/>
          </p:cNvSpPr>
          <p:nvPr>
            <p:ph type="sldNum" sz="quarter" idx="16"/>
          </p:nvPr>
        </p:nvSpPr>
        <p:spPr/>
        <p:txBody>
          <a:bodyPr/>
          <a:lstStyle/>
          <a:p>
            <a:fld id="{1876332E-97D2-CC49-9E46-E6E0DDE407EB}" type="slidenum">
              <a:rPr lang="en-US" smtClean="0"/>
              <a:pPr/>
              <a:t>9</a:t>
            </a:fld>
            <a:endParaRPr lang="en-US"/>
          </a:p>
        </p:txBody>
      </p:sp>
      <p:sp>
        <p:nvSpPr>
          <p:cNvPr id="4" name="Title 3">
            <a:extLst>
              <a:ext uri="{FF2B5EF4-FFF2-40B4-BE49-F238E27FC236}">
                <a16:creationId xmlns:a16="http://schemas.microsoft.com/office/drawing/2014/main" id="{4A54686B-61E3-8649-B07E-057149730E77}"/>
              </a:ext>
            </a:extLst>
          </p:cNvPr>
          <p:cNvSpPr>
            <a:spLocks noGrp="1"/>
          </p:cNvSpPr>
          <p:nvPr>
            <p:ph type="title"/>
          </p:nvPr>
        </p:nvSpPr>
        <p:spPr/>
        <p:txBody>
          <a:bodyPr/>
          <a:lstStyle/>
          <a:p>
            <a:r>
              <a:rPr lang="en-US"/>
              <a:t>Methods </a:t>
            </a:r>
          </a:p>
        </p:txBody>
      </p:sp>
      <p:sp>
        <p:nvSpPr>
          <p:cNvPr id="5" name="TextBox 4">
            <a:extLst>
              <a:ext uri="{FF2B5EF4-FFF2-40B4-BE49-F238E27FC236}">
                <a16:creationId xmlns:a16="http://schemas.microsoft.com/office/drawing/2014/main" id="{9CD8EF75-E7EA-A16C-82C2-2F2C9247EFCC}"/>
              </a:ext>
            </a:extLst>
          </p:cNvPr>
          <p:cNvSpPr txBox="1"/>
          <p:nvPr/>
        </p:nvSpPr>
        <p:spPr>
          <a:xfrm>
            <a:off x="306000" y="3610499"/>
            <a:ext cx="5609166" cy="1107996"/>
          </a:xfrm>
          <a:prstGeom prst="rect">
            <a:avLst/>
          </a:prstGeom>
          <a:noFill/>
        </p:spPr>
        <p:txBody>
          <a:bodyPr wrap="square" lIns="91440" tIns="45720" rIns="91440" bIns="45720" rtlCol="0" anchor="t">
            <a:spAutoFit/>
          </a:bodyPr>
          <a:lstStyle/>
          <a:p>
            <a:r>
              <a:rPr lang="en-US" sz="2400" b="1">
                <a:latin typeface="Tahoma" panose="020B0604030504040204" pitchFamily="34" charset="0"/>
                <a:ea typeface="Tahoma" panose="020B0604030504040204" pitchFamily="34" charset="0"/>
                <a:cs typeface="Tahoma" panose="020B0604030504040204" pitchFamily="34" charset="0"/>
              </a:rPr>
              <a:t>Electron Density Analysis </a:t>
            </a:r>
          </a:p>
          <a:p>
            <a:r>
              <a:rPr lang="en-US" sz="2400">
                <a:latin typeface="Tahoma" panose="020B0604030504040204" pitchFamily="34" charset="0"/>
                <a:ea typeface="Tahoma" panose="020B0604030504040204" pitchFamily="34" charset="0"/>
                <a:cs typeface="Tahoma" panose="020B0604030504040204" pitchFamily="34" charset="0"/>
              </a:rPr>
              <a:t>DFT calculation of FMN cofactor </a:t>
            </a:r>
          </a:p>
          <a:p>
            <a:endParaRPr lang="en-US" b="1">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16557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7E2C61-52A4-D08E-E348-69B1E21848A8}"/>
              </a:ext>
            </a:extLst>
          </p:cNvPr>
          <p:cNvSpPr>
            <a:spLocks noGrp="1"/>
          </p:cNvSpPr>
          <p:nvPr>
            <p:ph sz="quarter" idx="13"/>
          </p:nvPr>
        </p:nvSpPr>
        <p:spPr>
          <a:xfrm>
            <a:off x="278701" y="952500"/>
            <a:ext cx="11609982" cy="531599"/>
          </a:xfrm>
        </p:spPr>
        <p:txBody>
          <a:bodyPr vert="horz" lIns="91440" tIns="45720" rIns="91440" bIns="45720" rtlCol="0" anchor="t">
            <a:noAutofit/>
          </a:bodyPr>
          <a:lstStyle/>
          <a:p>
            <a:pPr marL="457200" indent="-457200">
              <a:buAutoNum type="arabicPeriod"/>
            </a:pPr>
            <a:r>
              <a:rPr lang="en-US" sz="1800">
                <a:latin typeface="Tahoma"/>
                <a:ea typeface="Tahoma"/>
                <a:cs typeface="Tahoma"/>
              </a:rPr>
              <a:t>Simulate the reaction pathway of enzyme w/ cofactor and substrate bound </a:t>
            </a:r>
          </a:p>
          <a:p>
            <a:pPr marL="457200" indent="-457200">
              <a:buAutoNum type="arabicPeriod"/>
            </a:pPr>
            <a:r>
              <a:rPr lang="en-US" sz="1800">
                <a:latin typeface="Tahoma"/>
                <a:ea typeface="Tahoma"/>
                <a:cs typeface="Tahoma"/>
              </a:rPr>
              <a:t>Get "snapshots" of intermediate Transition State (semiquinone form) </a:t>
            </a:r>
            <a:endParaRPr lang="en-US" sz="1800"/>
          </a:p>
        </p:txBody>
      </p:sp>
      <p:sp>
        <p:nvSpPr>
          <p:cNvPr id="3" name="Slide Number Placeholder 2">
            <a:extLst>
              <a:ext uri="{FF2B5EF4-FFF2-40B4-BE49-F238E27FC236}">
                <a16:creationId xmlns:a16="http://schemas.microsoft.com/office/drawing/2014/main" id="{8C27E6BF-092B-B170-2F7B-19663D8A8752}"/>
              </a:ext>
            </a:extLst>
          </p:cNvPr>
          <p:cNvSpPr>
            <a:spLocks noGrp="1"/>
          </p:cNvSpPr>
          <p:nvPr>
            <p:ph type="sldNum" sz="quarter" idx="16"/>
          </p:nvPr>
        </p:nvSpPr>
        <p:spPr/>
        <p:txBody>
          <a:bodyPr/>
          <a:lstStyle/>
          <a:p>
            <a:fld id="{1876332E-97D2-CC49-9E46-E6E0DDE407EB}" type="slidenum">
              <a:rPr lang="en-US" smtClean="0"/>
              <a:pPr/>
              <a:t>10</a:t>
            </a:fld>
            <a:endParaRPr lang="en-US"/>
          </a:p>
        </p:txBody>
      </p:sp>
      <p:sp>
        <p:nvSpPr>
          <p:cNvPr id="4" name="Title 3">
            <a:extLst>
              <a:ext uri="{FF2B5EF4-FFF2-40B4-BE49-F238E27FC236}">
                <a16:creationId xmlns:a16="http://schemas.microsoft.com/office/drawing/2014/main" id="{3B4EDEDC-758C-7AE7-FDA0-D33378F73CA0}"/>
              </a:ext>
            </a:extLst>
          </p:cNvPr>
          <p:cNvSpPr>
            <a:spLocks noGrp="1"/>
          </p:cNvSpPr>
          <p:nvPr>
            <p:ph type="title"/>
          </p:nvPr>
        </p:nvSpPr>
        <p:spPr/>
        <p:txBody>
          <a:bodyPr/>
          <a:lstStyle/>
          <a:p>
            <a:r>
              <a:rPr lang="en-US">
                <a:latin typeface="Tahoma"/>
                <a:ea typeface="Tahoma"/>
                <a:cs typeface="Tahoma"/>
              </a:rPr>
              <a:t>Molecular Dynamics Simulation </a:t>
            </a:r>
            <a:endParaRPr lang="en-US"/>
          </a:p>
        </p:txBody>
      </p:sp>
      <p:pic>
        <p:nvPicPr>
          <p:cNvPr id="5" name="Picture 4" descr="A diagram of a chemical reaction&#10;&#10;AI-generated content may be incorrect.">
            <a:extLst>
              <a:ext uri="{FF2B5EF4-FFF2-40B4-BE49-F238E27FC236}">
                <a16:creationId xmlns:a16="http://schemas.microsoft.com/office/drawing/2014/main" id="{92BFC1CD-84D9-D20D-95A8-2454ACA7ED5D}"/>
              </a:ext>
            </a:extLst>
          </p:cNvPr>
          <p:cNvPicPr>
            <a:picLocks noChangeAspect="1"/>
          </p:cNvPicPr>
          <p:nvPr/>
        </p:nvPicPr>
        <p:blipFill>
          <a:blip r:embed="rId3"/>
          <a:stretch>
            <a:fillRect/>
          </a:stretch>
        </p:blipFill>
        <p:spPr>
          <a:xfrm>
            <a:off x="517978" y="2166000"/>
            <a:ext cx="6794044" cy="4446000"/>
          </a:xfrm>
          <a:prstGeom prst="rect">
            <a:avLst/>
          </a:prstGeom>
        </p:spPr>
      </p:pic>
    </p:spTree>
    <p:extLst>
      <p:ext uri="{BB962C8B-B14F-4D97-AF65-F5344CB8AC3E}">
        <p14:creationId xmlns:p14="http://schemas.microsoft.com/office/powerpoint/2010/main" val="1662501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54231E-3A24-B1DD-F18B-25EDEF251814}"/>
              </a:ext>
            </a:extLst>
          </p:cNvPr>
          <p:cNvSpPr>
            <a:spLocks noGrp="1"/>
          </p:cNvSpPr>
          <p:nvPr>
            <p:ph type="sldNum" sz="quarter" idx="16"/>
          </p:nvPr>
        </p:nvSpPr>
        <p:spPr/>
        <p:txBody>
          <a:bodyPr/>
          <a:lstStyle/>
          <a:p>
            <a:fld id="{1876332E-97D2-CC49-9E46-E6E0DDE407EB}" type="slidenum">
              <a:rPr lang="en-US" smtClean="0"/>
              <a:pPr/>
              <a:t>11</a:t>
            </a:fld>
            <a:endParaRPr lang="en-US"/>
          </a:p>
        </p:txBody>
      </p:sp>
      <p:sp>
        <p:nvSpPr>
          <p:cNvPr id="4" name="Title 3">
            <a:extLst>
              <a:ext uri="{FF2B5EF4-FFF2-40B4-BE49-F238E27FC236}">
                <a16:creationId xmlns:a16="http://schemas.microsoft.com/office/drawing/2014/main" id="{93982D7B-5250-007F-FB01-FDADDA018760}"/>
              </a:ext>
            </a:extLst>
          </p:cNvPr>
          <p:cNvSpPr>
            <a:spLocks noGrp="1"/>
          </p:cNvSpPr>
          <p:nvPr>
            <p:ph type="title"/>
          </p:nvPr>
        </p:nvSpPr>
        <p:spPr/>
        <p:txBody>
          <a:bodyPr/>
          <a:lstStyle/>
          <a:p>
            <a:r>
              <a:rPr lang="en-US">
                <a:latin typeface="Tahoma"/>
                <a:ea typeface="Tahoma"/>
                <a:cs typeface="Tahoma"/>
              </a:rPr>
              <a:t>Molecular Dynamics Simulation Tools </a:t>
            </a:r>
            <a:endParaRPr lang="en-US"/>
          </a:p>
        </p:txBody>
      </p:sp>
      <p:sp>
        <p:nvSpPr>
          <p:cNvPr id="5" name="TextBox 4">
            <a:extLst>
              <a:ext uri="{FF2B5EF4-FFF2-40B4-BE49-F238E27FC236}">
                <a16:creationId xmlns:a16="http://schemas.microsoft.com/office/drawing/2014/main" id="{E75264EA-2C27-EDC5-6FCB-2DD038093874}"/>
              </a:ext>
            </a:extLst>
          </p:cNvPr>
          <p:cNvSpPr txBox="1"/>
          <p:nvPr/>
        </p:nvSpPr>
        <p:spPr>
          <a:xfrm>
            <a:off x="73262" y="913473"/>
            <a:ext cx="1014694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Amber Tools (Assisted Model Building and Energy Refinement) </a:t>
            </a:r>
          </a:p>
        </p:txBody>
      </p:sp>
      <p:sp>
        <p:nvSpPr>
          <p:cNvPr id="6" name="TextBox 5">
            <a:extLst>
              <a:ext uri="{FF2B5EF4-FFF2-40B4-BE49-F238E27FC236}">
                <a16:creationId xmlns:a16="http://schemas.microsoft.com/office/drawing/2014/main" id="{0C3B25A1-3A63-AE63-BDDD-DE2842DE0830}"/>
              </a:ext>
            </a:extLst>
          </p:cNvPr>
          <p:cNvSpPr txBox="1"/>
          <p:nvPr/>
        </p:nvSpPr>
        <p:spPr>
          <a:xfrm>
            <a:off x="303796" y="1831959"/>
            <a:ext cx="6178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panose="020B0604020202020204"/>
              </a:rPr>
              <a:t>Collection of programs that are designed to. . . </a:t>
            </a:r>
          </a:p>
          <a:p>
            <a:endParaRPr lang="en-US" b="1">
              <a:cs typeface="Arial" panose="020B0604020202020204"/>
            </a:endParaRPr>
          </a:p>
          <a:p>
            <a:pPr marL="285750" indent="-285750">
              <a:buFont typeface="Calibri"/>
              <a:buChar char="-"/>
            </a:pPr>
            <a:r>
              <a:rPr lang="en-US">
                <a:cs typeface="Arial" panose="020B0604020202020204"/>
              </a:rPr>
              <a:t>Facilitate system </a:t>
            </a:r>
            <a:r>
              <a:rPr lang="en-US" err="1">
                <a:cs typeface="Arial" panose="020B0604020202020204"/>
              </a:rPr>
              <a:t>setu</a:t>
            </a:r>
            <a:r>
              <a:rPr lang="en-US">
                <a:cs typeface="Arial" panose="020B0604020202020204"/>
              </a:rPr>
              <a:t>p</a:t>
            </a:r>
          </a:p>
          <a:p>
            <a:pPr marL="285750" indent="-285750">
              <a:buFont typeface="Calibri"/>
              <a:buChar char="-"/>
            </a:pPr>
            <a:endParaRPr lang="en-US">
              <a:cs typeface="Arial" panose="020B0604020202020204"/>
            </a:endParaRPr>
          </a:p>
          <a:p>
            <a:pPr marL="285750" indent="-285750">
              <a:buFont typeface="Calibri"/>
              <a:buChar char="-"/>
            </a:pPr>
            <a:r>
              <a:rPr lang="en-US">
                <a:cs typeface="Arial" panose="020B0604020202020204"/>
              </a:rPr>
              <a:t>Run MD simulations </a:t>
            </a:r>
          </a:p>
          <a:p>
            <a:endParaRPr lang="en-US">
              <a:cs typeface="Arial" panose="020B0604020202020204"/>
            </a:endParaRPr>
          </a:p>
          <a:p>
            <a:pPr marL="285750" indent="-285750">
              <a:buFont typeface="Calibri"/>
              <a:buChar char="-"/>
            </a:pPr>
            <a:r>
              <a:rPr lang="en-US">
                <a:cs typeface="Arial" panose="020B0604020202020204"/>
              </a:rPr>
              <a:t>Trajectory analysis for biomolecules </a:t>
            </a:r>
          </a:p>
        </p:txBody>
      </p:sp>
      <p:pic>
        <p:nvPicPr>
          <p:cNvPr id="7" name="Picture 6" descr="A diagram of a company&#10;&#10;AI-generated content may be incorrect.">
            <a:extLst>
              <a:ext uri="{FF2B5EF4-FFF2-40B4-BE49-F238E27FC236}">
                <a16:creationId xmlns:a16="http://schemas.microsoft.com/office/drawing/2014/main" id="{619C5627-A9DF-039D-930A-064ADE0D2831}"/>
              </a:ext>
            </a:extLst>
          </p:cNvPr>
          <p:cNvPicPr>
            <a:picLocks noChangeAspect="1"/>
          </p:cNvPicPr>
          <p:nvPr/>
        </p:nvPicPr>
        <p:blipFill>
          <a:blip r:embed="rId3"/>
          <a:stretch>
            <a:fillRect/>
          </a:stretch>
        </p:blipFill>
        <p:spPr>
          <a:xfrm>
            <a:off x="3054451" y="-1960193"/>
            <a:ext cx="4030658" cy="7293584"/>
          </a:xfrm>
          <a:prstGeom prst="rect">
            <a:avLst/>
          </a:prstGeom>
        </p:spPr>
      </p:pic>
      <p:sp>
        <p:nvSpPr>
          <p:cNvPr id="9" name="TextBox 8">
            <a:extLst>
              <a:ext uri="{FF2B5EF4-FFF2-40B4-BE49-F238E27FC236}">
                <a16:creationId xmlns:a16="http://schemas.microsoft.com/office/drawing/2014/main" id="{632B3FE5-B5AC-FBB3-3344-81F00E686F08}"/>
              </a:ext>
            </a:extLst>
          </p:cNvPr>
          <p:cNvSpPr txBox="1"/>
          <p:nvPr/>
        </p:nvSpPr>
        <p:spPr>
          <a:xfrm>
            <a:off x="9448988" y="6276157"/>
            <a:ext cx="23281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tx2">
                    <a:lumMod val="49000"/>
                  </a:schemeClr>
                </a:solidFill>
                <a:latin typeface="Tahoma"/>
                <a:ea typeface="Tahoma"/>
                <a:cs typeface="Tahoma"/>
              </a:rPr>
              <a:t>Merz Jr. et al. 2023 </a:t>
            </a:r>
          </a:p>
        </p:txBody>
      </p:sp>
    </p:spTree>
    <p:extLst>
      <p:ext uri="{BB962C8B-B14F-4D97-AF65-F5344CB8AC3E}">
        <p14:creationId xmlns:p14="http://schemas.microsoft.com/office/powerpoint/2010/main" val="3160762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DBAEAB9-1033-7DAF-22A4-394DD9934CA9}"/>
              </a:ext>
            </a:extLst>
          </p:cNvPr>
          <p:cNvSpPr>
            <a:spLocks noGrp="1"/>
          </p:cNvSpPr>
          <p:nvPr>
            <p:ph type="sldNum" sz="quarter" idx="16"/>
          </p:nvPr>
        </p:nvSpPr>
        <p:spPr/>
        <p:txBody>
          <a:bodyPr/>
          <a:lstStyle/>
          <a:p>
            <a:fld id="{1876332E-97D2-CC49-9E46-E6E0DDE407EB}" type="slidenum">
              <a:rPr lang="en-US" smtClean="0"/>
              <a:pPr/>
              <a:t>12</a:t>
            </a:fld>
            <a:endParaRPr lang="en-US"/>
          </a:p>
        </p:txBody>
      </p:sp>
      <p:sp>
        <p:nvSpPr>
          <p:cNvPr id="4" name="Title 3">
            <a:extLst>
              <a:ext uri="{FF2B5EF4-FFF2-40B4-BE49-F238E27FC236}">
                <a16:creationId xmlns:a16="http://schemas.microsoft.com/office/drawing/2014/main" id="{43BC1BC1-36F5-5806-26B2-0A554B53E648}"/>
              </a:ext>
            </a:extLst>
          </p:cNvPr>
          <p:cNvSpPr>
            <a:spLocks noGrp="1"/>
          </p:cNvSpPr>
          <p:nvPr>
            <p:ph type="title"/>
          </p:nvPr>
        </p:nvSpPr>
        <p:spPr/>
        <p:txBody>
          <a:bodyPr/>
          <a:lstStyle/>
          <a:p>
            <a:r>
              <a:rPr lang="en-US"/>
              <a:t>Molecular Dynamics Simulation</a:t>
            </a:r>
          </a:p>
        </p:txBody>
      </p:sp>
      <p:sp>
        <p:nvSpPr>
          <p:cNvPr id="9" name="TextBox 8">
            <a:extLst>
              <a:ext uri="{FF2B5EF4-FFF2-40B4-BE49-F238E27FC236}">
                <a16:creationId xmlns:a16="http://schemas.microsoft.com/office/drawing/2014/main" id="{4C071038-282B-925F-EA93-E9F7014ED4EF}"/>
              </a:ext>
            </a:extLst>
          </p:cNvPr>
          <p:cNvSpPr txBox="1"/>
          <p:nvPr/>
        </p:nvSpPr>
        <p:spPr>
          <a:xfrm>
            <a:off x="474133" y="1100667"/>
            <a:ext cx="3929281" cy="369332"/>
          </a:xfrm>
          <a:prstGeom prst="rect">
            <a:avLst/>
          </a:prstGeom>
          <a:noFill/>
        </p:spPr>
        <p:txBody>
          <a:bodyPr wrap="none" rtlCol="0">
            <a:spAutoFit/>
          </a:bodyPr>
          <a:lstStyle/>
          <a:p>
            <a:r>
              <a:rPr lang="en-US"/>
              <a:t>Input : IYD structure (oxidized FMN) </a:t>
            </a:r>
          </a:p>
        </p:txBody>
      </p:sp>
      <p:pic>
        <p:nvPicPr>
          <p:cNvPr id="10" name="Picture 9">
            <a:extLst>
              <a:ext uri="{FF2B5EF4-FFF2-40B4-BE49-F238E27FC236}">
                <a16:creationId xmlns:a16="http://schemas.microsoft.com/office/drawing/2014/main" id="{A43A0126-2BDD-1924-DE57-091BB8D095FE}"/>
              </a:ext>
            </a:extLst>
          </p:cNvPr>
          <p:cNvPicPr>
            <a:picLocks noChangeAspect="1"/>
          </p:cNvPicPr>
          <p:nvPr/>
        </p:nvPicPr>
        <p:blipFill>
          <a:blip r:embed="rId3"/>
          <a:stretch>
            <a:fillRect/>
          </a:stretch>
        </p:blipFill>
        <p:spPr>
          <a:xfrm>
            <a:off x="172655" y="1626998"/>
            <a:ext cx="5869117" cy="4011802"/>
          </a:xfrm>
          <a:prstGeom prst="rect">
            <a:avLst/>
          </a:prstGeom>
        </p:spPr>
      </p:pic>
      <p:sp>
        <p:nvSpPr>
          <p:cNvPr id="11" name="TextBox 10">
            <a:extLst>
              <a:ext uri="{FF2B5EF4-FFF2-40B4-BE49-F238E27FC236}">
                <a16:creationId xmlns:a16="http://schemas.microsoft.com/office/drawing/2014/main" id="{E5B1B72B-3021-E655-C89F-D121A508A772}"/>
              </a:ext>
            </a:extLst>
          </p:cNvPr>
          <p:cNvSpPr txBox="1"/>
          <p:nvPr/>
        </p:nvSpPr>
        <p:spPr>
          <a:xfrm>
            <a:off x="6976534" y="2413337"/>
            <a:ext cx="4006225" cy="2031325"/>
          </a:xfrm>
          <a:prstGeom prst="rect">
            <a:avLst/>
          </a:prstGeom>
          <a:noFill/>
        </p:spPr>
        <p:txBody>
          <a:bodyPr wrap="none" lIns="91440" tIns="45720" rIns="91440" bIns="45720" rtlCol="0" anchor="t">
            <a:spAutoFit/>
          </a:bodyPr>
          <a:lstStyle/>
          <a:p>
            <a:pPr marL="342900" indent="-342900">
              <a:buAutoNum type="arabicPeriod"/>
            </a:pPr>
            <a:r>
              <a:rPr lang="en-US"/>
              <a:t>Removed water molecules</a:t>
            </a:r>
          </a:p>
          <a:p>
            <a:pPr marL="342900" indent="-342900">
              <a:buAutoNum type="arabicPeriod"/>
            </a:pPr>
            <a:r>
              <a:rPr lang="en-US"/>
              <a:t>Parsed structure into parts</a:t>
            </a:r>
          </a:p>
          <a:p>
            <a:pPr marL="285750" indent="-285750">
              <a:buFontTx/>
              <a:buChar char="-"/>
            </a:pPr>
            <a:r>
              <a:rPr lang="en-US"/>
              <a:t>FMN cofactor </a:t>
            </a:r>
          </a:p>
          <a:p>
            <a:pPr marL="285750" indent="-285750">
              <a:buFontTx/>
              <a:buChar char="-"/>
            </a:pPr>
            <a:r>
              <a:rPr lang="en-US"/>
              <a:t>Substrate </a:t>
            </a:r>
          </a:p>
          <a:p>
            <a:pPr marL="285750" indent="-285750">
              <a:buFontTx/>
              <a:buChar char="-"/>
            </a:pPr>
            <a:r>
              <a:rPr lang="en-US"/>
              <a:t>Protein backbone </a:t>
            </a:r>
          </a:p>
          <a:p>
            <a:r>
              <a:rPr lang="en-US"/>
              <a:t>3. Parameterized non-standard parts </a:t>
            </a:r>
          </a:p>
          <a:p>
            <a:pPr algn="ctr"/>
            <a:r>
              <a:rPr lang="en-US" b="1"/>
              <a:t>(AMI-BCC method) </a:t>
            </a:r>
          </a:p>
        </p:txBody>
      </p:sp>
    </p:spTree>
    <p:extLst>
      <p:ext uri="{BB962C8B-B14F-4D97-AF65-F5344CB8AC3E}">
        <p14:creationId xmlns:p14="http://schemas.microsoft.com/office/powerpoint/2010/main" val="340186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5B3CEE-5809-1303-17FD-158DF54D808C}"/>
              </a:ext>
            </a:extLst>
          </p:cNvPr>
          <p:cNvPicPr>
            <a:picLocks noGrp="1" noChangeAspect="1"/>
          </p:cNvPicPr>
          <p:nvPr>
            <p:ph sz="quarter" idx="13"/>
          </p:nvPr>
        </p:nvPicPr>
        <p:blipFill>
          <a:blip r:embed="rId3"/>
          <a:srcRect r="10303" b="3"/>
          <a:stretch>
            <a:fillRect/>
          </a:stretch>
        </p:blipFill>
        <p:spPr>
          <a:xfrm>
            <a:off x="303317" y="2054087"/>
            <a:ext cx="6654074" cy="4080013"/>
          </a:xfrm>
          <a:prstGeom prst="rect">
            <a:avLst/>
          </a:prstGeom>
          <a:noFill/>
        </p:spPr>
      </p:pic>
      <p:sp>
        <p:nvSpPr>
          <p:cNvPr id="3" name="Slide Number Placeholder 2">
            <a:extLst>
              <a:ext uri="{FF2B5EF4-FFF2-40B4-BE49-F238E27FC236}">
                <a16:creationId xmlns:a16="http://schemas.microsoft.com/office/drawing/2014/main" id="{EA406BA9-DDD5-8734-5C8D-2C246C219352}"/>
              </a:ext>
            </a:extLst>
          </p:cNvPr>
          <p:cNvSpPr>
            <a:spLocks noGrp="1"/>
          </p:cNvSpPr>
          <p:nvPr>
            <p:ph type="sldNum" sz="quarter" idx="16"/>
          </p:nvPr>
        </p:nvSpPr>
        <p:spPr>
          <a:xfrm>
            <a:off x="10218545" y="6248487"/>
            <a:ext cx="1232722" cy="365125"/>
          </a:xfrm>
        </p:spPr>
        <p:txBody>
          <a:bodyPr anchor="ctr">
            <a:normAutofit/>
          </a:bodyPr>
          <a:lstStyle/>
          <a:p>
            <a:pPr>
              <a:spcAft>
                <a:spcPts val="600"/>
              </a:spcAft>
            </a:pPr>
            <a:fld id="{1876332E-97D2-CC49-9E46-E6E0DDE407EB}" type="slidenum">
              <a:rPr lang="en-US" smtClean="0"/>
              <a:pPr>
                <a:spcAft>
                  <a:spcPts val="600"/>
                </a:spcAft>
              </a:pPr>
              <a:t>13</a:t>
            </a:fld>
            <a:endParaRPr lang="en-US"/>
          </a:p>
        </p:txBody>
      </p:sp>
      <p:sp>
        <p:nvSpPr>
          <p:cNvPr id="4" name="Title 3">
            <a:extLst>
              <a:ext uri="{FF2B5EF4-FFF2-40B4-BE49-F238E27FC236}">
                <a16:creationId xmlns:a16="http://schemas.microsoft.com/office/drawing/2014/main" id="{F41BB0CB-6C89-A931-3455-6EE8D16F0467}"/>
              </a:ext>
            </a:extLst>
          </p:cNvPr>
          <p:cNvSpPr>
            <a:spLocks noGrp="1"/>
          </p:cNvSpPr>
          <p:nvPr>
            <p:ph type="title"/>
          </p:nvPr>
        </p:nvSpPr>
        <p:spPr>
          <a:xfrm>
            <a:off x="303317" y="244386"/>
            <a:ext cx="11585366" cy="524541"/>
          </a:xfrm>
        </p:spPr>
        <p:txBody>
          <a:bodyPr anchor="ctr">
            <a:normAutofit/>
          </a:bodyPr>
          <a:lstStyle/>
          <a:p>
            <a:r>
              <a:rPr lang="en-US"/>
              <a:t>Build system </a:t>
            </a:r>
          </a:p>
        </p:txBody>
      </p:sp>
      <p:pic>
        <p:nvPicPr>
          <p:cNvPr id="6" name="Picture 5">
            <a:extLst>
              <a:ext uri="{FF2B5EF4-FFF2-40B4-BE49-F238E27FC236}">
                <a16:creationId xmlns:a16="http://schemas.microsoft.com/office/drawing/2014/main" id="{622CEC16-404D-4DA8-41F7-F88FB6BCEB6E}"/>
              </a:ext>
            </a:extLst>
          </p:cNvPr>
          <p:cNvPicPr>
            <a:picLocks noChangeAspect="1"/>
          </p:cNvPicPr>
          <p:nvPr/>
        </p:nvPicPr>
        <p:blipFill>
          <a:blip r:embed="rId4"/>
          <a:srcRect l="2359" r="18319"/>
          <a:stretch>
            <a:fillRect/>
          </a:stretch>
        </p:blipFill>
        <p:spPr>
          <a:xfrm>
            <a:off x="7076661" y="992842"/>
            <a:ext cx="4812022" cy="5141258"/>
          </a:xfrm>
          <a:prstGeom prst="rect">
            <a:avLst/>
          </a:prstGeom>
          <a:noFill/>
        </p:spPr>
      </p:pic>
      <p:sp>
        <p:nvSpPr>
          <p:cNvPr id="16" name="Content Placeholder 5">
            <a:extLst>
              <a:ext uri="{FF2B5EF4-FFF2-40B4-BE49-F238E27FC236}">
                <a16:creationId xmlns:a16="http://schemas.microsoft.com/office/drawing/2014/main" id="{C79B7E27-6419-AC97-4F8C-DEB6D5DDFD86}"/>
              </a:ext>
            </a:extLst>
          </p:cNvPr>
          <p:cNvSpPr>
            <a:spLocks noGrp="1"/>
          </p:cNvSpPr>
          <p:nvPr>
            <p:ph sz="quarter" idx="17"/>
          </p:nvPr>
        </p:nvSpPr>
        <p:spPr>
          <a:xfrm>
            <a:off x="303316" y="992842"/>
            <a:ext cx="6654075" cy="964912"/>
          </a:xfrm>
        </p:spPr>
        <p:txBody>
          <a:bodyPr>
            <a:normAutofit fontScale="70000" lnSpcReduction="20000"/>
          </a:bodyPr>
          <a:lstStyle/>
          <a:p>
            <a:pPr algn="ctr"/>
            <a:r>
              <a:rPr lang="en-US" b="1">
                <a:latin typeface="Tahoma"/>
                <a:ea typeface="Tahoma"/>
                <a:cs typeface="Tahoma"/>
              </a:rPr>
              <a:t>Solvation (generate solvent environment)</a:t>
            </a:r>
            <a:endParaRPr lang="en-US" b="1"/>
          </a:p>
          <a:p>
            <a:pPr algn="ctr"/>
            <a:r>
              <a:rPr lang="en-US">
                <a:latin typeface="Tahoma"/>
                <a:ea typeface="Tahoma"/>
                <a:cs typeface="Tahoma"/>
              </a:rPr>
              <a:t>water box (10 x 10 x 10 Å) </a:t>
            </a:r>
            <a:endParaRPr lang="en-US"/>
          </a:p>
          <a:p>
            <a:pPr algn="ctr"/>
            <a:r>
              <a:rPr lang="en-US">
                <a:latin typeface="Tahoma"/>
                <a:ea typeface="Tahoma"/>
                <a:cs typeface="Tahoma"/>
              </a:rPr>
              <a:t>Add Ions to neutralize system </a:t>
            </a:r>
            <a:endParaRPr lang="en-US"/>
          </a:p>
        </p:txBody>
      </p:sp>
    </p:spTree>
    <p:extLst>
      <p:ext uri="{BB962C8B-B14F-4D97-AF65-F5344CB8AC3E}">
        <p14:creationId xmlns:p14="http://schemas.microsoft.com/office/powerpoint/2010/main" val="455938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EBFBEA-646E-0E8E-8AAC-4EB2C60EF88C}"/>
              </a:ext>
            </a:extLst>
          </p:cNvPr>
          <p:cNvSpPr>
            <a:spLocks noGrp="1"/>
          </p:cNvSpPr>
          <p:nvPr>
            <p:ph type="sldNum" sz="quarter" idx="16"/>
          </p:nvPr>
        </p:nvSpPr>
        <p:spPr/>
        <p:txBody>
          <a:bodyPr/>
          <a:lstStyle/>
          <a:p>
            <a:fld id="{1876332E-97D2-CC49-9E46-E6E0DDE407EB}" type="slidenum">
              <a:rPr lang="en-US" smtClean="0"/>
              <a:pPr/>
              <a:t>14</a:t>
            </a:fld>
            <a:endParaRPr lang="en-US"/>
          </a:p>
        </p:txBody>
      </p:sp>
      <p:sp>
        <p:nvSpPr>
          <p:cNvPr id="4" name="Title 3">
            <a:extLst>
              <a:ext uri="{FF2B5EF4-FFF2-40B4-BE49-F238E27FC236}">
                <a16:creationId xmlns:a16="http://schemas.microsoft.com/office/drawing/2014/main" id="{62A7F3B2-E7B7-AC5E-D45D-CB522680E5AF}"/>
              </a:ext>
            </a:extLst>
          </p:cNvPr>
          <p:cNvSpPr>
            <a:spLocks noGrp="1"/>
          </p:cNvSpPr>
          <p:nvPr>
            <p:ph type="title"/>
          </p:nvPr>
        </p:nvSpPr>
        <p:spPr/>
        <p:txBody>
          <a:bodyPr/>
          <a:lstStyle/>
          <a:p>
            <a:r>
              <a:rPr lang="en-US"/>
              <a:t>Heating the system </a:t>
            </a:r>
          </a:p>
        </p:txBody>
      </p:sp>
      <p:pic>
        <p:nvPicPr>
          <p:cNvPr id="5" name="Content Placeholder 4">
            <a:extLst>
              <a:ext uri="{FF2B5EF4-FFF2-40B4-BE49-F238E27FC236}">
                <a16:creationId xmlns:a16="http://schemas.microsoft.com/office/drawing/2014/main" id="{AC078D7A-521D-41F7-4657-10294BF731EA}"/>
              </a:ext>
            </a:extLst>
          </p:cNvPr>
          <p:cNvPicPr>
            <a:picLocks noGrp="1" noChangeAspect="1"/>
          </p:cNvPicPr>
          <p:nvPr>
            <p:ph sz="quarter" idx="13"/>
          </p:nvPr>
        </p:nvPicPr>
        <p:blipFill>
          <a:blip r:embed="rId2"/>
          <a:stretch>
            <a:fillRect/>
          </a:stretch>
        </p:blipFill>
        <p:spPr>
          <a:xfrm>
            <a:off x="303317" y="1320799"/>
            <a:ext cx="7282816" cy="4927687"/>
          </a:xfrm>
          <a:prstGeom prst="rect">
            <a:avLst/>
          </a:prstGeom>
        </p:spPr>
      </p:pic>
      <p:sp>
        <p:nvSpPr>
          <p:cNvPr id="2" name="TextBox 1">
            <a:extLst>
              <a:ext uri="{FF2B5EF4-FFF2-40B4-BE49-F238E27FC236}">
                <a16:creationId xmlns:a16="http://schemas.microsoft.com/office/drawing/2014/main" id="{D59C065E-8CE7-CDD8-9532-A9485205E84A}"/>
              </a:ext>
            </a:extLst>
          </p:cNvPr>
          <p:cNvSpPr txBox="1"/>
          <p:nvPr/>
        </p:nvSpPr>
        <p:spPr>
          <a:xfrm>
            <a:off x="7760571" y="2550490"/>
            <a:ext cx="4434244"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Heated from 0 K           300 K </a:t>
            </a:r>
          </a:p>
          <a:p>
            <a:endParaRPr lang="en-US">
              <a:cs typeface="Arial"/>
            </a:endParaRPr>
          </a:p>
          <a:p>
            <a:pPr marL="285750" indent="-285750">
              <a:buFont typeface="Arial"/>
              <a:buChar char="•"/>
            </a:pPr>
            <a:r>
              <a:rPr lang="en-US">
                <a:cs typeface="Arial"/>
              </a:rPr>
              <a:t>100 </a:t>
            </a:r>
            <a:r>
              <a:rPr lang="en-US" err="1">
                <a:cs typeface="Arial"/>
              </a:rPr>
              <a:t>ps</a:t>
            </a:r>
            <a:r>
              <a:rPr lang="en-US">
                <a:cs typeface="Arial"/>
              </a:rPr>
              <a:t> </a:t>
            </a:r>
          </a:p>
          <a:p>
            <a:pPr marL="285750" indent="-285750">
              <a:buFont typeface="Arial"/>
              <a:buChar char="•"/>
            </a:pPr>
            <a:r>
              <a:rPr lang="en-US">
                <a:cs typeface="Arial"/>
              </a:rPr>
              <a:t>2 femtosecond time steps (50,000 steps)</a:t>
            </a:r>
          </a:p>
          <a:p>
            <a:pPr marL="285750" indent="-285750">
              <a:buFont typeface="Arial"/>
              <a:buChar char="•"/>
            </a:pPr>
            <a:r>
              <a:rPr lang="en-US">
                <a:cs typeface="Arial"/>
              </a:rPr>
              <a:t>Constant volume of complex (less than 8 </a:t>
            </a:r>
            <a:r>
              <a:rPr lang="en-US">
                <a:ea typeface="+mn-lt"/>
                <a:cs typeface="+mn-lt"/>
              </a:rPr>
              <a:t>Å</a:t>
            </a:r>
            <a:r>
              <a:rPr lang="en-US">
                <a:cs typeface="Arial"/>
              </a:rPr>
              <a:t>)</a:t>
            </a:r>
          </a:p>
          <a:p>
            <a:pPr marL="285750" indent="-285750">
              <a:buFont typeface="Arial"/>
              <a:buChar char="•"/>
            </a:pPr>
            <a:r>
              <a:rPr lang="en-US">
                <a:cs typeface="Arial"/>
              </a:rPr>
              <a:t>Langevin thermostat </a:t>
            </a:r>
          </a:p>
          <a:p>
            <a:r>
              <a:rPr lang="en-US" sz="1400">
                <a:cs typeface="Arial"/>
              </a:rPr>
              <a:t>Adds stochastic collision term </a:t>
            </a:r>
          </a:p>
          <a:p>
            <a:endParaRPr lang="en-US" sz="1400">
              <a:cs typeface="Arial"/>
            </a:endParaRPr>
          </a:p>
          <a:p>
            <a:r>
              <a:rPr lang="en-US" sz="1400">
                <a:cs typeface="Arial"/>
              </a:rPr>
              <a:t>Told the system to remain at 300K once we reach that temperature </a:t>
            </a:r>
          </a:p>
          <a:p>
            <a:endParaRPr lang="en-US">
              <a:cs typeface="Arial"/>
            </a:endParaRPr>
          </a:p>
        </p:txBody>
      </p:sp>
      <p:sp>
        <p:nvSpPr>
          <p:cNvPr id="6" name="Arrow: Right 5">
            <a:extLst>
              <a:ext uri="{FF2B5EF4-FFF2-40B4-BE49-F238E27FC236}">
                <a16:creationId xmlns:a16="http://schemas.microsoft.com/office/drawing/2014/main" id="{0B9A7F6A-2E24-F6BC-FFAB-FD5ACB8F2339}"/>
              </a:ext>
            </a:extLst>
          </p:cNvPr>
          <p:cNvSpPr/>
          <p:nvPr/>
        </p:nvSpPr>
        <p:spPr>
          <a:xfrm>
            <a:off x="9632170" y="2662445"/>
            <a:ext cx="476977" cy="1163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912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D5DECD-8BD7-E5BE-C7BA-EA6175E5244D}"/>
              </a:ext>
            </a:extLst>
          </p:cNvPr>
          <p:cNvSpPr>
            <a:spLocks noGrp="1"/>
          </p:cNvSpPr>
          <p:nvPr>
            <p:ph type="sldNum" sz="quarter" idx="16"/>
          </p:nvPr>
        </p:nvSpPr>
        <p:spPr/>
        <p:txBody>
          <a:bodyPr/>
          <a:lstStyle/>
          <a:p>
            <a:fld id="{1876332E-97D2-CC49-9E46-E6E0DDE407EB}" type="slidenum">
              <a:rPr lang="en-US" smtClean="0"/>
              <a:pPr/>
              <a:t>15</a:t>
            </a:fld>
            <a:endParaRPr lang="en-US"/>
          </a:p>
        </p:txBody>
      </p:sp>
      <p:sp>
        <p:nvSpPr>
          <p:cNvPr id="4" name="Title 3">
            <a:extLst>
              <a:ext uri="{FF2B5EF4-FFF2-40B4-BE49-F238E27FC236}">
                <a16:creationId xmlns:a16="http://schemas.microsoft.com/office/drawing/2014/main" id="{3AB5BF96-CEDC-F85A-098C-98CD341A09AE}"/>
              </a:ext>
            </a:extLst>
          </p:cNvPr>
          <p:cNvSpPr>
            <a:spLocks noGrp="1"/>
          </p:cNvSpPr>
          <p:nvPr>
            <p:ph type="title"/>
          </p:nvPr>
        </p:nvSpPr>
        <p:spPr/>
        <p:txBody>
          <a:bodyPr/>
          <a:lstStyle/>
          <a:p>
            <a:r>
              <a:rPr lang="en-US"/>
              <a:t>Equilibration</a:t>
            </a:r>
          </a:p>
        </p:txBody>
      </p:sp>
      <p:pic>
        <p:nvPicPr>
          <p:cNvPr id="5" name="Content Placeholder 4">
            <a:extLst>
              <a:ext uri="{FF2B5EF4-FFF2-40B4-BE49-F238E27FC236}">
                <a16:creationId xmlns:a16="http://schemas.microsoft.com/office/drawing/2014/main" id="{C215DFE3-EEEB-4C79-46A8-C3E2E719E08C}"/>
              </a:ext>
            </a:extLst>
          </p:cNvPr>
          <p:cNvPicPr>
            <a:picLocks noGrp="1" noChangeAspect="1"/>
          </p:cNvPicPr>
          <p:nvPr>
            <p:ph sz="quarter" idx="13"/>
          </p:nvPr>
        </p:nvPicPr>
        <p:blipFill>
          <a:blip r:embed="rId2"/>
          <a:stretch>
            <a:fillRect/>
          </a:stretch>
        </p:blipFill>
        <p:spPr>
          <a:xfrm>
            <a:off x="303318" y="1234016"/>
            <a:ext cx="7323216" cy="4341184"/>
          </a:xfrm>
          <a:prstGeom prst="rect">
            <a:avLst/>
          </a:prstGeom>
        </p:spPr>
      </p:pic>
      <p:sp>
        <p:nvSpPr>
          <p:cNvPr id="6" name="TextBox 5">
            <a:extLst>
              <a:ext uri="{FF2B5EF4-FFF2-40B4-BE49-F238E27FC236}">
                <a16:creationId xmlns:a16="http://schemas.microsoft.com/office/drawing/2014/main" id="{F177871F-F1FB-D186-3C1D-A9EA74A7B3EB}"/>
              </a:ext>
            </a:extLst>
          </p:cNvPr>
          <p:cNvSpPr txBox="1"/>
          <p:nvPr/>
        </p:nvSpPr>
        <p:spPr>
          <a:xfrm>
            <a:off x="7959550" y="2391061"/>
            <a:ext cx="349346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cs typeface="Arial"/>
              </a:rPr>
              <a:t>Constant Pressure – </a:t>
            </a:r>
            <a:r>
              <a:rPr lang="en-US" sz="1600" b="1">
                <a:cs typeface="Arial"/>
              </a:rPr>
              <a:t>Berendsen thermostat </a:t>
            </a:r>
          </a:p>
          <a:p>
            <a:r>
              <a:rPr lang="en-US">
                <a:cs typeface="Arial"/>
              </a:rPr>
              <a:t>- </a:t>
            </a:r>
            <a:r>
              <a:rPr lang="en-US" sz="1400">
                <a:cs typeface="Arial"/>
              </a:rPr>
              <a:t>isotropic position scaling </a:t>
            </a:r>
          </a:p>
          <a:p>
            <a:endParaRPr lang="en-US">
              <a:cs typeface="Arial"/>
            </a:endParaRPr>
          </a:p>
          <a:p>
            <a:pPr marL="285750" indent="-285750">
              <a:buFont typeface="Arial"/>
              <a:buChar char="•"/>
            </a:pPr>
            <a:r>
              <a:rPr lang="en-US">
                <a:cs typeface="Arial"/>
              </a:rPr>
              <a:t>Constant Temperature - </a:t>
            </a:r>
          </a:p>
          <a:p>
            <a:r>
              <a:rPr lang="en-US" sz="1600" b="1">
                <a:cs typeface="Arial"/>
              </a:rPr>
              <a:t>Langevin thermostat </a:t>
            </a:r>
          </a:p>
          <a:p>
            <a:endParaRPr lang="en-US">
              <a:cs typeface="Arial"/>
            </a:endParaRPr>
          </a:p>
        </p:txBody>
      </p:sp>
    </p:spTree>
    <p:extLst>
      <p:ext uri="{BB962C8B-B14F-4D97-AF65-F5344CB8AC3E}">
        <p14:creationId xmlns:p14="http://schemas.microsoft.com/office/powerpoint/2010/main" val="1998992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6E4B9E-43A8-DBE1-0E28-F56849289EBE}"/>
              </a:ext>
            </a:extLst>
          </p:cNvPr>
          <p:cNvPicPr>
            <a:picLocks noGrp="1" noChangeAspect="1"/>
          </p:cNvPicPr>
          <p:nvPr>
            <p:ph sz="quarter" idx="13"/>
          </p:nvPr>
        </p:nvPicPr>
        <p:blipFill>
          <a:blip r:embed="rId4"/>
          <a:stretch>
            <a:fillRect/>
          </a:stretch>
        </p:blipFill>
        <p:spPr>
          <a:xfrm>
            <a:off x="303317" y="2078565"/>
            <a:ext cx="5928150" cy="2929468"/>
          </a:xfrm>
          <a:prstGeom prst="rect">
            <a:avLst/>
          </a:prstGeom>
          <a:noFill/>
        </p:spPr>
      </p:pic>
      <p:sp>
        <p:nvSpPr>
          <p:cNvPr id="3" name="Slide Number Placeholder 2">
            <a:extLst>
              <a:ext uri="{FF2B5EF4-FFF2-40B4-BE49-F238E27FC236}">
                <a16:creationId xmlns:a16="http://schemas.microsoft.com/office/drawing/2014/main" id="{FEF1D5CC-A658-FD26-6801-71FB8E6DD52B}"/>
              </a:ext>
            </a:extLst>
          </p:cNvPr>
          <p:cNvSpPr>
            <a:spLocks noGrp="1"/>
          </p:cNvSpPr>
          <p:nvPr>
            <p:ph type="sldNum" sz="quarter" idx="16"/>
          </p:nvPr>
        </p:nvSpPr>
        <p:spPr>
          <a:xfrm>
            <a:off x="10218545" y="6248487"/>
            <a:ext cx="1232722" cy="365125"/>
          </a:xfrm>
        </p:spPr>
        <p:txBody>
          <a:bodyPr anchor="ctr">
            <a:normAutofit/>
          </a:bodyPr>
          <a:lstStyle/>
          <a:p>
            <a:pPr>
              <a:spcAft>
                <a:spcPts val="600"/>
              </a:spcAft>
            </a:pPr>
            <a:fld id="{1876332E-97D2-CC49-9E46-E6E0DDE407EB}" type="slidenum">
              <a:rPr lang="en-US" smtClean="0"/>
              <a:pPr>
                <a:spcAft>
                  <a:spcPts val="600"/>
                </a:spcAft>
              </a:pPr>
              <a:t>16</a:t>
            </a:fld>
            <a:endParaRPr lang="en-US"/>
          </a:p>
        </p:txBody>
      </p:sp>
      <p:sp>
        <p:nvSpPr>
          <p:cNvPr id="4" name="Title 3">
            <a:extLst>
              <a:ext uri="{FF2B5EF4-FFF2-40B4-BE49-F238E27FC236}">
                <a16:creationId xmlns:a16="http://schemas.microsoft.com/office/drawing/2014/main" id="{4B60D7F6-0909-10F8-933B-6CA5DD646197}"/>
              </a:ext>
            </a:extLst>
          </p:cNvPr>
          <p:cNvSpPr>
            <a:spLocks noGrp="1"/>
          </p:cNvSpPr>
          <p:nvPr>
            <p:ph type="title"/>
          </p:nvPr>
        </p:nvSpPr>
        <p:spPr>
          <a:xfrm>
            <a:off x="303317" y="244386"/>
            <a:ext cx="11585366" cy="524541"/>
          </a:xfrm>
        </p:spPr>
        <p:txBody>
          <a:bodyPr anchor="ctr">
            <a:normAutofit/>
          </a:bodyPr>
          <a:lstStyle/>
          <a:p>
            <a:r>
              <a:rPr lang="en-US">
                <a:latin typeface="Tahoma"/>
                <a:ea typeface="Tahoma"/>
                <a:cs typeface="Tahoma"/>
              </a:rPr>
              <a:t>Production</a:t>
            </a:r>
            <a:endParaRPr lang="en-US"/>
          </a:p>
        </p:txBody>
      </p:sp>
      <p:pic>
        <p:nvPicPr>
          <p:cNvPr id="2" name="5KO8">
            <a:hlinkClick r:id="" action="ppaction://media"/>
            <a:extLst>
              <a:ext uri="{FF2B5EF4-FFF2-40B4-BE49-F238E27FC236}">
                <a16:creationId xmlns:a16="http://schemas.microsoft.com/office/drawing/2014/main" id="{D23B51DB-806A-FD20-EDE3-B581464FEC2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400800" y="947556"/>
            <a:ext cx="5172294" cy="5172294"/>
          </a:xfrm>
          <a:prstGeom prst="rect">
            <a:avLst/>
          </a:prstGeom>
        </p:spPr>
      </p:pic>
    </p:spTree>
    <p:extLst>
      <p:ext uri="{BB962C8B-B14F-4D97-AF65-F5344CB8AC3E}">
        <p14:creationId xmlns:p14="http://schemas.microsoft.com/office/powerpoint/2010/main" val="330411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CC970D-BBFF-62F0-87F7-CE7167C00DAC}"/>
              </a:ext>
            </a:extLst>
          </p:cNvPr>
          <p:cNvSpPr>
            <a:spLocks noGrp="1"/>
          </p:cNvSpPr>
          <p:nvPr>
            <p:ph type="sldNum" sz="quarter" idx="16"/>
          </p:nvPr>
        </p:nvSpPr>
        <p:spPr/>
        <p:txBody>
          <a:bodyPr/>
          <a:lstStyle/>
          <a:p>
            <a:fld id="{1876332E-97D2-CC49-9E46-E6E0DDE407EB}" type="slidenum">
              <a:rPr lang="en-US" smtClean="0"/>
              <a:pPr/>
              <a:t>17</a:t>
            </a:fld>
            <a:endParaRPr lang="en-US"/>
          </a:p>
        </p:txBody>
      </p:sp>
      <p:sp>
        <p:nvSpPr>
          <p:cNvPr id="4" name="Title 3">
            <a:extLst>
              <a:ext uri="{FF2B5EF4-FFF2-40B4-BE49-F238E27FC236}">
                <a16:creationId xmlns:a16="http://schemas.microsoft.com/office/drawing/2014/main" id="{40D64369-E5C0-262E-2C77-3B381A436853}"/>
              </a:ext>
            </a:extLst>
          </p:cNvPr>
          <p:cNvSpPr>
            <a:spLocks noGrp="1"/>
          </p:cNvSpPr>
          <p:nvPr>
            <p:ph type="title"/>
          </p:nvPr>
        </p:nvSpPr>
        <p:spPr/>
        <p:txBody>
          <a:bodyPr/>
          <a:lstStyle/>
          <a:p>
            <a:r>
              <a:rPr lang="en-US">
                <a:latin typeface="Tahoma"/>
                <a:ea typeface="Tahoma"/>
                <a:cs typeface="Tahoma"/>
              </a:rPr>
              <a:t>Snapshot of lowest </a:t>
            </a:r>
            <a:r>
              <a:rPr lang="en-US" err="1">
                <a:latin typeface="Tahoma"/>
                <a:ea typeface="Tahoma"/>
                <a:cs typeface="Tahoma"/>
              </a:rPr>
              <a:t>Epot</a:t>
            </a:r>
            <a:r>
              <a:rPr lang="en-US">
                <a:latin typeface="Tahoma"/>
                <a:ea typeface="Tahoma"/>
                <a:cs typeface="Tahoma"/>
              </a:rPr>
              <a:t> structure in energy landscape </a:t>
            </a:r>
            <a:endParaRPr lang="en-US"/>
          </a:p>
        </p:txBody>
      </p:sp>
      <p:pic>
        <p:nvPicPr>
          <p:cNvPr id="5" name="Picture 4" descr="A white paper with black text&#10;&#10;AI-generated content may be incorrect.">
            <a:extLst>
              <a:ext uri="{FF2B5EF4-FFF2-40B4-BE49-F238E27FC236}">
                <a16:creationId xmlns:a16="http://schemas.microsoft.com/office/drawing/2014/main" id="{9DE3AE68-508C-37B3-EB1B-14FEB32CA835}"/>
              </a:ext>
            </a:extLst>
          </p:cNvPr>
          <p:cNvPicPr>
            <a:picLocks noChangeAspect="1"/>
          </p:cNvPicPr>
          <p:nvPr/>
        </p:nvPicPr>
        <p:blipFill>
          <a:blip r:embed="rId3"/>
          <a:stretch>
            <a:fillRect/>
          </a:stretch>
        </p:blipFill>
        <p:spPr>
          <a:xfrm>
            <a:off x="223131" y="2258702"/>
            <a:ext cx="7127095" cy="2497500"/>
          </a:xfrm>
          <a:prstGeom prst="rect">
            <a:avLst/>
          </a:prstGeom>
        </p:spPr>
      </p:pic>
      <p:pic>
        <p:nvPicPr>
          <p:cNvPr id="7" name="Picture 6" descr="A colorful molecule structure on a black background&#10;&#10;AI-generated content may be incorrect.">
            <a:extLst>
              <a:ext uri="{FF2B5EF4-FFF2-40B4-BE49-F238E27FC236}">
                <a16:creationId xmlns:a16="http://schemas.microsoft.com/office/drawing/2014/main" id="{A812D65B-B97E-000D-6B51-279877363E79}"/>
              </a:ext>
            </a:extLst>
          </p:cNvPr>
          <p:cNvPicPr>
            <a:picLocks noChangeAspect="1"/>
          </p:cNvPicPr>
          <p:nvPr/>
        </p:nvPicPr>
        <p:blipFill>
          <a:blip r:embed="rId4"/>
          <a:stretch>
            <a:fillRect/>
          </a:stretch>
        </p:blipFill>
        <p:spPr>
          <a:xfrm>
            <a:off x="7488806" y="1205901"/>
            <a:ext cx="4400550" cy="4953000"/>
          </a:xfrm>
          <a:prstGeom prst="rect">
            <a:avLst/>
          </a:prstGeom>
        </p:spPr>
      </p:pic>
    </p:spTree>
    <p:extLst>
      <p:ext uri="{BB962C8B-B14F-4D97-AF65-F5344CB8AC3E}">
        <p14:creationId xmlns:p14="http://schemas.microsoft.com/office/powerpoint/2010/main" val="193774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C7CE74-C3D8-863B-CE97-C6CFB4568FA6}"/>
              </a:ext>
            </a:extLst>
          </p:cNvPr>
          <p:cNvSpPr>
            <a:spLocks noGrp="1"/>
          </p:cNvSpPr>
          <p:nvPr>
            <p:ph sz="quarter" idx="13"/>
          </p:nvPr>
        </p:nvSpPr>
        <p:spPr/>
        <p:txBody>
          <a:bodyPr vert="horz" lIns="91440" tIns="45720" rIns="91440" bIns="45720" rtlCol="0" anchor="t">
            <a:normAutofit/>
          </a:bodyPr>
          <a:lstStyle/>
          <a:p>
            <a:pPr marL="0" indent="0">
              <a:buNone/>
            </a:pPr>
            <a:r>
              <a:rPr lang="en-US">
                <a:solidFill>
                  <a:schemeClr val="accent2"/>
                </a:solidFill>
                <a:latin typeface="Tahoma"/>
                <a:ea typeface="Tahoma"/>
                <a:cs typeface="Tahoma"/>
              </a:rPr>
              <a:t>What was missing?</a:t>
            </a:r>
            <a:endParaRPr lang="en-US">
              <a:solidFill>
                <a:schemeClr val="accent2"/>
              </a:solidFill>
            </a:endParaRPr>
          </a:p>
          <a:p>
            <a:pPr marL="342900" indent="-342900"/>
            <a:r>
              <a:rPr lang="en-US" sz="2000">
                <a:latin typeface="Tahoma"/>
                <a:ea typeface="Tahoma"/>
                <a:cs typeface="Tahoma"/>
              </a:rPr>
              <a:t>Did not have experimental data of radical Transition State geometry active site to validate theoretical yield </a:t>
            </a:r>
            <a:endParaRPr lang="en-US" sz="2000">
              <a:solidFill>
                <a:srgbClr val="002C71"/>
              </a:solidFill>
            </a:endParaRPr>
          </a:p>
          <a:p>
            <a:pPr marL="342900" indent="-342900"/>
            <a:r>
              <a:rPr lang="en-US" sz="2000">
                <a:solidFill>
                  <a:srgbClr val="002C71"/>
                </a:solidFill>
                <a:latin typeface="Tahoma"/>
                <a:ea typeface="Tahoma"/>
                <a:cs typeface="Tahoma"/>
              </a:rPr>
              <a:t>Not enough information to validate choice of snapshot during MD simulation (what are we looking for?)</a:t>
            </a:r>
            <a:endParaRPr lang="en-US" sz="2000">
              <a:solidFill>
                <a:srgbClr val="002C71"/>
              </a:solidFill>
            </a:endParaRPr>
          </a:p>
          <a:p>
            <a:pPr marL="457200" indent="-457200"/>
            <a:endParaRPr lang="en-US" sz="2000">
              <a:solidFill>
                <a:srgbClr val="002C71"/>
              </a:solidFill>
            </a:endParaRPr>
          </a:p>
          <a:p>
            <a:pPr marL="0" indent="0">
              <a:buNone/>
            </a:pPr>
            <a:r>
              <a:rPr lang="en-US">
                <a:solidFill>
                  <a:schemeClr val="accent2"/>
                </a:solidFill>
              </a:rPr>
              <a:t>What comes next?</a:t>
            </a:r>
            <a:endParaRPr lang="en-US"/>
          </a:p>
          <a:p>
            <a:pPr marL="285750" indent="-285750"/>
            <a:r>
              <a:rPr lang="en-US" sz="2000">
                <a:latin typeface="Tahoma"/>
                <a:ea typeface="Tahoma"/>
                <a:cs typeface="Tahoma"/>
              </a:rPr>
              <a:t>Could be starting position for in-silico protein design if active site geometry is known </a:t>
            </a:r>
            <a:endParaRPr lang="en-US" sz="2000"/>
          </a:p>
          <a:p>
            <a:pPr marL="285750" indent="-285750"/>
            <a:r>
              <a:rPr lang="en-US" sz="2000">
                <a:latin typeface="Tahoma"/>
                <a:ea typeface="Tahoma"/>
                <a:cs typeface="Tahoma"/>
              </a:rPr>
              <a:t>Calculate electron density of FMN in TS and compare to research with </a:t>
            </a:r>
            <a:r>
              <a:rPr lang="en-US" sz="2000" err="1">
                <a:latin typeface="Tahoma"/>
                <a:ea typeface="Tahoma"/>
                <a:cs typeface="Tahoma"/>
              </a:rPr>
              <a:t>FMNsq</a:t>
            </a:r>
            <a:r>
              <a:rPr lang="en-US" sz="2000">
                <a:latin typeface="Tahoma"/>
                <a:ea typeface="Tahoma"/>
                <a:cs typeface="Tahoma"/>
              </a:rPr>
              <a:t> electron density </a:t>
            </a:r>
            <a:endParaRPr lang="en-US" sz="2000"/>
          </a:p>
          <a:p>
            <a:pPr marL="285750" indent="-285750"/>
            <a:r>
              <a:rPr lang="en-US" sz="2000">
                <a:latin typeface="Tahoma"/>
                <a:ea typeface="Tahoma"/>
                <a:cs typeface="Tahoma"/>
              </a:rPr>
              <a:t>Increase </a:t>
            </a:r>
            <a:r>
              <a:rPr lang="en-US" sz="2000" err="1">
                <a:latin typeface="Tahoma"/>
                <a:ea typeface="Tahoma"/>
                <a:cs typeface="Tahoma"/>
              </a:rPr>
              <a:t>Equilibriation</a:t>
            </a:r>
            <a:r>
              <a:rPr lang="en-US" sz="2000">
                <a:latin typeface="Tahoma"/>
                <a:ea typeface="Tahoma"/>
                <a:cs typeface="Tahoma"/>
              </a:rPr>
              <a:t> step for more time steps to further investigate energy landscape </a:t>
            </a:r>
            <a:endParaRPr lang="en-US" sz="2000"/>
          </a:p>
          <a:p>
            <a:pPr marL="0" indent="0">
              <a:buNone/>
            </a:pPr>
            <a:endParaRPr lang="en-US" sz="2000"/>
          </a:p>
          <a:p>
            <a:pPr marL="457200" indent="-457200"/>
            <a:endParaRPr lang="en-US"/>
          </a:p>
          <a:p>
            <a:pPr marL="457200" indent="-457200"/>
            <a:endParaRPr lang="en-US"/>
          </a:p>
        </p:txBody>
      </p:sp>
      <p:sp>
        <p:nvSpPr>
          <p:cNvPr id="3" name="Slide Number Placeholder 2">
            <a:extLst>
              <a:ext uri="{FF2B5EF4-FFF2-40B4-BE49-F238E27FC236}">
                <a16:creationId xmlns:a16="http://schemas.microsoft.com/office/drawing/2014/main" id="{66810A4D-BA81-5727-F5A9-4773F3DABE54}"/>
              </a:ext>
            </a:extLst>
          </p:cNvPr>
          <p:cNvSpPr>
            <a:spLocks noGrp="1"/>
          </p:cNvSpPr>
          <p:nvPr>
            <p:ph type="sldNum" sz="quarter" idx="16"/>
          </p:nvPr>
        </p:nvSpPr>
        <p:spPr/>
        <p:txBody>
          <a:bodyPr/>
          <a:lstStyle/>
          <a:p>
            <a:fld id="{1876332E-97D2-CC49-9E46-E6E0DDE407EB}" type="slidenum">
              <a:rPr lang="en-US" smtClean="0"/>
              <a:pPr/>
              <a:t>18</a:t>
            </a:fld>
            <a:endParaRPr lang="en-US"/>
          </a:p>
        </p:txBody>
      </p:sp>
      <p:sp>
        <p:nvSpPr>
          <p:cNvPr id="4" name="Title 3">
            <a:extLst>
              <a:ext uri="{FF2B5EF4-FFF2-40B4-BE49-F238E27FC236}">
                <a16:creationId xmlns:a16="http://schemas.microsoft.com/office/drawing/2014/main" id="{49D324A7-D29B-4CF7-0AD9-3C99B92482E0}"/>
              </a:ext>
            </a:extLst>
          </p:cNvPr>
          <p:cNvSpPr>
            <a:spLocks noGrp="1"/>
          </p:cNvSpPr>
          <p:nvPr>
            <p:ph type="title"/>
          </p:nvPr>
        </p:nvSpPr>
        <p:spPr/>
        <p:txBody>
          <a:bodyPr/>
          <a:lstStyle/>
          <a:p>
            <a:r>
              <a:rPr lang="en-US">
                <a:latin typeface="Tahoma"/>
                <a:ea typeface="Tahoma"/>
                <a:cs typeface="Tahoma"/>
              </a:rPr>
              <a:t>Limitations and Future Directions for MD simulation</a:t>
            </a:r>
            <a:endParaRPr lang="en-US"/>
          </a:p>
        </p:txBody>
      </p:sp>
    </p:spTree>
    <p:extLst>
      <p:ext uri="{BB962C8B-B14F-4D97-AF65-F5344CB8AC3E}">
        <p14:creationId xmlns:p14="http://schemas.microsoft.com/office/powerpoint/2010/main" val="455343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A47A63-0379-F3E0-75DB-A2C284FBC189}"/>
              </a:ext>
            </a:extLst>
          </p:cNvPr>
          <p:cNvSpPr>
            <a:spLocks noGrp="1"/>
          </p:cNvSpPr>
          <p:nvPr>
            <p:ph type="sldNum" sz="quarter" idx="16"/>
          </p:nvPr>
        </p:nvSpPr>
        <p:spPr/>
        <p:txBody>
          <a:bodyPr/>
          <a:lstStyle/>
          <a:p>
            <a:fld id="{1876332E-97D2-CC49-9E46-E6E0DDE407EB}" type="slidenum">
              <a:rPr lang="en-US" smtClean="0"/>
              <a:pPr/>
              <a:t>19</a:t>
            </a:fld>
            <a:endParaRPr lang="en-US"/>
          </a:p>
        </p:txBody>
      </p:sp>
      <p:sp>
        <p:nvSpPr>
          <p:cNvPr id="4" name="Title 3">
            <a:extLst>
              <a:ext uri="{FF2B5EF4-FFF2-40B4-BE49-F238E27FC236}">
                <a16:creationId xmlns:a16="http://schemas.microsoft.com/office/drawing/2014/main" id="{6AA9C27C-91D6-9092-F79D-C9A42CEF89FD}"/>
              </a:ext>
            </a:extLst>
          </p:cNvPr>
          <p:cNvSpPr>
            <a:spLocks noGrp="1"/>
          </p:cNvSpPr>
          <p:nvPr>
            <p:ph type="title"/>
          </p:nvPr>
        </p:nvSpPr>
        <p:spPr>
          <a:xfrm>
            <a:off x="303317" y="158122"/>
            <a:ext cx="11585366" cy="524541"/>
          </a:xfrm>
        </p:spPr>
        <p:txBody>
          <a:bodyPr>
            <a:normAutofit fontScale="90000"/>
          </a:bodyPr>
          <a:lstStyle/>
          <a:p>
            <a:r>
              <a:rPr lang="en-US">
                <a:latin typeface="Tahoma"/>
                <a:ea typeface="Tahoma"/>
                <a:cs typeface="Tahoma"/>
              </a:rPr>
              <a:t>Past research has used DFT study the FMN semiquinone state</a:t>
            </a:r>
            <a:endParaRPr lang="en-US"/>
          </a:p>
        </p:txBody>
      </p:sp>
      <p:pic>
        <p:nvPicPr>
          <p:cNvPr id="5" name="Picture 4" descr="A close-up of black text&#10;&#10;AI-generated content may be incorrect.">
            <a:extLst>
              <a:ext uri="{FF2B5EF4-FFF2-40B4-BE49-F238E27FC236}">
                <a16:creationId xmlns:a16="http://schemas.microsoft.com/office/drawing/2014/main" id="{27C104C8-B6EF-1F09-8CE3-4E9A6162A6B1}"/>
              </a:ext>
            </a:extLst>
          </p:cNvPr>
          <p:cNvPicPr>
            <a:picLocks noChangeAspect="1"/>
          </p:cNvPicPr>
          <p:nvPr/>
        </p:nvPicPr>
        <p:blipFill>
          <a:blip r:embed="rId3"/>
          <a:stretch>
            <a:fillRect/>
          </a:stretch>
        </p:blipFill>
        <p:spPr>
          <a:xfrm>
            <a:off x="0" y="811068"/>
            <a:ext cx="12192000" cy="1785297"/>
          </a:xfrm>
          <a:prstGeom prst="rect">
            <a:avLst/>
          </a:prstGeom>
        </p:spPr>
      </p:pic>
      <p:sp>
        <p:nvSpPr>
          <p:cNvPr id="6" name="TextBox 5">
            <a:extLst>
              <a:ext uri="{FF2B5EF4-FFF2-40B4-BE49-F238E27FC236}">
                <a16:creationId xmlns:a16="http://schemas.microsoft.com/office/drawing/2014/main" id="{4C4EECB2-ACD6-D4CF-A03C-4E5EAC986377}"/>
              </a:ext>
            </a:extLst>
          </p:cNvPr>
          <p:cNvSpPr txBox="1"/>
          <p:nvPr/>
        </p:nvSpPr>
        <p:spPr>
          <a:xfrm>
            <a:off x="304800" y="2804159"/>
            <a:ext cx="599794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Theoretical Method</a:t>
            </a:r>
          </a:p>
          <a:p>
            <a:pPr marL="285750" indent="-285750">
              <a:buFont typeface="Calibri"/>
              <a:buChar char="-"/>
            </a:pPr>
            <a:r>
              <a:rPr lang="en-US">
                <a:cs typeface="Arial"/>
              </a:rPr>
              <a:t>Gaussian 98 program </a:t>
            </a:r>
          </a:p>
          <a:p>
            <a:endParaRPr lang="en-US">
              <a:cs typeface="Arial"/>
            </a:endParaRPr>
          </a:p>
          <a:p>
            <a:pPr marL="285750" indent="-285750">
              <a:buFont typeface="Calibri"/>
              <a:buChar char="-"/>
            </a:pPr>
            <a:r>
              <a:rPr lang="en-US">
                <a:cs typeface="Arial"/>
              </a:rPr>
              <a:t>B3LYP functional </a:t>
            </a:r>
          </a:p>
          <a:p>
            <a:endParaRPr lang="en-US">
              <a:cs typeface="Arial"/>
            </a:endParaRPr>
          </a:p>
          <a:p>
            <a:pPr marL="285750" indent="-285750">
              <a:buFont typeface="Calibri"/>
              <a:buChar char="-"/>
            </a:pPr>
            <a:r>
              <a:rPr lang="en-US">
                <a:cs typeface="Arial"/>
              </a:rPr>
              <a:t>EPR – II basis set </a:t>
            </a:r>
          </a:p>
          <a:p>
            <a:endParaRPr lang="en-US">
              <a:ea typeface="+mn-lt"/>
              <a:cs typeface="+mn-lt"/>
            </a:endParaRPr>
          </a:p>
          <a:p>
            <a:pPr marL="285750" indent="-285750">
              <a:buFont typeface="Calibri"/>
              <a:buChar char="-"/>
            </a:pPr>
            <a:r>
              <a:rPr lang="en-US">
                <a:ea typeface="+mn-lt"/>
                <a:cs typeface="+mn-lt"/>
              </a:rPr>
              <a:t>〈S2〉expectation values range from 0.753 to 0.773</a:t>
            </a:r>
          </a:p>
          <a:p>
            <a:endParaRPr lang="en-US">
              <a:cs typeface="Arial"/>
            </a:endParaRPr>
          </a:p>
          <a:p>
            <a:pPr marL="285750" indent="-285750">
              <a:buFont typeface="Calibri"/>
              <a:buChar char="-"/>
            </a:pPr>
            <a:r>
              <a:rPr lang="en-US">
                <a:cs typeface="Arial"/>
              </a:rPr>
              <a:t>Long range environmental effects estimated w/ </a:t>
            </a:r>
            <a:r>
              <a:rPr lang="en-US">
                <a:ea typeface="+mn-lt"/>
                <a:cs typeface="+mn-lt"/>
              </a:rPr>
              <a:t>self-consistent </a:t>
            </a:r>
            <a:r>
              <a:rPr lang="en-US" err="1">
                <a:ea typeface="+mn-lt"/>
                <a:cs typeface="+mn-lt"/>
              </a:rPr>
              <a:t>isodensity</a:t>
            </a:r>
            <a:r>
              <a:rPr lang="en-US">
                <a:ea typeface="+mn-lt"/>
                <a:cs typeface="+mn-lt"/>
              </a:rPr>
              <a:t> polarizable continuum model (SCIPCM)</a:t>
            </a:r>
            <a:endParaRPr lang="en-US">
              <a:cs typeface="Arial"/>
            </a:endParaRPr>
          </a:p>
        </p:txBody>
      </p:sp>
      <p:pic>
        <p:nvPicPr>
          <p:cNvPr id="7" name="Picture 6" descr="A diagram of a molecule&#10;&#10;AI-generated content may be incorrect.">
            <a:extLst>
              <a:ext uri="{FF2B5EF4-FFF2-40B4-BE49-F238E27FC236}">
                <a16:creationId xmlns:a16="http://schemas.microsoft.com/office/drawing/2014/main" id="{8EEEC378-CA36-C1A0-B3F5-F0FA1F9BDECD}"/>
              </a:ext>
            </a:extLst>
          </p:cNvPr>
          <p:cNvPicPr>
            <a:picLocks noChangeAspect="1"/>
          </p:cNvPicPr>
          <p:nvPr/>
        </p:nvPicPr>
        <p:blipFill>
          <a:blip r:embed="rId4"/>
          <a:stretch>
            <a:fillRect/>
          </a:stretch>
        </p:blipFill>
        <p:spPr>
          <a:xfrm>
            <a:off x="6828543" y="2602302"/>
            <a:ext cx="4616535" cy="4025661"/>
          </a:xfrm>
          <a:prstGeom prst="rect">
            <a:avLst/>
          </a:prstGeom>
        </p:spPr>
      </p:pic>
    </p:spTree>
    <p:extLst>
      <p:ext uri="{BB962C8B-B14F-4D97-AF65-F5344CB8AC3E}">
        <p14:creationId xmlns:p14="http://schemas.microsoft.com/office/powerpoint/2010/main" val="3985948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88363D-3595-F236-62D8-F190D1D0FDA0}"/>
              </a:ext>
            </a:extLst>
          </p:cNvPr>
          <p:cNvSpPr>
            <a:spLocks noGrp="1"/>
          </p:cNvSpPr>
          <p:nvPr>
            <p:ph sz="quarter" idx="13"/>
          </p:nvPr>
        </p:nvSpPr>
        <p:spPr>
          <a:xfrm>
            <a:off x="295455" y="952500"/>
            <a:ext cx="11607605" cy="1572883"/>
          </a:xfrm>
        </p:spPr>
        <p:txBody>
          <a:bodyPr vert="horz" lIns="91440" tIns="45720" rIns="91440" bIns="45720" rtlCol="0" anchor="t">
            <a:normAutofit/>
          </a:bodyPr>
          <a:lstStyle/>
          <a:p>
            <a:pPr marL="457200" indent="-457200">
              <a:buAutoNum type="arabicPeriod"/>
            </a:pPr>
            <a:r>
              <a:rPr lang="en-US">
                <a:latin typeface="Tahoma"/>
                <a:ea typeface="Tahoma"/>
                <a:cs typeface="Tahoma"/>
              </a:rPr>
              <a:t>Obtained theoretical values for the hyperfine interaction parameters of all of the nuclei of the flavin ring with the unpaired spin </a:t>
            </a:r>
            <a:endParaRPr lang="en-US"/>
          </a:p>
          <a:p>
            <a:pPr marL="0" indent="0">
              <a:buNone/>
            </a:pPr>
            <a:r>
              <a:rPr lang="en-US">
                <a:latin typeface="Tahoma"/>
                <a:ea typeface="Tahoma"/>
                <a:cs typeface="Tahoma"/>
              </a:rPr>
              <a:t>2. Predicted interaction parameters were compared with experimental values </a:t>
            </a:r>
          </a:p>
        </p:txBody>
      </p:sp>
      <p:sp>
        <p:nvSpPr>
          <p:cNvPr id="3" name="Slide Number Placeholder 2">
            <a:extLst>
              <a:ext uri="{FF2B5EF4-FFF2-40B4-BE49-F238E27FC236}">
                <a16:creationId xmlns:a16="http://schemas.microsoft.com/office/drawing/2014/main" id="{B4382637-7511-F5DF-5540-91A3DDFDCEFB}"/>
              </a:ext>
            </a:extLst>
          </p:cNvPr>
          <p:cNvSpPr>
            <a:spLocks noGrp="1"/>
          </p:cNvSpPr>
          <p:nvPr>
            <p:ph type="sldNum" sz="quarter" idx="16"/>
          </p:nvPr>
        </p:nvSpPr>
        <p:spPr/>
        <p:txBody>
          <a:bodyPr/>
          <a:lstStyle/>
          <a:p>
            <a:fld id="{1876332E-97D2-CC49-9E46-E6E0DDE407EB}" type="slidenum">
              <a:rPr lang="en-US" smtClean="0"/>
              <a:pPr/>
              <a:t>20</a:t>
            </a:fld>
            <a:endParaRPr lang="en-US"/>
          </a:p>
        </p:txBody>
      </p:sp>
      <p:sp>
        <p:nvSpPr>
          <p:cNvPr id="4" name="Title 3">
            <a:extLst>
              <a:ext uri="{FF2B5EF4-FFF2-40B4-BE49-F238E27FC236}">
                <a16:creationId xmlns:a16="http://schemas.microsoft.com/office/drawing/2014/main" id="{E9581C09-943A-384E-F617-BE8DC5EE3C71}"/>
              </a:ext>
            </a:extLst>
          </p:cNvPr>
          <p:cNvSpPr>
            <a:spLocks noGrp="1"/>
          </p:cNvSpPr>
          <p:nvPr>
            <p:ph type="title"/>
          </p:nvPr>
        </p:nvSpPr>
        <p:spPr/>
        <p:txBody>
          <a:bodyPr/>
          <a:lstStyle/>
          <a:p>
            <a:r>
              <a:rPr lang="en-US">
                <a:latin typeface="Tahoma"/>
                <a:ea typeface="Tahoma"/>
                <a:cs typeface="Tahoma"/>
              </a:rPr>
              <a:t>Results from the paper </a:t>
            </a:r>
            <a:endParaRPr lang="en-US"/>
          </a:p>
        </p:txBody>
      </p:sp>
      <p:pic>
        <p:nvPicPr>
          <p:cNvPr id="5" name="Picture 4" descr="A table with numbers and letters&#10;&#10;AI-generated content may be incorrect.">
            <a:extLst>
              <a:ext uri="{FF2B5EF4-FFF2-40B4-BE49-F238E27FC236}">
                <a16:creationId xmlns:a16="http://schemas.microsoft.com/office/drawing/2014/main" id="{E4A34878-E563-773F-9876-17143179BCB9}"/>
              </a:ext>
            </a:extLst>
          </p:cNvPr>
          <p:cNvPicPr>
            <a:picLocks noChangeAspect="1"/>
          </p:cNvPicPr>
          <p:nvPr/>
        </p:nvPicPr>
        <p:blipFill>
          <a:blip r:embed="rId3"/>
          <a:stretch>
            <a:fillRect/>
          </a:stretch>
        </p:blipFill>
        <p:spPr>
          <a:xfrm>
            <a:off x="470678" y="2238734"/>
            <a:ext cx="8576453" cy="4378983"/>
          </a:xfrm>
          <a:prstGeom prst="rect">
            <a:avLst/>
          </a:prstGeom>
        </p:spPr>
      </p:pic>
    </p:spTree>
    <p:extLst>
      <p:ext uri="{BB962C8B-B14F-4D97-AF65-F5344CB8AC3E}">
        <p14:creationId xmlns:p14="http://schemas.microsoft.com/office/powerpoint/2010/main" val="779606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E89FB-EAA3-E9CC-6CD8-CA350CE1D4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EE0F40-8B8C-17A4-4153-191297EA263B}"/>
              </a:ext>
            </a:extLst>
          </p:cNvPr>
          <p:cNvSpPr>
            <a:spLocks noGrp="1"/>
          </p:cNvSpPr>
          <p:nvPr>
            <p:ph sz="quarter" idx="13"/>
          </p:nvPr>
        </p:nvSpPr>
        <p:spPr>
          <a:xfrm>
            <a:off x="266701" y="952500"/>
            <a:ext cx="5732358" cy="5181600"/>
          </a:xfrm>
        </p:spPr>
        <p:txBody>
          <a:bodyPr vert="horz" lIns="91440" tIns="45720" rIns="91440" bIns="45720" rtlCol="0">
            <a:normAutofit/>
          </a:bodyPr>
          <a:lstStyle/>
          <a:p>
            <a:pPr marL="0" indent="0">
              <a:buNone/>
            </a:pPr>
            <a:r>
              <a:rPr lang="en-US"/>
              <a:t>Design Process</a:t>
            </a:r>
          </a:p>
          <a:p>
            <a:r>
              <a:rPr lang="en-US"/>
              <a:t>Started with FMN </a:t>
            </a:r>
            <a:r>
              <a:rPr lang="en-US" err="1"/>
              <a:t>hq</a:t>
            </a:r>
            <a:r>
              <a:rPr lang="en-US"/>
              <a:t> structure</a:t>
            </a:r>
          </a:p>
          <a:p>
            <a:r>
              <a:rPr lang="en-US"/>
              <a:t>Created .</a:t>
            </a:r>
            <a:r>
              <a:rPr lang="en-US" err="1"/>
              <a:t>xyz</a:t>
            </a:r>
            <a:r>
              <a:rPr lang="en-US"/>
              <a:t> chemical file in Avogadro to serve as an ASE input to be passed through GPAW</a:t>
            </a:r>
          </a:p>
          <a:p>
            <a:r>
              <a:rPr lang="en-US"/>
              <a:t>Tested system with just FMN </a:t>
            </a:r>
            <a:r>
              <a:rPr lang="en-US" err="1"/>
              <a:t>hq</a:t>
            </a:r>
            <a:r>
              <a:rPr lang="en-US"/>
              <a:t> before moving on to FMN sq or FMN ox</a:t>
            </a:r>
          </a:p>
        </p:txBody>
      </p:sp>
      <p:pic>
        <p:nvPicPr>
          <p:cNvPr id="14" name="Picture Placeholder 13" descr="A screenshot of a computer&#10;&#10;AI-generated content may be incorrect.">
            <a:extLst>
              <a:ext uri="{FF2B5EF4-FFF2-40B4-BE49-F238E27FC236}">
                <a16:creationId xmlns:a16="http://schemas.microsoft.com/office/drawing/2014/main" id="{A32CBEDE-8C2A-29B7-D849-47EEB6ABE751}"/>
              </a:ext>
            </a:extLst>
          </p:cNvPr>
          <p:cNvPicPr>
            <a:picLocks noGrp="1" noChangeAspect="1"/>
          </p:cNvPicPr>
          <p:nvPr>
            <p:ph type="pic" sz="quarter" idx="14"/>
          </p:nvPr>
        </p:nvPicPr>
        <p:blipFill>
          <a:blip r:embed="rId2"/>
          <a:srcRect l="208" r="-3" b="-3"/>
          <a:stretch>
            <a:fillRect/>
          </a:stretch>
        </p:blipFill>
        <p:spPr>
          <a:xfrm>
            <a:off x="6188765" y="10"/>
            <a:ext cx="6003235" cy="3428986"/>
          </a:xfrm>
          <a:prstGeom prst="rect">
            <a:avLst/>
          </a:prstGeom>
          <a:noFill/>
        </p:spPr>
      </p:pic>
      <p:pic>
        <p:nvPicPr>
          <p:cNvPr id="11" name="Picture Placeholder 10" descr="A screenshot of a computer&#10;&#10;AI-generated content may be incorrect.">
            <a:extLst>
              <a:ext uri="{FF2B5EF4-FFF2-40B4-BE49-F238E27FC236}">
                <a16:creationId xmlns:a16="http://schemas.microsoft.com/office/drawing/2014/main" id="{AA338732-8923-7996-387E-98098E33A702}"/>
              </a:ext>
            </a:extLst>
          </p:cNvPr>
          <p:cNvPicPr>
            <a:picLocks noGrp="1" noChangeAspect="1"/>
          </p:cNvPicPr>
          <p:nvPr>
            <p:ph type="pic" sz="quarter" idx="15"/>
          </p:nvPr>
        </p:nvPicPr>
        <p:blipFill>
          <a:blip r:embed="rId3"/>
          <a:srcRect r="206" b="-3"/>
          <a:stretch>
            <a:fillRect/>
          </a:stretch>
        </p:blipFill>
        <p:spPr>
          <a:xfrm>
            <a:off x="6188764" y="3565069"/>
            <a:ext cx="6003235" cy="3428996"/>
          </a:xfrm>
          <a:prstGeom prst="rect">
            <a:avLst/>
          </a:prstGeom>
          <a:noFill/>
        </p:spPr>
      </p:pic>
      <p:sp>
        <p:nvSpPr>
          <p:cNvPr id="5" name="Slide Number Placeholder 4">
            <a:extLst>
              <a:ext uri="{FF2B5EF4-FFF2-40B4-BE49-F238E27FC236}">
                <a16:creationId xmlns:a16="http://schemas.microsoft.com/office/drawing/2014/main" id="{31DE7326-930C-6094-F1FC-BC709693667A}"/>
              </a:ext>
            </a:extLst>
          </p:cNvPr>
          <p:cNvSpPr>
            <a:spLocks noGrp="1"/>
          </p:cNvSpPr>
          <p:nvPr>
            <p:ph type="sldNum" sz="quarter" idx="18"/>
          </p:nvPr>
        </p:nvSpPr>
        <p:spPr>
          <a:xfrm>
            <a:off x="10218545" y="6248487"/>
            <a:ext cx="1232722" cy="365125"/>
          </a:xfrm>
        </p:spPr>
        <p:txBody>
          <a:bodyPr anchor="ctr">
            <a:normAutofit/>
          </a:bodyPr>
          <a:lstStyle/>
          <a:p>
            <a:pPr>
              <a:spcAft>
                <a:spcPts val="600"/>
              </a:spcAft>
            </a:pPr>
            <a:fld id="{1876332E-97D2-CC49-9E46-E6E0DDE407EB}" type="slidenum">
              <a:rPr lang="en-US" smtClean="0"/>
              <a:pPr>
                <a:spcAft>
                  <a:spcPts val="600"/>
                </a:spcAft>
              </a:pPr>
              <a:t>21</a:t>
            </a:fld>
            <a:endParaRPr lang="en-US"/>
          </a:p>
        </p:txBody>
      </p:sp>
      <p:sp>
        <p:nvSpPr>
          <p:cNvPr id="6" name="Title 5">
            <a:extLst>
              <a:ext uri="{FF2B5EF4-FFF2-40B4-BE49-F238E27FC236}">
                <a16:creationId xmlns:a16="http://schemas.microsoft.com/office/drawing/2014/main" id="{16AB642D-7B98-7E61-8172-0990807E77FD}"/>
              </a:ext>
            </a:extLst>
          </p:cNvPr>
          <p:cNvSpPr>
            <a:spLocks noGrp="1"/>
          </p:cNvSpPr>
          <p:nvPr>
            <p:ph type="title"/>
          </p:nvPr>
        </p:nvSpPr>
        <p:spPr>
          <a:xfrm>
            <a:off x="303317" y="244389"/>
            <a:ext cx="5695742" cy="550388"/>
          </a:xfrm>
        </p:spPr>
        <p:txBody>
          <a:bodyPr anchor="ctr">
            <a:normAutofit/>
          </a:bodyPr>
          <a:lstStyle/>
          <a:p>
            <a:r>
              <a:rPr lang="en-US" sz="2300"/>
              <a:t>Preliminary Optimizations of FMN</a:t>
            </a:r>
          </a:p>
        </p:txBody>
      </p:sp>
    </p:spTree>
    <p:extLst>
      <p:ext uri="{BB962C8B-B14F-4D97-AF65-F5344CB8AC3E}">
        <p14:creationId xmlns:p14="http://schemas.microsoft.com/office/powerpoint/2010/main" val="4145293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71AE4-2AF8-1AD5-316D-788431E7684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38B1453-CD71-2CA5-3729-A6E1B4054A37}"/>
              </a:ext>
            </a:extLst>
          </p:cNvPr>
          <p:cNvSpPr>
            <a:spLocks noGrp="1"/>
          </p:cNvSpPr>
          <p:nvPr>
            <p:ph type="sldNum" sz="quarter" idx="18"/>
          </p:nvPr>
        </p:nvSpPr>
        <p:spPr/>
        <p:txBody>
          <a:bodyPr/>
          <a:lstStyle/>
          <a:p>
            <a:fld id="{1876332E-97D2-CC49-9E46-E6E0DDE407EB}" type="slidenum">
              <a:rPr lang="en-US" smtClean="0"/>
              <a:pPr/>
              <a:t>22</a:t>
            </a:fld>
            <a:endParaRPr lang="en-US"/>
          </a:p>
        </p:txBody>
      </p:sp>
      <p:sp>
        <p:nvSpPr>
          <p:cNvPr id="6" name="Title 5">
            <a:extLst>
              <a:ext uri="{FF2B5EF4-FFF2-40B4-BE49-F238E27FC236}">
                <a16:creationId xmlns:a16="http://schemas.microsoft.com/office/drawing/2014/main" id="{ECE9EBC5-79FD-6B33-5405-1B3AC2B36DE0}"/>
              </a:ext>
            </a:extLst>
          </p:cNvPr>
          <p:cNvSpPr>
            <a:spLocks noGrp="1"/>
          </p:cNvSpPr>
          <p:nvPr>
            <p:ph type="title"/>
          </p:nvPr>
        </p:nvSpPr>
        <p:spPr/>
        <p:txBody>
          <a:bodyPr/>
          <a:lstStyle/>
          <a:p>
            <a:r>
              <a:rPr lang="en-US">
                <a:latin typeface="Tahoma"/>
                <a:ea typeface="Tahoma"/>
                <a:cs typeface="Tahoma"/>
              </a:rPr>
              <a:t>DFT Methodology</a:t>
            </a:r>
            <a:endParaRPr lang="en-US"/>
          </a:p>
        </p:txBody>
      </p:sp>
      <p:sp>
        <p:nvSpPr>
          <p:cNvPr id="2" name="Content Placeholder 1">
            <a:extLst>
              <a:ext uri="{FF2B5EF4-FFF2-40B4-BE49-F238E27FC236}">
                <a16:creationId xmlns:a16="http://schemas.microsoft.com/office/drawing/2014/main" id="{77716846-54E4-FA43-5A9A-1AEC3B0E7FC5}"/>
              </a:ext>
            </a:extLst>
          </p:cNvPr>
          <p:cNvSpPr>
            <a:spLocks noGrp="1"/>
          </p:cNvSpPr>
          <p:nvPr>
            <p:ph sz="quarter" idx="13"/>
          </p:nvPr>
        </p:nvSpPr>
        <p:spPr/>
        <p:txBody>
          <a:bodyPr vert="horz" lIns="91440" tIns="45720" rIns="91440" bIns="45720" rtlCol="0" anchor="t">
            <a:normAutofit lnSpcReduction="10000"/>
          </a:bodyPr>
          <a:lstStyle/>
          <a:p>
            <a:pPr marL="0" indent="0">
              <a:buNone/>
            </a:pPr>
            <a:r>
              <a:rPr lang="en-US">
                <a:solidFill>
                  <a:schemeClr val="accent2"/>
                </a:solidFill>
                <a:latin typeface="Tahoma"/>
                <a:ea typeface="Tahoma"/>
                <a:cs typeface="Tahoma"/>
              </a:rPr>
              <a:t>Using GPAW and ASE with:</a:t>
            </a:r>
            <a:endParaRPr lang="en-US">
              <a:solidFill>
                <a:schemeClr val="accent2"/>
              </a:solidFill>
            </a:endParaRPr>
          </a:p>
          <a:p>
            <a:r>
              <a:rPr lang="en-US">
                <a:latin typeface="Tahoma"/>
                <a:ea typeface="Tahoma"/>
                <a:cs typeface="Tahoma"/>
              </a:rPr>
              <a:t>BFGS (</a:t>
            </a:r>
            <a:r>
              <a:rPr lang="en-US" err="1">
                <a:latin typeface="Tahoma"/>
                <a:ea typeface="Tahoma"/>
                <a:cs typeface="Tahoma"/>
              </a:rPr>
              <a:t>Broyden</a:t>
            </a:r>
            <a:r>
              <a:rPr lang="en-US">
                <a:latin typeface="Tahoma"/>
                <a:ea typeface="Tahoma"/>
                <a:cs typeface="Tahoma"/>
              </a:rPr>
              <a:t>–Fletcher–Goldfarb–Shanno) algorithm for geometry optimization</a:t>
            </a:r>
          </a:p>
          <a:p>
            <a:r>
              <a:rPr lang="en-US">
                <a:latin typeface="Tahoma"/>
                <a:ea typeface="Tahoma"/>
                <a:cs typeface="Tahoma"/>
              </a:rPr>
              <a:t>PBE (Perdew–Burke–</a:t>
            </a:r>
            <a:r>
              <a:rPr lang="en-US" err="1">
                <a:latin typeface="Tahoma"/>
                <a:ea typeface="Tahoma"/>
                <a:cs typeface="Tahoma"/>
              </a:rPr>
              <a:t>Ernzerhof</a:t>
            </a:r>
            <a:r>
              <a:rPr lang="en-US">
                <a:latin typeface="Tahoma"/>
                <a:ea typeface="Tahoma"/>
                <a:cs typeface="Tahoma"/>
              </a:rPr>
              <a:t>) functional for Calculating Forces</a:t>
            </a:r>
          </a:p>
          <a:p>
            <a:r>
              <a:rPr lang="en-US" err="1">
                <a:latin typeface="Tahoma"/>
                <a:ea typeface="Tahoma"/>
                <a:cs typeface="Tahoma"/>
              </a:rPr>
              <a:t>Kabsch</a:t>
            </a:r>
            <a:r>
              <a:rPr lang="en-US">
                <a:latin typeface="Tahoma"/>
                <a:ea typeface="Tahoma"/>
                <a:cs typeface="Tahoma"/>
              </a:rPr>
              <a:t> Algorithm for RMSD of molecules</a:t>
            </a:r>
          </a:p>
          <a:p>
            <a:r>
              <a:rPr lang="en-US">
                <a:latin typeface="Tahoma"/>
                <a:ea typeface="Tahoma"/>
                <a:cs typeface="Tahoma"/>
              </a:rPr>
              <a:t>Used recommended mixing parameters from GPAW documentation</a:t>
            </a:r>
            <a:endParaRPr lang="en-US"/>
          </a:p>
          <a:p>
            <a:r>
              <a:rPr lang="en-US">
                <a:latin typeface="Tahoma"/>
                <a:ea typeface="Tahoma"/>
                <a:cs typeface="Tahoma"/>
              </a:rPr>
              <a:t>Conducted full geometry optimizations for energy cutoffs of 450, 500, 550, 600, 650, 700 eV</a:t>
            </a:r>
            <a:endParaRPr lang="en-US"/>
          </a:p>
        </p:txBody>
      </p:sp>
      <p:pic>
        <p:nvPicPr>
          <p:cNvPr id="15" name="Picture 14" descr="A screen shot of a computer program&#10;&#10;AI-generated content may be incorrect.">
            <a:extLst>
              <a:ext uri="{FF2B5EF4-FFF2-40B4-BE49-F238E27FC236}">
                <a16:creationId xmlns:a16="http://schemas.microsoft.com/office/drawing/2014/main" id="{8D1781E6-CA5F-B13F-05C2-735DDF524680}"/>
              </a:ext>
            </a:extLst>
          </p:cNvPr>
          <p:cNvPicPr>
            <a:picLocks noChangeAspect="1"/>
          </p:cNvPicPr>
          <p:nvPr/>
        </p:nvPicPr>
        <p:blipFill>
          <a:blip r:embed="rId2"/>
          <a:stretch>
            <a:fillRect/>
          </a:stretch>
        </p:blipFill>
        <p:spPr>
          <a:xfrm>
            <a:off x="6783329" y="1302858"/>
            <a:ext cx="4246891" cy="4511074"/>
          </a:xfrm>
          <a:prstGeom prst="rect">
            <a:avLst/>
          </a:prstGeom>
        </p:spPr>
      </p:pic>
      <p:sp>
        <p:nvSpPr>
          <p:cNvPr id="3" name="TextBox 2">
            <a:extLst>
              <a:ext uri="{FF2B5EF4-FFF2-40B4-BE49-F238E27FC236}">
                <a16:creationId xmlns:a16="http://schemas.microsoft.com/office/drawing/2014/main" id="{76AB2F51-D6CB-A04E-8545-3EAC1F52A477}"/>
              </a:ext>
            </a:extLst>
          </p:cNvPr>
          <p:cNvSpPr txBox="1"/>
          <p:nvPr/>
        </p:nvSpPr>
        <p:spPr>
          <a:xfrm>
            <a:off x="305583" y="6252827"/>
            <a:ext cx="79275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cs typeface="Arial"/>
              </a:rPr>
              <a:t>Broyden</a:t>
            </a:r>
            <a:r>
              <a:rPr lang="en-US">
                <a:cs typeface="Arial"/>
              </a:rPr>
              <a:t> et. al., Perdew et. Al., </a:t>
            </a:r>
            <a:r>
              <a:rPr lang="en-US" err="1">
                <a:cs typeface="Arial"/>
              </a:rPr>
              <a:t>Kabsch</a:t>
            </a:r>
            <a:r>
              <a:rPr lang="en-US">
                <a:cs typeface="Arial"/>
              </a:rPr>
              <a:t> et. Al.</a:t>
            </a:r>
            <a:endParaRPr lang="en-US"/>
          </a:p>
        </p:txBody>
      </p:sp>
    </p:spTree>
    <p:extLst>
      <p:ext uri="{BB962C8B-B14F-4D97-AF65-F5344CB8AC3E}">
        <p14:creationId xmlns:p14="http://schemas.microsoft.com/office/powerpoint/2010/main" val="3696100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2305F-2FF3-6B66-09A3-9AD5BDFE81C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D9941ED-9A14-88EA-7623-B766D65FD2B8}"/>
              </a:ext>
            </a:extLst>
          </p:cNvPr>
          <p:cNvSpPr>
            <a:spLocks noGrp="1"/>
          </p:cNvSpPr>
          <p:nvPr>
            <p:ph type="sldNum" sz="quarter" idx="23"/>
          </p:nvPr>
        </p:nvSpPr>
        <p:spPr/>
        <p:txBody>
          <a:bodyPr/>
          <a:lstStyle/>
          <a:p>
            <a:fld id="{1876332E-97D2-CC49-9E46-E6E0DDE407EB}" type="slidenum">
              <a:rPr lang="en-US" smtClean="0"/>
              <a:pPr/>
              <a:t>23</a:t>
            </a:fld>
            <a:endParaRPr lang="en-US"/>
          </a:p>
        </p:txBody>
      </p:sp>
      <p:sp>
        <p:nvSpPr>
          <p:cNvPr id="11" name="Title 10">
            <a:extLst>
              <a:ext uri="{FF2B5EF4-FFF2-40B4-BE49-F238E27FC236}">
                <a16:creationId xmlns:a16="http://schemas.microsoft.com/office/drawing/2014/main" id="{801FFF80-1FE6-A084-F78D-D81BEF4409DB}"/>
              </a:ext>
            </a:extLst>
          </p:cNvPr>
          <p:cNvSpPr>
            <a:spLocks noGrp="1"/>
          </p:cNvSpPr>
          <p:nvPr>
            <p:ph type="title"/>
          </p:nvPr>
        </p:nvSpPr>
        <p:spPr/>
        <p:txBody>
          <a:bodyPr/>
          <a:lstStyle/>
          <a:p>
            <a:r>
              <a:rPr lang="en-US">
                <a:latin typeface="Tahoma"/>
                <a:ea typeface="Tahoma"/>
                <a:cs typeface="Tahoma"/>
              </a:rPr>
              <a:t>FMN HQ Convergence Results</a:t>
            </a:r>
            <a:endParaRPr lang="en-US"/>
          </a:p>
        </p:txBody>
      </p:sp>
      <p:sp>
        <p:nvSpPr>
          <p:cNvPr id="12" name="Content Placeholder 11">
            <a:extLst>
              <a:ext uri="{FF2B5EF4-FFF2-40B4-BE49-F238E27FC236}">
                <a16:creationId xmlns:a16="http://schemas.microsoft.com/office/drawing/2014/main" id="{179358BA-DF20-AE1A-CE0E-031C1711A020}"/>
              </a:ext>
            </a:extLst>
          </p:cNvPr>
          <p:cNvSpPr>
            <a:spLocks noGrp="1"/>
          </p:cNvSpPr>
          <p:nvPr>
            <p:ph sz="quarter" idx="27"/>
          </p:nvPr>
        </p:nvSpPr>
        <p:spPr/>
        <p:txBody>
          <a:bodyPr>
            <a:normAutofit fontScale="92500" lnSpcReduction="10000"/>
          </a:bodyPr>
          <a:lstStyle/>
          <a:p>
            <a:r>
              <a:rPr lang="en-US"/>
              <a:t>Introduction text</a:t>
            </a:r>
          </a:p>
        </p:txBody>
      </p:sp>
      <p:sp>
        <p:nvSpPr>
          <p:cNvPr id="2" name="Content Placeholder 1">
            <a:extLst>
              <a:ext uri="{FF2B5EF4-FFF2-40B4-BE49-F238E27FC236}">
                <a16:creationId xmlns:a16="http://schemas.microsoft.com/office/drawing/2014/main" id="{1CB0C219-3E53-62E6-041B-7E7A2186F893}"/>
              </a:ext>
            </a:extLst>
          </p:cNvPr>
          <p:cNvSpPr>
            <a:spLocks noGrp="1"/>
          </p:cNvSpPr>
          <p:nvPr>
            <p:ph sz="quarter" idx="13"/>
          </p:nvPr>
        </p:nvSpPr>
        <p:spPr/>
        <p:txBody>
          <a:bodyPr vert="horz" lIns="91440" tIns="45720" rIns="91440" bIns="45720" rtlCol="0" anchor="t">
            <a:normAutofit/>
          </a:bodyPr>
          <a:lstStyle/>
          <a:p>
            <a:r>
              <a:rPr lang="en-US" b="1">
                <a:latin typeface="Tahoma"/>
                <a:ea typeface="Tahoma"/>
                <a:cs typeface="Tahoma"/>
              </a:rPr>
              <a:t>Energy Cutoff</a:t>
            </a:r>
            <a:endParaRPr lang="en-US" b="1"/>
          </a:p>
          <a:p>
            <a:pPr marL="342900" indent="-342900">
              <a:buFont typeface="Arial" panose="020B0604020202020204" pitchFamily="34" charset="0"/>
              <a:buChar char="•"/>
            </a:pPr>
            <a:r>
              <a:rPr lang="en-US">
                <a:latin typeface="Tahoma"/>
                <a:ea typeface="Tahoma"/>
                <a:cs typeface="Tahoma"/>
              </a:rPr>
              <a:t>Shows approach of convergence</a:t>
            </a:r>
            <a:endParaRPr lang="en-US"/>
          </a:p>
        </p:txBody>
      </p:sp>
      <p:sp>
        <p:nvSpPr>
          <p:cNvPr id="3" name="Content Placeholder 2">
            <a:extLst>
              <a:ext uri="{FF2B5EF4-FFF2-40B4-BE49-F238E27FC236}">
                <a16:creationId xmlns:a16="http://schemas.microsoft.com/office/drawing/2014/main" id="{D364596D-1106-9635-6B29-992DE40B082D}"/>
              </a:ext>
            </a:extLst>
          </p:cNvPr>
          <p:cNvSpPr>
            <a:spLocks noGrp="1"/>
          </p:cNvSpPr>
          <p:nvPr>
            <p:ph sz="quarter" idx="14"/>
          </p:nvPr>
        </p:nvSpPr>
        <p:spPr>
          <a:xfrm>
            <a:off x="3284887" y="3438407"/>
            <a:ext cx="2692524" cy="2695693"/>
          </a:xfrm>
        </p:spPr>
        <p:txBody>
          <a:bodyPr vert="horz" lIns="91440" tIns="45720" rIns="91440" bIns="45720" rtlCol="0" anchor="t">
            <a:normAutofit/>
          </a:bodyPr>
          <a:lstStyle/>
          <a:p>
            <a:r>
              <a:rPr lang="en-US" b="1">
                <a:latin typeface="Tahoma"/>
                <a:ea typeface="Tahoma"/>
                <a:cs typeface="Tahoma"/>
              </a:rPr>
              <a:t>HOMO/LUMO Gap</a:t>
            </a:r>
            <a:endParaRPr lang="en-US" b="1"/>
          </a:p>
          <a:p>
            <a:pPr marL="342900" indent="-342900">
              <a:buFont typeface="Arial" panose="020B0604020202020204" pitchFamily="34" charset="0"/>
              <a:buChar char="•"/>
            </a:pPr>
            <a:r>
              <a:rPr lang="en-US">
                <a:latin typeface="Tahoma"/>
                <a:ea typeface="Tahoma"/>
                <a:cs typeface="Tahoma"/>
              </a:rPr>
              <a:t>Stays consistently around ~1.55eV</a:t>
            </a:r>
            <a:endParaRPr lang="en-US"/>
          </a:p>
        </p:txBody>
      </p:sp>
      <p:sp>
        <p:nvSpPr>
          <p:cNvPr id="4" name="Content Placeholder 3">
            <a:extLst>
              <a:ext uri="{FF2B5EF4-FFF2-40B4-BE49-F238E27FC236}">
                <a16:creationId xmlns:a16="http://schemas.microsoft.com/office/drawing/2014/main" id="{6C7E0197-590E-E5BF-3681-55E637BBF448}"/>
              </a:ext>
            </a:extLst>
          </p:cNvPr>
          <p:cNvSpPr>
            <a:spLocks noGrp="1"/>
          </p:cNvSpPr>
          <p:nvPr>
            <p:ph sz="quarter" idx="15"/>
          </p:nvPr>
        </p:nvSpPr>
        <p:spPr/>
        <p:txBody>
          <a:bodyPr vert="horz" lIns="91440" tIns="45720" rIns="91440" bIns="45720" rtlCol="0" anchor="t">
            <a:normAutofit/>
          </a:bodyPr>
          <a:lstStyle/>
          <a:p>
            <a:r>
              <a:rPr lang="en-US" b="1">
                <a:latin typeface="Tahoma"/>
                <a:ea typeface="Tahoma"/>
                <a:cs typeface="Tahoma"/>
              </a:rPr>
              <a:t>RMSD of Molecules</a:t>
            </a:r>
            <a:endParaRPr lang="en-US" b="1"/>
          </a:p>
          <a:p>
            <a:pPr marL="342900" indent="-342900">
              <a:buFont typeface="Arial" panose="020B0604020202020204" pitchFamily="34" charset="0"/>
              <a:buChar char="•"/>
            </a:pPr>
            <a:r>
              <a:rPr lang="en-US">
                <a:latin typeface="Tahoma"/>
                <a:ea typeface="Tahoma"/>
                <a:cs typeface="Tahoma"/>
              </a:rPr>
              <a:t>Decrease with spike at 650 eV</a:t>
            </a:r>
            <a:endParaRPr lang="en-US"/>
          </a:p>
        </p:txBody>
      </p:sp>
      <p:sp>
        <p:nvSpPr>
          <p:cNvPr id="5" name="Content Placeholder 4">
            <a:extLst>
              <a:ext uri="{FF2B5EF4-FFF2-40B4-BE49-F238E27FC236}">
                <a16:creationId xmlns:a16="http://schemas.microsoft.com/office/drawing/2014/main" id="{A523DE9B-6CFA-35AF-B4F1-7BFB9E27924E}"/>
              </a:ext>
            </a:extLst>
          </p:cNvPr>
          <p:cNvSpPr>
            <a:spLocks noGrp="1"/>
          </p:cNvSpPr>
          <p:nvPr>
            <p:ph sz="quarter" idx="16"/>
          </p:nvPr>
        </p:nvSpPr>
        <p:spPr/>
        <p:txBody>
          <a:bodyPr vert="horz" lIns="91440" tIns="45720" rIns="91440" bIns="45720" rtlCol="0" anchor="t">
            <a:normAutofit/>
          </a:bodyPr>
          <a:lstStyle/>
          <a:p>
            <a:r>
              <a:rPr lang="en-US" b="1">
                <a:latin typeface="Tahoma"/>
                <a:ea typeface="Tahoma"/>
                <a:cs typeface="Tahoma"/>
              </a:rPr>
              <a:t>Maximum Force</a:t>
            </a:r>
            <a:endParaRPr lang="en-US" b="1"/>
          </a:p>
          <a:p>
            <a:pPr marL="342900" indent="-342900">
              <a:buFont typeface="Arial" panose="020B0604020202020204" pitchFamily="34" charset="0"/>
              <a:buChar char="•"/>
            </a:pPr>
            <a:r>
              <a:rPr lang="en-US">
                <a:latin typeface="Tahoma"/>
                <a:ea typeface="Tahoma"/>
                <a:cs typeface="Tahoma"/>
              </a:rPr>
              <a:t>Max force stays below 0.065 eV/A for higher </a:t>
            </a:r>
            <a:r>
              <a:rPr lang="en-US" err="1">
                <a:latin typeface="Tahoma"/>
                <a:ea typeface="Tahoma"/>
                <a:cs typeface="Tahoma"/>
              </a:rPr>
              <a:t>eCutoff</a:t>
            </a:r>
            <a:r>
              <a:rPr lang="en-US">
                <a:latin typeface="Tahoma"/>
                <a:ea typeface="Tahoma"/>
                <a:cs typeface="Tahoma"/>
              </a:rPr>
              <a:t> parameters</a:t>
            </a:r>
            <a:endParaRPr lang="en-US"/>
          </a:p>
        </p:txBody>
      </p:sp>
      <p:pic>
        <p:nvPicPr>
          <p:cNvPr id="21" name="Picture Placeholder 20" descr="A graph with a line going up&#10;&#10;AI-generated content may be incorrect.">
            <a:extLst>
              <a:ext uri="{FF2B5EF4-FFF2-40B4-BE49-F238E27FC236}">
                <a16:creationId xmlns:a16="http://schemas.microsoft.com/office/drawing/2014/main" id="{32E4CB3E-1867-ACF3-7A3A-59CCAD7BFF6F}"/>
              </a:ext>
            </a:extLst>
          </p:cNvPr>
          <p:cNvPicPr>
            <a:picLocks noGrp="1" noChangeAspect="1"/>
          </p:cNvPicPr>
          <p:nvPr>
            <p:ph type="pic" sz="quarter" idx="17"/>
          </p:nvPr>
        </p:nvPicPr>
        <p:blipFill>
          <a:blip r:embed="rId2"/>
          <a:srcRect l="336" t="-1265" r="-2992" b="-735"/>
          <a:stretch>
            <a:fillRect/>
          </a:stretch>
        </p:blipFill>
        <p:spPr>
          <a:xfrm>
            <a:off x="303315" y="1399242"/>
            <a:ext cx="2755685" cy="2052473"/>
          </a:xfrm>
          <a:prstGeom prst="rect">
            <a:avLst/>
          </a:prstGeom>
        </p:spPr>
      </p:pic>
      <p:pic>
        <p:nvPicPr>
          <p:cNvPr id="22" name="Picture Placeholder 21" descr="A graph with blue lines&#10;&#10;AI-generated content may be incorrect.">
            <a:extLst>
              <a:ext uri="{FF2B5EF4-FFF2-40B4-BE49-F238E27FC236}">
                <a16:creationId xmlns:a16="http://schemas.microsoft.com/office/drawing/2014/main" id="{5D6F8DF6-56C0-7770-A1A0-EDD43B12B71A}"/>
              </a:ext>
            </a:extLst>
          </p:cNvPr>
          <p:cNvPicPr>
            <a:picLocks noGrp="1" noChangeAspect="1"/>
          </p:cNvPicPr>
          <p:nvPr>
            <p:ph type="pic" sz="quarter" idx="24"/>
          </p:nvPr>
        </p:nvPicPr>
        <p:blipFill>
          <a:blip r:embed="rId3"/>
          <a:srcRect l="336" t="-865" r="-336" b="-468"/>
          <a:stretch>
            <a:fillRect/>
          </a:stretch>
        </p:blipFill>
        <p:spPr>
          <a:xfrm>
            <a:off x="3284887" y="1407263"/>
            <a:ext cx="2684398" cy="2039059"/>
          </a:xfrm>
          <a:prstGeom prst="rect">
            <a:avLst/>
          </a:prstGeom>
        </p:spPr>
      </p:pic>
      <p:pic>
        <p:nvPicPr>
          <p:cNvPr id="33" name="Picture Placeholder 32" descr="A graph with a green line&#10;&#10;AI-generated content may be incorrect.">
            <a:extLst>
              <a:ext uri="{FF2B5EF4-FFF2-40B4-BE49-F238E27FC236}">
                <a16:creationId xmlns:a16="http://schemas.microsoft.com/office/drawing/2014/main" id="{D0CDCEC2-7095-42D5-DF29-69DEC2C103C1}"/>
              </a:ext>
            </a:extLst>
          </p:cNvPr>
          <p:cNvPicPr>
            <a:picLocks noGrp="1" noChangeAspect="1"/>
          </p:cNvPicPr>
          <p:nvPr>
            <p:ph type="pic" sz="quarter" idx="26"/>
          </p:nvPr>
        </p:nvPicPr>
        <p:blipFill>
          <a:blip r:embed="rId4"/>
          <a:srcRect l="335" t="-865" r="163" b="44"/>
          <a:stretch>
            <a:fillRect/>
          </a:stretch>
        </p:blipFill>
        <p:spPr>
          <a:xfrm>
            <a:off x="9204288" y="1407263"/>
            <a:ext cx="2671044" cy="2028760"/>
          </a:xfrm>
          <a:prstGeom prst="rect">
            <a:avLst/>
          </a:prstGeom>
        </p:spPr>
      </p:pic>
      <p:pic>
        <p:nvPicPr>
          <p:cNvPr id="8" name="Picture Placeholder 21" descr="A graph with a line&#10;&#10;AI-generated content may be incorrect.">
            <a:extLst>
              <a:ext uri="{FF2B5EF4-FFF2-40B4-BE49-F238E27FC236}">
                <a16:creationId xmlns:a16="http://schemas.microsoft.com/office/drawing/2014/main" id="{124778D2-AC66-74F2-0061-B33396E898D1}"/>
              </a:ext>
            </a:extLst>
          </p:cNvPr>
          <p:cNvPicPr>
            <a:picLocks noChangeAspect="1"/>
          </p:cNvPicPr>
          <p:nvPr/>
        </p:nvPicPr>
        <p:blipFill>
          <a:blip r:embed="rId5"/>
          <a:srcRect l="632" r="632"/>
          <a:stretch>
            <a:fillRect/>
          </a:stretch>
        </p:blipFill>
        <p:spPr>
          <a:xfrm>
            <a:off x="6239897" y="1391765"/>
            <a:ext cx="2684398" cy="2039059"/>
          </a:xfrm>
          <a:prstGeom prst="rect">
            <a:avLst/>
          </a:prstGeom>
        </p:spPr>
      </p:pic>
    </p:spTree>
    <p:extLst>
      <p:ext uri="{BB962C8B-B14F-4D97-AF65-F5344CB8AC3E}">
        <p14:creationId xmlns:p14="http://schemas.microsoft.com/office/powerpoint/2010/main" val="1420771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CDC1F-65CD-DC9A-5966-D5FED751AE56}"/>
            </a:ext>
          </a:extLst>
        </p:cNvPr>
        <p:cNvGrpSpPr/>
        <p:nvPr/>
      </p:nvGrpSpPr>
      <p:grpSpPr>
        <a:xfrm>
          <a:off x="0" y="0"/>
          <a:ext cx="0" cy="0"/>
          <a:chOff x="0" y="0"/>
          <a:chExt cx="0" cy="0"/>
        </a:xfrm>
      </p:grpSpPr>
      <p:pic>
        <p:nvPicPr>
          <p:cNvPr id="4" name="Picture 3" descr="A graph with green lines&#10;&#10;AI-generated content may be incorrect.">
            <a:extLst>
              <a:ext uri="{FF2B5EF4-FFF2-40B4-BE49-F238E27FC236}">
                <a16:creationId xmlns:a16="http://schemas.microsoft.com/office/drawing/2014/main" id="{25F7A697-ED99-D536-2830-FDE4CEC71148}"/>
              </a:ext>
            </a:extLst>
          </p:cNvPr>
          <p:cNvPicPr>
            <a:picLocks noChangeAspect="1"/>
          </p:cNvPicPr>
          <p:nvPr/>
        </p:nvPicPr>
        <p:blipFill>
          <a:blip r:embed="rId2"/>
          <a:stretch>
            <a:fillRect/>
          </a:stretch>
        </p:blipFill>
        <p:spPr>
          <a:xfrm>
            <a:off x="6188765" y="1177786"/>
            <a:ext cx="6003235" cy="4502428"/>
          </a:xfrm>
          <a:prstGeom prst="rect">
            <a:avLst/>
          </a:prstGeom>
          <a:noFill/>
        </p:spPr>
      </p:pic>
      <p:sp>
        <p:nvSpPr>
          <p:cNvPr id="5" name="Slide Number Placeholder 4">
            <a:extLst>
              <a:ext uri="{FF2B5EF4-FFF2-40B4-BE49-F238E27FC236}">
                <a16:creationId xmlns:a16="http://schemas.microsoft.com/office/drawing/2014/main" id="{7F2DC19F-A969-D394-1DB5-D15423E4B7C3}"/>
              </a:ext>
            </a:extLst>
          </p:cNvPr>
          <p:cNvSpPr>
            <a:spLocks noGrp="1"/>
          </p:cNvSpPr>
          <p:nvPr>
            <p:ph type="sldNum" sz="quarter" idx="17"/>
          </p:nvPr>
        </p:nvSpPr>
        <p:spPr>
          <a:xfrm>
            <a:off x="10218545" y="6248487"/>
            <a:ext cx="1232722" cy="365125"/>
          </a:xfrm>
        </p:spPr>
        <p:txBody>
          <a:bodyPr anchor="ctr">
            <a:normAutofit/>
          </a:bodyPr>
          <a:lstStyle/>
          <a:p>
            <a:pPr>
              <a:spcAft>
                <a:spcPts val="600"/>
              </a:spcAft>
            </a:pPr>
            <a:fld id="{1876332E-97D2-CC49-9E46-E6E0DDE407EB}" type="slidenum">
              <a:rPr lang="en-US" smtClean="0"/>
              <a:pPr>
                <a:spcAft>
                  <a:spcPts val="600"/>
                </a:spcAft>
              </a:pPr>
              <a:t>24</a:t>
            </a:fld>
            <a:endParaRPr lang="en-US"/>
          </a:p>
        </p:txBody>
      </p:sp>
      <p:sp>
        <p:nvSpPr>
          <p:cNvPr id="6" name="Title 5">
            <a:extLst>
              <a:ext uri="{FF2B5EF4-FFF2-40B4-BE49-F238E27FC236}">
                <a16:creationId xmlns:a16="http://schemas.microsoft.com/office/drawing/2014/main" id="{78523BCD-A25F-2B61-1044-C249459CBB5B}"/>
              </a:ext>
            </a:extLst>
          </p:cNvPr>
          <p:cNvSpPr>
            <a:spLocks noGrp="1"/>
          </p:cNvSpPr>
          <p:nvPr>
            <p:ph type="title"/>
          </p:nvPr>
        </p:nvSpPr>
        <p:spPr>
          <a:xfrm>
            <a:off x="303317" y="244386"/>
            <a:ext cx="5695739" cy="550385"/>
          </a:xfrm>
        </p:spPr>
        <p:txBody>
          <a:bodyPr anchor="ctr">
            <a:normAutofit/>
          </a:bodyPr>
          <a:lstStyle/>
          <a:p>
            <a:r>
              <a:rPr lang="en-US"/>
              <a:t>DFT Conclusions</a:t>
            </a:r>
          </a:p>
        </p:txBody>
      </p:sp>
      <p:sp>
        <p:nvSpPr>
          <p:cNvPr id="2" name="Content Placeholder 1">
            <a:extLst>
              <a:ext uri="{FF2B5EF4-FFF2-40B4-BE49-F238E27FC236}">
                <a16:creationId xmlns:a16="http://schemas.microsoft.com/office/drawing/2014/main" id="{0DF0F83C-1C40-1EF6-B785-1B39B4F0C697}"/>
              </a:ext>
            </a:extLst>
          </p:cNvPr>
          <p:cNvSpPr>
            <a:spLocks noGrp="1"/>
          </p:cNvSpPr>
          <p:nvPr>
            <p:ph sz="quarter" idx="13"/>
          </p:nvPr>
        </p:nvSpPr>
        <p:spPr>
          <a:xfrm>
            <a:off x="303317" y="952500"/>
            <a:ext cx="5695741" cy="5181600"/>
          </a:xfrm>
        </p:spPr>
        <p:txBody>
          <a:bodyPr vert="horz" lIns="91440" tIns="45720" rIns="91440" bIns="45720" rtlCol="0">
            <a:normAutofit/>
          </a:bodyPr>
          <a:lstStyle/>
          <a:p>
            <a:pPr marL="0" indent="0">
              <a:buNone/>
            </a:pPr>
            <a:endParaRPr lang="en-US"/>
          </a:p>
          <a:p>
            <a:r>
              <a:rPr lang="en-US"/>
              <a:t>Structure is converging</a:t>
            </a:r>
          </a:p>
          <a:p>
            <a:r>
              <a:rPr lang="en-US"/>
              <a:t>Reaching point of diminishing returns around 700 eV</a:t>
            </a:r>
          </a:p>
          <a:p>
            <a:r>
              <a:rPr lang="en-US"/>
              <a:t>650 eV </a:t>
            </a:r>
            <a:r>
              <a:rPr lang="en-US" err="1"/>
              <a:t>eCutoff</a:t>
            </a:r>
            <a:r>
              <a:rPr lang="en-US"/>
              <a:t> abnormality likely got stuck in another local basin</a:t>
            </a:r>
          </a:p>
          <a:p>
            <a:r>
              <a:rPr lang="en-US"/>
              <a:t>600-650 eV likely to be the "sweet spot" for the cutoff energy</a:t>
            </a:r>
          </a:p>
        </p:txBody>
      </p:sp>
    </p:spTree>
    <p:extLst>
      <p:ext uri="{BB962C8B-B14F-4D97-AF65-F5344CB8AC3E}">
        <p14:creationId xmlns:p14="http://schemas.microsoft.com/office/powerpoint/2010/main" val="227689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23EA9-E8AF-D598-4465-78EEFB4515BF}"/>
            </a:ext>
          </a:extLst>
        </p:cNvPr>
        <p:cNvGrpSpPr/>
        <p:nvPr/>
      </p:nvGrpSpPr>
      <p:grpSpPr>
        <a:xfrm>
          <a:off x="0" y="0"/>
          <a:ext cx="0" cy="0"/>
          <a:chOff x="0" y="0"/>
          <a:chExt cx="0" cy="0"/>
        </a:xfrm>
      </p:grpSpPr>
      <p:pic>
        <p:nvPicPr>
          <p:cNvPr id="11" name="Picture 10" descr="A screenshot of a computer&#10;&#10;AI-generated content may be incorrect.">
            <a:extLst>
              <a:ext uri="{FF2B5EF4-FFF2-40B4-BE49-F238E27FC236}">
                <a16:creationId xmlns:a16="http://schemas.microsoft.com/office/drawing/2014/main" id="{381D9099-9D9A-0C06-E79D-F965EEB6458C}"/>
              </a:ext>
            </a:extLst>
          </p:cNvPr>
          <p:cNvPicPr>
            <a:picLocks noChangeAspect="1"/>
          </p:cNvPicPr>
          <p:nvPr/>
        </p:nvPicPr>
        <p:blipFill>
          <a:blip r:embed="rId2"/>
          <a:srcRect l="41709" r="8395"/>
          <a:stretch>
            <a:fillRect/>
          </a:stretch>
        </p:blipFill>
        <p:spPr>
          <a:xfrm>
            <a:off x="6188765" y="10"/>
            <a:ext cx="6003235" cy="6857990"/>
          </a:xfrm>
          <a:prstGeom prst="rect">
            <a:avLst/>
          </a:prstGeom>
          <a:noFill/>
        </p:spPr>
      </p:pic>
      <p:sp>
        <p:nvSpPr>
          <p:cNvPr id="5" name="Slide Number Placeholder 4">
            <a:extLst>
              <a:ext uri="{FF2B5EF4-FFF2-40B4-BE49-F238E27FC236}">
                <a16:creationId xmlns:a16="http://schemas.microsoft.com/office/drawing/2014/main" id="{C2AA51DD-AB7C-A479-550E-033116E6CA5F}"/>
              </a:ext>
            </a:extLst>
          </p:cNvPr>
          <p:cNvSpPr>
            <a:spLocks noGrp="1"/>
          </p:cNvSpPr>
          <p:nvPr>
            <p:ph type="sldNum" sz="quarter" idx="17"/>
          </p:nvPr>
        </p:nvSpPr>
        <p:spPr>
          <a:xfrm>
            <a:off x="10218545" y="6248487"/>
            <a:ext cx="1232722" cy="365125"/>
          </a:xfrm>
        </p:spPr>
        <p:txBody>
          <a:bodyPr anchor="ctr">
            <a:normAutofit/>
          </a:bodyPr>
          <a:lstStyle/>
          <a:p>
            <a:pPr>
              <a:spcAft>
                <a:spcPts val="600"/>
              </a:spcAft>
            </a:pPr>
            <a:fld id="{1876332E-97D2-CC49-9E46-E6E0DDE407EB}" type="slidenum">
              <a:rPr lang="en-US" smtClean="0"/>
              <a:pPr>
                <a:spcAft>
                  <a:spcPts val="600"/>
                </a:spcAft>
              </a:pPr>
              <a:t>25</a:t>
            </a:fld>
            <a:endParaRPr lang="en-US"/>
          </a:p>
        </p:txBody>
      </p:sp>
      <p:sp>
        <p:nvSpPr>
          <p:cNvPr id="6" name="Title 5">
            <a:extLst>
              <a:ext uri="{FF2B5EF4-FFF2-40B4-BE49-F238E27FC236}">
                <a16:creationId xmlns:a16="http://schemas.microsoft.com/office/drawing/2014/main" id="{5E51E854-AFCF-6B2D-F7A0-610A40A02363}"/>
              </a:ext>
            </a:extLst>
          </p:cNvPr>
          <p:cNvSpPr>
            <a:spLocks noGrp="1"/>
          </p:cNvSpPr>
          <p:nvPr>
            <p:ph type="title"/>
          </p:nvPr>
        </p:nvSpPr>
        <p:spPr>
          <a:xfrm>
            <a:off x="303317" y="244386"/>
            <a:ext cx="5695739" cy="550385"/>
          </a:xfrm>
        </p:spPr>
        <p:txBody>
          <a:bodyPr anchor="ctr">
            <a:normAutofit/>
          </a:bodyPr>
          <a:lstStyle/>
          <a:p>
            <a:r>
              <a:rPr lang="en-US"/>
              <a:t>Future DFT Objectives</a:t>
            </a:r>
          </a:p>
        </p:txBody>
      </p:sp>
      <p:sp>
        <p:nvSpPr>
          <p:cNvPr id="2" name="Content Placeholder 1">
            <a:extLst>
              <a:ext uri="{FF2B5EF4-FFF2-40B4-BE49-F238E27FC236}">
                <a16:creationId xmlns:a16="http://schemas.microsoft.com/office/drawing/2014/main" id="{E4DE9B8B-BDF4-5814-C1C1-E97D29C8EB4D}"/>
              </a:ext>
            </a:extLst>
          </p:cNvPr>
          <p:cNvSpPr>
            <a:spLocks noGrp="1"/>
          </p:cNvSpPr>
          <p:nvPr>
            <p:ph sz="quarter" idx="13"/>
          </p:nvPr>
        </p:nvSpPr>
        <p:spPr>
          <a:xfrm>
            <a:off x="303317" y="952500"/>
            <a:ext cx="5695741" cy="5181600"/>
          </a:xfrm>
        </p:spPr>
        <p:txBody>
          <a:bodyPr vert="horz" lIns="91440" tIns="45720" rIns="91440" bIns="45720" rtlCol="0" anchor="t">
            <a:normAutofit/>
          </a:bodyPr>
          <a:lstStyle/>
          <a:p>
            <a:pPr marL="0" indent="0">
              <a:buNone/>
            </a:pPr>
            <a:r>
              <a:rPr lang="en-US"/>
              <a:t>What comes next?</a:t>
            </a:r>
          </a:p>
          <a:p>
            <a:r>
              <a:rPr lang="en-US"/>
              <a:t>Model other structures relevant to process</a:t>
            </a:r>
          </a:p>
          <a:p>
            <a:pPr lvl="1">
              <a:buFont typeface="Courier New" panose="020B0604020202020204" pitchFamily="34" charset="0"/>
              <a:buChar char="o"/>
            </a:pPr>
            <a:r>
              <a:rPr lang="en-US" sz="2400">
                <a:solidFill>
                  <a:schemeClr val="tx2"/>
                </a:solidFill>
              </a:rPr>
              <a:t>FMN sq, FMN ox, DIT, TIT</a:t>
            </a:r>
          </a:p>
          <a:p>
            <a:r>
              <a:rPr lang="en-US"/>
              <a:t>Map electron density regions</a:t>
            </a:r>
          </a:p>
          <a:p>
            <a:r>
              <a:rPr lang="en-US"/>
              <a:t>Move forward with Meta-GGA calculations (SCAN preferred at the moment)</a:t>
            </a:r>
          </a:p>
          <a:p>
            <a:r>
              <a:rPr lang="en-US">
                <a:latin typeface="Tahoma"/>
                <a:ea typeface="Tahoma"/>
                <a:cs typeface="Tahoma"/>
              </a:rPr>
              <a:t>Confirm 650 eV is indeed an anomaly</a:t>
            </a:r>
          </a:p>
          <a:p>
            <a:r>
              <a:rPr lang="en-US">
                <a:latin typeface="Tahoma"/>
                <a:ea typeface="Tahoma"/>
                <a:cs typeface="Tahoma"/>
              </a:rPr>
              <a:t>Move on to more physically realistic environment</a:t>
            </a:r>
          </a:p>
        </p:txBody>
      </p:sp>
    </p:spTree>
    <p:extLst>
      <p:ext uri="{BB962C8B-B14F-4D97-AF65-F5344CB8AC3E}">
        <p14:creationId xmlns:p14="http://schemas.microsoft.com/office/powerpoint/2010/main" val="2527255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162C24-FEE3-9C55-541D-A27BF49E91CE}"/>
              </a:ext>
            </a:extLst>
          </p:cNvPr>
          <p:cNvSpPr>
            <a:spLocks noGrp="1"/>
          </p:cNvSpPr>
          <p:nvPr>
            <p:ph sz="quarter" idx="13"/>
          </p:nvPr>
        </p:nvSpPr>
        <p:spPr>
          <a:xfrm>
            <a:off x="295455" y="952500"/>
            <a:ext cx="11593228" cy="5656051"/>
          </a:xfrm>
        </p:spPr>
        <p:txBody>
          <a:bodyPr vert="horz" lIns="91440" tIns="45720" rIns="91440" bIns="45720" rtlCol="0" anchor="t">
            <a:normAutofit fontScale="92500" lnSpcReduction="20000"/>
          </a:bodyPr>
          <a:lstStyle/>
          <a:p>
            <a:pPr marL="457200" indent="-457200">
              <a:buAutoNum type="arabicPeriod"/>
            </a:pPr>
            <a:r>
              <a:rPr lang="en-US" sz="1200" err="1">
                <a:solidFill>
                  <a:srgbClr val="1B1B1B"/>
                </a:solidFill>
                <a:highlight>
                  <a:srgbClr val="FFFFFF"/>
                </a:highlight>
                <a:latin typeface="Tahoma"/>
                <a:ea typeface="Tahoma"/>
                <a:cs typeface="Tahoma"/>
              </a:rPr>
              <a:t>Bobyk</a:t>
            </a:r>
            <a:r>
              <a:rPr lang="en-US" sz="1200">
                <a:solidFill>
                  <a:srgbClr val="1B1B1B"/>
                </a:solidFill>
                <a:highlight>
                  <a:srgbClr val="FFFFFF"/>
                </a:highlight>
                <a:latin typeface="Tahoma"/>
                <a:ea typeface="Tahoma"/>
                <a:cs typeface="Tahoma"/>
              </a:rPr>
              <a:t> KD, Ballou DP, Rokita SE. Rapid kinetics of dehalogenation promoted by </a:t>
            </a:r>
            <a:r>
              <a:rPr lang="en-US" sz="1200" err="1">
                <a:solidFill>
                  <a:srgbClr val="1B1B1B"/>
                </a:solidFill>
                <a:highlight>
                  <a:srgbClr val="FFFFFF"/>
                </a:highlight>
                <a:latin typeface="Tahoma"/>
                <a:ea typeface="Tahoma"/>
                <a:cs typeface="Tahoma"/>
              </a:rPr>
              <a:t>iodotyrosine</a:t>
            </a:r>
            <a:r>
              <a:rPr lang="en-US" sz="1200">
                <a:solidFill>
                  <a:srgbClr val="1B1B1B"/>
                </a:solidFill>
                <a:highlight>
                  <a:srgbClr val="FFFFFF"/>
                </a:highlight>
                <a:latin typeface="Tahoma"/>
                <a:ea typeface="Tahoma"/>
                <a:cs typeface="Tahoma"/>
              </a:rPr>
              <a:t> deiodinase from human thyroid. Biochemistry. 2015 Jul 28;54(29):4487-94. </a:t>
            </a:r>
            <a:r>
              <a:rPr lang="en-US" sz="1200" err="1">
                <a:solidFill>
                  <a:srgbClr val="1B1B1B"/>
                </a:solidFill>
                <a:highlight>
                  <a:srgbClr val="FFFFFF"/>
                </a:highlight>
                <a:latin typeface="Tahoma"/>
                <a:ea typeface="Tahoma"/>
                <a:cs typeface="Tahoma"/>
              </a:rPr>
              <a:t>doi</a:t>
            </a:r>
            <a:r>
              <a:rPr lang="en-US" sz="1200">
                <a:solidFill>
                  <a:srgbClr val="1B1B1B"/>
                </a:solidFill>
                <a:highlight>
                  <a:srgbClr val="FFFFFF"/>
                </a:highlight>
                <a:latin typeface="Tahoma"/>
                <a:ea typeface="Tahoma"/>
                <a:cs typeface="Tahoma"/>
              </a:rPr>
              <a:t>: 10.1021/acs.biochem.5b00410. </a:t>
            </a:r>
            <a:r>
              <a:rPr lang="en-US" sz="1200" err="1">
                <a:solidFill>
                  <a:srgbClr val="1B1B1B"/>
                </a:solidFill>
                <a:highlight>
                  <a:srgbClr val="FFFFFF"/>
                </a:highlight>
                <a:latin typeface="Tahoma"/>
                <a:ea typeface="Tahoma"/>
                <a:cs typeface="Tahoma"/>
              </a:rPr>
              <a:t>Epub</a:t>
            </a:r>
            <a:r>
              <a:rPr lang="en-US" sz="1200">
                <a:solidFill>
                  <a:srgbClr val="1B1B1B"/>
                </a:solidFill>
                <a:highlight>
                  <a:srgbClr val="FFFFFF"/>
                </a:highlight>
                <a:latin typeface="Tahoma"/>
                <a:ea typeface="Tahoma"/>
                <a:cs typeface="Tahoma"/>
              </a:rPr>
              <a:t> 2015 Jul 20. PMID: 26151430; PMCID: PMC4938124.</a:t>
            </a:r>
          </a:p>
          <a:p>
            <a:pPr marL="457200" indent="-457200">
              <a:buAutoNum type="arabicPeriod"/>
            </a:pPr>
            <a:r>
              <a:rPr lang="en-US" sz="1200">
                <a:solidFill>
                  <a:srgbClr val="212121"/>
                </a:solidFill>
                <a:highlight>
                  <a:srgbClr val="FFFFFF"/>
                </a:highlight>
                <a:latin typeface="Tahoma"/>
                <a:ea typeface="Tahoma"/>
                <a:cs typeface="Tahoma"/>
              </a:rPr>
              <a:t>Copp JN, Akiva E, Babbitt PC, </a:t>
            </a:r>
            <a:r>
              <a:rPr lang="en-US" sz="1200" err="1">
                <a:solidFill>
                  <a:srgbClr val="212121"/>
                </a:solidFill>
                <a:highlight>
                  <a:srgbClr val="FFFFFF"/>
                </a:highlight>
                <a:latin typeface="Tahoma"/>
                <a:ea typeface="Tahoma"/>
                <a:cs typeface="Tahoma"/>
              </a:rPr>
              <a:t>Tokuriki</a:t>
            </a:r>
            <a:r>
              <a:rPr lang="en-US" sz="1200">
                <a:solidFill>
                  <a:srgbClr val="212121"/>
                </a:solidFill>
                <a:highlight>
                  <a:srgbClr val="FFFFFF"/>
                </a:highlight>
                <a:latin typeface="Tahoma"/>
                <a:ea typeface="Tahoma"/>
                <a:cs typeface="Tahoma"/>
              </a:rPr>
              <a:t> N. Revealing Unexplored Sequence-Function Space Using Sequence Similarity Networks. Biochemistry. 2018 Aug 7;57(31):4651-4662. </a:t>
            </a:r>
            <a:r>
              <a:rPr lang="en-US" sz="1200" err="1">
                <a:solidFill>
                  <a:srgbClr val="212121"/>
                </a:solidFill>
                <a:highlight>
                  <a:srgbClr val="FFFFFF"/>
                </a:highlight>
                <a:latin typeface="Tahoma"/>
                <a:ea typeface="Tahoma"/>
                <a:cs typeface="Tahoma"/>
              </a:rPr>
              <a:t>doi</a:t>
            </a:r>
            <a:r>
              <a:rPr lang="en-US" sz="1200">
                <a:solidFill>
                  <a:srgbClr val="212121"/>
                </a:solidFill>
                <a:highlight>
                  <a:srgbClr val="FFFFFF"/>
                </a:highlight>
                <a:latin typeface="Tahoma"/>
                <a:ea typeface="Tahoma"/>
                <a:cs typeface="Tahoma"/>
              </a:rPr>
              <a:t>: 10.1021/acs.biochem.8b00473. </a:t>
            </a:r>
            <a:r>
              <a:rPr lang="en-US" sz="1200" err="1">
                <a:solidFill>
                  <a:srgbClr val="212121"/>
                </a:solidFill>
                <a:highlight>
                  <a:srgbClr val="FFFFFF"/>
                </a:highlight>
                <a:latin typeface="Tahoma"/>
                <a:ea typeface="Tahoma"/>
                <a:cs typeface="Tahoma"/>
              </a:rPr>
              <a:t>Epub</a:t>
            </a:r>
            <a:r>
              <a:rPr lang="en-US" sz="1200">
                <a:solidFill>
                  <a:srgbClr val="212121"/>
                </a:solidFill>
                <a:highlight>
                  <a:srgbClr val="FFFFFF"/>
                </a:highlight>
                <a:latin typeface="Tahoma"/>
                <a:ea typeface="Tahoma"/>
                <a:cs typeface="Tahoma"/>
              </a:rPr>
              <a:t> 2018 Jul 27. PMID: 30052428.</a:t>
            </a:r>
          </a:p>
          <a:p>
            <a:pPr marL="457200" indent="-457200">
              <a:buAutoNum type="arabicPeriod"/>
            </a:pPr>
            <a:r>
              <a:rPr lang="en-US" sz="1200">
                <a:solidFill>
                  <a:srgbClr val="1B1B1B"/>
                </a:solidFill>
                <a:highlight>
                  <a:srgbClr val="FFFFFF"/>
                </a:highlight>
                <a:latin typeface="Tahoma"/>
                <a:ea typeface="Tahoma"/>
                <a:cs typeface="Tahoma"/>
              </a:rPr>
              <a:t>Mukherjee A, Rokita SE. Single Amino Acid Switch between a Flavin-Dependent Dehalogenase and </a:t>
            </a:r>
            <a:r>
              <a:rPr lang="en-US" sz="1200" err="1">
                <a:solidFill>
                  <a:srgbClr val="1B1B1B"/>
                </a:solidFill>
                <a:highlight>
                  <a:srgbClr val="FFFFFF"/>
                </a:highlight>
                <a:latin typeface="Tahoma"/>
                <a:ea typeface="Tahoma"/>
                <a:cs typeface="Tahoma"/>
              </a:rPr>
              <a:t>Nitroreductase</a:t>
            </a:r>
            <a:r>
              <a:rPr lang="en-US" sz="1200">
                <a:solidFill>
                  <a:srgbClr val="1B1B1B"/>
                </a:solidFill>
                <a:highlight>
                  <a:srgbClr val="FFFFFF"/>
                </a:highlight>
                <a:latin typeface="Tahoma"/>
                <a:ea typeface="Tahoma"/>
                <a:cs typeface="Tahoma"/>
              </a:rPr>
              <a:t>. J Am Chem Soc. 2015 Dec 16;137(49):15342-5. </a:t>
            </a:r>
            <a:r>
              <a:rPr lang="en-US" sz="1200" err="1">
                <a:solidFill>
                  <a:srgbClr val="1B1B1B"/>
                </a:solidFill>
                <a:highlight>
                  <a:srgbClr val="FFFFFF"/>
                </a:highlight>
                <a:latin typeface="Tahoma"/>
                <a:ea typeface="Tahoma"/>
                <a:cs typeface="Tahoma"/>
              </a:rPr>
              <a:t>doi</a:t>
            </a:r>
            <a:r>
              <a:rPr lang="en-US" sz="1200">
                <a:solidFill>
                  <a:srgbClr val="1B1B1B"/>
                </a:solidFill>
                <a:highlight>
                  <a:srgbClr val="FFFFFF"/>
                </a:highlight>
                <a:latin typeface="Tahoma"/>
                <a:ea typeface="Tahoma"/>
                <a:cs typeface="Tahoma"/>
              </a:rPr>
              <a:t>: 10.1021/jacs.5b07540. </a:t>
            </a:r>
            <a:r>
              <a:rPr lang="en-US" sz="1200" err="1">
                <a:solidFill>
                  <a:srgbClr val="1B1B1B"/>
                </a:solidFill>
                <a:highlight>
                  <a:srgbClr val="FFFFFF"/>
                </a:highlight>
                <a:latin typeface="Tahoma"/>
                <a:ea typeface="Tahoma"/>
                <a:cs typeface="Tahoma"/>
              </a:rPr>
              <a:t>Epub</a:t>
            </a:r>
            <a:r>
              <a:rPr lang="en-US" sz="1200">
                <a:solidFill>
                  <a:srgbClr val="1B1B1B"/>
                </a:solidFill>
                <a:highlight>
                  <a:srgbClr val="FFFFFF"/>
                </a:highlight>
                <a:latin typeface="Tahoma"/>
                <a:ea typeface="Tahoma"/>
                <a:cs typeface="Tahoma"/>
              </a:rPr>
              <a:t> 2015 Dec 4. PMID: 26616824; PMCID: PMC4684082.</a:t>
            </a:r>
          </a:p>
          <a:p>
            <a:pPr marL="457200" indent="-457200">
              <a:buAutoNum type="arabicPeriod"/>
            </a:pPr>
            <a:r>
              <a:rPr lang="en-US" sz="1200">
                <a:solidFill>
                  <a:srgbClr val="212121"/>
                </a:solidFill>
                <a:highlight>
                  <a:srgbClr val="FFFFFF"/>
                </a:highlight>
                <a:latin typeface="Tahoma"/>
                <a:ea typeface="Tahoma"/>
                <a:cs typeface="Tahoma"/>
              </a:rPr>
              <a:t>Lemen D, Rokita SE. Polar Interactions between Substrate and Flavin Control </a:t>
            </a:r>
            <a:r>
              <a:rPr lang="en-US" sz="1200" err="1">
                <a:solidFill>
                  <a:srgbClr val="212121"/>
                </a:solidFill>
                <a:highlight>
                  <a:srgbClr val="FFFFFF"/>
                </a:highlight>
                <a:latin typeface="Tahoma"/>
                <a:ea typeface="Tahoma"/>
                <a:cs typeface="Tahoma"/>
              </a:rPr>
              <a:t>Iodotyrosine</a:t>
            </a:r>
            <a:r>
              <a:rPr lang="en-US" sz="1200">
                <a:solidFill>
                  <a:srgbClr val="212121"/>
                </a:solidFill>
                <a:highlight>
                  <a:srgbClr val="FFFFFF"/>
                </a:highlight>
                <a:latin typeface="Tahoma"/>
                <a:ea typeface="Tahoma"/>
                <a:cs typeface="Tahoma"/>
              </a:rPr>
              <a:t> Deiodinase Function. Biochemistry. 2024 Sep 17;63(18):2380-2389. </a:t>
            </a:r>
            <a:r>
              <a:rPr lang="en-US" sz="1200" err="1">
                <a:solidFill>
                  <a:srgbClr val="212121"/>
                </a:solidFill>
                <a:highlight>
                  <a:srgbClr val="FFFFFF"/>
                </a:highlight>
                <a:latin typeface="Tahoma"/>
                <a:ea typeface="Tahoma"/>
                <a:cs typeface="Tahoma"/>
              </a:rPr>
              <a:t>doi</a:t>
            </a:r>
            <a:r>
              <a:rPr lang="en-US" sz="1200">
                <a:solidFill>
                  <a:srgbClr val="212121"/>
                </a:solidFill>
                <a:highlight>
                  <a:srgbClr val="FFFFFF"/>
                </a:highlight>
                <a:latin typeface="Tahoma"/>
                <a:ea typeface="Tahoma"/>
                <a:cs typeface="Tahoma"/>
              </a:rPr>
              <a:t>: 10.1021/acs.biochem.4c00357. </a:t>
            </a:r>
            <a:r>
              <a:rPr lang="en-US" sz="1200" err="1">
                <a:solidFill>
                  <a:srgbClr val="212121"/>
                </a:solidFill>
                <a:highlight>
                  <a:srgbClr val="FFFFFF"/>
                </a:highlight>
                <a:latin typeface="Tahoma"/>
                <a:ea typeface="Tahoma"/>
                <a:cs typeface="Tahoma"/>
              </a:rPr>
              <a:t>Epub</a:t>
            </a:r>
            <a:r>
              <a:rPr lang="en-US" sz="1200">
                <a:solidFill>
                  <a:srgbClr val="212121"/>
                </a:solidFill>
                <a:highlight>
                  <a:srgbClr val="FFFFFF"/>
                </a:highlight>
                <a:latin typeface="Tahoma"/>
                <a:ea typeface="Tahoma"/>
                <a:cs typeface="Tahoma"/>
              </a:rPr>
              <a:t> 2024 Aug 30. PMID: 39213510; PMCID: PMC11408085.</a:t>
            </a:r>
          </a:p>
          <a:p>
            <a:pPr marL="457200" indent="-457200">
              <a:buAutoNum type="arabicPeriod"/>
            </a:pPr>
            <a:r>
              <a:rPr lang="en-US" sz="1200">
                <a:solidFill>
                  <a:srgbClr val="1B1B1B"/>
                </a:solidFill>
                <a:highlight>
                  <a:srgbClr val="FFFFFF"/>
                </a:highlight>
                <a:latin typeface="Tahoma"/>
                <a:ea typeface="Tahoma"/>
                <a:cs typeface="Tahoma"/>
              </a:rPr>
              <a:t>Case DA, </a:t>
            </a:r>
            <a:r>
              <a:rPr lang="en-US" sz="1200" err="1">
                <a:solidFill>
                  <a:srgbClr val="1B1B1B"/>
                </a:solidFill>
                <a:highlight>
                  <a:srgbClr val="FFFFFF"/>
                </a:highlight>
                <a:latin typeface="Tahoma"/>
                <a:ea typeface="Tahoma"/>
                <a:cs typeface="Tahoma"/>
              </a:rPr>
              <a:t>Aktulga</a:t>
            </a:r>
            <a:r>
              <a:rPr lang="en-US" sz="1200">
                <a:solidFill>
                  <a:srgbClr val="1B1B1B"/>
                </a:solidFill>
                <a:highlight>
                  <a:srgbClr val="FFFFFF"/>
                </a:highlight>
                <a:latin typeface="Tahoma"/>
                <a:ea typeface="Tahoma"/>
                <a:cs typeface="Tahoma"/>
              </a:rPr>
              <a:t> HM, Belfon K, Cerutti DS, Cisneros GA, Cruzeiro VWD, </a:t>
            </a:r>
            <a:r>
              <a:rPr lang="en-US" sz="1200" err="1">
                <a:solidFill>
                  <a:srgbClr val="1B1B1B"/>
                </a:solidFill>
                <a:highlight>
                  <a:srgbClr val="FFFFFF"/>
                </a:highlight>
                <a:latin typeface="Tahoma"/>
                <a:ea typeface="Tahoma"/>
                <a:cs typeface="Tahoma"/>
              </a:rPr>
              <a:t>Forouzesh</a:t>
            </a:r>
            <a:r>
              <a:rPr lang="en-US" sz="1200">
                <a:solidFill>
                  <a:srgbClr val="1B1B1B"/>
                </a:solidFill>
                <a:highlight>
                  <a:srgbClr val="FFFFFF"/>
                </a:highlight>
                <a:latin typeface="Tahoma"/>
                <a:ea typeface="Tahoma"/>
                <a:cs typeface="Tahoma"/>
              </a:rPr>
              <a:t> N, Giese TJ, Götz AW, Gohlke H, Izadi S, </a:t>
            </a:r>
            <a:r>
              <a:rPr lang="en-US" sz="1200" err="1">
                <a:solidFill>
                  <a:srgbClr val="1B1B1B"/>
                </a:solidFill>
                <a:highlight>
                  <a:srgbClr val="FFFFFF"/>
                </a:highlight>
                <a:latin typeface="Tahoma"/>
                <a:ea typeface="Tahoma"/>
                <a:cs typeface="Tahoma"/>
              </a:rPr>
              <a:t>Kasavajhala</a:t>
            </a:r>
            <a:r>
              <a:rPr lang="en-US" sz="1200">
                <a:solidFill>
                  <a:srgbClr val="1B1B1B"/>
                </a:solidFill>
                <a:highlight>
                  <a:srgbClr val="FFFFFF"/>
                </a:highlight>
                <a:latin typeface="Tahoma"/>
                <a:ea typeface="Tahoma"/>
                <a:cs typeface="Tahoma"/>
              </a:rPr>
              <a:t> K, Kaymak MC, King E, Kurtzman T, Lee TS, Li P, Liu J, </a:t>
            </a:r>
            <a:r>
              <a:rPr lang="en-US" sz="1200" err="1">
                <a:solidFill>
                  <a:srgbClr val="1B1B1B"/>
                </a:solidFill>
                <a:highlight>
                  <a:srgbClr val="FFFFFF"/>
                </a:highlight>
                <a:latin typeface="Tahoma"/>
                <a:ea typeface="Tahoma"/>
                <a:cs typeface="Tahoma"/>
              </a:rPr>
              <a:t>Luchko</a:t>
            </a:r>
            <a:r>
              <a:rPr lang="en-US" sz="1200">
                <a:solidFill>
                  <a:srgbClr val="1B1B1B"/>
                </a:solidFill>
                <a:highlight>
                  <a:srgbClr val="FFFFFF"/>
                </a:highlight>
                <a:latin typeface="Tahoma"/>
                <a:ea typeface="Tahoma"/>
                <a:cs typeface="Tahoma"/>
              </a:rPr>
              <a:t> T, Luo R, </a:t>
            </a:r>
            <a:r>
              <a:rPr lang="en-US" sz="1200" err="1">
                <a:solidFill>
                  <a:srgbClr val="1B1B1B"/>
                </a:solidFill>
                <a:highlight>
                  <a:srgbClr val="FFFFFF"/>
                </a:highlight>
                <a:latin typeface="Tahoma"/>
                <a:ea typeface="Tahoma"/>
                <a:cs typeface="Tahoma"/>
              </a:rPr>
              <a:t>Manathunga</a:t>
            </a:r>
            <a:r>
              <a:rPr lang="en-US" sz="1200">
                <a:solidFill>
                  <a:srgbClr val="1B1B1B"/>
                </a:solidFill>
                <a:highlight>
                  <a:srgbClr val="FFFFFF"/>
                </a:highlight>
                <a:latin typeface="Tahoma"/>
                <a:ea typeface="Tahoma"/>
                <a:cs typeface="Tahoma"/>
              </a:rPr>
              <a:t> M, Machado MR, Nguyen HM, O'Hearn KA, </a:t>
            </a:r>
            <a:r>
              <a:rPr lang="en-US" sz="1200" err="1">
                <a:solidFill>
                  <a:srgbClr val="1B1B1B"/>
                </a:solidFill>
                <a:highlight>
                  <a:srgbClr val="FFFFFF"/>
                </a:highlight>
                <a:latin typeface="Tahoma"/>
                <a:ea typeface="Tahoma"/>
                <a:cs typeface="Tahoma"/>
              </a:rPr>
              <a:t>Onufriev</a:t>
            </a:r>
            <a:r>
              <a:rPr lang="en-US" sz="1200">
                <a:solidFill>
                  <a:srgbClr val="1B1B1B"/>
                </a:solidFill>
                <a:highlight>
                  <a:srgbClr val="FFFFFF"/>
                </a:highlight>
                <a:latin typeface="Tahoma"/>
                <a:ea typeface="Tahoma"/>
                <a:cs typeface="Tahoma"/>
              </a:rPr>
              <a:t> AV, Pan F, Pantano S, Qi R, </a:t>
            </a:r>
            <a:r>
              <a:rPr lang="en-US" sz="1200" err="1">
                <a:solidFill>
                  <a:srgbClr val="1B1B1B"/>
                </a:solidFill>
                <a:highlight>
                  <a:srgbClr val="FFFFFF"/>
                </a:highlight>
                <a:latin typeface="Tahoma"/>
                <a:ea typeface="Tahoma"/>
                <a:cs typeface="Tahoma"/>
              </a:rPr>
              <a:t>Rahnamoun</a:t>
            </a:r>
            <a:r>
              <a:rPr lang="en-US" sz="1200">
                <a:solidFill>
                  <a:srgbClr val="1B1B1B"/>
                </a:solidFill>
                <a:highlight>
                  <a:srgbClr val="FFFFFF"/>
                </a:highlight>
                <a:latin typeface="Tahoma"/>
                <a:ea typeface="Tahoma"/>
                <a:cs typeface="Tahoma"/>
              </a:rPr>
              <a:t> A, </a:t>
            </a:r>
            <a:r>
              <a:rPr lang="en-US" sz="1200" err="1">
                <a:solidFill>
                  <a:srgbClr val="1B1B1B"/>
                </a:solidFill>
                <a:highlight>
                  <a:srgbClr val="FFFFFF"/>
                </a:highlight>
                <a:latin typeface="Tahoma"/>
                <a:ea typeface="Tahoma"/>
                <a:cs typeface="Tahoma"/>
              </a:rPr>
              <a:t>Risheh</a:t>
            </a:r>
            <a:r>
              <a:rPr lang="en-US" sz="1200">
                <a:solidFill>
                  <a:srgbClr val="1B1B1B"/>
                </a:solidFill>
                <a:highlight>
                  <a:srgbClr val="FFFFFF"/>
                </a:highlight>
                <a:latin typeface="Tahoma"/>
                <a:ea typeface="Tahoma"/>
                <a:cs typeface="Tahoma"/>
              </a:rPr>
              <a:t> A, Schott-Verdugo S, Shajan A, Swails J, Wang J, Wei H, Wu X, Wu Y, Zhang S, Zhao S, Zhu Q, Cheatham TE 3rd, Roe DR, </a:t>
            </a:r>
            <a:r>
              <a:rPr lang="en-US" sz="1200" err="1">
                <a:solidFill>
                  <a:srgbClr val="1B1B1B"/>
                </a:solidFill>
                <a:highlight>
                  <a:srgbClr val="FFFFFF"/>
                </a:highlight>
                <a:latin typeface="Tahoma"/>
                <a:ea typeface="Tahoma"/>
                <a:cs typeface="Tahoma"/>
              </a:rPr>
              <a:t>Roitberg</a:t>
            </a:r>
            <a:r>
              <a:rPr lang="en-US" sz="1200">
                <a:solidFill>
                  <a:srgbClr val="1B1B1B"/>
                </a:solidFill>
                <a:highlight>
                  <a:srgbClr val="FFFFFF"/>
                </a:highlight>
                <a:latin typeface="Tahoma"/>
                <a:ea typeface="Tahoma"/>
                <a:cs typeface="Tahoma"/>
              </a:rPr>
              <a:t> A, Simmerling C, York DM, Nagan MC, Merz KM Jr. </a:t>
            </a:r>
            <a:r>
              <a:rPr lang="en-US" sz="1200" err="1">
                <a:solidFill>
                  <a:srgbClr val="1B1B1B"/>
                </a:solidFill>
                <a:highlight>
                  <a:srgbClr val="FFFFFF"/>
                </a:highlight>
                <a:latin typeface="Tahoma"/>
                <a:ea typeface="Tahoma"/>
                <a:cs typeface="Tahoma"/>
              </a:rPr>
              <a:t>AmberTools</a:t>
            </a:r>
            <a:r>
              <a:rPr lang="en-US" sz="1200">
                <a:solidFill>
                  <a:srgbClr val="1B1B1B"/>
                </a:solidFill>
                <a:highlight>
                  <a:srgbClr val="FFFFFF"/>
                </a:highlight>
                <a:latin typeface="Tahoma"/>
                <a:ea typeface="Tahoma"/>
                <a:cs typeface="Tahoma"/>
              </a:rPr>
              <a:t>. J Chem Inf Model. 2023 Oct 23;63(20):6183-6191. </a:t>
            </a:r>
            <a:r>
              <a:rPr lang="en-US" sz="1200" err="1">
                <a:solidFill>
                  <a:srgbClr val="1B1B1B"/>
                </a:solidFill>
                <a:highlight>
                  <a:srgbClr val="FFFFFF"/>
                </a:highlight>
                <a:latin typeface="Tahoma"/>
                <a:ea typeface="Tahoma"/>
                <a:cs typeface="Tahoma"/>
              </a:rPr>
              <a:t>doi</a:t>
            </a:r>
            <a:r>
              <a:rPr lang="en-US" sz="1200">
                <a:solidFill>
                  <a:srgbClr val="1B1B1B"/>
                </a:solidFill>
                <a:highlight>
                  <a:srgbClr val="FFFFFF"/>
                </a:highlight>
                <a:latin typeface="Tahoma"/>
                <a:ea typeface="Tahoma"/>
                <a:cs typeface="Tahoma"/>
              </a:rPr>
              <a:t>: 10.1021/acs.jcim.3c01153. </a:t>
            </a:r>
            <a:r>
              <a:rPr lang="en-US" sz="1200" err="1">
                <a:solidFill>
                  <a:srgbClr val="1B1B1B"/>
                </a:solidFill>
                <a:highlight>
                  <a:srgbClr val="FFFFFF"/>
                </a:highlight>
                <a:latin typeface="Tahoma"/>
                <a:ea typeface="Tahoma"/>
                <a:cs typeface="Tahoma"/>
              </a:rPr>
              <a:t>Epub</a:t>
            </a:r>
            <a:r>
              <a:rPr lang="en-US" sz="1200">
                <a:solidFill>
                  <a:srgbClr val="1B1B1B"/>
                </a:solidFill>
                <a:highlight>
                  <a:srgbClr val="FFFFFF"/>
                </a:highlight>
                <a:latin typeface="Tahoma"/>
                <a:ea typeface="Tahoma"/>
                <a:cs typeface="Tahoma"/>
              </a:rPr>
              <a:t> 2023 Oct 8. PMID: 37805934; PMCID: PMC10598796.</a:t>
            </a:r>
          </a:p>
          <a:p>
            <a:pPr marL="457200" indent="-457200">
              <a:buAutoNum type="arabicPeriod"/>
            </a:pPr>
            <a:r>
              <a:rPr lang="en-US" sz="1200">
                <a:solidFill>
                  <a:srgbClr val="1B1B1B"/>
                </a:solidFill>
                <a:highlight>
                  <a:srgbClr val="FFFFFF"/>
                </a:highlight>
                <a:latin typeface="Tahoma"/>
                <a:ea typeface="Tahoma"/>
                <a:cs typeface="Tahoma"/>
              </a:rPr>
              <a:t>Kabir MP, Ghosh P, </a:t>
            </a:r>
            <a:r>
              <a:rPr lang="en-US" sz="1200" err="1">
                <a:solidFill>
                  <a:srgbClr val="1B1B1B"/>
                </a:solidFill>
                <a:highlight>
                  <a:srgbClr val="FFFFFF"/>
                </a:highlight>
                <a:latin typeface="Tahoma"/>
                <a:ea typeface="Tahoma"/>
                <a:cs typeface="Tahoma"/>
              </a:rPr>
              <a:t>Gozem</a:t>
            </a:r>
            <a:r>
              <a:rPr lang="en-US" sz="1200">
                <a:solidFill>
                  <a:srgbClr val="1B1B1B"/>
                </a:solidFill>
                <a:highlight>
                  <a:srgbClr val="FFFFFF"/>
                </a:highlight>
                <a:latin typeface="Tahoma"/>
                <a:ea typeface="Tahoma"/>
                <a:cs typeface="Tahoma"/>
              </a:rPr>
              <a:t> S. Electronic Structure Methods for Simulating Flavin's Spectroscopy and </a:t>
            </a:r>
            <a:r>
              <a:rPr lang="en-US" sz="1200" err="1">
                <a:solidFill>
                  <a:srgbClr val="1B1B1B"/>
                </a:solidFill>
                <a:highlight>
                  <a:srgbClr val="FFFFFF"/>
                </a:highlight>
                <a:latin typeface="Tahoma"/>
                <a:ea typeface="Tahoma"/>
                <a:cs typeface="Tahoma"/>
              </a:rPr>
              <a:t>Photophysics</a:t>
            </a:r>
            <a:r>
              <a:rPr lang="en-US" sz="1200">
                <a:solidFill>
                  <a:srgbClr val="1B1B1B"/>
                </a:solidFill>
                <a:highlight>
                  <a:srgbClr val="FFFFFF"/>
                </a:highlight>
                <a:latin typeface="Tahoma"/>
                <a:ea typeface="Tahoma"/>
                <a:cs typeface="Tahoma"/>
              </a:rPr>
              <a:t>: Comparison of Multi-reference, TD-DFT, and Single-Reference Wave Function Methods. J Phys Chem B. 2024 Aug 8;128(31):7545-7557. </a:t>
            </a:r>
            <a:r>
              <a:rPr lang="en-US" sz="1200" err="1">
                <a:solidFill>
                  <a:srgbClr val="1B1B1B"/>
                </a:solidFill>
                <a:highlight>
                  <a:srgbClr val="FFFFFF"/>
                </a:highlight>
                <a:latin typeface="Tahoma"/>
                <a:ea typeface="Tahoma"/>
                <a:cs typeface="Tahoma"/>
              </a:rPr>
              <a:t>doi</a:t>
            </a:r>
            <a:r>
              <a:rPr lang="en-US" sz="1200">
                <a:solidFill>
                  <a:srgbClr val="1B1B1B"/>
                </a:solidFill>
                <a:highlight>
                  <a:srgbClr val="FFFFFF"/>
                </a:highlight>
                <a:latin typeface="Tahoma"/>
                <a:ea typeface="Tahoma"/>
                <a:cs typeface="Tahoma"/>
              </a:rPr>
              <a:t>: 10.1021/acs.jpcb.4c03748. </a:t>
            </a:r>
            <a:r>
              <a:rPr lang="en-US" sz="1200" err="1">
                <a:solidFill>
                  <a:srgbClr val="1B1B1B"/>
                </a:solidFill>
                <a:highlight>
                  <a:srgbClr val="FFFFFF"/>
                </a:highlight>
                <a:latin typeface="Tahoma"/>
                <a:ea typeface="Tahoma"/>
                <a:cs typeface="Tahoma"/>
              </a:rPr>
              <a:t>Epub</a:t>
            </a:r>
            <a:r>
              <a:rPr lang="en-US" sz="1200">
                <a:solidFill>
                  <a:srgbClr val="1B1B1B"/>
                </a:solidFill>
                <a:highlight>
                  <a:srgbClr val="FFFFFF"/>
                </a:highlight>
                <a:latin typeface="Tahoma"/>
                <a:ea typeface="Tahoma"/>
                <a:cs typeface="Tahoma"/>
              </a:rPr>
              <a:t> 2024 Jul 29. PMID: 39074870; PMCID: PMC11317985.</a:t>
            </a:r>
          </a:p>
          <a:p>
            <a:pPr marL="457200" indent="-457200">
              <a:buAutoNum type="arabicPeriod"/>
            </a:pPr>
            <a:r>
              <a:rPr lang="en-US" sz="1200">
                <a:solidFill>
                  <a:srgbClr val="1B1B1B"/>
                </a:solidFill>
                <a:highlight>
                  <a:srgbClr val="FFFFFF"/>
                </a:highlight>
                <a:latin typeface="Tahoma"/>
                <a:ea typeface="Tahoma"/>
                <a:cs typeface="Tahoma"/>
              </a:rPr>
              <a:t>Sun Z, Su Q, Rokita SE. The distribution and mechanism of </a:t>
            </a:r>
            <a:r>
              <a:rPr lang="en-US" sz="1200" err="1">
                <a:solidFill>
                  <a:srgbClr val="1B1B1B"/>
                </a:solidFill>
                <a:highlight>
                  <a:srgbClr val="FFFFFF"/>
                </a:highlight>
                <a:latin typeface="Tahoma"/>
                <a:ea typeface="Tahoma"/>
                <a:cs typeface="Tahoma"/>
              </a:rPr>
              <a:t>iodotyrosine</a:t>
            </a:r>
            <a:r>
              <a:rPr lang="en-US" sz="1200">
                <a:solidFill>
                  <a:srgbClr val="1B1B1B"/>
                </a:solidFill>
                <a:highlight>
                  <a:srgbClr val="FFFFFF"/>
                </a:highlight>
                <a:latin typeface="Tahoma"/>
                <a:ea typeface="Tahoma"/>
                <a:cs typeface="Tahoma"/>
              </a:rPr>
              <a:t> deiodinase defied expectations. Arch </a:t>
            </a:r>
            <a:r>
              <a:rPr lang="en-US" sz="1200" err="1">
                <a:solidFill>
                  <a:srgbClr val="1B1B1B"/>
                </a:solidFill>
                <a:highlight>
                  <a:srgbClr val="FFFFFF"/>
                </a:highlight>
                <a:latin typeface="Tahoma"/>
                <a:ea typeface="Tahoma"/>
                <a:cs typeface="Tahoma"/>
              </a:rPr>
              <a:t>Biochem</a:t>
            </a:r>
            <a:r>
              <a:rPr lang="en-US" sz="1200">
                <a:solidFill>
                  <a:srgbClr val="1B1B1B"/>
                </a:solidFill>
                <a:highlight>
                  <a:srgbClr val="FFFFFF"/>
                </a:highlight>
                <a:latin typeface="Tahoma"/>
                <a:ea typeface="Tahoma"/>
                <a:cs typeface="Tahoma"/>
              </a:rPr>
              <a:t> </a:t>
            </a:r>
            <a:r>
              <a:rPr lang="en-US" sz="1200" err="1">
                <a:solidFill>
                  <a:srgbClr val="1B1B1B"/>
                </a:solidFill>
                <a:highlight>
                  <a:srgbClr val="FFFFFF"/>
                </a:highlight>
                <a:latin typeface="Tahoma"/>
                <a:ea typeface="Tahoma"/>
                <a:cs typeface="Tahoma"/>
              </a:rPr>
              <a:t>Biophys</a:t>
            </a:r>
            <a:r>
              <a:rPr lang="en-US" sz="1200">
                <a:solidFill>
                  <a:srgbClr val="1B1B1B"/>
                </a:solidFill>
                <a:highlight>
                  <a:srgbClr val="FFFFFF"/>
                </a:highlight>
                <a:latin typeface="Tahoma"/>
                <a:ea typeface="Tahoma"/>
                <a:cs typeface="Tahoma"/>
              </a:rPr>
              <a:t>. 2017 Oct 15;632:77-87. </a:t>
            </a:r>
            <a:r>
              <a:rPr lang="en-US" sz="1200" err="1">
                <a:solidFill>
                  <a:srgbClr val="1B1B1B"/>
                </a:solidFill>
                <a:highlight>
                  <a:srgbClr val="FFFFFF"/>
                </a:highlight>
                <a:latin typeface="Tahoma"/>
                <a:ea typeface="Tahoma"/>
                <a:cs typeface="Tahoma"/>
              </a:rPr>
              <a:t>doi</a:t>
            </a:r>
            <a:r>
              <a:rPr lang="en-US" sz="1200">
                <a:solidFill>
                  <a:srgbClr val="1B1B1B"/>
                </a:solidFill>
                <a:highlight>
                  <a:srgbClr val="FFFFFF"/>
                </a:highlight>
                <a:latin typeface="Tahoma"/>
                <a:ea typeface="Tahoma"/>
                <a:cs typeface="Tahoma"/>
              </a:rPr>
              <a:t>: 10.1016/j.abb.2017.07.019. </a:t>
            </a:r>
            <a:r>
              <a:rPr lang="en-US" sz="1200" err="1">
                <a:solidFill>
                  <a:srgbClr val="1B1B1B"/>
                </a:solidFill>
                <a:highlight>
                  <a:srgbClr val="FFFFFF"/>
                </a:highlight>
                <a:latin typeface="Tahoma"/>
                <a:ea typeface="Tahoma"/>
                <a:cs typeface="Tahoma"/>
              </a:rPr>
              <a:t>Epub</a:t>
            </a:r>
            <a:r>
              <a:rPr lang="en-US" sz="1200">
                <a:solidFill>
                  <a:srgbClr val="1B1B1B"/>
                </a:solidFill>
                <a:highlight>
                  <a:srgbClr val="FFFFFF"/>
                </a:highlight>
                <a:latin typeface="Tahoma"/>
                <a:ea typeface="Tahoma"/>
                <a:cs typeface="Tahoma"/>
              </a:rPr>
              <a:t> 2017 Jul 31. PMID: 28774660; PMCID: PMC5665059.</a:t>
            </a:r>
          </a:p>
          <a:p>
            <a:pPr marL="457200" indent="-457200">
              <a:buAutoNum type="arabicPeriod"/>
            </a:pPr>
            <a:r>
              <a:rPr lang="en-US" sz="1200">
                <a:solidFill>
                  <a:srgbClr val="0A0A0A"/>
                </a:solidFill>
                <a:highlight>
                  <a:srgbClr val="FFFFFF"/>
                </a:highlight>
                <a:latin typeface="Tahoma"/>
                <a:ea typeface="Tahoma"/>
                <a:cs typeface="Tahoma"/>
              </a:rPr>
              <a:t>García, J. I., Medina, M., Sancho, J., Alonso, P. J., Gómez-Moreno, C., Mayoral, J. A., &amp; Martínez, J. I. (2002). Theoretical Analysis of the Electron Spin Density Distribution of the Flavin Semiquinone Isoalloxazine Ring within Model Protein Environments. </a:t>
            </a:r>
            <a:r>
              <a:rPr lang="en-US" sz="1200" i="1">
                <a:solidFill>
                  <a:srgbClr val="0A0A0A"/>
                </a:solidFill>
                <a:highlight>
                  <a:srgbClr val="FFFFFF"/>
                </a:highlight>
                <a:latin typeface="Tahoma"/>
                <a:ea typeface="Tahoma"/>
                <a:cs typeface="Tahoma"/>
              </a:rPr>
              <a:t>The Journal of Physical Chemistry A</a:t>
            </a:r>
            <a:r>
              <a:rPr lang="en-US" sz="1200">
                <a:solidFill>
                  <a:srgbClr val="0A0A0A"/>
                </a:solidFill>
                <a:highlight>
                  <a:srgbClr val="FFFFFF"/>
                </a:highlight>
                <a:latin typeface="Tahoma"/>
                <a:ea typeface="Tahoma"/>
                <a:cs typeface="Tahoma"/>
              </a:rPr>
              <a:t>, 106(18), 4731-4739. DOI:</a:t>
            </a:r>
          </a:p>
          <a:p>
            <a:pPr marL="457200" indent="-457200">
              <a:buAutoNum type="arabicPeriod"/>
            </a:pPr>
            <a:r>
              <a:rPr lang="en-US" sz="1200">
                <a:solidFill>
                  <a:srgbClr val="0A0A0A"/>
                </a:solidFill>
                <a:highlight>
                  <a:srgbClr val="FFFFFF"/>
                </a:highlight>
                <a:latin typeface="Tahoma"/>
                <a:ea typeface="Tahoma"/>
                <a:cs typeface="Tahoma"/>
              </a:rPr>
              <a:t>Hohenberg, P.; Kohn, W. Inhomogeneous Electron Gas. Phys. Rev. 1964, 136, B864–B871</a:t>
            </a:r>
          </a:p>
          <a:p>
            <a:pPr marL="457200" indent="-457200">
              <a:buAutoNum type="arabicPeriod"/>
            </a:pPr>
            <a:r>
              <a:rPr lang="en-US" sz="1200">
                <a:solidFill>
                  <a:srgbClr val="0A0A0A"/>
                </a:solidFill>
                <a:highlight>
                  <a:srgbClr val="FFFFFF"/>
                </a:highlight>
                <a:latin typeface="Tahoma"/>
                <a:ea typeface="Tahoma"/>
                <a:cs typeface="Tahoma"/>
              </a:rPr>
              <a:t>Kohn, W.; Sham, L. J. Self-Consistent Equations Including Exchange and Correlation Effects. Phys. Rev. 1965, 140, A1133–A1138</a:t>
            </a:r>
          </a:p>
          <a:p>
            <a:pPr marL="457200" indent="-457200">
              <a:buAutoNum type="arabicPeriod"/>
            </a:pPr>
            <a:r>
              <a:rPr lang="en-US" sz="1200">
                <a:solidFill>
                  <a:srgbClr val="0A0A0A"/>
                </a:solidFill>
                <a:highlight>
                  <a:srgbClr val="FFFFFF"/>
                </a:highlight>
                <a:latin typeface="Tahoma"/>
                <a:ea typeface="Tahoma"/>
                <a:cs typeface="Tahoma"/>
              </a:rPr>
              <a:t>Perdew, J. P.; Burke, K.; </a:t>
            </a:r>
            <a:r>
              <a:rPr lang="en-US" sz="1200" err="1">
                <a:solidFill>
                  <a:srgbClr val="0A0A0A"/>
                </a:solidFill>
                <a:highlight>
                  <a:srgbClr val="FFFFFF"/>
                </a:highlight>
                <a:latin typeface="Tahoma"/>
                <a:ea typeface="Tahoma"/>
                <a:cs typeface="Tahoma"/>
              </a:rPr>
              <a:t>Ernzerhof</a:t>
            </a:r>
            <a:r>
              <a:rPr lang="en-US" sz="1200">
                <a:solidFill>
                  <a:srgbClr val="0A0A0A"/>
                </a:solidFill>
                <a:highlight>
                  <a:srgbClr val="FFFFFF"/>
                </a:highlight>
                <a:latin typeface="Tahoma"/>
                <a:ea typeface="Tahoma"/>
                <a:cs typeface="Tahoma"/>
              </a:rPr>
              <a:t>, M. Generalized Gradient Approximation Made Simple. Phys. Rev. Lett. 1996, 77, 3865–3868</a:t>
            </a:r>
          </a:p>
          <a:p>
            <a:pPr marL="457200" indent="-457200">
              <a:buAutoNum type="arabicPeriod"/>
            </a:pPr>
            <a:r>
              <a:rPr lang="en-US" sz="1200">
                <a:solidFill>
                  <a:srgbClr val="0A0A0A"/>
                </a:solidFill>
                <a:highlight>
                  <a:srgbClr val="FFFFFF"/>
                </a:highlight>
                <a:latin typeface="Tahoma"/>
                <a:ea typeface="Tahoma"/>
                <a:cs typeface="Tahoma"/>
              </a:rPr>
              <a:t>Payne, M. C.; et al. Iterative Minimization Techniques for ab Initio Total-Energy Calculations. Rev. Mod. Phys. 1992, 64, 1045–1097</a:t>
            </a:r>
          </a:p>
          <a:p>
            <a:pPr marL="457200" indent="-457200">
              <a:buAutoNum type="arabicPeriod"/>
            </a:pPr>
            <a:r>
              <a:rPr lang="en-US" sz="1200" err="1">
                <a:solidFill>
                  <a:srgbClr val="0A0A0A"/>
                </a:solidFill>
                <a:highlight>
                  <a:srgbClr val="FFFFFF"/>
                </a:highlight>
                <a:latin typeface="Tahoma"/>
                <a:ea typeface="Tahoma"/>
                <a:cs typeface="Tahoma"/>
              </a:rPr>
              <a:t>Broyden</a:t>
            </a:r>
            <a:r>
              <a:rPr lang="en-US" sz="1200">
                <a:solidFill>
                  <a:srgbClr val="0A0A0A"/>
                </a:solidFill>
                <a:highlight>
                  <a:srgbClr val="FFFFFF"/>
                </a:highlight>
                <a:latin typeface="Tahoma"/>
                <a:ea typeface="Tahoma"/>
                <a:cs typeface="Tahoma"/>
              </a:rPr>
              <a:t>, C. G. The Convergence of a Class of Double-Rank Minimization Algorithms. J. Inst. Math. Appl. 1970, 6, 76–90</a:t>
            </a:r>
          </a:p>
          <a:p>
            <a:pPr marL="457200" indent="-457200">
              <a:buAutoNum type="arabicPeriod"/>
            </a:pPr>
            <a:r>
              <a:rPr lang="en-US" sz="1200">
                <a:solidFill>
                  <a:srgbClr val="0A0A0A"/>
                </a:solidFill>
                <a:highlight>
                  <a:srgbClr val="FFFFFF"/>
                </a:highlight>
                <a:latin typeface="Tahoma"/>
                <a:ea typeface="Tahoma"/>
                <a:cs typeface="Tahoma"/>
              </a:rPr>
              <a:t>Mortensen, J. J.; Hansen, L. B.; Jacobsen, K. W. Phys. Rev. B 2005, 71, 035109</a:t>
            </a:r>
            <a:endParaRPr lang="en-US" sz="1200">
              <a:solidFill>
                <a:srgbClr val="0A0A0A"/>
              </a:solidFill>
              <a:highlight>
                <a:srgbClr val="FFFFFF"/>
              </a:highlight>
            </a:endParaRPr>
          </a:p>
          <a:p>
            <a:pPr marL="457200" indent="-457200">
              <a:buAutoNum type="arabicPeriod"/>
            </a:pPr>
            <a:r>
              <a:rPr lang="en-US" sz="1200" err="1">
                <a:solidFill>
                  <a:srgbClr val="0A0A0A"/>
                </a:solidFill>
                <a:highlight>
                  <a:srgbClr val="FFFFFF"/>
                </a:highlight>
                <a:latin typeface="Tahoma"/>
                <a:ea typeface="Tahoma"/>
                <a:cs typeface="Tahoma"/>
              </a:rPr>
              <a:t>Enkovaara</a:t>
            </a:r>
            <a:r>
              <a:rPr lang="en-US" sz="1200">
                <a:solidFill>
                  <a:srgbClr val="0A0A0A"/>
                </a:solidFill>
                <a:highlight>
                  <a:srgbClr val="FFFFFF"/>
                </a:highlight>
                <a:latin typeface="Tahoma"/>
                <a:ea typeface="Tahoma"/>
                <a:cs typeface="Tahoma"/>
              </a:rPr>
              <a:t>, J.; et al. J. Phys.: </a:t>
            </a:r>
            <a:r>
              <a:rPr lang="en-US" sz="1200" err="1">
                <a:solidFill>
                  <a:srgbClr val="0A0A0A"/>
                </a:solidFill>
                <a:highlight>
                  <a:srgbClr val="FFFFFF"/>
                </a:highlight>
                <a:latin typeface="Tahoma"/>
                <a:ea typeface="Tahoma"/>
                <a:cs typeface="Tahoma"/>
              </a:rPr>
              <a:t>Condens</a:t>
            </a:r>
            <a:r>
              <a:rPr lang="en-US" sz="1200">
                <a:solidFill>
                  <a:srgbClr val="0A0A0A"/>
                </a:solidFill>
                <a:highlight>
                  <a:srgbClr val="FFFFFF"/>
                </a:highlight>
                <a:latin typeface="Tahoma"/>
                <a:ea typeface="Tahoma"/>
                <a:cs typeface="Tahoma"/>
              </a:rPr>
              <a:t>. Matter 2010, 22, 253202</a:t>
            </a:r>
          </a:p>
          <a:p>
            <a:pPr marL="457200" indent="-457200">
              <a:buAutoNum type="arabicPeriod"/>
            </a:pPr>
            <a:r>
              <a:rPr lang="en-US" sz="1200">
                <a:solidFill>
                  <a:srgbClr val="0A0A0A"/>
                </a:solidFill>
                <a:highlight>
                  <a:srgbClr val="FFFFFF"/>
                </a:highlight>
                <a:latin typeface="Tahoma"/>
                <a:ea typeface="Tahoma"/>
                <a:cs typeface="Tahoma"/>
              </a:rPr>
              <a:t>Larsen, A. H.; et al. J. Phys.: </a:t>
            </a:r>
            <a:r>
              <a:rPr lang="en-US" sz="1200" err="1">
                <a:solidFill>
                  <a:srgbClr val="0A0A0A"/>
                </a:solidFill>
                <a:highlight>
                  <a:srgbClr val="FFFFFF"/>
                </a:highlight>
                <a:latin typeface="Tahoma"/>
                <a:ea typeface="Tahoma"/>
                <a:cs typeface="Tahoma"/>
              </a:rPr>
              <a:t>Condens</a:t>
            </a:r>
            <a:r>
              <a:rPr lang="en-US" sz="1200">
                <a:solidFill>
                  <a:srgbClr val="0A0A0A"/>
                </a:solidFill>
                <a:highlight>
                  <a:srgbClr val="FFFFFF"/>
                </a:highlight>
                <a:latin typeface="Tahoma"/>
                <a:ea typeface="Tahoma"/>
                <a:cs typeface="Tahoma"/>
              </a:rPr>
              <a:t>. Matter 2017, 29, 273002</a:t>
            </a:r>
          </a:p>
          <a:p>
            <a:pPr marL="457200" indent="-457200">
              <a:buAutoNum type="arabicPeriod"/>
            </a:pPr>
            <a:endParaRPr lang="en-US" sz="1200">
              <a:solidFill>
                <a:srgbClr val="0A0A0A"/>
              </a:solidFill>
              <a:highlight>
                <a:srgbClr val="FFFFFF"/>
              </a:highlight>
            </a:endParaRPr>
          </a:p>
        </p:txBody>
      </p:sp>
      <p:sp>
        <p:nvSpPr>
          <p:cNvPr id="3" name="Slide Number Placeholder 2">
            <a:extLst>
              <a:ext uri="{FF2B5EF4-FFF2-40B4-BE49-F238E27FC236}">
                <a16:creationId xmlns:a16="http://schemas.microsoft.com/office/drawing/2014/main" id="{CDA7E67A-1CB6-48A5-8025-43C69EE2198C}"/>
              </a:ext>
            </a:extLst>
          </p:cNvPr>
          <p:cNvSpPr>
            <a:spLocks noGrp="1"/>
          </p:cNvSpPr>
          <p:nvPr>
            <p:ph type="sldNum" sz="quarter" idx="16"/>
          </p:nvPr>
        </p:nvSpPr>
        <p:spPr/>
        <p:txBody>
          <a:bodyPr/>
          <a:lstStyle/>
          <a:p>
            <a:fld id="{1876332E-97D2-CC49-9E46-E6E0DDE407EB}" type="slidenum">
              <a:rPr lang="en-US" smtClean="0"/>
              <a:pPr/>
              <a:t>26</a:t>
            </a:fld>
            <a:endParaRPr lang="en-US"/>
          </a:p>
        </p:txBody>
      </p:sp>
      <p:sp>
        <p:nvSpPr>
          <p:cNvPr id="4" name="Title 3">
            <a:extLst>
              <a:ext uri="{FF2B5EF4-FFF2-40B4-BE49-F238E27FC236}">
                <a16:creationId xmlns:a16="http://schemas.microsoft.com/office/drawing/2014/main" id="{0CE27A36-9842-6F84-4B24-022AB71A7BF5}"/>
              </a:ext>
            </a:extLst>
          </p:cNvPr>
          <p:cNvSpPr>
            <a:spLocks noGrp="1"/>
          </p:cNvSpPr>
          <p:nvPr>
            <p:ph type="title"/>
          </p:nvPr>
        </p:nvSpPr>
        <p:spPr/>
        <p:txBody>
          <a:bodyPr/>
          <a:lstStyle/>
          <a:p>
            <a:r>
              <a:rPr lang="en-US">
                <a:latin typeface="Tahoma"/>
                <a:ea typeface="Tahoma"/>
                <a:cs typeface="Tahoma"/>
              </a:rPr>
              <a:t>References </a:t>
            </a:r>
            <a:endParaRPr lang="en-US"/>
          </a:p>
        </p:txBody>
      </p:sp>
    </p:spTree>
    <p:extLst>
      <p:ext uri="{BB962C8B-B14F-4D97-AF65-F5344CB8AC3E}">
        <p14:creationId xmlns:p14="http://schemas.microsoft.com/office/powerpoint/2010/main" val="2646384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D1343-3DEA-9F5E-AB1C-01B19F2FAF64}"/>
              </a:ext>
            </a:extLst>
          </p:cNvPr>
          <p:cNvSpPr>
            <a:spLocks noGrp="1"/>
          </p:cNvSpPr>
          <p:nvPr>
            <p:ph type="ctrTitle"/>
          </p:nvPr>
        </p:nvSpPr>
        <p:spPr/>
        <p:txBody>
          <a:bodyPr/>
          <a:lstStyle/>
          <a:p>
            <a:r>
              <a:rPr lang="en-US"/>
              <a:t>Thank You!</a:t>
            </a:r>
          </a:p>
        </p:txBody>
      </p:sp>
      <p:sp>
        <p:nvSpPr>
          <p:cNvPr id="4" name="Text Placeholder 3">
            <a:extLst>
              <a:ext uri="{FF2B5EF4-FFF2-40B4-BE49-F238E27FC236}">
                <a16:creationId xmlns:a16="http://schemas.microsoft.com/office/drawing/2014/main" id="{32078735-6A80-5AE2-1F9B-4E65836AD058}"/>
              </a:ext>
            </a:extLst>
          </p:cNvPr>
          <p:cNvSpPr>
            <a:spLocks noGrp="1"/>
          </p:cNvSpPr>
          <p:nvPr>
            <p:ph type="body" sz="quarter" idx="10"/>
          </p:nvPr>
        </p:nvSpPr>
        <p:spPr>
          <a:xfrm>
            <a:off x="882650" y="2998988"/>
            <a:ext cx="10379075" cy="951137"/>
          </a:xfrm>
        </p:spPr>
        <p:txBody>
          <a:bodyPr vert="horz" lIns="91440" tIns="45720" rIns="91440" bIns="45720" rtlCol="0" anchor="t">
            <a:normAutofit/>
          </a:bodyPr>
          <a:lstStyle/>
          <a:p>
            <a:r>
              <a:rPr lang="en-US">
                <a:latin typeface="Tahoma"/>
                <a:ea typeface="Tahoma"/>
                <a:cs typeface="Tahoma"/>
              </a:rPr>
              <a:t>Anar </a:t>
            </a:r>
            <a:r>
              <a:rPr lang="en-US" err="1">
                <a:latin typeface="Tahoma"/>
                <a:ea typeface="Tahoma"/>
                <a:cs typeface="Tahoma"/>
              </a:rPr>
              <a:t>Nuruzada</a:t>
            </a:r>
            <a:r>
              <a:rPr lang="en-US">
                <a:latin typeface="Tahoma"/>
                <a:ea typeface="Tahoma"/>
                <a:cs typeface="Tahoma"/>
              </a:rPr>
              <a:t>, Logan Kuhn, Gilbert Otoo</a:t>
            </a:r>
            <a:endParaRPr lang="en-US"/>
          </a:p>
          <a:p>
            <a:r>
              <a:rPr lang="en-US" b="1">
                <a:latin typeface="Tahoma"/>
                <a:ea typeface="Tahoma"/>
                <a:cs typeface="Tahoma"/>
              </a:rPr>
              <a:t>Understanding Redox Chemistry of FMN semiquinone with DFT and MD simulation</a:t>
            </a:r>
            <a:endParaRPr lang="en-US"/>
          </a:p>
          <a:p>
            <a:endParaRPr lang="en-US"/>
          </a:p>
        </p:txBody>
      </p:sp>
    </p:spTree>
    <p:extLst>
      <p:ext uri="{BB962C8B-B14F-4D97-AF65-F5344CB8AC3E}">
        <p14:creationId xmlns:p14="http://schemas.microsoft.com/office/powerpoint/2010/main" val="442868921"/>
      </p:ext>
    </p:extLst>
  </p:cSld>
  <p:clrMapOvr>
    <a:masterClrMapping/>
  </p:clrMapOvr>
</p:sld>
</file>

<file path=ppt/theme/theme1.xml><?xml version="1.0" encoding="utf-8"?>
<a:theme xmlns:a="http://schemas.openxmlformats.org/drawingml/2006/main" name="Office Theme">
  <a:themeElements>
    <a:clrScheme name="Custom 2">
      <a:dk1>
        <a:srgbClr val="002C71"/>
      </a:dk1>
      <a:lt1>
        <a:srgbClr val="FFFFFF"/>
      </a:lt1>
      <a:dk2>
        <a:srgbClr val="002C71"/>
      </a:dk2>
      <a:lt2>
        <a:srgbClr val="FFFFFF"/>
      </a:lt2>
      <a:accent1>
        <a:srgbClr val="4E97E0"/>
      </a:accent1>
      <a:accent2>
        <a:srgbClr val="0071CE"/>
      </a:accent2>
      <a:accent3>
        <a:srgbClr val="A35C98"/>
      </a:accent3>
      <a:accent4>
        <a:srgbClr val="008767"/>
      </a:accent4>
      <a:accent5>
        <a:srgbClr val="F1C300"/>
      </a:accent5>
      <a:accent6>
        <a:srgbClr val="275E3C"/>
      </a:accent6>
      <a:hlink>
        <a:srgbClr val="0071CE"/>
      </a:hlink>
      <a:folHlink>
        <a:srgbClr val="A0A0A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HU-Presentation Template_Fa25" id="{E7D7FCDC-CC1D-C44D-BBD8-5602C9AAFB15}" vid="{6B1A63AA-FEFD-654B-A24A-80389F0133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27</Slides>
  <Notes>16</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Understanding Redox Chemistry of FMN semiquinone with DFT and MD simulation</vt:lpstr>
      <vt:lpstr>Nitro reductase superfamily</vt:lpstr>
      <vt:lpstr>IYD subgroup of NTR superfamily perform bioremediation</vt:lpstr>
      <vt:lpstr>Reductive dehalogenation is catalyzed by FMN cofactor </vt:lpstr>
      <vt:lpstr>FMN Characterization</vt:lpstr>
      <vt:lpstr>Polar coordination is necessary for semiquinone stabilization</vt:lpstr>
      <vt:lpstr>Catalytic efficiency and semiquinone stabilization diminish without key interactions </vt:lpstr>
      <vt:lpstr>Goal</vt:lpstr>
      <vt:lpstr>Methods </vt:lpstr>
      <vt:lpstr>Molecular Dynamics Simulation </vt:lpstr>
      <vt:lpstr>Molecular Dynamics Simulation Tools </vt:lpstr>
      <vt:lpstr>Molecular Dynamics Simulation</vt:lpstr>
      <vt:lpstr>Build system </vt:lpstr>
      <vt:lpstr>Heating the system </vt:lpstr>
      <vt:lpstr>Equilibration</vt:lpstr>
      <vt:lpstr>Production</vt:lpstr>
      <vt:lpstr>Snapshot of lowest Epot structure in energy landscape </vt:lpstr>
      <vt:lpstr>Limitations and Future Directions for MD simulation</vt:lpstr>
      <vt:lpstr>Past research has used DFT study the FMN semiquinone state</vt:lpstr>
      <vt:lpstr>Results from the paper </vt:lpstr>
      <vt:lpstr>Preliminary Optimizations of FMN</vt:lpstr>
      <vt:lpstr>DFT Methodology</vt:lpstr>
      <vt:lpstr>FMN HQ Convergence Results</vt:lpstr>
      <vt:lpstr>DFT Conclusions</vt:lpstr>
      <vt:lpstr>Future DFT Objectives</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Otoo, Gil</dc:creator>
  <cp:revision>8</cp:revision>
  <dcterms:created xsi:type="dcterms:W3CDTF">2026-04-26T00:50:12Z</dcterms:created>
  <dcterms:modified xsi:type="dcterms:W3CDTF">2026-10-14T16:22:08Z</dcterms:modified>
</cp:coreProperties>
</file>