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sldIdLst>
    <p:sldId id="265" r:id="rId5"/>
    <p:sldId id="275" r:id="rId6"/>
    <p:sldId id="277" r:id="rId7"/>
    <p:sldId id="292" r:id="rId8"/>
    <p:sldId id="313" r:id="rId9"/>
    <p:sldId id="278" r:id="rId10"/>
    <p:sldId id="314" r:id="rId11"/>
    <p:sldId id="261" r:id="rId12"/>
    <p:sldId id="264" r:id="rId13"/>
    <p:sldId id="274" r:id="rId14"/>
    <p:sldId id="258" r:id="rId15"/>
    <p:sldId id="262" r:id="rId16"/>
    <p:sldId id="288" r:id="rId17"/>
    <p:sldId id="318" r:id="rId18"/>
    <p:sldId id="257" r:id="rId19"/>
    <p:sldId id="256" r:id="rId20"/>
    <p:sldId id="279" r:id="rId21"/>
    <p:sldId id="315" r:id="rId22"/>
    <p:sldId id="281" r:id="rId23"/>
    <p:sldId id="316" r:id="rId24"/>
    <p:sldId id="307" r:id="rId25"/>
    <p:sldId id="270" r:id="rId26"/>
    <p:sldId id="296" r:id="rId27"/>
    <p:sldId id="297" r:id="rId28"/>
    <p:sldId id="298" r:id="rId29"/>
    <p:sldId id="302" r:id="rId30"/>
    <p:sldId id="304" r:id="rId31"/>
    <p:sldId id="306" r:id="rId32"/>
    <p:sldId id="308" r:id="rId33"/>
    <p:sldId id="317" r:id="rId34"/>
    <p:sldId id="300" r:id="rId35"/>
    <p:sldId id="309" r:id="rId36"/>
    <p:sldId id="301" r:id="rId37"/>
    <p:sldId id="310" r:id="rId38"/>
    <p:sldId id="282" r:id="rId39"/>
    <p:sldId id="283" r:id="rId40"/>
    <p:sldId id="268" r:id="rId41"/>
    <p:sldId id="284" r:id="rId42"/>
    <p:sldId id="271" r:id="rId43"/>
    <p:sldId id="287" r:id="rId44"/>
    <p:sldId id="286" r:id="rId45"/>
    <p:sldId id="29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616B26-B835-B9B1-2DD7-1BED327C19A2}" name="Esther Marroquin" initials="" userId="S::kmarroq1@jh.edu::f62ef5c3-d3d4-481e-8edb-d79b24d96f79" providerId="AD"/>
  <p188:author id="{62E79B35-71FA-2819-25EF-EE2A1894182D}" name="Ezra Ju" initials="EJ" userId="S::eju5@jh.edu::e65be0bd-8bc0-4c2b-a146-4ca5ac38a4d9" providerId="AD"/>
  <p188:author id="{58822B91-ACB8-969B-428A-5C1C9D71DEE3}" name="Robinson Bui" initials="RB" userId="S::rbui1@jh.edu::57ef22f0-70fa-43ac-ae7d-e441cb16024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4E291"/>
    <a:srgbClr val="FFFFFF"/>
    <a:srgbClr val="156082"/>
    <a:srgbClr val="FF8437"/>
    <a:srgbClr val="FB7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79BF37-8E5D-CEAA-0FB5-75AAE2EAD9DC}" v="3" dt="2025-11-26T22:13:26.3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D749B-F969-714C-87CD-BF88C592A7C1}" type="datetimeFigureOut">
              <a:rPr lang="en-US" smtClean="0"/>
              <a:t>12/22/2025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863E2C-737A-5642-8202-F568569998C1}" type="slidenum">
              <a:rPr lang="en-US" smtClean="0"/>
              <a:t>‹#›</a:t>
            </a:fld>
            <a:endParaRPr lang="en-US"/>
          </a:p>
        </p:txBody>
      </p:sp>
    </p:spTree>
    <p:extLst>
      <p:ext uri="{BB962C8B-B14F-4D97-AF65-F5344CB8AC3E}">
        <p14:creationId xmlns:p14="http://schemas.microsoft.com/office/powerpoint/2010/main" val="448175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wasn’t used </a:t>
            </a:r>
          </a:p>
          <a:p>
            <a:r>
              <a:rPr lang="en-US"/>
              <a:t>- Main difference between Bessemer process and </a:t>
            </a:r>
            <a:r>
              <a:rPr lang="en-US" err="1"/>
              <a:t>ld</a:t>
            </a:r>
            <a:r>
              <a:rPr lang="en-US"/>
              <a:t> air vs oxygen, why </a:t>
            </a:r>
            <a:r>
              <a:rPr lang="en-US" err="1"/>
              <a:t>ld</a:t>
            </a:r>
            <a:r>
              <a:rPr lang="en-US"/>
              <a:t> was not possible and efficient until high purity oxygen became available and affordable in large quant</a:t>
            </a:r>
          </a:p>
          <a:p>
            <a:r>
              <a:rPr lang="en-US"/>
              <a:t>- But for the product of our process…</a:t>
            </a:r>
          </a:p>
        </p:txBody>
      </p:sp>
      <p:sp>
        <p:nvSpPr>
          <p:cNvPr id="4" name="Slide Number Placeholder 3"/>
          <p:cNvSpPr>
            <a:spLocks noGrp="1"/>
          </p:cNvSpPr>
          <p:nvPr>
            <p:ph type="sldNum" sz="quarter" idx="5"/>
          </p:nvPr>
        </p:nvSpPr>
        <p:spPr/>
        <p:txBody>
          <a:bodyPr/>
          <a:lstStyle/>
          <a:p>
            <a:fld id="{50863E2C-737A-5642-8202-F568569998C1}" type="slidenum">
              <a:rPr lang="en-US" smtClean="0"/>
              <a:t>4</a:t>
            </a:fld>
            <a:endParaRPr lang="en-US"/>
          </a:p>
        </p:txBody>
      </p:sp>
    </p:spTree>
    <p:extLst>
      <p:ext uri="{BB962C8B-B14F-4D97-AF65-F5344CB8AC3E}">
        <p14:creationId xmlns:p14="http://schemas.microsoft.com/office/powerpoint/2010/main" val="1675789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Some examples…</a:t>
            </a:r>
          </a:p>
          <a:p>
            <a:pPr marL="171450" indent="-171450">
              <a:buFontTx/>
              <a:buChar char="-"/>
            </a:pPr>
            <a:r>
              <a:rPr lang="en-US"/>
              <a:t>Recent studies University of Freiburg: Iberian peninsula, stelae on rocks that could only be chiseled by steel</a:t>
            </a:r>
          </a:p>
          <a:p>
            <a:pPr marL="171450" indent="-171450">
              <a:buFontTx/>
              <a:buChar char="-"/>
            </a:pPr>
            <a:r>
              <a:rPr lang="en-US"/>
              <a:t>Wootz steel later used as </a:t>
            </a:r>
            <a:r>
              <a:rPr lang="en-US" err="1"/>
              <a:t>lauching</a:t>
            </a:r>
            <a:r>
              <a:rPr lang="en-US"/>
              <a:t> point for Damascus steel</a:t>
            </a:r>
          </a:p>
          <a:p>
            <a:pPr marL="171450" indent="-171450">
              <a:buFontTx/>
              <a:buChar char="-"/>
            </a:pPr>
            <a:r>
              <a:rPr lang="en-US"/>
              <a:t>Song Dynasty in 1000 CE waterwheels superheating molten ore, relevant as </a:t>
            </a:r>
            <a:r>
              <a:rPr lang="en-US" err="1"/>
              <a:t>china</a:t>
            </a:r>
            <a:r>
              <a:rPr lang="en-US"/>
              <a:t> is now where the majority of desired product is made</a:t>
            </a:r>
          </a:p>
          <a:p>
            <a:pPr marL="171450" indent="-171450">
              <a:buFontTx/>
              <a:buChar char="-"/>
            </a:pPr>
            <a:r>
              <a:rPr lang="en-US"/>
              <a:t>What steel is our desired product…</a:t>
            </a:r>
          </a:p>
        </p:txBody>
      </p:sp>
      <p:sp>
        <p:nvSpPr>
          <p:cNvPr id="4" name="Slide Number Placeholder 3"/>
          <p:cNvSpPr>
            <a:spLocks noGrp="1"/>
          </p:cNvSpPr>
          <p:nvPr>
            <p:ph type="sldNum" sz="quarter" idx="5"/>
          </p:nvPr>
        </p:nvSpPr>
        <p:spPr/>
        <p:txBody>
          <a:bodyPr/>
          <a:lstStyle/>
          <a:p>
            <a:fld id="{50863E2C-737A-5642-8202-F568569998C1}" type="slidenum">
              <a:rPr lang="en-US" smtClean="0"/>
              <a:t>5</a:t>
            </a:fld>
            <a:endParaRPr lang="en-US"/>
          </a:p>
        </p:txBody>
      </p:sp>
    </p:spTree>
    <p:extLst>
      <p:ext uri="{BB962C8B-B14F-4D97-AF65-F5344CB8AC3E}">
        <p14:creationId xmlns:p14="http://schemas.microsoft.com/office/powerpoint/2010/main" val="1082963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If interested the typical percent compositions below % comps</a:t>
            </a:r>
          </a:p>
          <a:p>
            <a:pPr marL="171450" indent="-171450">
              <a:buFontTx/>
              <a:buChar char="-"/>
            </a:pPr>
            <a:r>
              <a:rPr lang="en-US"/>
              <a:t>Will resist under continuous 425-860°C</a:t>
            </a:r>
          </a:p>
          <a:p>
            <a:pPr marL="171450" indent="-171450">
              <a:buFontTx/>
              <a:buChar char="-"/>
            </a:pPr>
            <a:r>
              <a:rPr lang="en-US"/>
              <a:t>- talk </a:t>
            </a:r>
            <a:r>
              <a:rPr lang="en-US" err="1"/>
              <a:t>abt</a:t>
            </a:r>
            <a:r>
              <a:rPr lang="en-US"/>
              <a:t> </a:t>
            </a:r>
          </a:p>
          <a:p>
            <a:r>
              <a:rPr lang="en-US" sz="1200" b="1" i="0" u="none" strike="noStrike" kern="1200">
                <a:solidFill>
                  <a:schemeClr val="tx1"/>
                </a:solidFill>
                <a:effectLst/>
                <a:latin typeface="+mn-lt"/>
                <a:ea typeface="+mn-ea"/>
                <a:cs typeface="+mn-cs"/>
              </a:rPr>
              <a:t>Chemical &amp; Pharmaceutical Industry</a:t>
            </a:r>
            <a:r>
              <a:rPr lang="en-US" sz="1200" b="0" i="0" u="none" strike="noStrike" kern="1200">
                <a:solidFill>
                  <a:schemeClr val="tx1"/>
                </a:solidFill>
                <a:effectLst/>
                <a:latin typeface="+mn-lt"/>
                <a:ea typeface="+mn-ea"/>
                <a:cs typeface="+mn-cs"/>
              </a:rPr>
              <a:t>: Used in </a:t>
            </a:r>
            <a:r>
              <a:rPr lang="en-US" sz="1200" b="1" i="0" u="none" strike="noStrike" kern="1200">
                <a:solidFill>
                  <a:schemeClr val="tx1"/>
                </a:solidFill>
                <a:effectLst/>
                <a:latin typeface="+mn-lt"/>
                <a:ea typeface="+mn-ea"/>
                <a:cs typeface="+mn-cs"/>
              </a:rPr>
              <a:t>chemical tanks, processing equipment, and piping</a:t>
            </a:r>
            <a:r>
              <a:rPr lang="en-US" sz="1200" b="0" i="0" u="none" strike="noStrike" kern="1200">
                <a:solidFill>
                  <a:schemeClr val="tx1"/>
                </a:solidFill>
                <a:effectLst/>
                <a:latin typeface="+mn-lt"/>
                <a:ea typeface="+mn-ea"/>
                <a:cs typeface="+mn-cs"/>
              </a:rPr>
              <a:t> due to its resistance to corrosive chemicals.</a:t>
            </a:r>
          </a:p>
          <a:p>
            <a:r>
              <a:rPr lang="en-US" sz="1200" b="1" i="0" u="none" strike="noStrike" kern="1200">
                <a:solidFill>
                  <a:schemeClr val="tx1"/>
                </a:solidFill>
                <a:effectLst/>
                <a:latin typeface="+mn-lt"/>
                <a:ea typeface="+mn-ea"/>
                <a:cs typeface="+mn-cs"/>
              </a:rPr>
              <a:t>Marine Applications</a:t>
            </a:r>
            <a:r>
              <a:rPr lang="en-US" sz="1200" b="0" i="0" u="none" strike="noStrike" kern="1200">
                <a:solidFill>
                  <a:schemeClr val="tx1"/>
                </a:solidFill>
                <a:effectLst/>
                <a:latin typeface="+mn-lt"/>
                <a:ea typeface="+mn-ea"/>
                <a:cs typeface="+mn-cs"/>
              </a:rPr>
              <a:t>: Ideal for </a:t>
            </a:r>
            <a:r>
              <a:rPr lang="en-US" sz="1200" b="1" i="0" u="none" strike="noStrike" kern="1200">
                <a:solidFill>
                  <a:schemeClr val="tx1"/>
                </a:solidFill>
                <a:effectLst/>
                <a:latin typeface="+mn-lt"/>
                <a:ea typeface="+mn-ea"/>
                <a:cs typeface="+mn-cs"/>
              </a:rPr>
              <a:t>shipbuilding, offshore platforms, and coastal structures</a:t>
            </a:r>
            <a:r>
              <a:rPr lang="en-US" sz="1200" b="0" i="0" u="none" strike="noStrike" kern="1200">
                <a:solidFill>
                  <a:schemeClr val="tx1"/>
                </a:solidFill>
                <a:effectLst/>
                <a:latin typeface="+mn-lt"/>
                <a:ea typeface="+mn-ea"/>
                <a:cs typeface="+mn-cs"/>
              </a:rPr>
              <a:t> because of its ability to withstand salty environments.</a:t>
            </a:r>
          </a:p>
          <a:p>
            <a:r>
              <a:rPr lang="en-US" sz="1200" b="1" i="0" u="none" strike="noStrike" kern="1200">
                <a:solidFill>
                  <a:schemeClr val="tx1"/>
                </a:solidFill>
                <a:effectLst/>
                <a:latin typeface="+mn-lt"/>
                <a:ea typeface="+mn-ea"/>
                <a:cs typeface="+mn-cs"/>
              </a:rPr>
              <a:t>Medical Industry</a:t>
            </a:r>
            <a:r>
              <a:rPr lang="en-US" sz="1200" b="0" i="0" u="none" strike="noStrike" kern="1200">
                <a:solidFill>
                  <a:schemeClr val="tx1"/>
                </a:solidFill>
                <a:effectLst/>
                <a:latin typeface="+mn-lt"/>
                <a:ea typeface="+mn-ea"/>
                <a:cs typeface="+mn-cs"/>
              </a:rPr>
              <a:t>: Found in </a:t>
            </a:r>
            <a:r>
              <a:rPr lang="en-US" sz="1200" b="1" i="0" u="none" strike="noStrike" kern="1200">
                <a:solidFill>
                  <a:schemeClr val="tx1"/>
                </a:solidFill>
                <a:effectLst/>
                <a:latin typeface="+mn-lt"/>
                <a:ea typeface="+mn-ea"/>
                <a:cs typeface="+mn-cs"/>
              </a:rPr>
              <a:t>surgical instruments and implants</a:t>
            </a:r>
            <a:r>
              <a:rPr lang="en-US" sz="1200" b="0" i="0" u="none" strike="noStrike" kern="1200">
                <a:solidFill>
                  <a:schemeClr val="tx1"/>
                </a:solidFill>
                <a:effectLst/>
                <a:latin typeface="+mn-lt"/>
                <a:ea typeface="+mn-ea"/>
                <a:cs typeface="+mn-cs"/>
              </a:rPr>
              <a:t> due to its biocompatibility and resistance to body fluids.</a:t>
            </a:r>
          </a:p>
          <a:p>
            <a:r>
              <a:rPr lang="en-US" sz="1200" b="1" i="0" u="none" strike="noStrike" kern="1200">
                <a:solidFill>
                  <a:schemeClr val="tx1"/>
                </a:solidFill>
                <a:effectLst/>
                <a:latin typeface="+mn-lt"/>
                <a:ea typeface="+mn-ea"/>
                <a:cs typeface="+mn-cs"/>
              </a:rPr>
              <a:t>Food &amp; Beverage Industry</a:t>
            </a:r>
            <a:r>
              <a:rPr lang="en-US" sz="1200" b="0" i="0" u="none" strike="noStrike" kern="1200">
                <a:solidFill>
                  <a:schemeClr val="tx1"/>
                </a:solidFill>
                <a:effectLst/>
                <a:latin typeface="+mn-lt"/>
                <a:ea typeface="+mn-ea"/>
                <a:cs typeface="+mn-cs"/>
              </a:rPr>
              <a:t>: Used in </a:t>
            </a:r>
            <a:r>
              <a:rPr lang="en-US" sz="1200" b="1" i="0" u="none" strike="noStrike" kern="1200">
                <a:solidFill>
                  <a:schemeClr val="tx1"/>
                </a:solidFill>
                <a:effectLst/>
                <a:latin typeface="+mn-lt"/>
                <a:ea typeface="+mn-ea"/>
                <a:cs typeface="+mn-cs"/>
              </a:rPr>
              <a:t>processing equipment, storage tanks, and kitchen appliances</a:t>
            </a:r>
            <a:r>
              <a:rPr lang="en-US" sz="1200" b="0" i="0" u="none" strike="noStrike" kern="1200">
                <a:solidFill>
                  <a:schemeClr val="tx1"/>
                </a:solidFill>
                <a:effectLst/>
                <a:latin typeface="+mn-lt"/>
                <a:ea typeface="+mn-ea"/>
                <a:cs typeface="+mn-cs"/>
              </a:rPr>
              <a:t> for its hygienic properties.</a:t>
            </a:r>
          </a:p>
          <a:p>
            <a:r>
              <a:rPr lang="en-US" sz="1200" b="1" i="0" u="none" strike="noStrike" kern="1200">
                <a:solidFill>
                  <a:schemeClr val="tx1"/>
                </a:solidFill>
                <a:effectLst/>
                <a:latin typeface="+mn-lt"/>
                <a:ea typeface="+mn-ea"/>
                <a:cs typeface="+mn-cs"/>
              </a:rPr>
              <a:t>Automotive &amp; Aerospace</a:t>
            </a:r>
            <a:r>
              <a:rPr lang="en-US" sz="1200" b="0" i="0" u="none" strike="noStrike" kern="1200">
                <a:solidFill>
                  <a:schemeClr val="tx1"/>
                </a:solidFill>
                <a:effectLst/>
                <a:latin typeface="+mn-lt"/>
                <a:ea typeface="+mn-ea"/>
                <a:cs typeface="+mn-cs"/>
              </a:rPr>
              <a:t>: Components like </a:t>
            </a:r>
            <a:r>
              <a:rPr lang="en-US" sz="1200" b="1" i="0" u="none" strike="noStrike" kern="1200">
                <a:solidFill>
                  <a:schemeClr val="tx1"/>
                </a:solidFill>
                <a:effectLst/>
                <a:latin typeface="+mn-lt"/>
                <a:ea typeface="+mn-ea"/>
                <a:cs typeface="+mn-cs"/>
              </a:rPr>
              <a:t>exhaust systems and aircraft fittings</a:t>
            </a:r>
            <a:r>
              <a:rPr lang="en-US" sz="1200" b="0" i="0" u="none" strike="noStrike" kern="1200">
                <a:solidFill>
                  <a:schemeClr val="tx1"/>
                </a:solidFill>
                <a:effectLst/>
                <a:latin typeface="+mn-lt"/>
                <a:ea typeface="+mn-ea"/>
                <a:cs typeface="+mn-cs"/>
              </a:rPr>
              <a:t> benefit from its heat resistance and durability.</a:t>
            </a:r>
          </a:p>
          <a:p>
            <a:pPr marL="171450" indent="-171450">
              <a:buFontTx/>
              <a:buChar char="-"/>
            </a:pPr>
            <a:endParaRPr lang="en-US"/>
          </a:p>
          <a:p>
            <a:pPr marL="171450" indent="-171450">
              <a:buFontTx/>
              <a:buChar char="-"/>
            </a:pPr>
            <a:endParaRPr lang="en-US"/>
          </a:p>
        </p:txBody>
      </p:sp>
      <p:sp>
        <p:nvSpPr>
          <p:cNvPr id="4" name="Slide Number Placeholder 3"/>
          <p:cNvSpPr>
            <a:spLocks noGrp="1"/>
          </p:cNvSpPr>
          <p:nvPr>
            <p:ph type="sldNum" sz="quarter" idx="5"/>
          </p:nvPr>
        </p:nvSpPr>
        <p:spPr/>
        <p:txBody>
          <a:bodyPr/>
          <a:lstStyle/>
          <a:p>
            <a:fld id="{50863E2C-737A-5642-8202-F568569998C1}" type="slidenum">
              <a:rPr lang="en-US" smtClean="0"/>
              <a:t>6</a:t>
            </a:fld>
            <a:endParaRPr lang="en-US"/>
          </a:p>
        </p:txBody>
      </p:sp>
    </p:spTree>
    <p:extLst>
      <p:ext uri="{BB962C8B-B14F-4D97-AF65-F5344CB8AC3E}">
        <p14:creationId xmlns:p14="http://schemas.microsoft.com/office/powerpoint/2010/main" val="4084501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863E2C-737A-5642-8202-F568569998C1}" type="slidenum">
              <a:rPr lang="en-US" smtClean="0"/>
              <a:t>10</a:t>
            </a:fld>
            <a:endParaRPr lang="en-US"/>
          </a:p>
        </p:txBody>
      </p:sp>
    </p:spTree>
    <p:extLst>
      <p:ext uri="{BB962C8B-B14F-4D97-AF65-F5344CB8AC3E}">
        <p14:creationId xmlns:p14="http://schemas.microsoft.com/office/powerpoint/2010/main" val="2432925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863E2C-737A-5642-8202-F568569998C1}" type="slidenum">
              <a:rPr lang="en-US" smtClean="0"/>
              <a:t>11</a:t>
            </a:fld>
            <a:endParaRPr lang="en-US"/>
          </a:p>
        </p:txBody>
      </p:sp>
    </p:spTree>
    <p:extLst>
      <p:ext uri="{BB962C8B-B14F-4D97-AF65-F5344CB8AC3E}">
        <p14:creationId xmlns:p14="http://schemas.microsoft.com/office/powerpoint/2010/main" val="1284975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calculated the first pass conversion of each impurity using this chart. Values on the chart were eyeballed and worked with</a:t>
            </a:r>
          </a:p>
        </p:txBody>
      </p:sp>
      <p:sp>
        <p:nvSpPr>
          <p:cNvPr id="4" name="Slide Number Placeholder 3"/>
          <p:cNvSpPr>
            <a:spLocks noGrp="1"/>
          </p:cNvSpPr>
          <p:nvPr>
            <p:ph type="sldNum" sz="quarter" idx="5"/>
          </p:nvPr>
        </p:nvSpPr>
        <p:spPr/>
        <p:txBody>
          <a:bodyPr/>
          <a:lstStyle/>
          <a:p>
            <a:fld id="{50863E2C-737A-5642-8202-F568569998C1}" type="slidenum">
              <a:rPr lang="en-US" smtClean="0"/>
              <a:t>12</a:t>
            </a:fld>
            <a:endParaRPr lang="en-US"/>
          </a:p>
        </p:txBody>
      </p:sp>
    </p:spTree>
    <p:extLst>
      <p:ext uri="{BB962C8B-B14F-4D97-AF65-F5344CB8AC3E}">
        <p14:creationId xmlns:p14="http://schemas.microsoft.com/office/powerpoint/2010/main" val="3722548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are these curves?</a:t>
            </a:r>
          </a:p>
        </p:txBody>
      </p:sp>
      <p:sp>
        <p:nvSpPr>
          <p:cNvPr id="4" name="Slide Number Placeholder 3"/>
          <p:cNvSpPr>
            <a:spLocks noGrp="1"/>
          </p:cNvSpPr>
          <p:nvPr>
            <p:ph type="sldNum" sz="quarter" idx="5"/>
          </p:nvPr>
        </p:nvSpPr>
        <p:spPr/>
        <p:txBody>
          <a:bodyPr/>
          <a:lstStyle/>
          <a:p>
            <a:fld id="{50863E2C-737A-5642-8202-F568569998C1}" type="slidenum">
              <a:rPr lang="en-US" smtClean="0"/>
              <a:t>14</a:t>
            </a:fld>
            <a:endParaRPr lang="en-US"/>
          </a:p>
        </p:txBody>
      </p:sp>
    </p:spTree>
    <p:extLst>
      <p:ext uri="{BB962C8B-B14F-4D97-AF65-F5344CB8AC3E}">
        <p14:creationId xmlns:p14="http://schemas.microsoft.com/office/powerpoint/2010/main" val="1593346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 leaving this to Logan / Ezra; Aspen and/or by hand calculations</a:t>
            </a:r>
          </a:p>
        </p:txBody>
      </p:sp>
      <p:sp>
        <p:nvSpPr>
          <p:cNvPr id="4" name="Slide Number Placeholder 3"/>
          <p:cNvSpPr>
            <a:spLocks noGrp="1"/>
          </p:cNvSpPr>
          <p:nvPr>
            <p:ph type="sldNum" sz="quarter" idx="5"/>
          </p:nvPr>
        </p:nvSpPr>
        <p:spPr/>
        <p:txBody>
          <a:bodyPr/>
          <a:lstStyle/>
          <a:p>
            <a:fld id="{50863E2C-737A-5642-8202-F568569998C1}" type="slidenum">
              <a:rPr lang="en-US" smtClean="0"/>
              <a:t>16</a:t>
            </a:fld>
            <a:endParaRPr lang="en-US"/>
          </a:p>
        </p:txBody>
      </p:sp>
    </p:spTree>
    <p:extLst>
      <p:ext uri="{BB962C8B-B14F-4D97-AF65-F5344CB8AC3E}">
        <p14:creationId xmlns:p14="http://schemas.microsoft.com/office/powerpoint/2010/main" val="262473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BAC70-56A2-2CFF-362B-1DC980BA70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F366E-289E-0342-3645-F4381ACBA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5FDAE-96D1-748D-9E81-8E0ECC4A6438}"/>
              </a:ext>
            </a:extLst>
          </p:cNvPr>
          <p:cNvSpPr>
            <a:spLocks noGrp="1"/>
          </p:cNvSpPr>
          <p:nvPr>
            <p:ph type="body" idx="1"/>
          </p:nvPr>
        </p:nvSpPr>
        <p:spPr/>
        <p:txBody>
          <a:bodyPr/>
          <a:lstStyle/>
          <a:p>
            <a:r>
              <a:rPr lang="en-US"/>
              <a:t>Am leaving this to Logan / Ezra; Aspen and/or by hand calculations</a:t>
            </a:r>
          </a:p>
        </p:txBody>
      </p:sp>
      <p:sp>
        <p:nvSpPr>
          <p:cNvPr id="4" name="Slide Number Placeholder 3">
            <a:extLst>
              <a:ext uri="{FF2B5EF4-FFF2-40B4-BE49-F238E27FC236}">
                <a16:creationId xmlns:a16="http://schemas.microsoft.com/office/drawing/2014/main" id="{F9A05B16-015F-333F-DA31-2EC6516F566A}"/>
              </a:ext>
            </a:extLst>
          </p:cNvPr>
          <p:cNvSpPr>
            <a:spLocks noGrp="1"/>
          </p:cNvSpPr>
          <p:nvPr>
            <p:ph type="sldNum" sz="quarter" idx="5"/>
          </p:nvPr>
        </p:nvSpPr>
        <p:spPr/>
        <p:txBody>
          <a:bodyPr/>
          <a:lstStyle/>
          <a:p>
            <a:fld id="{50863E2C-737A-5642-8202-F568569998C1}" type="slidenum">
              <a:rPr lang="en-US" smtClean="0"/>
              <a:t>20</a:t>
            </a:fld>
            <a:endParaRPr lang="en-US"/>
          </a:p>
        </p:txBody>
      </p:sp>
    </p:spTree>
    <p:extLst>
      <p:ext uri="{BB962C8B-B14F-4D97-AF65-F5344CB8AC3E}">
        <p14:creationId xmlns:p14="http://schemas.microsoft.com/office/powerpoint/2010/main" val="3646862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863E2C-737A-5642-8202-F568569998C1}" type="slidenum">
              <a:rPr lang="en-US" smtClean="0"/>
              <a:t>25</a:t>
            </a:fld>
            <a:endParaRPr lang="en-US"/>
          </a:p>
        </p:txBody>
      </p:sp>
    </p:spTree>
    <p:extLst>
      <p:ext uri="{BB962C8B-B14F-4D97-AF65-F5344CB8AC3E}">
        <p14:creationId xmlns:p14="http://schemas.microsoft.com/office/powerpoint/2010/main" val="1134286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66C53-1652-BF80-4A03-0B49EB9AC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12C6D-C92F-2E0D-EC39-AFF12C6F4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FDEAF-470D-C7E0-E759-4D1C388FFF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B914D3-68F0-16FE-7725-691338589AFD}"/>
              </a:ext>
            </a:extLst>
          </p:cNvPr>
          <p:cNvSpPr>
            <a:spLocks noGrp="1"/>
          </p:cNvSpPr>
          <p:nvPr>
            <p:ph type="sldNum" sz="quarter" idx="5"/>
          </p:nvPr>
        </p:nvSpPr>
        <p:spPr/>
        <p:txBody>
          <a:bodyPr/>
          <a:lstStyle/>
          <a:p>
            <a:fld id="{50863E2C-737A-5642-8202-F568569998C1}" type="slidenum">
              <a:rPr lang="en-US" smtClean="0"/>
              <a:t>26</a:t>
            </a:fld>
            <a:endParaRPr lang="en-US"/>
          </a:p>
        </p:txBody>
      </p:sp>
    </p:spTree>
    <p:extLst>
      <p:ext uri="{BB962C8B-B14F-4D97-AF65-F5344CB8AC3E}">
        <p14:creationId xmlns:p14="http://schemas.microsoft.com/office/powerpoint/2010/main" val="3612520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6BF01-A326-F0F1-BED1-AB9A236B9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44F68-B627-77D6-E6A5-F8B43846D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F1373-4172-476A-5EA4-92B996A8DDD1}"/>
              </a:ext>
            </a:extLst>
          </p:cNvPr>
          <p:cNvSpPr>
            <a:spLocks noGrp="1"/>
          </p:cNvSpPr>
          <p:nvPr>
            <p:ph type="body" idx="1"/>
          </p:nvPr>
        </p:nvSpPr>
        <p:spPr/>
        <p:txBody>
          <a:bodyPr/>
          <a:lstStyle/>
          <a:p>
            <a:r>
              <a:rPr lang="en-US"/>
              <a:t>Point this out briefly</a:t>
            </a:r>
          </a:p>
        </p:txBody>
      </p:sp>
      <p:sp>
        <p:nvSpPr>
          <p:cNvPr id="4" name="Slide Number Placeholder 3">
            <a:extLst>
              <a:ext uri="{FF2B5EF4-FFF2-40B4-BE49-F238E27FC236}">
                <a16:creationId xmlns:a16="http://schemas.microsoft.com/office/drawing/2014/main" id="{24DAD0CE-727E-AF16-901C-7CBEE221708A}"/>
              </a:ext>
            </a:extLst>
          </p:cNvPr>
          <p:cNvSpPr>
            <a:spLocks noGrp="1"/>
          </p:cNvSpPr>
          <p:nvPr>
            <p:ph type="sldNum" sz="quarter" idx="5"/>
          </p:nvPr>
        </p:nvSpPr>
        <p:spPr/>
        <p:txBody>
          <a:bodyPr/>
          <a:lstStyle/>
          <a:p>
            <a:fld id="{50863E2C-737A-5642-8202-F568569998C1}" type="slidenum">
              <a:rPr lang="en-US" smtClean="0"/>
              <a:t>27</a:t>
            </a:fld>
            <a:endParaRPr lang="en-US"/>
          </a:p>
        </p:txBody>
      </p:sp>
    </p:spTree>
    <p:extLst>
      <p:ext uri="{BB962C8B-B14F-4D97-AF65-F5344CB8AC3E}">
        <p14:creationId xmlns:p14="http://schemas.microsoft.com/office/powerpoint/2010/main" val="1259229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0863E2C-737A-5642-8202-F568569998C1}" type="slidenum">
              <a:rPr lang="en-US" smtClean="0"/>
              <a:t>29</a:t>
            </a:fld>
            <a:endParaRPr lang="en-US"/>
          </a:p>
        </p:txBody>
      </p:sp>
    </p:spTree>
    <p:extLst>
      <p:ext uri="{BB962C8B-B14F-4D97-AF65-F5344CB8AC3E}">
        <p14:creationId xmlns:p14="http://schemas.microsoft.com/office/powerpoint/2010/main" val="3196763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C8453-0295-1EA6-A3FE-ABE1DB2F0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842B0-FA32-4AB2-E47B-DDC6E1584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1A7DD-119A-B38C-F2E3-09CEF2C09053}"/>
              </a:ext>
            </a:extLst>
          </p:cNvPr>
          <p:cNvSpPr>
            <a:spLocks noGrp="1"/>
          </p:cNvSpPr>
          <p:nvPr>
            <p:ph type="body" idx="1"/>
          </p:nvPr>
        </p:nvSpPr>
        <p:spPr/>
        <p:txBody>
          <a:bodyPr/>
          <a:lstStyle/>
          <a:p>
            <a:r>
              <a:rPr lang="en-US"/>
              <a:t>Am leaving this to Logan / Ezra; Aspen and/or by hand calculations</a:t>
            </a:r>
          </a:p>
        </p:txBody>
      </p:sp>
      <p:sp>
        <p:nvSpPr>
          <p:cNvPr id="4" name="Slide Number Placeholder 3">
            <a:extLst>
              <a:ext uri="{FF2B5EF4-FFF2-40B4-BE49-F238E27FC236}">
                <a16:creationId xmlns:a16="http://schemas.microsoft.com/office/drawing/2014/main" id="{3FF05BE1-33D8-2631-0C96-78B0F2491A6D}"/>
              </a:ext>
            </a:extLst>
          </p:cNvPr>
          <p:cNvSpPr>
            <a:spLocks noGrp="1"/>
          </p:cNvSpPr>
          <p:nvPr>
            <p:ph type="sldNum" sz="quarter" idx="5"/>
          </p:nvPr>
        </p:nvSpPr>
        <p:spPr/>
        <p:txBody>
          <a:bodyPr/>
          <a:lstStyle/>
          <a:p>
            <a:fld id="{50863E2C-737A-5642-8202-F568569998C1}" type="slidenum">
              <a:rPr lang="en-US" smtClean="0"/>
              <a:t>30</a:t>
            </a:fld>
            <a:endParaRPr lang="en-US"/>
          </a:p>
        </p:txBody>
      </p:sp>
    </p:spTree>
    <p:extLst>
      <p:ext uri="{BB962C8B-B14F-4D97-AF65-F5344CB8AC3E}">
        <p14:creationId xmlns:p14="http://schemas.microsoft.com/office/powerpoint/2010/main" val="3566126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018FD-8759-D074-D24D-F6A124E5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3967D-F71D-D825-7120-686409801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EFCD8-F2D0-329B-741B-5B9F7AC94E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970B27-5817-ABF5-8DC2-89EEEB90BAF8}"/>
              </a:ext>
            </a:extLst>
          </p:cNvPr>
          <p:cNvSpPr>
            <a:spLocks noGrp="1"/>
          </p:cNvSpPr>
          <p:nvPr>
            <p:ph type="sldNum" sz="quarter" idx="5"/>
          </p:nvPr>
        </p:nvSpPr>
        <p:spPr/>
        <p:txBody>
          <a:bodyPr/>
          <a:lstStyle/>
          <a:p>
            <a:fld id="{50863E2C-737A-5642-8202-F568569998C1}" type="slidenum">
              <a:rPr lang="en-US" smtClean="0"/>
              <a:t>31</a:t>
            </a:fld>
            <a:endParaRPr lang="en-US"/>
          </a:p>
        </p:txBody>
      </p:sp>
    </p:spTree>
    <p:extLst>
      <p:ext uri="{BB962C8B-B14F-4D97-AF65-F5344CB8AC3E}">
        <p14:creationId xmlns:p14="http://schemas.microsoft.com/office/powerpoint/2010/main" val="3285304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F33A2-3507-67CE-8838-1224BAAB1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3EFF5-AF28-61CF-4DFD-041CA7855A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3FA55-E498-A227-A1C3-89C28BD7EE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BD4FE7-BCB8-30C0-3D0A-39E68401C7A0}"/>
              </a:ext>
            </a:extLst>
          </p:cNvPr>
          <p:cNvSpPr>
            <a:spLocks noGrp="1"/>
          </p:cNvSpPr>
          <p:nvPr>
            <p:ph type="sldNum" sz="quarter" idx="5"/>
          </p:nvPr>
        </p:nvSpPr>
        <p:spPr/>
        <p:txBody>
          <a:bodyPr/>
          <a:lstStyle/>
          <a:p>
            <a:fld id="{50863E2C-737A-5642-8202-F568569998C1}" type="slidenum">
              <a:rPr lang="en-US" smtClean="0"/>
              <a:t>32</a:t>
            </a:fld>
            <a:endParaRPr lang="en-US"/>
          </a:p>
        </p:txBody>
      </p:sp>
    </p:spTree>
    <p:extLst>
      <p:ext uri="{BB962C8B-B14F-4D97-AF65-F5344CB8AC3E}">
        <p14:creationId xmlns:p14="http://schemas.microsoft.com/office/powerpoint/2010/main" val="4152495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0092D-1148-693C-4429-6EABEB634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EAEB9-458D-6C05-101B-4FDFE91684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972D4-1770-E714-0B40-61E08703D6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017116-EFDD-4C48-9CBD-7520DC06C8FA}"/>
              </a:ext>
            </a:extLst>
          </p:cNvPr>
          <p:cNvSpPr>
            <a:spLocks noGrp="1"/>
          </p:cNvSpPr>
          <p:nvPr>
            <p:ph type="sldNum" sz="quarter" idx="5"/>
          </p:nvPr>
        </p:nvSpPr>
        <p:spPr/>
        <p:txBody>
          <a:bodyPr/>
          <a:lstStyle/>
          <a:p>
            <a:fld id="{50863E2C-737A-5642-8202-F568569998C1}" type="slidenum">
              <a:rPr lang="en-US" smtClean="0"/>
              <a:t>33</a:t>
            </a:fld>
            <a:endParaRPr lang="en-US"/>
          </a:p>
        </p:txBody>
      </p:sp>
    </p:spTree>
    <p:extLst>
      <p:ext uri="{BB962C8B-B14F-4D97-AF65-F5344CB8AC3E}">
        <p14:creationId xmlns:p14="http://schemas.microsoft.com/office/powerpoint/2010/main" val="39173505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F04DB-FD8D-26A5-9E1F-D0EF069D6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CC6C7-7099-9EB5-B944-65F1CBB95B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8A8D3-25AA-E0F7-7FAD-C4BBB8F008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DFF6ED-DC66-F540-8C71-BC8D14567D48}"/>
              </a:ext>
            </a:extLst>
          </p:cNvPr>
          <p:cNvSpPr>
            <a:spLocks noGrp="1"/>
          </p:cNvSpPr>
          <p:nvPr>
            <p:ph type="sldNum" sz="quarter" idx="5"/>
          </p:nvPr>
        </p:nvSpPr>
        <p:spPr/>
        <p:txBody>
          <a:bodyPr/>
          <a:lstStyle/>
          <a:p>
            <a:fld id="{50863E2C-737A-5642-8202-F568569998C1}" type="slidenum">
              <a:rPr lang="en-US" smtClean="0"/>
              <a:t>34</a:t>
            </a:fld>
            <a:endParaRPr lang="en-US"/>
          </a:p>
        </p:txBody>
      </p:sp>
    </p:spTree>
    <p:extLst>
      <p:ext uri="{BB962C8B-B14F-4D97-AF65-F5344CB8AC3E}">
        <p14:creationId xmlns:p14="http://schemas.microsoft.com/office/powerpoint/2010/main" val="1499802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C223F-4B57-BDE2-FFA5-09490CD07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8D0E3-07CF-0F70-97E5-5B0D6FB8D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F7133-9390-15B8-5159-6A38DB2237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It doesn’t make sense for us to have an atom economy because the reactions are only purifying the already created iron. We are also making an alloy which is just mixing. Like think about trail mix </a:t>
            </a:r>
          </a:p>
          <a:p>
            <a:endParaRPr lang="en-US"/>
          </a:p>
          <a:p>
            <a:r>
              <a:rPr lang="en-US" b="1"/>
              <a:t>Atom economy tells us how efficiently the atoms from our reactants end up in the final SS316 product. We start with pig iron, oxygen, lime, and pure alloying metals. But not all of those atoms make it into the steel—many go into slag or off-gas when impurities like Si, Mn, P, S, and carbon are removed.</a:t>
            </a:r>
            <a:endParaRPr lang="en-US"/>
          </a:p>
          <a:p>
            <a:r>
              <a:rPr lang="en-US" b="1"/>
              <a:t>Because steelmaking requires oxidation and impurity removal, a large fraction of atoms must leave the system, which inherently lowers atom economy. So AE gives us the theoretical chemical efficiency of the process, independent of cost or real operational losses.</a:t>
            </a:r>
            <a:endParaRPr lang="en-US"/>
          </a:p>
          <a:p>
            <a:endParaRPr lang="en-US"/>
          </a:p>
        </p:txBody>
      </p:sp>
      <p:sp>
        <p:nvSpPr>
          <p:cNvPr id="4" name="Slide Number Placeholder 3">
            <a:extLst>
              <a:ext uri="{FF2B5EF4-FFF2-40B4-BE49-F238E27FC236}">
                <a16:creationId xmlns:a16="http://schemas.microsoft.com/office/drawing/2014/main" id="{6990C049-40C1-C1FD-5DA0-52EB66FABD95}"/>
              </a:ext>
            </a:extLst>
          </p:cNvPr>
          <p:cNvSpPr>
            <a:spLocks noGrp="1"/>
          </p:cNvSpPr>
          <p:nvPr>
            <p:ph type="sldNum" sz="quarter" idx="5"/>
          </p:nvPr>
        </p:nvSpPr>
        <p:spPr/>
        <p:txBody>
          <a:bodyPr/>
          <a:lstStyle/>
          <a:p>
            <a:fld id="{50863E2C-737A-5642-8202-F568569998C1}" type="slidenum">
              <a:rPr lang="en-US" smtClean="0"/>
              <a:t>36</a:t>
            </a:fld>
            <a:endParaRPr lang="en-US"/>
          </a:p>
        </p:txBody>
      </p:sp>
    </p:spTree>
    <p:extLst>
      <p:ext uri="{BB962C8B-B14F-4D97-AF65-F5344CB8AC3E}">
        <p14:creationId xmlns:p14="http://schemas.microsoft.com/office/powerpoint/2010/main" val="4093640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Process economy looks at real industrial efficiency—how much of our input materials and costs are converted into sellable SS316. It includes everything atom economy does not: slag generation, purge losses, alloy costs, oxygen use, and the recycle ratio.</a:t>
            </a:r>
            <a:endParaRPr lang="en-US"/>
          </a:p>
          <a:p>
            <a:r>
              <a:rPr lang="en-US" b="1"/>
              <a:t>Here, SS316 is the main revenue stream, while slag has minimal value. PE tells us how profitable and efficient the actual BOF and alloying process is, rather than how efficient it is on paper.</a:t>
            </a:r>
            <a:endParaRPr lang="en-US"/>
          </a:p>
          <a:p>
            <a:endParaRPr lang="en-US"/>
          </a:p>
          <a:p>
            <a:r>
              <a:rPr lang="en-US"/>
              <a:t>But because of our location we are able to sell the slag to neighboring places so we are also able to make a profit from it. Which we will go over in a bit. </a:t>
            </a:r>
          </a:p>
        </p:txBody>
      </p:sp>
      <p:sp>
        <p:nvSpPr>
          <p:cNvPr id="4" name="Slide Number Placeholder 3"/>
          <p:cNvSpPr>
            <a:spLocks noGrp="1"/>
          </p:cNvSpPr>
          <p:nvPr>
            <p:ph type="sldNum" sz="quarter" idx="5"/>
          </p:nvPr>
        </p:nvSpPr>
        <p:spPr/>
        <p:txBody>
          <a:bodyPr/>
          <a:lstStyle/>
          <a:p>
            <a:fld id="{50863E2C-737A-5642-8202-F568569998C1}" type="slidenum">
              <a:rPr lang="en-US" smtClean="0"/>
              <a:t>37</a:t>
            </a:fld>
            <a:endParaRPr lang="en-US"/>
          </a:p>
        </p:txBody>
      </p:sp>
    </p:spTree>
    <p:extLst>
      <p:ext uri="{BB962C8B-B14F-4D97-AF65-F5344CB8AC3E}">
        <p14:creationId xmlns:p14="http://schemas.microsoft.com/office/powerpoint/2010/main" val="2732442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latin typeface="Calibri"/>
                <a:ea typeface="Calibri"/>
                <a:cs typeface="Calibri"/>
              </a:rPr>
              <a:t>Lower costs for raw materials</a:t>
            </a:r>
          </a:p>
          <a:p>
            <a:pPr marL="628650" lvl="1" indent="-171450">
              <a:buFont typeface="Courier New"/>
              <a:buChar char="o"/>
            </a:pPr>
            <a:r>
              <a:rPr lang="en-US">
                <a:latin typeface="Calibri"/>
                <a:ea typeface="Calibri"/>
                <a:cs typeface="Calibri"/>
              </a:rPr>
              <a:t>South Africa is the 7th largest producer of iron ore</a:t>
            </a:r>
          </a:p>
          <a:p>
            <a:pPr marL="171450" indent="-171450">
              <a:buFont typeface="Calibri"/>
              <a:buChar char="-"/>
            </a:pPr>
            <a:r>
              <a:rPr lang="en-US">
                <a:latin typeface="Calibri"/>
                <a:ea typeface="Calibri"/>
                <a:cs typeface="Calibri"/>
              </a:rPr>
              <a:t>High selling price of SS316</a:t>
            </a:r>
          </a:p>
          <a:p>
            <a:pPr marL="171450" indent="-171450">
              <a:buFont typeface="Calibri"/>
              <a:buChar char="-"/>
            </a:pPr>
            <a:r>
              <a:rPr lang="en-US">
                <a:latin typeface="Calibri"/>
                <a:ea typeface="Calibri"/>
                <a:cs typeface="Calibri"/>
              </a:rPr>
              <a:t>Location we have chosen: Port Elizabeth and Port of </a:t>
            </a:r>
            <a:r>
              <a:rPr lang="en-US" err="1">
                <a:latin typeface="Calibri"/>
                <a:ea typeface="Calibri"/>
                <a:cs typeface="Calibri"/>
              </a:rPr>
              <a:t>Nqgura</a:t>
            </a:r>
          </a:p>
          <a:p>
            <a:pPr marL="628650" lvl="1" indent="-171450">
              <a:buFont typeface="Courier New"/>
              <a:buChar char="o"/>
            </a:pPr>
            <a:r>
              <a:rPr lang="en-US">
                <a:latin typeface="Calibri"/>
                <a:ea typeface="Calibri"/>
                <a:cs typeface="Calibri"/>
              </a:rPr>
              <a:t>Trade to China, US, Germany</a:t>
            </a:r>
          </a:p>
          <a:p>
            <a:pPr marL="171450" indent="-171450">
              <a:buFont typeface="Calibri"/>
              <a:buChar char="-"/>
            </a:pPr>
            <a:r>
              <a:rPr lang="en-US">
                <a:latin typeface="Calibri"/>
                <a:ea typeface="Calibri"/>
                <a:cs typeface="Calibri"/>
              </a:rPr>
              <a:t>Special Economic Zone: designated area with different economic policies to support targeted economic activities and draw in investors</a:t>
            </a:r>
          </a:p>
          <a:p>
            <a:pPr marL="628650" lvl="1" indent="-171450">
              <a:buFont typeface="Courier New"/>
              <a:buChar char="o"/>
            </a:pPr>
            <a:r>
              <a:rPr lang="en-US">
                <a:latin typeface="Calibri"/>
                <a:ea typeface="Calibri"/>
                <a:cs typeface="Calibri"/>
              </a:rPr>
              <a:t>Reduced corporate income tax, building allowances, tax reliefs on employment, customs controlled area, pre-existing services and infrastructure</a:t>
            </a:r>
          </a:p>
          <a:p>
            <a:pPr marL="171450" indent="-171450">
              <a:buFont typeface="Calibri"/>
              <a:buChar char="-"/>
            </a:pPr>
            <a:r>
              <a:rPr lang="en-US">
                <a:latin typeface="Calibri"/>
                <a:ea typeface="Calibri"/>
                <a:cs typeface="Calibri"/>
              </a:rPr>
              <a:t>Potential Clients</a:t>
            </a:r>
          </a:p>
          <a:p>
            <a:pPr marL="628650" lvl="1" indent="-171450">
              <a:buFont typeface="Courier New"/>
              <a:buChar char="o"/>
            </a:pPr>
            <a:r>
              <a:rPr lang="en-US" err="1">
                <a:latin typeface="Calibri"/>
                <a:ea typeface="Calibri"/>
                <a:cs typeface="Calibri"/>
              </a:rPr>
              <a:t>Cemza</a:t>
            </a:r>
            <a:r>
              <a:rPr lang="en-US">
                <a:latin typeface="Calibri"/>
                <a:ea typeface="Calibri"/>
                <a:cs typeface="Calibri"/>
              </a:rPr>
              <a:t>: cement to sell slag</a:t>
            </a:r>
          </a:p>
          <a:p>
            <a:pPr marL="628650" lvl="1" indent="-171450">
              <a:buFont typeface="Courier New"/>
              <a:buChar char="o"/>
            </a:pPr>
            <a:r>
              <a:rPr lang="en-US">
                <a:latin typeface="Calibri"/>
                <a:ea typeface="Calibri"/>
                <a:cs typeface="Calibri"/>
              </a:rPr>
              <a:t>Hella marine: </a:t>
            </a:r>
            <a:r>
              <a:rPr lang="en-US" err="1">
                <a:latin typeface="Calibri"/>
                <a:ea typeface="Calibri"/>
                <a:cs typeface="Calibri"/>
              </a:rPr>
              <a:t>miritime</a:t>
            </a:r>
            <a:r>
              <a:rPr lang="en-US">
                <a:latin typeface="Calibri"/>
                <a:ea typeface="Calibri"/>
                <a:cs typeface="Calibri"/>
              </a:rPr>
              <a:t> lighting and electronics that must withstand saltwater</a:t>
            </a:r>
          </a:p>
        </p:txBody>
      </p:sp>
      <p:sp>
        <p:nvSpPr>
          <p:cNvPr id="4" name="Slide Number Placeholder 3"/>
          <p:cNvSpPr>
            <a:spLocks noGrp="1"/>
          </p:cNvSpPr>
          <p:nvPr>
            <p:ph type="sldNum" sz="quarter" idx="5"/>
          </p:nvPr>
        </p:nvSpPr>
        <p:spPr/>
        <p:txBody>
          <a:bodyPr/>
          <a:lstStyle/>
          <a:p>
            <a:fld id="{50863E2C-737A-5642-8202-F568569998C1}" type="slidenum">
              <a:rPr lang="en-US" smtClean="0"/>
              <a:t>39</a:t>
            </a:fld>
            <a:endParaRPr lang="en-US"/>
          </a:p>
        </p:txBody>
      </p:sp>
    </p:spTree>
    <p:extLst>
      <p:ext uri="{BB962C8B-B14F-4D97-AF65-F5344CB8AC3E}">
        <p14:creationId xmlns:p14="http://schemas.microsoft.com/office/powerpoint/2010/main" val="561403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Process economy = actual products on Alibaba</a:t>
            </a:r>
          </a:p>
          <a:p>
            <a:r>
              <a:rPr lang="en-US">
                <a:latin typeface="Calibri"/>
                <a:ea typeface="Calibri"/>
                <a:cs typeface="Calibri"/>
              </a:rPr>
              <a:t>Here = general prices of raw materials in South Africa</a:t>
            </a:r>
          </a:p>
          <a:p>
            <a:r>
              <a:rPr lang="en-US">
                <a:latin typeface="Calibri"/>
                <a:ea typeface="Calibri"/>
                <a:cs typeface="Calibri"/>
              </a:rPr>
              <a:t>Ideal profit = increased profit, can sell steel as lost as $3500</a:t>
            </a:r>
          </a:p>
        </p:txBody>
      </p:sp>
      <p:sp>
        <p:nvSpPr>
          <p:cNvPr id="4" name="Slide Number Placeholder 3"/>
          <p:cNvSpPr>
            <a:spLocks noGrp="1"/>
          </p:cNvSpPr>
          <p:nvPr>
            <p:ph type="sldNum" sz="quarter" idx="5"/>
          </p:nvPr>
        </p:nvSpPr>
        <p:spPr/>
        <p:txBody>
          <a:bodyPr/>
          <a:lstStyle/>
          <a:p>
            <a:fld id="{50863E2C-737A-5642-8202-F568569998C1}" type="slidenum">
              <a:rPr lang="en-US" smtClean="0"/>
              <a:t>40</a:t>
            </a:fld>
            <a:endParaRPr lang="en-US"/>
          </a:p>
        </p:txBody>
      </p:sp>
    </p:spTree>
    <p:extLst>
      <p:ext uri="{BB962C8B-B14F-4D97-AF65-F5344CB8AC3E}">
        <p14:creationId xmlns:p14="http://schemas.microsoft.com/office/powerpoint/2010/main" val="353085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A2A9-70D8-3237-276D-F9D0F76D83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78A9B2-87C3-5589-34A0-1E46B7126F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B68395B-0422-5C79-68D7-C1F1AC8DEB30}"/>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5" name="Footer Placeholder 4">
            <a:extLst>
              <a:ext uri="{FF2B5EF4-FFF2-40B4-BE49-F238E27FC236}">
                <a16:creationId xmlns:a16="http://schemas.microsoft.com/office/drawing/2014/main" id="{1CA333A9-654D-B6F4-039D-140D5AE468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ABAEDD-5D85-A13A-821D-E84FFC34C60B}"/>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90018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5E53-F402-89B2-7315-98A6EE72B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02ED9B-1DC4-ECB3-2ED4-EAD5937E19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2C65D-1BB2-BCCB-A63F-6801B13FFBD8}"/>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5" name="Footer Placeholder 4">
            <a:extLst>
              <a:ext uri="{FF2B5EF4-FFF2-40B4-BE49-F238E27FC236}">
                <a16:creationId xmlns:a16="http://schemas.microsoft.com/office/drawing/2014/main" id="{AC046285-C837-8B17-ED58-F1EB3C4ECB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F12AB-B243-B57C-FC88-834218172E3D}"/>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3922572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294AA-6D9C-8416-BA66-C6156A0DAB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3B4476-53F6-21AC-225E-910BFB38FB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22AF3D-A3F1-0D19-847E-D84D352D89FB}"/>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5" name="Footer Placeholder 4">
            <a:extLst>
              <a:ext uri="{FF2B5EF4-FFF2-40B4-BE49-F238E27FC236}">
                <a16:creationId xmlns:a16="http://schemas.microsoft.com/office/drawing/2014/main" id="{D7100F94-032F-2D61-A4E2-E299BCB7E5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1FEC98-21AF-5FC4-D42C-B40D5D074852}"/>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3203001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FE8E-01F2-5C18-1E56-3968D919B0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1273D7-92BF-FD5B-7CDB-CF4AC1139B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1758F6-4348-73E9-2588-6CFA2659A4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8DEED0-3E9E-D7E7-45D3-80838A796701}"/>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6" name="Footer Placeholder 5">
            <a:extLst>
              <a:ext uri="{FF2B5EF4-FFF2-40B4-BE49-F238E27FC236}">
                <a16:creationId xmlns:a16="http://schemas.microsoft.com/office/drawing/2014/main" id="{7E2242C3-AF7B-238E-B7D6-BF1C899DF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07F780-CE76-47B8-31B7-B6649F936C2D}"/>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3199583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B892B-4FFA-A289-989D-F5A293B294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6AC7BB-1A3A-4676-DEFF-7A6D001C14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767FF0-5AF3-99A0-F12E-96F3D8188B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8B948D-1FC7-6D8E-F4A9-866FCC24D6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3E46AD-CCD4-A712-EA12-14BC0FAE5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186836-A260-6671-9DE8-480090115FD1}"/>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8" name="Footer Placeholder 7">
            <a:extLst>
              <a:ext uri="{FF2B5EF4-FFF2-40B4-BE49-F238E27FC236}">
                <a16:creationId xmlns:a16="http://schemas.microsoft.com/office/drawing/2014/main" id="{FE226ECA-0AB0-0EFC-FE9D-A3F5EBA82D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19096D-1FCA-5561-8E3B-278A1E6135F6}"/>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444232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72C8C-22C6-733A-7D88-07F83C7A8E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6108A9-C050-01D6-B1D9-B1CDD61F81FE}"/>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4" name="Footer Placeholder 3">
            <a:extLst>
              <a:ext uri="{FF2B5EF4-FFF2-40B4-BE49-F238E27FC236}">
                <a16:creationId xmlns:a16="http://schemas.microsoft.com/office/drawing/2014/main" id="{87117354-98FE-AE89-C1F3-D9846A2A4F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249A9A-54C5-E948-F0DE-95AA3862BA7A}"/>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1013724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C9A602-8C03-296F-6394-6F7CFFA4F7EC}"/>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3" name="Footer Placeholder 2">
            <a:extLst>
              <a:ext uri="{FF2B5EF4-FFF2-40B4-BE49-F238E27FC236}">
                <a16:creationId xmlns:a16="http://schemas.microsoft.com/office/drawing/2014/main" id="{55429CB3-5A62-4F6B-E16C-2FB9BDEA09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7BE425-FFC4-31A6-5C9B-18EDF0024CCD}"/>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1544386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4D59E-8CCE-4C0B-4F43-56E53C71F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CCB2E4-74E3-C077-F319-A5864B9767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47037C-4017-B727-9493-39B071EC6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D6854-6620-26CC-415D-CF53DC80FB1C}"/>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6" name="Footer Placeholder 5">
            <a:extLst>
              <a:ext uri="{FF2B5EF4-FFF2-40B4-BE49-F238E27FC236}">
                <a16:creationId xmlns:a16="http://schemas.microsoft.com/office/drawing/2014/main" id="{2059FA94-B1AC-0D10-00D9-DDF725058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B7E46-BF36-372A-98E0-04C583D08F19}"/>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1289741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1F22B-4197-9F21-37B2-A85021114E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FFC6DC-A457-BDBA-C76F-FD266D33D7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BE81AA-89D4-386C-CB5E-5A36B19F4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50709-1138-AD08-7047-DA30A3254960}"/>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6" name="Footer Placeholder 5">
            <a:extLst>
              <a:ext uri="{FF2B5EF4-FFF2-40B4-BE49-F238E27FC236}">
                <a16:creationId xmlns:a16="http://schemas.microsoft.com/office/drawing/2014/main" id="{0F3C6397-130A-6335-13F0-8847ED2C3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40FBDF-E1B8-FB78-EC67-37DEA81A722F}"/>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3758403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F27A7-435F-687E-B778-75210F1AA2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00296B-406D-7C8E-317F-D56342586F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3F6576-7FFF-579A-D547-30619C21C048}"/>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5" name="Footer Placeholder 4">
            <a:extLst>
              <a:ext uri="{FF2B5EF4-FFF2-40B4-BE49-F238E27FC236}">
                <a16:creationId xmlns:a16="http://schemas.microsoft.com/office/drawing/2014/main" id="{7DF0CB92-3B0C-59A6-93C6-7AF6E423A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6339B-29EA-483A-CDE8-71763E8EEE6F}"/>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1420662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3B6715-C69F-2B8F-B829-0C3092936F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D1C2F45-6099-10A9-3C1C-E6DF0093DA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FFE73D-5AB6-34F9-6F01-8F50AE17B03A}"/>
              </a:ext>
            </a:extLst>
          </p:cNvPr>
          <p:cNvSpPr>
            <a:spLocks noGrp="1"/>
          </p:cNvSpPr>
          <p:nvPr>
            <p:ph type="dt" sz="half" idx="10"/>
          </p:nvPr>
        </p:nvSpPr>
        <p:spPr/>
        <p:txBody>
          <a:bodyPr/>
          <a:lstStyle/>
          <a:p>
            <a:fld id="{717C5FD3-F00A-4F13-A736-1906053BA1B7}" type="datetimeFigureOut">
              <a:rPr lang="en-US" smtClean="0"/>
              <a:t>12/22/2025</a:t>
            </a:fld>
            <a:endParaRPr lang="en-US"/>
          </a:p>
        </p:txBody>
      </p:sp>
      <p:sp>
        <p:nvSpPr>
          <p:cNvPr id="5" name="Footer Placeholder 4">
            <a:extLst>
              <a:ext uri="{FF2B5EF4-FFF2-40B4-BE49-F238E27FC236}">
                <a16:creationId xmlns:a16="http://schemas.microsoft.com/office/drawing/2014/main" id="{F97B5EA0-0061-F2D3-1854-55EF2A5494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5FB6D-E876-24A1-1B0A-CA2772E3D1C5}"/>
              </a:ext>
            </a:extLst>
          </p:cNvPr>
          <p:cNvSpPr>
            <a:spLocks noGrp="1"/>
          </p:cNvSpPr>
          <p:nvPr>
            <p:ph type="sldNum" sz="quarter" idx="12"/>
          </p:nvPr>
        </p:nvSpPr>
        <p:spPr/>
        <p:txBody>
          <a:bodyPr/>
          <a:lstStyle/>
          <a:p>
            <a:fld id="{A2B396E8-7DBF-4FB1-80D9-22A4F4A87C6F}" type="slidenum">
              <a:rPr lang="en-US" smtClean="0"/>
              <a:t>‹#›</a:t>
            </a:fld>
            <a:endParaRPr lang="en-US"/>
          </a:p>
        </p:txBody>
      </p:sp>
    </p:spTree>
    <p:extLst>
      <p:ext uri="{BB962C8B-B14F-4D97-AF65-F5344CB8AC3E}">
        <p14:creationId xmlns:p14="http://schemas.microsoft.com/office/powerpoint/2010/main" val="505544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506466-8CC5-C077-7714-F9185A1D8F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5E803B-E0ED-4D86-0CEA-61FE261723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9560F5-2912-8EB3-0613-CF6BB8B703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7C5FD3-F00A-4F13-A736-1906053BA1B7}" type="datetimeFigureOut">
              <a:rPr lang="en-US" smtClean="0"/>
              <a:t>12/22/2025</a:t>
            </a:fld>
            <a:endParaRPr lang="en-US"/>
          </a:p>
        </p:txBody>
      </p:sp>
      <p:sp>
        <p:nvSpPr>
          <p:cNvPr id="5" name="Footer Placeholder 4">
            <a:extLst>
              <a:ext uri="{FF2B5EF4-FFF2-40B4-BE49-F238E27FC236}">
                <a16:creationId xmlns:a16="http://schemas.microsoft.com/office/drawing/2014/main" id="{A06ACDFE-9D2F-68DD-CBEA-F563F292E9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5ABEE2-F20D-B0FD-033D-734004D14F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B396E8-7DBF-4FB1-80D9-22A4F4A87C6F}" type="slidenum">
              <a:rPr lang="en-US" smtClean="0"/>
              <a:t>‹#›</a:t>
            </a:fld>
            <a:endParaRPr lang="en-US"/>
          </a:p>
        </p:txBody>
      </p:sp>
    </p:spTree>
    <p:extLst>
      <p:ext uri="{BB962C8B-B14F-4D97-AF65-F5344CB8AC3E}">
        <p14:creationId xmlns:p14="http://schemas.microsoft.com/office/powerpoint/2010/main" val="2362758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gif"/><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hyperlink" Target="https://www.sciencedirect.com/science/article/pii/B9780128026502000145" TargetMode="External"/><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hyperlink" Target="https://metatechx.in/ld-converter-process-in-steelmakin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6.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www.servicesteel.org/resources/history-of-steel" TargetMode="External"/><Relationship Id="rId13" Type="http://schemas.openxmlformats.org/officeDocument/2006/relationships/hyperlink" Target="https://www.coega.co.za/site/sez-investments" TargetMode="External"/><Relationship Id="rId18" Type="http://schemas.openxmlformats.org/officeDocument/2006/relationships/hyperlink" Target="https://en.wikipedia.org/wiki/Robert_Durrer" TargetMode="External"/><Relationship Id="rId3" Type="http://schemas.openxmlformats.org/officeDocument/2006/relationships/hyperlink" Target="https://www.amardeepsteel.com/blog/what-is-stainless-steel-316-uses-grades-and-composition.html" TargetMode="External"/><Relationship Id="rId7" Type="http://schemas.openxmlformats.org/officeDocument/2006/relationships/hyperlink" Target="https://www.mining-technology.com/data-insights/iron-ore-in-south-africa/?cf-view" TargetMode="External"/><Relationship Id="rId12" Type="http://schemas.openxmlformats.org/officeDocument/2006/relationships/hyperlink" Target="https://alliantmetals.com/316-stainless-steel-the-optimum-choice-food-processing/" TargetMode="External"/><Relationship Id="rId17" Type="http://schemas.openxmlformats.org/officeDocument/2006/relationships/hyperlink" Target="https://www.sciencedirect.com/science/article/abs/pii/S0305440323000201" TargetMode="External"/><Relationship Id="rId2" Type="http://schemas.openxmlformats.org/officeDocument/2006/relationships/hyperlink" Target="https://afe.easia.columbia.edu/songdynasty-module/econ-rev-iron-steel.html" TargetMode="External"/><Relationship Id="rId16" Type="http://schemas.openxmlformats.org/officeDocument/2006/relationships/hyperlink" Target="https://www.unifiedalloys.com/blog/stainless-steel-marine-applications" TargetMode="External"/><Relationship Id="rId20" Type="http://schemas.openxmlformats.org/officeDocument/2006/relationships/hyperlink" Target="https://www.worldatlas.com/maps/austria" TargetMode="External"/><Relationship Id="rId1" Type="http://schemas.openxmlformats.org/officeDocument/2006/relationships/slideLayout" Target="../slideLayouts/slideLayout2.xml"/><Relationship Id="rId6" Type="http://schemas.openxmlformats.org/officeDocument/2006/relationships/hyperlink" Target="https://www.britannica.com/biography/Henry-Bessemer" TargetMode="External"/><Relationship Id="rId11" Type="http://schemas.openxmlformats.org/officeDocument/2006/relationships/hyperlink" Target="https://www.britannica.com/science/metallurgy/Ferrous-metals" TargetMode="External"/><Relationship Id="rId5" Type="http://schemas.openxmlformats.org/officeDocument/2006/relationships/hyperlink" Target="https://cemza.co/cement-products/" TargetMode="External"/><Relationship Id="rId15" Type="http://schemas.openxmlformats.org/officeDocument/2006/relationships/hyperlink" Target="https://dtrinkle.matse.illinois.edu/MatSE584/articles/wootz_advanced_material/wootz_steel.html" TargetMode="External"/><Relationship Id="rId10" Type="http://schemas.openxmlformats.org/officeDocument/2006/relationships/hyperlink" Target="https://www.unifiedalloys.com/blog/stainless-steel-benefits-pharma" TargetMode="External"/><Relationship Id="rId19" Type="http://schemas.openxmlformats.org/officeDocument/2006/relationships/hyperlink" Target="https://en.wikipedia.org/wiki/Wootz_steel" TargetMode="External"/><Relationship Id="rId4" Type="http://schemas.openxmlformats.org/officeDocument/2006/relationships/hyperlink" Target="https://www.investsa.gov.za/special-economic-zones/" TargetMode="External"/><Relationship Id="rId9" Type="http://schemas.openxmlformats.org/officeDocument/2006/relationships/hyperlink" Target="https://www.britannica.com/technology/materials-processing" TargetMode="External"/><Relationship Id="rId14" Type="http://schemas.openxmlformats.org/officeDocument/2006/relationships/hyperlink" Target="https://tradingeconomics.com/south-africa/exports-by-count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36AC3B-277D-2BA5-31DB-4DD8EF9E5F66}"/>
              </a:ext>
            </a:extLst>
          </p:cNvPr>
          <p:cNvSpPr>
            <a:spLocks noGrp="1"/>
          </p:cNvSpPr>
          <p:nvPr>
            <p:ph type="ctrTitle"/>
          </p:nvPr>
        </p:nvSpPr>
        <p:spPr>
          <a:xfrm>
            <a:off x="838199" y="1093788"/>
            <a:ext cx="10506455" cy="2967208"/>
          </a:xfrm>
        </p:spPr>
        <p:txBody>
          <a:bodyPr>
            <a:normAutofit/>
          </a:bodyPr>
          <a:lstStyle/>
          <a:p>
            <a:pPr algn="l"/>
            <a:r>
              <a:rPr lang="en-US" sz="6800"/>
              <a:t>Linz-</a:t>
            </a:r>
            <a:r>
              <a:rPr lang="en-US" sz="6800" err="1"/>
              <a:t>Donawitz</a:t>
            </a:r>
            <a:r>
              <a:rPr lang="en-US" sz="6800"/>
              <a:t> Process </a:t>
            </a:r>
            <a:br>
              <a:rPr lang="en-US" sz="6800"/>
            </a:br>
            <a:r>
              <a:rPr lang="en-US" sz="4000"/>
              <a:t>(for SS316, at 98% Purity)</a:t>
            </a:r>
            <a:endParaRPr lang="en-US" sz="6800"/>
          </a:p>
        </p:txBody>
      </p:sp>
      <p:sp>
        <p:nvSpPr>
          <p:cNvPr id="3" name="Subtitle 2">
            <a:extLst>
              <a:ext uri="{FF2B5EF4-FFF2-40B4-BE49-F238E27FC236}">
                <a16:creationId xmlns:a16="http://schemas.microsoft.com/office/drawing/2014/main" id="{ACB012C7-4522-E82E-F886-85E97DCBD0B2}"/>
              </a:ext>
            </a:extLst>
          </p:cNvPr>
          <p:cNvSpPr>
            <a:spLocks noGrp="1"/>
          </p:cNvSpPr>
          <p:nvPr>
            <p:ph type="subTitle" idx="1"/>
          </p:nvPr>
        </p:nvSpPr>
        <p:spPr>
          <a:xfrm>
            <a:off x="7400924" y="4619624"/>
            <a:ext cx="3946779" cy="1038225"/>
          </a:xfrm>
        </p:spPr>
        <p:txBody>
          <a:bodyPr vert="horz" lIns="91440" tIns="45720" rIns="91440" bIns="45720" rtlCol="0" anchor="t">
            <a:normAutofit/>
          </a:bodyPr>
          <a:lstStyle/>
          <a:p>
            <a:pPr algn="r"/>
            <a:r>
              <a:rPr lang="en-US" sz="2200"/>
              <a:t>Robinson Bui, Karen Izaguirre, Ezra Ju, Logan Kuhn, Esther Marroquin, Grace Wang</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003687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CF8AE1-BB44-9AF1-2BE4-FA673E0952A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89E0D73-A71B-801A-0719-76D0A227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B6323FEA-3CD9-4516-37D0-471AF881B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4774C9C2-5053-49DF-DB72-B326FC6823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B8DA7C-DEB8-3AC8-49D9-A5A19F3CE431}"/>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Background &amp; Relevance</a:t>
            </a:r>
          </a:p>
        </p:txBody>
      </p:sp>
      <p:sp>
        <p:nvSpPr>
          <p:cNvPr id="13" name="Rectangle 12">
            <a:extLst>
              <a:ext uri="{FF2B5EF4-FFF2-40B4-BE49-F238E27FC236}">
                <a16:creationId xmlns:a16="http://schemas.microsoft.com/office/drawing/2014/main" id="{CA3EE04E-6DD4-65BF-5526-AD36209909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2334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F2D80A-8D1B-EE9E-CF6F-096F086DB509}"/>
            </a:ext>
          </a:extLst>
        </p:cNvPr>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00AA77-74E0-E44D-A8F9-3EE213B0FCCC}"/>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Linz-</a:t>
            </a:r>
            <a:r>
              <a:rPr lang="en-US" sz="5400" err="1"/>
              <a:t>Donawitz</a:t>
            </a:r>
            <a:r>
              <a:rPr lang="en-US" sz="5400"/>
              <a:t> (LD) Process History</a:t>
            </a:r>
          </a:p>
        </p:txBody>
      </p:sp>
      <p:sp>
        <p:nvSpPr>
          <p:cNvPr id="1040"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595353" y="1741733"/>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9F245D32-E8AA-EC51-F199-AC50A607F2ED}"/>
              </a:ext>
            </a:extLst>
          </p:cNvPr>
          <p:cNvSpPr txBox="1">
            <a:spLocks/>
          </p:cNvSpPr>
          <p:nvPr/>
        </p:nvSpPr>
        <p:spPr>
          <a:xfrm>
            <a:off x="572493" y="2679804"/>
            <a:ext cx="3652955" cy="236331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a:t>Originated in Switzerland 1940's </a:t>
            </a:r>
            <a:endParaRPr lang="en-US"/>
          </a:p>
          <a:p>
            <a:r>
              <a:rPr lang="en-US" sz="2200"/>
              <a:t>Named after the first two towns it was first used in</a:t>
            </a:r>
            <a:endParaRPr lang="en-US"/>
          </a:p>
          <a:p>
            <a:r>
              <a:rPr lang="en-US" sz="2200"/>
              <a:t>Also known as: basic oxygen process</a:t>
            </a:r>
          </a:p>
          <a:p>
            <a:endParaRPr lang="en-US" sz="2200"/>
          </a:p>
          <a:p>
            <a:endParaRPr lang="en-US" sz="2200"/>
          </a:p>
        </p:txBody>
      </p:sp>
      <p:pic>
        <p:nvPicPr>
          <p:cNvPr id="5" name="Picture 4" descr="A map of different colored states&#10;&#10;AI-generated content may be incorrect.">
            <a:extLst>
              <a:ext uri="{FF2B5EF4-FFF2-40B4-BE49-F238E27FC236}">
                <a16:creationId xmlns:a16="http://schemas.microsoft.com/office/drawing/2014/main" id="{455A4166-3201-9ADB-4835-06748ABD69F0}"/>
              </a:ext>
            </a:extLst>
          </p:cNvPr>
          <p:cNvPicPr>
            <a:picLocks noChangeAspect="1"/>
          </p:cNvPicPr>
          <p:nvPr/>
        </p:nvPicPr>
        <p:blipFill>
          <a:blip r:embed="rId2"/>
          <a:stretch>
            <a:fillRect/>
          </a:stretch>
        </p:blipFill>
        <p:spPr>
          <a:xfrm>
            <a:off x="4374569" y="2549065"/>
            <a:ext cx="6253327" cy="3345756"/>
          </a:xfrm>
          <a:prstGeom prst="rect">
            <a:avLst/>
          </a:prstGeom>
        </p:spPr>
      </p:pic>
      <p:sp>
        <p:nvSpPr>
          <p:cNvPr id="9" name="Multiplication Sign 8">
            <a:extLst>
              <a:ext uri="{FF2B5EF4-FFF2-40B4-BE49-F238E27FC236}">
                <a16:creationId xmlns:a16="http://schemas.microsoft.com/office/drawing/2014/main" id="{29EA9DE4-22C4-32B5-9762-8C7C4630CFD6}"/>
              </a:ext>
            </a:extLst>
          </p:cNvPr>
          <p:cNvSpPr/>
          <p:nvPr/>
        </p:nvSpPr>
        <p:spPr>
          <a:xfrm>
            <a:off x="7968871" y="3268059"/>
            <a:ext cx="438411" cy="438411"/>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ication Sign 9">
            <a:extLst>
              <a:ext uri="{FF2B5EF4-FFF2-40B4-BE49-F238E27FC236}">
                <a16:creationId xmlns:a16="http://schemas.microsoft.com/office/drawing/2014/main" id="{5BE823AE-E431-4168-EC70-F40B9D6788FD}"/>
              </a:ext>
            </a:extLst>
          </p:cNvPr>
          <p:cNvSpPr/>
          <p:nvPr/>
        </p:nvSpPr>
        <p:spPr>
          <a:xfrm>
            <a:off x="8582646" y="4221943"/>
            <a:ext cx="438411" cy="438411"/>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6AFFF4AB-C98E-5D51-119F-C733D84ADB4B}"/>
              </a:ext>
            </a:extLst>
          </p:cNvPr>
          <p:cNvCxnSpPr/>
          <p:nvPr/>
        </p:nvCxnSpPr>
        <p:spPr>
          <a:xfrm>
            <a:off x="6340488" y="3042591"/>
            <a:ext cx="1678487" cy="3757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C57E585-00EB-2DB9-EE7F-AAE981F2B37E}"/>
              </a:ext>
            </a:extLst>
          </p:cNvPr>
          <p:cNvSpPr txBox="1"/>
          <p:nvPr/>
        </p:nvSpPr>
        <p:spPr>
          <a:xfrm>
            <a:off x="5751765" y="2854700"/>
            <a:ext cx="588723" cy="375781"/>
          </a:xfrm>
          <a:prstGeom prst="rect">
            <a:avLst/>
          </a:prstGeom>
          <a:noFill/>
        </p:spPr>
        <p:txBody>
          <a:bodyPr wrap="square" rtlCol="0">
            <a:spAutoFit/>
          </a:bodyPr>
          <a:lstStyle/>
          <a:p>
            <a:r>
              <a:rPr lang="en-US"/>
              <a:t>Linz</a:t>
            </a:r>
          </a:p>
        </p:txBody>
      </p:sp>
      <p:cxnSp>
        <p:nvCxnSpPr>
          <p:cNvPr id="14" name="Straight Arrow Connector 13">
            <a:extLst>
              <a:ext uri="{FF2B5EF4-FFF2-40B4-BE49-F238E27FC236}">
                <a16:creationId xmlns:a16="http://schemas.microsoft.com/office/drawing/2014/main" id="{66139850-23E6-8999-0CB7-871BE1E6A590}"/>
              </a:ext>
            </a:extLst>
          </p:cNvPr>
          <p:cNvCxnSpPr>
            <a:cxnSpLocks/>
          </p:cNvCxnSpPr>
          <p:nvPr/>
        </p:nvCxnSpPr>
        <p:spPr>
          <a:xfrm flipH="1" flipV="1">
            <a:off x="9021057" y="4441148"/>
            <a:ext cx="1741118" cy="6901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0539BD14-1AEC-4EC1-276C-FB01A81F14FB}"/>
              </a:ext>
            </a:extLst>
          </p:cNvPr>
          <p:cNvSpPr txBox="1"/>
          <p:nvPr/>
        </p:nvSpPr>
        <p:spPr>
          <a:xfrm>
            <a:off x="10762175" y="4974754"/>
            <a:ext cx="1277655" cy="369332"/>
          </a:xfrm>
          <a:prstGeom prst="rect">
            <a:avLst/>
          </a:prstGeom>
          <a:noFill/>
        </p:spPr>
        <p:txBody>
          <a:bodyPr wrap="square" rtlCol="0">
            <a:spAutoFit/>
          </a:bodyPr>
          <a:lstStyle/>
          <a:p>
            <a:r>
              <a:rPr lang="en-US" err="1"/>
              <a:t>Donawitz</a:t>
            </a:r>
            <a:endParaRPr lang="en-US"/>
          </a:p>
        </p:txBody>
      </p:sp>
    </p:spTree>
    <p:extLst>
      <p:ext uri="{BB962C8B-B14F-4D97-AF65-F5344CB8AC3E}">
        <p14:creationId xmlns:p14="http://schemas.microsoft.com/office/powerpoint/2010/main" val="1522419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79BF74C-990E-D02E-B412-5EAE825F30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151"/>
          <a:stretch>
            <a:fillRect/>
          </a:stretch>
        </p:blipFill>
        <p:spPr bwMode="auto">
          <a:xfrm>
            <a:off x="7327656" y="1814849"/>
            <a:ext cx="2588045" cy="321824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enry Bessemer">
            <a:extLst>
              <a:ext uri="{FF2B5EF4-FFF2-40B4-BE49-F238E27FC236}">
                <a16:creationId xmlns:a16="http://schemas.microsoft.com/office/drawing/2014/main" id="{52FBB5F7-008A-8D4C-0DBF-C45B8988CF7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584" r="19811"/>
          <a:stretch>
            <a:fillRect/>
          </a:stretch>
        </p:blipFill>
        <p:spPr bwMode="auto">
          <a:xfrm>
            <a:off x="2276299" y="1813901"/>
            <a:ext cx="2588045" cy="3218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675E8B-6F04-743F-E6BD-65905D5E3A2F}"/>
              </a:ext>
            </a:extLst>
          </p:cNvPr>
          <p:cNvSpPr txBox="1"/>
          <p:nvPr/>
        </p:nvSpPr>
        <p:spPr>
          <a:xfrm>
            <a:off x="2276298" y="5038121"/>
            <a:ext cx="2588046" cy="646331"/>
          </a:xfrm>
          <a:prstGeom prst="rect">
            <a:avLst/>
          </a:prstGeom>
          <a:noFill/>
        </p:spPr>
        <p:txBody>
          <a:bodyPr wrap="square" rtlCol="0">
            <a:spAutoFit/>
          </a:bodyPr>
          <a:lstStyle/>
          <a:p>
            <a:pPr algn="ctr"/>
            <a:r>
              <a:rPr lang="en-US"/>
              <a:t>(1856) First inexpensive steelmaking process</a:t>
            </a:r>
          </a:p>
        </p:txBody>
      </p:sp>
      <p:sp>
        <p:nvSpPr>
          <p:cNvPr id="4" name="Arrow: Left 3">
            <a:extLst>
              <a:ext uri="{FF2B5EF4-FFF2-40B4-BE49-F238E27FC236}">
                <a16:creationId xmlns:a16="http://schemas.microsoft.com/office/drawing/2014/main" id="{088A971F-D463-B825-A5D7-B9BA6332CEE6}"/>
              </a:ext>
            </a:extLst>
          </p:cNvPr>
          <p:cNvSpPr/>
          <p:nvPr/>
        </p:nvSpPr>
        <p:spPr>
          <a:xfrm>
            <a:off x="96983" y="2996045"/>
            <a:ext cx="1724890" cy="865909"/>
          </a:xfrm>
          <a:prstGeom prst="leftArrow">
            <a:avLst/>
          </a:prstGeom>
          <a:solidFill>
            <a:srgbClr val="FF84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54D32F2B-F5B2-8C66-A834-04020CDBF208}"/>
              </a:ext>
            </a:extLst>
          </p:cNvPr>
          <p:cNvSpPr/>
          <p:nvPr/>
        </p:nvSpPr>
        <p:spPr>
          <a:xfrm rot="10800000">
            <a:off x="5318770" y="2996045"/>
            <a:ext cx="1554457" cy="865909"/>
          </a:xfrm>
          <a:prstGeom prst="leftArrow">
            <a:avLst/>
          </a:prstGeom>
          <a:solidFill>
            <a:srgbClr val="FF84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D29C029-B1C4-E6C8-BA1B-48D20F6031CE}"/>
              </a:ext>
            </a:extLst>
          </p:cNvPr>
          <p:cNvSpPr txBox="1"/>
          <p:nvPr/>
        </p:nvSpPr>
        <p:spPr>
          <a:xfrm>
            <a:off x="7327656" y="5043157"/>
            <a:ext cx="2588046" cy="646331"/>
          </a:xfrm>
          <a:prstGeom prst="rect">
            <a:avLst/>
          </a:prstGeom>
          <a:noFill/>
        </p:spPr>
        <p:txBody>
          <a:bodyPr wrap="square" rtlCol="0">
            <a:spAutoFit/>
          </a:bodyPr>
          <a:lstStyle/>
          <a:p>
            <a:pPr algn="ctr"/>
            <a:r>
              <a:rPr lang="en-US"/>
              <a:t>(1949) LD Process discovery</a:t>
            </a:r>
          </a:p>
        </p:txBody>
      </p:sp>
      <p:sp>
        <p:nvSpPr>
          <p:cNvPr id="7" name="TextBox 6">
            <a:extLst>
              <a:ext uri="{FF2B5EF4-FFF2-40B4-BE49-F238E27FC236}">
                <a16:creationId xmlns:a16="http://schemas.microsoft.com/office/drawing/2014/main" id="{800A4152-C60B-2BEB-C8C5-DBEE5828D478}"/>
              </a:ext>
            </a:extLst>
          </p:cNvPr>
          <p:cNvSpPr txBox="1"/>
          <p:nvPr/>
        </p:nvSpPr>
        <p:spPr>
          <a:xfrm>
            <a:off x="2276298" y="1373965"/>
            <a:ext cx="2588045" cy="461665"/>
          </a:xfrm>
          <a:prstGeom prst="rect">
            <a:avLst/>
          </a:prstGeom>
          <a:noFill/>
        </p:spPr>
        <p:txBody>
          <a:bodyPr wrap="square" rtlCol="0">
            <a:spAutoFit/>
          </a:bodyPr>
          <a:lstStyle/>
          <a:p>
            <a:pPr algn="ctr"/>
            <a:r>
              <a:rPr lang="en-US" sz="2400"/>
              <a:t>Henry Bessemer</a:t>
            </a:r>
          </a:p>
        </p:txBody>
      </p:sp>
      <p:sp>
        <p:nvSpPr>
          <p:cNvPr id="8" name="TextBox 7">
            <a:extLst>
              <a:ext uri="{FF2B5EF4-FFF2-40B4-BE49-F238E27FC236}">
                <a16:creationId xmlns:a16="http://schemas.microsoft.com/office/drawing/2014/main" id="{4CEFDDBB-1E76-7F77-20DB-C25A2184F56B}"/>
              </a:ext>
            </a:extLst>
          </p:cNvPr>
          <p:cNvSpPr txBox="1"/>
          <p:nvPr/>
        </p:nvSpPr>
        <p:spPr>
          <a:xfrm>
            <a:off x="7327655" y="1373965"/>
            <a:ext cx="2588045" cy="461665"/>
          </a:xfrm>
          <a:prstGeom prst="rect">
            <a:avLst/>
          </a:prstGeom>
          <a:noFill/>
        </p:spPr>
        <p:txBody>
          <a:bodyPr wrap="square" rtlCol="0">
            <a:spAutoFit/>
          </a:bodyPr>
          <a:lstStyle/>
          <a:p>
            <a:pPr algn="ctr"/>
            <a:r>
              <a:rPr lang="en-US" sz="2400"/>
              <a:t>Robert Durrer</a:t>
            </a:r>
          </a:p>
        </p:txBody>
      </p:sp>
      <p:sp>
        <p:nvSpPr>
          <p:cNvPr id="9" name="TextBox 8">
            <a:extLst>
              <a:ext uri="{FF2B5EF4-FFF2-40B4-BE49-F238E27FC236}">
                <a16:creationId xmlns:a16="http://schemas.microsoft.com/office/drawing/2014/main" id="{97E8F32F-2393-32E1-7758-4A2101C2FD15}"/>
              </a:ext>
            </a:extLst>
          </p:cNvPr>
          <p:cNvSpPr txBox="1"/>
          <p:nvPr/>
        </p:nvSpPr>
        <p:spPr>
          <a:xfrm>
            <a:off x="324195" y="2657490"/>
            <a:ext cx="1724890" cy="338554"/>
          </a:xfrm>
          <a:prstGeom prst="rect">
            <a:avLst/>
          </a:prstGeom>
          <a:noFill/>
        </p:spPr>
        <p:txBody>
          <a:bodyPr wrap="square" rtlCol="0">
            <a:spAutoFit/>
          </a:bodyPr>
          <a:lstStyle/>
          <a:p>
            <a:r>
              <a:rPr lang="en-US" sz="1600"/>
              <a:t>But before that?</a:t>
            </a:r>
          </a:p>
        </p:txBody>
      </p:sp>
    </p:spTree>
    <p:extLst>
      <p:ext uri="{BB962C8B-B14F-4D97-AF65-F5344CB8AC3E}">
        <p14:creationId xmlns:p14="http://schemas.microsoft.com/office/powerpoint/2010/main" val="413567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F6985-7990-D822-538D-171843E36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673E72-16F3-8C74-677B-E649A20C7B70}"/>
              </a:ext>
            </a:extLst>
          </p:cNvPr>
          <p:cNvSpPr>
            <a:spLocks noGrp="1"/>
          </p:cNvSpPr>
          <p:nvPr>
            <p:ph type="title"/>
          </p:nvPr>
        </p:nvSpPr>
        <p:spPr>
          <a:xfrm>
            <a:off x="838200" y="365125"/>
            <a:ext cx="9032310" cy="1325563"/>
          </a:xfrm>
        </p:spPr>
        <p:txBody>
          <a:bodyPr>
            <a:normAutofit/>
          </a:bodyPr>
          <a:lstStyle/>
          <a:p>
            <a:r>
              <a:rPr lang="en-US"/>
              <a:t>Steel History: in General</a:t>
            </a:r>
          </a:p>
        </p:txBody>
      </p:sp>
      <p:sp>
        <p:nvSpPr>
          <p:cNvPr id="7" name="sketchy line">
            <a:extLst>
              <a:ext uri="{FF2B5EF4-FFF2-40B4-BE49-F238E27FC236}">
                <a16:creationId xmlns:a16="http://schemas.microsoft.com/office/drawing/2014/main" id="{4F9BD8AE-28A8-ADF4-E48C-34B7FECDD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V="1">
            <a:off x="838200" y="15540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8683265-D4F1-CBAF-B611-9DFC768EFE54}"/>
              </a:ext>
            </a:extLst>
          </p:cNvPr>
          <p:cNvSpPr txBox="1"/>
          <p:nvPr/>
        </p:nvSpPr>
        <p:spPr>
          <a:xfrm>
            <a:off x="604129" y="5523304"/>
            <a:ext cx="2964872" cy="646331"/>
          </a:xfrm>
          <a:prstGeom prst="rect">
            <a:avLst/>
          </a:prstGeom>
          <a:noFill/>
        </p:spPr>
        <p:txBody>
          <a:bodyPr wrap="square" rtlCol="0">
            <a:spAutoFit/>
          </a:bodyPr>
          <a:lstStyle/>
          <a:p>
            <a:pPr algn="ctr"/>
            <a:r>
              <a:rPr lang="en-US"/>
              <a:t>Evidence of steel tool use (Iberian Peninsula)</a:t>
            </a:r>
          </a:p>
        </p:txBody>
      </p:sp>
      <p:sp>
        <p:nvSpPr>
          <p:cNvPr id="5" name="TextBox 4">
            <a:extLst>
              <a:ext uri="{FF2B5EF4-FFF2-40B4-BE49-F238E27FC236}">
                <a16:creationId xmlns:a16="http://schemas.microsoft.com/office/drawing/2014/main" id="{7E1B975C-E90A-57CD-5B57-68BD69197D91}"/>
              </a:ext>
            </a:extLst>
          </p:cNvPr>
          <p:cNvSpPr txBox="1"/>
          <p:nvPr/>
        </p:nvSpPr>
        <p:spPr>
          <a:xfrm>
            <a:off x="839656" y="4753863"/>
            <a:ext cx="2493818" cy="769441"/>
          </a:xfrm>
          <a:prstGeom prst="rect">
            <a:avLst/>
          </a:prstGeom>
          <a:noFill/>
        </p:spPr>
        <p:txBody>
          <a:bodyPr wrap="square" rtlCol="0">
            <a:spAutoFit/>
          </a:bodyPr>
          <a:lstStyle/>
          <a:p>
            <a:pPr algn="ctr"/>
            <a:r>
              <a:rPr lang="en-US" sz="4400"/>
              <a:t>800 BCE</a:t>
            </a:r>
          </a:p>
        </p:txBody>
      </p:sp>
      <p:sp>
        <p:nvSpPr>
          <p:cNvPr id="8" name="TextBox 7">
            <a:extLst>
              <a:ext uri="{FF2B5EF4-FFF2-40B4-BE49-F238E27FC236}">
                <a16:creationId xmlns:a16="http://schemas.microsoft.com/office/drawing/2014/main" id="{D1A4A7EA-D266-AF0B-AAB3-35714FE62107}"/>
              </a:ext>
            </a:extLst>
          </p:cNvPr>
          <p:cNvSpPr txBox="1"/>
          <p:nvPr/>
        </p:nvSpPr>
        <p:spPr>
          <a:xfrm>
            <a:off x="4591327" y="5523304"/>
            <a:ext cx="2964872" cy="646331"/>
          </a:xfrm>
          <a:prstGeom prst="rect">
            <a:avLst/>
          </a:prstGeom>
          <a:noFill/>
        </p:spPr>
        <p:txBody>
          <a:bodyPr wrap="square" rtlCol="0">
            <a:spAutoFit/>
          </a:bodyPr>
          <a:lstStyle/>
          <a:p>
            <a:pPr algn="ctr"/>
            <a:r>
              <a:rPr lang="en-US"/>
              <a:t>Wootz steel (India &amp; Sri Lanka)</a:t>
            </a:r>
          </a:p>
        </p:txBody>
      </p:sp>
      <p:sp>
        <p:nvSpPr>
          <p:cNvPr id="9" name="TextBox 8">
            <a:extLst>
              <a:ext uri="{FF2B5EF4-FFF2-40B4-BE49-F238E27FC236}">
                <a16:creationId xmlns:a16="http://schemas.microsoft.com/office/drawing/2014/main" id="{77016245-1511-C93F-6700-EF43C82C151F}"/>
              </a:ext>
            </a:extLst>
          </p:cNvPr>
          <p:cNvSpPr txBox="1"/>
          <p:nvPr/>
        </p:nvSpPr>
        <p:spPr>
          <a:xfrm>
            <a:off x="4826854" y="4753863"/>
            <a:ext cx="2493818" cy="769441"/>
          </a:xfrm>
          <a:prstGeom prst="rect">
            <a:avLst/>
          </a:prstGeom>
          <a:noFill/>
        </p:spPr>
        <p:txBody>
          <a:bodyPr wrap="square" rtlCol="0">
            <a:spAutoFit/>
          </a:bodyPr>
          <a:lstStyle/>
          <a:p>
            <a:pPr algn="ctr"/>
            <a:r>
              <a:rPr lang="en-US" sz="4400"/>
              <a:t>300 BCE</a:t>
            </a:r>
          </a:p>
        </p:txBody>
      </p:sp>
      <p:sp>
        <p:nvSpPr>
          <p:cNvPr id="14" name="TextBox 13">
            <a:extLst>
              <a:ext uri="{FF2B5EF4-FFF2-40B4-BE49-F238E27FC236}">
                <a16:creationId xmlns:a16="http://schemas.microsoft.com/office/drawing/2014/main" id="{773D0CE1-67A8-620D-DE83-1599AAE28558}"/>
              </a:ext>
            </a:extLst>
          </p:cNvPr>
          <p:cNvSpPr txBox="1"/>
          <p:nvPr/>
        </p:nvSpPr>
        <p:spPr>
          <a:xfrm>
            <a:off x="8622999" y="5523304"/>
            <a:ext cx="2964872" cy="646331"/>
          </a:xfrm>
          <a:prstGeom prst="rect">
            <a:avLst/>
          </a:prstGeom>
          <a:noFill/>
        </p:spPr>
        <p:txBody>
          <a:bodyPr wrap="square" rtlCol="0">
            <a:spAutoFit/>
          </a:bodyPr>
          <a:lstStyle/>
          <a:p>
            <a:pPr algn="ctr"/>
            <a:r>
              <a:rPr lang="en-US"/>
              <a:t>Steel tips for weapons Song Dynasty (China)</a:t>
            </a:r>
          </a:p>
        </p:txBody>
      </p:sp>
      <p:sp>
        <p:nvSpPr>
          <p:cNvPr id="15" name="TextBox 14">
            <a:extLst>
              <a:ext uri="{FF2B5EF4-FFF2-40B4-BE49-F238E27FC236}">
                <a16:creationId xmlns:a16="http://schemas.microsoft.com/office/drawing/2014/main" id="{532B3A23-D129-AEB7-C852-0C267E1BB2CA}"/>
              </a:ext>
            </a:extLst>
          </p:cNvPr>
          <p:cNvSpPr txBox="1"/>
          <p:nvPr/>
        </p:nvSpPr>
        <p:spPr>
          <a:xfrm>
            <a:off x="8858526" y="4753863"/>
            <a:ext cx="2493818" cy="769441"/>
          </a:xfrm>
          <a:prstGeom prst="rect">
            <a:avLst/>
          </a:prstGeom>
          <a:noFill/>
        </p:spPr>
        <p:txBody>
          <a:bodyPr wrap="square" rtlCol="0">
            <a:spAutoFit/>
          </a:bodyPr>
          <a:lstStyle/>
          <a:p>
            <a:pPr algn="ctr"/>
            <a:r>
              <a:rPr lang="en-US" sz="4400"/>
              <a:t>1000 CE</a:t>
            </a:r>
          </a:p>
        </p:txBody>
      </p:sp>
      <p:pic>
        <p:nvPicPr>
          <p:cNvPr id="2050" name="Picture 2">
            <a:extLst>
              <a:ext uri="{FF2B5EF4-FFF2-40B4-BE49-F238E27FC236}">
                <a16:creationId xmlns:a16="http://schemas.microsoft.com/office/drawing/2014/main" id="{3626D072-5F33-CD6A-59E4-10FECD513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58" y="2136963"/>
            <a:ext cx="3890214" cy="25045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ootz steel - Wikipedia">
            <a:extLst>
              <a:ext uri="{FF2B5EF4-FFF2-40B4-BE49-F238E27FC236}">
                <a16:creationId xmlns:a16="http://schemas.microsoft.com/office/drawing/2014/main" id="{54C2B20F-43C6-05D2-E5E7-7BBB8A7544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5008" y="2017198"/>
            <a:ext cx="3721984" cy="261831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23995825-9C91-136D-6A83-011136A9F6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60328" y="2017198"/>
            <a:ext cx="3721984" cy="2637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309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C14E-E3C0-F1CF-25C7-42D64AE82CD7}"/>
              </a:ext>
            </a:extLst>
          </p:cNvPr>
          <p:cNvSpPr>
            <a:spLocks noGrp="1"/>
          </p:cNvSpPr>
          <p:nvPr>
            <p:ph type="title"/>
          </p:nvPr>
        </p:nvSpPr>
        <p:spPr>
          <a:xfrm>
            <a:off x="433939" y="386871"/>
            <a:ext cx="9032310" cy="1325563"/>
          </a:xfrm>
        </p:spPr>
        <p:txBody>
          <a:bodyPr>
            <a:normAutofit/>
          </a:bodyPr>
          <a:lstStyle/>
          <a:p>
            <a:r>
              <a:rPr lang="en-US"/>
              <a:t>Stainless Steel SS316 </a:t>
            </a:r>
          </a:p>
        </p:txBody>
      </p:sp>
      <p:sp>
        <p:nvSpPr>
          <p:cNvPr id="4" name="Content Placeholder 3">
            <a:extLst>
              <a:ext uri="{FF2B5EF4-FFF2-40B4-BE49-F238E27FC236}">
                <a16:creationId xmlns:a16="http://schemas.microsoft.com/office/drawing/2014/main" id="{AEB86DF9-A2D0-2FBA-66E0-A3A2703E4662}"/>
              </a:ext>
            </a:extLst>
          </p:cNvPr>
          <p:cNvSpPr txBox="1">
            <a:spLocks/>
          </p:cNvSpPr>
          <p:nvPr/>
        </p:nvSpPr>
        <p:spPr>
          <a:xfrm>
            <a:off x="641447" y="3902919"/>
            <a:ext cx="4404467" cy="234741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a:t>Composition: </a:t>
            </a:r>
          </a:p>
          <a:p>
            <a:pPr marL="0" indent="0">
              <a:lnSpc>
                <a:spcPct val="100000"/>
              </a:lnSpc>
              <a:buNone/>
            </a:pPr>
            <a:r>
              <a:rPr lang="en-US" sz="2400"/>
              <a:t>Cr (16-18%) 	Si (≤ 0.75%)</a:t>
            </a:r>
          </a:p>
          <a:p>
            <a:pPr marL="0" indent="0">
              <a:lnSpc>
                <a:spcPct val="100000"/>
              </a:lnSpc>
              <a:buNone/>
            </a:pPr>
            <a:r>
              <a:rPr lang="en-US" sz="2400"/>
              <a:t>Ni (10-14%) 	C (≤0.08%)</a:t>
            </a:r>
          </a:p>
          <a:p>
            <a:pPr marL="0" indent="0">
              <a:lnSpc>
                <a:spcPct val="100000"/>
              </a:lnSpc>
              <a:buNone/>
            </a:pPr>
            <a:r>
              <a:rPr lang="en-US" sz="2400"/>
              <a:t>Mo (2-3%)	P (≤ 0.045%)</a:t>
            </a:r>
          </a:p>
          <a:p>
            <a:pPr marL="0" indent="0">
              <a:lnSpc>
                <a:spcPct val="100000"/>
              </a:lnSpc>
              <a:buNone/>
            </a:pPr>
            <a:r>
              <a:rPr lang="en-US" sz="2400"/>
              <a:t>Mn (≤ 2%)	S (≤ 0.03%)</a:t>
            </a:r>
          </a:p>
        </p:txBody>
      </p:sp>
      <p:sp>
        <p:nvSpPr>
          <p:cNvPr id="7" name="sketchy line">
            <a:extLst>
              <a:ext uri="{FF2B5EF4-FFF2-40B4-BE49-F238E27FC236}">
                <a16:creationId xmlns:a16="http://schemas.microsoft.com/office/drawing/2014/main" id="{E5C9B6E8-0CF9-34DD-2CC2-2DE06BE397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V="1">
            <a:off x="838200" y="15540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11AA0B-E859-64B5-A330-4C688F03870E}"/>
              </a:ext>
            </a:extLst>
          </p:cNvPr>
          <p:cNvSpPr txBox="1"/>
          <p:nvPr/>
        </p:nvSpPr>
        <p:spPr>
          <a:xfrm>
            <a:off x="641447" y="1993669"/>
            <a:ext cx="5099595" cy="1384995"/>
          </a:xfrm>
          <a:prstGeom prst="rect">
            <a:avLst/>
          </a:prstGeom>
          <a:noFill/>
        </p:spPr>
        <p:txBody>
          <a:bodyPr wrap="square" rtlCol="0">
            <a:spAutoFit/>
          </a:bodyPr>
          <a:lstStyle/>
          <a:p>
            <a:pPr marL="571500" indent="-571500">
              <a:buFontTx/>
              <a:buChar char="-"/>
            </a:pPr>
            <a:r>
              <a:rPr lang="en-US" sz="2800"/>
              <a:t>Heat resistance</a:t>
            </a:r>
          </a:p>
          <a:p>
            <a:pPr marL="571500" indent="-571500">
              <a:buFontTx/>
              <a:buChar char="-"/>
            </a:pPr>
            <a:r>
              <a:rPr lang="en-US" sz="2800"/>
              <a:t>Corrosion Resistance</a:t>
            </a:r>
          </a:p>
          <a:p>
            <a:pPr marL="571500" indent="-571500">
              <a:buFontTx/>
              <a:buChar char="-"/>
            </a:pPr>
            <a:r>
              <a:rPr lang="en-US" sz="2800"/>
              <a:t>Durability</a:t>
            </a:r>
          </a:p>
        </p:txBody>
      </p:sp>
      <p:pic>
        <p:nvPicPr>
          <p:cNvPr id="1026" name="Picture 2">
            <a:extLst>
              <a:ext uri="{FF2B5EF4-FFF2-40B4-BE49-F238E27FC236}">
                <a16:creationId xmlns:a16="http://schemas.microsoft.com/office/drawing/2014/main" id="{1D517A96-99B4-4500-06BD-A3C8FA7352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9681" y="356388"/>
            <a:ext cx="3013238" cy="18630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ainless Steel Use in Marine Application - Unified Alloys">
            <a:extLst>
              <a:ext uri="{FF2B5EF4-FFF2-40B4-BE49-F238E27FC236}">
                <a16:creationId xmlns:a16="http://schemas.microsoft.com/office/drawing/2014/main" id="{CD5FA901-D112-A5B1-E1CF-A5BB61FCEB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9050" y="4387896"/>
            <a:ext cx="3014398" cy="20106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1423D07-99D5-2361-0750-D413F7457DF3}"/>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247402" y="2255294"/>
            <a:ext cx="3524558" cy="2347411"/>
          </a:xfrm>
          <a:prstGeom prst="rect">
            <a:avLst/>
          </a:prstGeom>
          <a:ln w="123825">
            <a:solidFill>
              <a:schemeClr val="bg1"/>
            </a:solidFill>
          </a:ln>
        </p:spPr>
      </p:pic>
    </p:spTree>
    <p:extLst>
      <p:ext uri="{BB962C8B-B14F-4D97-AF65-F5344CB8AC3E}">
        <p14:creationId xmlns:p14="http://schemas.microsoft.com/office/powerpoint/2010/main" val="2697290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5079B5-603E-92E3-D304-4F31E59BC394}"/>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263634A8-FE5B-4665-03B3-100A6374E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996D2E95-09CB-0344-348E-3B95E3370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6BE5A4-13D4-C980-0767-7525C79C3F5B}"/>
              </a:ext>
            </a:extLst>
          </p:cNvPr>
          <p:cNvSpPr>
            <a:spLocks noGrp="1"/>
          </p:cNvSpPr>
          <p:nvPr>
            <p:ph type="title"/>
          </p:nvPr>
        </p:nvSpPr>
        <p:spPr>
          <a:xfrm>
            <a:off x="492798" y="1014327"/>
            <a:ext cx="4784796" cy="1330840"/>
          </a:xfrm>
        </p:spPr>
        <p:txBody>
          <a:bodyPr>
            <a:normAutofit/>
          </a:bodyPr>
          <a:lstStyle/>
          <a:p>
            <a:r>
              <a:rPr lang="en-US"/>
              <a:t>Reaction Process</a:t>
            </a:r>
          </a:p>
        </p:txBody>
      </p:sp>
      <p:sp>
        <p:nvSpPr>
          <p:cNvPr id="3" name="Content Placeholder 2">
            <a:extLst>
              <a:ext uri="{FF2B5EF4-FFF2-40B4-BE49-F238E27FC236}">
                <a16:creationId xmlns:a16="http://schemas.microsoft.com/office/drawing/2014/main" id="{FFE0BB52-4768-F4C4-037C-A2EA56A36B05}"/>
              </a:ext>
            </a:extLst>
          </p:cNvPr>
          <p:cNvSpPr>
            <a:spLocks noGrp="1"/>
          </p:cNvSpPr>
          <p:nvPr>
            <p:ph idx="1"/>
          </p:nvPr>
        </p:nvSpPr>
        <p:spPr>
          <a:xfrm>
            <a:off x="492798" y="2362731"/>
            <a:ext cx="4438036" cy="2132538"/>
          </a:xfrm>
        </p:spPr>
        <p:txBody>
          <a:bodyPr>
            <a:normAutofit/>
          </a:bodyPr>
          <a:lstStyle/>
          <a:p>
            <a:pPr marL="0" indent="0">
              <a:buNone/>
            </a:pPr>
            <a:r>
              <a:rPr lang="en-US" sz="2000"/>
              <a:t>The entire process of producing SS316 starts with another process involving coke, iron ore, and a blast furnace. </a:t>
            </a:r>
          </a:p>
          <a:p>
            <a:pPr marL="0" indent="0">
              <a:buNone/>
            </a:pPr>
            <a:r>
              <a:rPr lang="en-US" sz="2000"/>
              <a:t>We’re focusing on the step after this, where the resultant pig iron is placed into a basic oxygen furnace. </a:t>
            </a:r>
          </a:p>
        </p:txBody>
      </p:sp>
      <p:pic>
        <p:nvPicPr>
          <p:cNvPr id="4" name="Picture 3" descr="A diagram of a process&#10;&#10;AI-generated content may be incorrect.">
            <a:extLst>
              <a:ext uri="{FF2B5EF4-FFF2-40B4-BE49-F238E27FC236}">
                <a16:creationId xmlns:a16="http://schemas.microsoft.com/office/drawing/2014/main" id="{85303231-9C76-249F-FD59-139C5809FE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709103" y="1254239"/>
            <a:ext cx="5275037" cy="3705713"/>
          </a:xfrm>
          <a:prstGeom prst="rect">
            <a:avLst/>
          </a:prstGeom>
          <a:noFill/>
        </p:spPr>
      </p:pic>
      <p:sp>
        <p:nvSpPr>
          <p:cNvPr id="7" name="Rounded Rectangle 6">
            <a:extLst>
              <a:ext uri="{FF2B5EF4-FFF2-40B4-BE49-F238E27FC236}">
                <a16:creationId xmlns:a16="http://schemas.microsoft.com/office/drawing/2014/main" id="{A3D7257E-FEB2-5886-21CD-07A87DF7BD0C}"/>
              </a:ext>
            </a:extLst>
          </p:cNvPr>
          <p:cNvSpPr/>
          <p:nvPr/>
        </p:nvSpPr>
        <p:spPr>
          <a:xfrm>
            <a:off x="8427024" y="2345167"/>
            <a:ext cx="1889560" cy="865013"/>
          </a:xfrm>
          <a:prstGeom prst="roundRect">
            <a:avLst/>
          </a:prstGeom>
          <a:noFill/>
          <a:ln w="76200">
            <a:solidFill>
              <a:srgbClr val="FF84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highlight>
                <a:srgbClr val="FFFF00"/>
              </a:highlight>
            </a:endParaRPr>
          </a:p>
        </p:txBody>
      </p:sp>
      <p:sp>
        <p:nvSpPr>
          <p:cNvPr id="8" name="TextBox 7">
            <a:extLst>
              <a:ext uri="{FF2B5EF4-FFF2-40B4-BE49-F238E27FC236}">
                <a16:creationId xmlns:a16="http://schemas.microsoft.com/office/drawing/2014/main" id="{44CA86AD-AFD6-909C-B8A6-C3AE93070F91}"/>
              </a:ext>
            </a:extLst>
          </p:cNvPr>
          <p:cNvSpPr txBox="1"/>
          <p:nvPr/>
        </p:nvSpPr>
        <p:spPr>
          <a:xfrm>
            <a:off x="6709102" y="5032261"/>
            <a:ext cx="5275037" cy="830997"/>
          </a:xfrm>
          <a:prstGeom prst="rect">
            <a:avLst/>
          </a:prstGeom>
          <a:noFill/>
        </p:spPr>
        <p:txBody>
          <a:bodyPr wrap="square" rtlCol="0">
            <a:spAutoFit/>
          </a:bodyPr>
          <a:lstStyle/>
          <a:p>
            <a:r>
              <a:rPr lang="en-US" sz="1200">
                <a:effectLst/>
                <a:latin typeface="Aptos" panose="020B0004020202020204" pitchFamily="34" charset="0"/>
                <a:ea typeface="Times New Roman" panose="02020603050405020304" pitchFamily="18" charset="0"/>
                <a:cs typeface="Times New Roman" panose="02020603050405020304" pitchFamily="18" charset="0"/>
              </a:rPr>
              <a:t>Wright, R. N. (2016). Chapter 14 - Relevant Aspects of Carbon and Low-Alloy Steel Metallurgy. In </a:t>
            </a:r>
            <a:r>
              <a:rPr lang="en-US" sz="1200" i="1">
                <a:effectLst/>
                <a:latin typeface="Aptos" panose="020B0004020202020204" pitchFamily="34" charset="0"/>
                <a:ea typeface="Times New Roman" panose="02020603050405020304" pitchFamily="18" charset="0"/>
                <a:cs typeface="Times New Roman" panose="02020603050405020304" pitchFamily="18" charset="0"/>
              </a:rPr>
              <a:t>Wire Technology</a:t>
            </a:r>
            <a:r>
              <a:rPr lang="en-US" sz="1200">
                <a:effectLst/>
                <a:latin typeface="Aptos" panose="020B0004020202020204" pitchFamily="34" charset="0"/>
                <a:ea typeface="Times New Roman" panose="02020603050405020304" pitchFamily="18" charset="0"/>
                <a:cs typeface="Times New Roman" panose="02020603050405020304" pitchFamily="18" charset="0"/>
              </a:rPr>
              <a:t> (Second Edition, pp. 201–233). essay, Butterworth-Heinemann. Retrieved October 19, 2025, from </a:t>
            </a:r>
            <a:r>
              <a:rPr lang="en-US" sz="1200" u="sng">
                <a:solidFill>
                  <a:srgbClr val="467886"/>
                </a:solidFill>
                <a:effectLst/>
                <a:latin typeface="Aptos" panose="020B0004020202020204" pitchFamily="34" charset="0"/>
                <a:ea typeface="Times New Roman" panose="02020603050405020304" pitchFamily="18" charset="0"/>
                <a:cs typeface="Times New Roman" panose="02020603050405020304" pitchFamily="18" charset="0"/>
                <a:hlinkClick r:id="rId3"/>
              </a:rPr>
              <a:t>https://www.sciencedirect.com/science/article/pii/B9780128026502000145</a:t>
            </a:r>
            <a:r>
              <a:rPr lang="en-US" sz="1200">
                <a:effectLst/>
                <a:latin typeface="Aptos" panose="020B0004020202020204" pitchFamily="34" charset="0"/>
                <a:ea typeface="Times New Roman" panose="02020603050405020304" pitchFamily="18" charset="0"/>
                <a:cs typeface="Times New Roman" panose="02020603050405020304" pitchFamily="18" charset="0"/>
              </a:rPr>
              <a:t> .</a:t>
            </a:r>
            <a:endParaRPr lang="en-US" sz="1200"/>
          </a:p>
        </p:txBody>
      </p:sp>
    </p:spTree>
    <p:extLst>
      <p:ext uri="{BB962C8B-B14F-4D97-AF65-F5344CB8AC3E}">
        <p14:creationId xmlns:p14="http://schemas.microsoft.com/office/powerpoint/2010/main" val="1875372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157965-0F1B-A913-8AA7-E2DDE0DBF0EB}"/>
              </a:ext>
            </a:extLst>
          </p:cNvPr>
          <p:cNvSpPr>
            <a:spLocks noGrp="1"/>
          </p:cNvSpPr>
          <p:nvPr>
            <p:ph type="title"/>
          </p:nvPr>
        </p:nvSpPr>
        <p:spPr>
          <a:xfrm>
            <a:off x="838200" y="365125"/>
            <a:ext cx="10515600" cy="1325563"/>
          </a:xfrm>
        </p:spPr>
        <p:txBody>
          <a:bodyPr>
            <a:normAutofit/>
          </a:bodyPr>
          <a:lstStyle/>
          <a:p>
            <a:r>
              <a:rPr lang="en-US" sz="4000"/>
              <a:t>Problem Statement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flipV="1">
            <a:off x="667512" y="1595820"/>
            <a:ext cx="5426964" cy="18288"/>
          </a:xfrm>
          <a:custGeom>
            <a:avLst/>
            <a:gdLst>
              <a:gd name="csX0" fmla="*/ 0 w 5426964"/>
              <a:gd name="csY0" fmla="*/ 0 h 18288"/>
              <a:gd name="csX1" fmla="*/ 569831 w 5426964"/>
              <a:gd name="csY1" fmla="*/ 0 h 18288"/>
              <a:gd name="csX2" fmla="*/ 1302471 w 5426964"/>
              <a:gd name="csY2" fmla="*/ 0 h 18288"/>
              <a:gd name="csX3" fmla="*/ 1926572 w 5426964"/>
              <a:gd name="csY3" fmla="*/ 0 h 18288"/>
              <a:gd name="csX4" fmla="*/ 2496403 w 5426964"/>
              <a:gd name="csY4" fmla="*/ 0 h 18288"/>
              <a:gd name="csX5" fmla="*/ 3229044 w 5426964"/>
              <a:gd name="csY5" fmla="*/ 0 h 18288"/>
              <a:gd name="csX6" fmla="*/ 3907414 w 5426964"/>
              <a:gd name="csY6" fmla="*/ 0 h 18288"/>
              <a:gd name="csX7" fmla="*/ 4585785 w 5426964"/>
              <a:gd name="csY7" fmla="*/ 0 h 18288"/>
              <a:gd name="csX8" fmla="*/ 5426964 w 5426964"/>
              <a:gd name="csY8" fmla="*/ 0 h 18288"/>
              <a:gd name="csX9" fmla="*/ 5426964 w 5426964"/>
              <a:gd name="csY9" fmla="*/ 18288 h 18288"/>
              <a:gd name="csX10" fmla="*/ 4857133 w 5426964"/>
              <a:gd name="csY10" fmla="*/ 18288 h 18288"/>
              <a:gd name="csX11" fmla="*/ 4341571 w 5426964"/>
              <a:gd name="csY11" fmla="*/ 18288 h 18288"/>
              <a:gd name="csX12" fmla="*/ 3608931 w 5426964"/>
              <a:gd name="csY12" fmla="*/ 18288 h 18288"/>
              <a:gd name="csX13" fmla="*/ 3039100 w 5426964"/>
              <a:gd name="csY13" fmla="*/ 18288 h 18288"/>
              <a:gd name="csX14" fmla="*/ 2306460 w 5426964"/>
              <a:gd name="csY14" fmla="*/ 18288 h 18288"/>
              <a:gd name="csX15" fmla="*/ 1519550 w 5426964"/>
              <a:gd name="csY15" fmla="*/ 18288 h 18288"/>
              <a:gd name="csX16" fmla="*/ 895449 w 5426964"/>
              <a:gd name="csY16" fmla="*/ 18288 h 18288"/>
              <a:gd name="csX17" fmla="*/ 0 w 5426964"/>
              <a:gd name="csY17" fmla="*/ 18288 h 18288"/>
              <a:gd name="csX18" fmla="*/ 0 w 5426964"/>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26964" h="18288" fill="none" extrusionOk="0">
                <a:moveTo>
                  <a:pt x="0" y="0"/>
                </a:moveTo>
                <a:cubicBezTo>
                  <a:pt x="252025" y="17123"/>
                  <a:pt x="453919" y="-5965"/>
                  <a:pt x="569831" y="0"/>
                </a:cubicBezTo>
                <a:cubicBezTo>
                  <a:pt x="685743" y="5965"/>
                  <a:pt x="1133903" y="-25421"/>
                  <a:pt x="1302471" y="0"/>
                </a:cubicBezTo>
                <a:cubicBezTo>
                  <a:pt x="1471039" y="25421"/>
                  <a:pt x="1662690" y="24907"/>
                  <a:pt x="1926572" y="0"/>
                </a:cubicBezTo>
                <a:cubicBezTo>
                  <a:pt x="2190454" y="-24907"/>
                  <a:pt x="2370652" y="-13774"/>
                  <a:pt x="2496403" y="0"/>
                </a:cubicBezTo>
                <a:cubicBezTo>
                  <a:pt x="2622154" y="13774"/>
                  <a:pt x="3024733" y="-33033"/>
                  <a:pt x="3229044" y="0"/>
                </a:cubicBezTo>
                <a:cubicBezTo>
                  <a:pt x="3433355" y="33033"/>
                  <a:pt x="3589717" y="-3836"/>
                  <a:pt x="3907414" y="0"/>
                </a:cubicBezTo>
                <a:cubicBezTo>
                  <a:pt x="4225111" y="3836"/>
                  <a:pt x="4406878" y="-7799"/>
                  <a:pt x="4585785" y="0"/>
                </a:cubicBezTo>
                <a:cubicBezTo>
                  <a:pt x="4764692" y="7799"/>
                  <a:pt x="5100006" y="13354"/>
                  <a:pt x="5426964" y="0"/>
                </a:cubicBezTo>
                <a:cubicBezTo>
                  <a:pt x="5427494" y="6954"/>
                  <a:pt x="5427698" y="12839"/>
                  <a:pt x="5426964" y="18288"/>
                </a:cubicBezTo>
                <a:cubicBezTo>
                  <a:pt x="5219354" y="36596"/>
                  <a:pt x="4979519" y="39779"/>
                  <a:pt x="4857133" y="18288"/>
                </a:cubicBezTo>
                <a:cubicBezTo>
                  <a:pt x="4734747" y="-3203"/>
                  <a:pt x="4558818" y="8225"/>
                  <a:pt x="4341571" y="18288"/>
                </a:cubicBezTo>
                <a:cubicBezTo>
                  <a:pt x="4124324" y="28351"/>
                  <a:pt x="3910869" y="12912"/>
                  <a:pt x="3608931" y="18288"/>
                </a:cubicBezTo>
                <a:cubicBezTo>
                  <a:pt x="3306993" y="23664"/>
                  <a:pt x="3282925" y="4517"/>
                  <a:pt x="3039100" y="18288"/>
                </a:cubicBezTo>
                <a:cubicBezTo>
                  <a:pt x="2795275" y="32059"/>
                  <a:pt x="2556131" y="22507"/>
                  <a:pt x="2306460" y="18288"/>
                </a:cubicBezTo>
                <a:cubicBezTo>
                  <a:pt x="2056789" y="14069"/>
                  <a:pt x="1833654" y="37714"/>
                  <a:pt x="1519550" y="18288"/>
                </a:cubicBezTo>
                <a:cubicBezTo>
                  <a:pt x="1205446" y="-1138"/>
                  <a:pt x="1162276" y="22083"/>
                  <a:pt x="895449" y="18288"/>
                </a:cubicBezTo>
                <a:cubicBezTo>
                  <a:pt x="628622" y="14493"/>
                  <a:pt x="287342" y="8118"/>
                  <a:pt x="0" y="18288"/>
                </a:cubicBezTo>
                <a:cubicBezTo>
                  <a:pt x="-570" y="9279"/>
                  <a:pt x="132" y="5100"/>
                  <a:pt x="0" y="0"/>
                </a:cubicBezTo>
                <a:close/>
              </a:path>
              <a:path w="5426964" h="18288" stroke="0" extrusionOk="0">
                <a:moveTo>
                  <a:pt x="0" y="0"/>
                </a:moveTo>
                <a:cubicBezTo>
                  <a:pt x="164082" y="30662"/>
                  <a:pt x="417937" y="-3681"/>
                  <a:pt x="624101" y="0"/>
                </a:cubicBezTo>
                <a:cubicBezTo>
                  <a:pt x="830265" y="3681"/>
                  <a:pt x="1018930" y="-23418"/>
                  <a:pt x="1139662" y="0"/>
                </a:cubicBezTo>
                <a:cubicBezTo>
                  <a:pt x="1260394" y="23418"/>
                  <a:pt x="1544701" y="33954"/>
                  <a:pt x="1926572" y="0"/>
                </a:cubicBezTo>
                <a:cubicBezTo>
                  <a:pt x="2308443" y="-33954"/>
                  <a:pt x="2419246" y="-13519"/>
                  <a:pt x="2550673" y="0"/>
                </a:cubicBezTo>
                <a:cubicBezTo>
                  <a:pt x="2682100" y="13519"/>
                  <a:pt x="2893502" y="3302"/>
                  <a:pt x="3174774" y="0"/>
                </a:cubicBezTo>
                <a:cubicBezTo>
                  <a:pt x="3456046" y="-3302"/>
                  <a:pt x="3706541" y="-25428"/>
                  <a:pt x="3961684" y="0"/>
                </a:cubicBezTo>
                <a:cubicBezTo>
                  <a:pt x="4216827" y="25428"/>
                  <a:pt x="4334972" y="-27877"/>
                  <a:pt x="4531515" y="0"/>
                </a:cubicBezTo>
                <a:cubicBezTo>
                  <a:pt x="4728058" y="27877"/>
                  <a:pt x="4979538" y="-17220"/>
                  <a:pt x="5426964" y="0"/>
                </a:cubicBezTo>
                <a:cubicBezTo>
                  <a:pt x="5426281" y="5414"/>
                  <a:pt x="5426244" y="12510"/>
                  <a:pt x="5426964" y="18288"/>
                </a:cubicBezTo>
                <a:cubicBezTo>
                  <a:pt x="5143913" y="21260"/>
                  <a:pt x="5005988" y="4341"/>
                  <a:pt x="4857133" y="18288"/>
                </a:cubicBezTo>
                <a:cubicBezTo>
                  <a:pt x="4708278" y="32235"/>
                  <a:pt x="4362552" y="-7452"/>
                  <a:pt x="4178762" y="18288"/>
                </a:cubicBezTo>
                <a:cubicBezTo>
                  <a:pt x="3994972" y="44028"/>
                  <a:pt x="3754601" y="17025"/>
                  <a:pt x="3554661" y="18288"/>
                </a:cubicBezTo>
                <a:cubicBezTo>
                  <a:pt x="3354721" y="19551"/>
                  <a:pt x="3011851" y="-18926"/>
                  <a:pt x="2767752" y="18288"/>
                </a:cubicBezTo>
                <a:cubicBezTo>
                  <a:pt x="2523653" y="55502"/>
                  <a:pt x="2327386" y="-9891"/>
                  <a:pt x="1980842" y="18288"/>
                </a:cubicBezTo>
                <a:cubicBezTo>
                  <a:pt x="1634298" y="46467"/>
                  <a:pt x="1694486" y="16638"/>
                  <a:pt x="1411011" y="18288"/>
                </a:cubicBezTo>
                <a:cubicBezTo>
                  <a:pt x="1127536" y="19938"/>
                  <a:pt x="1013087" y="174"/>
                  <a:pt x="732640" y="18288"/>
                </a:cubicBezTo>
                <a:cubicBezTo>
                  <a:pt x="452193" y="36402"/>
                  <a:pt x="250234" y="49624"/>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F5F9E191-F0D6-CE4B-CD42-101E6369B06F}"/>
              </a:ext>
            </a:extLst>
          </p:cNvPr>
          <p:cNvSpPr txBox="1">
            <a:spLocks/>
          </p:cNvSpPr>
          <p:nvPr/>
        </p:nvSpPr>
        <p:spPr>
          <a:xfrm>
            <a:off x="667512" y="1992206"/>
            <a:ext cx="5426964"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2400"/>
              <a:t>Produce 1000kg of SS316</a:t>
            </a:r>
          </a:p>
          <a:p>
            <a:pPr>
              <a:buFontTx/>
              <a:buChar char="-"/>
            </a:pPr>
            <a:r>
              <a:rPr lang="en-US" sz="2400"/>
              <a:t>Recycle Ratio: 3:1</a:t>
            </a:r>
          </a:p>
          <a:p>
            <a:pPr>
              <a:buFontTx/>
              <a:buChar char="-"/>
            </a:pPr>
            <a:r>
              <a:rPr lang="en-US" sz="2400"/>
              <a:t>Reacts in a basic oxygen furnace with pure oxygen at 8-12 bar with a lance</a:t>
            </a:r>
          </a:p>
          <a:p>
            <a:pPr>
              <a:buFontTx/>
              <a:buChar char="-"/>
            </a:pPr>
            <a:r>
              <a:rPr lang="en-US" sz="2400"/>
              <a:t>Furnace reaches 1700°C and is jacketed with molten salt</a:t>
            </a:r>
          </a:p>
          <a:p>
            <a:pPr>
              <a:buFontTx/>
              <a:buChar char="-"/>
            </a:pPr>
            <a:r>
              <a:rPr lang="en-US" sz="2400"/>
              <a:t>Heat of Reaction -27.89 MJ/kg SS316 (reaction is exothermic)</a:t>
            </a:r>
          </a:p>
        </p:txBody>
      </p:sp>
      <p:graphicFrame>
        <p:nvGraphicFramePr>
          <p:cNvPr id="3" name="Table 2">
            <a:extLst>
              <a:ext uri="{FF2B5EF4-FFF2-40B4-BE49-F238E27FC236}">
                <a16:creationId xmlns:a16="http://schemas.microsoft.com/office/drawing/2014/main" id="{7ECA55A4-0458-58AE-F852-0794E78E6CF0}"/>
              </a:ext>
            </a:extLst>
          </p:cNvPr>
          <p:cNvGraphicFramePr>
            <a:graphicFrameLocks noGrp="1"/>
          </p:cNvGraphicFramePr>
          <p:nvPr>
            <p:extLst>
              <p:ext uri="{D42A27DB-BD31-4B8C-83A1-F6EECF244321}">
                <p14:modId xmlns:p14="http://schemas.microsoft.com/office/powerpoint/2010/main" val="3723299005"/>
              </p:ext>
            </p:extLst>
          </p:nvPr>
        </p:nvGraphicFramePr>
        <p:xfrm>
          <a:off x="6761988" y="529166"/>
          <a:ext cx="4370184" cy="2926080"/>
        </p:xfrm>
        <a:graphic>
          <a:graphicData uri="http://schemas.openxmlformats.org/drawingml/2006/table">
            <a:tbl>
              <a:tblPr firstRow="1" bandRow="1" bandCol="1">
                <a:tableStyleId>{72833802-FEF1-4C79-8D5D-14CF1EAF98D9}</a:tableStyleId>
              </a:tblPr>
              <a:tblGrid>
                <a:gridCol w="2185092">
                  <a:extLst>
                    <a:ext uri="{9D8B030D-6E8A-4147-A177-3AD203B41FA5}">
                      <a16:colId xmlns:a16="http://schemas.microsoft.com/office/drawing/2014/main" val="3668987874"/>
                    </a:ext>
                  </a:extLst>
                </a:gridCol>
                <a:gridCol w="2185092">
                  <a:extLst>
                    <a:ext uri="{9D8B030D-6E8A-4147-A177-3AD203B41FA5}">
                      <a16:colId xmlns:a16="http://schemas.microsoft.com/office/drawing/2014/main" val="4088944606"/>
                    </a:ext>
                  </a:extLst>
                </a:gridCol>
              </a:tblGrid>
              <a:tr h="340456">
                <a:tc gridSpan="2">
                  <a:txBody>
                    <a:bodyPr/>
                    <a:lstStyle/>
                    <a:p>
                      <a:pPr algn="ctr"/>
                      <a:r>
                        <a:rPr lang="en-US"/>
                        <a:t>Pig Iron Composition</a:t>
                      </a:r>
                    </a:p>
                  </a:txBody>
                  <a:tcPr/>
                </a:tc>
                <a:tc hMerge="1">
                  <a:txBody>
                    <a:bodyPr/>
                    <a:lstStyle/>
                    <a:p>
                      <a:endParaRPr lang="en-US"/>
                    </a:p>
                  </a:txBody>
                  <a:tcPr/>
                </a:tc>
                <a:extLst>
                  <a:ext uri="{0D108BD9-81ED-4DB2-BD59-A6C34878D82A}">
                    <a16:rowId xmlns:a16="http://schemas.microsoft.com/office/drawing/2014/main" val="2443611240"/>
                  </a:ext>
                </a:extLst>
              </a:tr>
              <a:tr h="340456">
                <a:tc>
                  <a:txBody>
                    <a:bodyPr/>
                    <a:lstStyle/>
                    <a:p>
                      <a:r>
                        <a:rPr lang="en-US">
                          <a:solidFill>
                            <a:schemeClr val="tx1"/>
                          </a:solidFill>
                        </a:rPr>
                        <a:t>Alloy</a:t>
                      </a:r>
                    </a:p>
                  </a:txBody>
                  <a:tcPr>
                    <a:solidFill>
                      <a:schemeClr val="accent2">
                        <a:lumMod val="20000"/>
                        <a:lumOff val="80000"/>
                      </a:schemeClr>
                    </a:solidFill>
                  </a:tcPr>
                </a:tc>
                <a:tc>
                  <a:txBody>
                    <a:bodyPr/>
                    <a:lstStyle/>
                    <a:p>
                      <a:r>
                        <a:rPr lang="en-US">
                          <a:solidFill>
                            <a:schemeClr val="tx1"/>
                          </a:solidFill>
                        </a:rPr>
                        <a:t>% Comp.</a:t>
                      </a:r>
                    </a:p>
                  </a:txBody>
                  <a:tcPr>
                    <a:solidFill>
                      <a:schemeClr val="accent2">
                        <a:lumMod val="20000"/>
                        <a:lumOff val="80000"/>
                      </a:schemeClr>
                    </a:solidFill>
                  </a:tcPr>
                </a:tc>
                <a:extLst>
                  <a:ext uri="{0D108BD9-81ED-4DB2-BD59-A6C34878D82A}">
                    <a16:rowId xmlns:a16="http://schemas.microsoft.com/office/drawing/2014/main" val="2918817822"/>
                  </a:ext>
                </a:extLst>
              </a:tr>
              <a:tr h="340456">
                <a:tc>
                  <a:txBody>
                    <a:bodyPr/>
                    <a:lstStyle/>
                    <a:p>
                      <a:r>
                        <a:rPr lang="en-US"/>
                        <a:t>Carbon</a:t>
                      </a:r>
                    </a:p>
                  </a:txBody>
                  <a:tcPr/>
                </a:tc>
                <a:tc>
                  <a:txBody>
                    <a:bodyPr/>
                    <a:lstStyle/>
                    <a:p>
                      <a:r>
                        <a:rPr lang="en-US"/>
                        <a:t>4.05%</a:t>
                      </a:r>
                    </a:p>
                  </a:txBody>
                  <a:tcPr/>
                </a:tc>
                <a:extLst>
                  <a:ext uri="{0D108BD9-81ED-4DB2-BD59-A6C34878D82A}">
                    <a16:rowId xmlns:a16="http://schemas.microsoft.com/office/drawing/2014/main" val="3410102378"/>
                  </a:ext>
                </a:extLst>
              </a:tr>
              <a:tr h="340456">
                <a:tc>
                  <a:txBody>
                    <a:bodyPr/>
                    <a:lstStyle/>
                    <a:p>
                      <a:r>
                        <a:rPr lang="en-US"/>
                        <a:t>Silicon </a:t>
                      </a:r>
                    </a:p>
                  </a:txBody>
                  <a:tcPr/>
                </a:tc>
                <a:tc>
                  <a:txBody>
                    <a:bodyPr/>
                    <a:lstStyle/>
                    <a:p>
                      <a:r>
                        <a:rPr lang="en-US"/>
                        <a:t>0.5%</a:t>
                      </a:r>
                    </a:p>
                  </a:txBody>
                  <a:tcPr/>
                </a:tc>
                <a:extLst>
                  <a:ext uri="{0D108BD9-81ED-4DB2-BD59-A6C34878D82A}">
                    <a16:rowId xmlns:a16="http://schemas.microsoft.com/office/drawing/2014/main" val="945249695"/>
                  </a:ext>
                </a:extLst>
              </a:tr>
              <a:tr h="340456">
                <a:tc>
                  <a:txBody>
                    <a:bodyPr/>
                    <a:lstStyle/>
                    <a:p>
                      <a:r>
                        <a:rPr lang="en-US"/>
                        <a:t>Phosphorus</a:t>
                      </a:r>
                    </a:p>
                  </a:txBody>
                  <a:tcPr/>
                </a:tc>
                <a:tc>
                  <a:txBody>
                    <a:bodyPr/>
                    <a:lstStyle/>
                    <a:p>
                      <a:r>
                        <a:rPr lang="en-US"/>
                        <a:t>0.05%</a:t>
                      </a:r>
                    </a:p>
                  </a:txBody>
                  <a:tcPr/>
                </a:tc>
                <a:extLst>
                  <a:ext uri="{0D108BD9-81ED-4DB2-BD59-A6C34878D82A}">
                    <a16:rowId xmlns:a16="http://schemas.microsoft.com/office/drawing/2014/main" val="2320664398"/>
                  </a:ext>
                </a:extLst>
              </a:tr>
              <a:tr h="340456">
                <a:tc>
                  <a:txBody>
                    <a:bodyPr/>
                    <a:lstStyle/>
                    <a:p>
                      <a:r>
                        <a:rPr lang="en-US"/>
                        <a:t>Iron</a:t>
                      </a:r>
                    </a:p>
                  </a:txBody>
                  <a:tcPr/>
                </a:tc>
                <a:tc>
                  <a:txBody>
                    <a:bodyPr/>
                    <a:lstStyle/>
                    <a:p>
                      <a:r>
                        <a:rPr lang="en-US"/>
                        <a:t>94.56%</a:t>
                      </a:r>
                    </a:p>
                  </a:txBody>
                  <a:tcPr/>
                </a:tc>
                <a:extLst>
                  <a:ext uri="{0D108BD9-81ED-4DB2-BD59-A6C34878D82A}">
                    <a16:rowId xmlns:a16="http://schemas.microsoft.com/office/drawing/2014/main" val="2102114055"/>
                  </a:ext>
                </a:extLst>
              </a:tr>
              <a:tr h="340456">
                <a:tc>
                  <a:txBody>
                    <a:bodyPr/>
                    <a:lstStyle/>
                    <a:p>
                      <a:r>
                        <a:rPr lang="en-US"/>
                        <a:t>Sulfur</a:t>
                      </a:r>
                    </a:p>
                  </a:txBody>
                  <a:tcPr/>
                </a:tc>
                <a:tc>
                  <a:txBody>
                    <a:bodyPr/>
                    <a:lstStyle/>
                    <a:p>
                      <a:r>
                        <a:rPr lang="en-US"/>
                        <a:t>0.04%</a:t>
                      </a:r>
                    </a:p>
                  </a:txBody>
                  <a:tcPr/>
                </a:tc>
                <a:extLst>
                  <a:ext uri="{0D108BD9-81ED-4DB2-BD59-A6C34878D82A}">
                    <a16:rowId xmlns:a16="http://schemas.microsoft.com/office/drawing/2014/main" val="2696362580"/>
                  </a:ext>
                </a:extLst>
              </a:tr>
              <a:tr h="340456">
                <a:tc>
                  <a:txBody>
                    <a:bodyPr/>
                    <a:lstStyle/>
                    <a:p>
                      <a:r>
                        <a:rPr lang="en-US"/>
                        <a:t>Manganese</a:t>
                      </a:r>
                    </a:p>
                  </a:txBody>
                  <a:tcPr/>
                </a:tc>
                <a:tc>
                  <a:txBody>
                    <a:bodyPr/>
                    <a:lstStyle/>
                    <a:p>
                      <a:r>
                        <a:rPr lang="en-US"/>
                        <a:t>0.8%</a:t>
                      </a:r>
                    </a:p>
                  </a:txBody>
                  <a:tcPr/>
                </a:tc>
                <a:extLst>
                  <a:ext uri="{0D108BD9-81ED-4DB2-BD59-A6C34878D82A}">
                    <a16:rowId xmlns:a16="http://schemas.microsoft.com/office/drawing/2014/main" val="2246532065"/>
                  </a:ext>
                </a:extLst>
              </a:tr>
            </a:tbl>
          </a:graphicData>
        </a:graphic>
      </p:graphicFrame>
      <p:graphicFrame>
        <p:nvGraphicFramePr>
          <p:cNvPr id="5" name="Table 4">
            <a:extLst>
              <a:ext uri="{FF2B5EF4-FFF2-40B4-BE49-F238E27FC236}">
                <a16:creationId xmlns:a16="http://schemas.microsoft.com/office/drawing/2014/main" id="{D9EFFD44-06DF-4095-1B72-F13BD41ED5D0}"/>
              </a:ext>
            </a:extLst>
          </p:cNvPr>
          <p:cNvGraphicFramePr>
            <a:graphicFrameLocks noGrp="1"/>
          </p:cNvGraphicFramePr>
          <p:nvPr>
            <p:extLst>
              <p:ext uri="{D42A27DB-BD31-4B8C-83A1-F6EECF244321}">
                <p14:modId xmlns:p14="http://schemas.microsoft.com/office/powerpoint/2010/main" val="977892078"/>
              </p:ext>
            </p:extLst>
          </p:nvPr>
        </p:nvGraphicFramePr>
        <p:xfrm>
          <a:off x="6761988" y="3781764"/>
          <a:ext cx="4370184" cy="2685711"/>
        </p:xfrm>
        <a:graphic>
          <a:graphicData uri="http://schemas.openxmlformats.org/drawingml/2006/table">
            <a:tbl>
              <a:tblPr firstRow="1" bandRow="1" bandCol="1">
                <a:tableStyleId>{72833802-FEF1-4C79-8D5D-14CF1EAF98D9}</a:tableStyleId>
              </a:tblPr>
              <a:tblGrid>
                <a:gridCol w="2185092">
                  <a:extLst>
                    <a:ext uri="{9D8B030D-6E8A-4147-A177-3AD203B41FA5}">
                      <a16:colId xmlns:a16="http://schemas.microsoft.com/office/drawing/2014/main" val="3668987874"/>
                    </a:ext>
                  </a:extLst>
                </a:gridCol>
                <a:gridCol w="2185092">
                  <a:extLst>
                    <a:ext uri="{9D8B030D-6E8A-4147-A177-3AD203B41FA5}">
                      <a16:colId xmlns:a16="http://schemas.microsoft.com/office/drawing/2014/main" val="4088944606"/>
                    </a:ext>
                  </a:extLst>
                </a:gridCol>
              </a:tblGrid>
              <a:tr h="383673">
                <a:tc gridSpan="2">
                  <a:txBody>
                    <a:bodyPr/>
                    <a:lstStyle/>
                    <a:p>
                      <a:pPr algn="ctr"/>
                      <a:r>
                        <a:rPr lang="en-US"/>
                        <a:t>SS316 Composition</a:t>
                      </a:r>
                    </a:p>
                  </a:txBody>
                  <a:tcPr/>
                </a:tc>
                <a:tc hMerge="1">
                  <a:txBody>
                    <a:bodyPr/>
                    <a:lstStyle/>
                    <a:p>
                      <a:endParaRPr lang="en-US"/>
                    </a:p>
                  </a:txBody>
                  <a:tcPr/>
                </a:tc>
                <a:extLst>
                  <a:ext uri="{0D108BD9-81ED-4DB2-BD59-A6C34878D82A}">
                    <a16:rowId xmlns:a16="http://schemas.microsoft.com/office/drawing/2014/main" val="845085395"/>
                  </a:ext>
                </a:extLst>
              </a:tr>
              <a:tr h="383673">
                <a:tc>
                  <a:txBody>
                    <a:bodyPr/>
                    <a:lstStyle/>
                    <a:p>
                      <a:r>
                        <a:rPr lang="en-US"/>
                        <a:t>Alloy</a:t>
                      </a:r>
                    </a:p>
                  </a:txBody>
                  <a:tcPr>
                    <a:solidFill>
                      <a:schemeClr val="accent2">
                        <a:lumMod val="20000"/>
                        <a:lumOff val="80000"/>
                      </a:schemeClr>
                    </a:solidFill>
                  </a:tcPr>
                </a:tc>
                <a:tc>
                  <a:txBody>
                    <a:bodyPr/>
                    <a:lstStyle/>
                    <a:p>
                      <a:r>
                        <a:rPr lang="en-US"/>
                        <a:t>% Comp.</a:t>
                      </a:r>
                    </a:p>
                  </a:txBody>
                  <a:tcPr>
                    <a:solidFill>
                      <a:schemeClr val="accent2">
                        <a:lumMod val="20000"/>
                        <a:lumOff val="80000"/>
                      </a:schemeClr>
                    </a:solidFill>
                  </a:tcPr>
                </a:tc>
                <a:extLst>
                  <a:ext uri="{0D108BD9-81ED-4DB2-BD59-A6C34878D82A}">
                    <a16:rowId xmlns:a16="http://schemas.microsoft.com/office/drawing/2014/main" val="2918817822"/>
                  </a:ext>
                </a:extLst>
              </a:tr>
              <a:tr h="383673">
                <a:tc>
                  <a:txBody>
                    <a:bodyPr/>
                    <a:lstStyle/>
                    <a:p>
                      <a:r>
                        <a:rPr lang="en-US"/>
                        <a:t>Carbon</a:t>
                      </a:r>
                    </a:p>
                  </a:txBody>
                  <a:tcPr/>
                </a:tc>
                <a:tc>
                  <a:txBody>
                    <a:bodyPr/>
                    <a:lstStyle/>
                    <a:p>
                      <a:r>
                        <a:rPr lang="en-US"/>
                        <a:t>0.07%</a:t>
                      </a:r>
                    </a:p>
                  </a:txBody>
                  <a:tcPr/>
                </a:tc>
                <a:extLst>
                  <a:ext uri="{0D108BD9-81ED-4DB2-BD59-A6C34878D82A}">
                    <a16:rowId xmlns:a16="http://schemas.microsoft.com/office/drawing/2014/main" val="3410102378"/>
                  </a:ext>
                </a:extLst>
              </a:tr>
              <a:tr h="383673">
                <a:tc>
                  <a:txBody>
                    <a:bodyPr/>
                    <a:lstStyle/>
                    <a:p>
                      <a:r>
                        <a:rPr lang="en-US"/>
                        <a:t>Chromium</a:t>
                      </a:r>
                    </a:p>
                  </a:txBody>
                  <a:tcPr/>
                </a:tc>
                <a:tc>
                  <a:txBody>
                    <a:bodyPr/>
                    <a:lstStyle/>
                    <a:p>
                      <a:r>
                        <a:rPr lang="en-US"/>
                        <a:t>17%</a:t>
                      </a:r>
                    </a:p>
                  </a:txBody>
                  <a:tcPr/>
                </a:tc>
                <a:extLst>
                  <a:ext uri="{0D108BD9-81ED-4DB2-BD59-A6C34878D82A}">
                    <a16:rowId xmlns:a16="http://schemas.microsoft.com/office/drawing/2014/main" val="945249695"/>
                  </a:ext>
                </a:extLst>
              </a:tr>
              <a:tr h="383673">
                <a:tc>
                  <a:txBody>
                    <a:bodyPr/>
                    <a:lstStyle/>
                    <a:p>
                      <a:r>
                        <a:rPr lang="en-US"/>
                        <a:t>Nickel</a:t>
                      </a:r>
                    </a:p>
                  </a:txBody>
                  <a:tcPr/>
                </a:tc>
                <a:tc>
                  <a:txBody>
                    <a:bodyPr/>
                    <a:lstStyle/>
                    <a:p>
                      <a:r>
                        <a:rPr lang="en-US"/>
                        <a:t>11%</a:t>
                      </a:r>
                    </a:p>
                  </a:txBody>
                  <a:tcPr/>
                </a:tc>
                <a:extLst>
                  <a:ext uri="{0D108BD9-81ED-4DB2-BD59-A6C34878D82A}">
                    <a16:rowId xmlns:a16="http://schemas.microsoft.com/office/drawing/2014/main" val="2320664398"/>
                  </a:ext>
                </a:extLst>
              </a:tr>
              <a:tr h="383673">
                <a:tc>
                  <a:txBody>
                    <a:bodyPr/>
                    <a:lstStyle/>
                    <a:p>
                      <a:r>
                        <a:rPr lang="en-US"/>
                        <a:t>Molybdenum</a:t>
                      </a:r>
                    </a:p>
                  </a:txBody>
                  <a:tcPr/>
                </a:tc>
                <a:tc>
                  <a:txBody>
                    <a:bodyPr/>
                    <a:lstStyle/>
                    <a:p>
                      <a:r>
                        <a:rPr lang="en-US"/>
                        <a:t>2%</a:t>
                      </a:r>
                    </a:p>
                  </a:txBody>
                  <a:tcPr/>
                </a:tc>
                <a:extLst>
                  <a:ext uri="{0D108BD9-81ED-4DB2-BD59-A6C34878D82A}">
                    <a16:rowId xmlns:a16="http://schemas.microsoft.com/office/drawing/2014/main" val="2102114055"/>
                  </a:ext>
                </a:extLst>
              </a:tr>
              <a:tr h="383673">
                <a:tc>
                  <a:txBody>
                    <a:bodyPr/>
                    <a:lstStyle/>
                    <a:p>
                      <a:r>
                        <a:rPr lang="en-US"/>
                        <a:t>Iron</a:t>
                      </a:r>
                    </a:p>
                  </a:txBody>
                  <a:tcPr/>
                </a:tc>
                <a:tc>
                  <a:txBody>
                    <a:bodyPr/>
                    <a:lstStyle/>
                    <a:p>
                      <a:r>
                        <a:rPr lang="en-US"/>
                        <a:t>70%</a:t>
                      </a:r>
                    </a:p>
                  </a:txBody>
                  <a:tcPr/>
                </a:tc>
                <a:extLst>
                  <a:ext uri="{0D108BD9-81ED-4DB2-BD59-A6C34878D82A}">
                    <a16:rowId xmlns:a16="http://schemas.microsoft.com/office/drawing/2014/main" val="2696362580"/>
                  </a:ext>
                </a:extLst>
              </a:tr>
            </a:tbl>
          </a:graphicData>
        </a:graphic>
      </p:graphicFrame>
    </p:spTree>
    <p:extLst>
      <p:ext uri="{BB962C8B-B14F-4D97-AF65-F5344CB8AC3E}">
        <p14:creationId xmlns:p14="http://schemas.microsoft.com/office/powerpoint/2010/main" val="2220519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Shape 75">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A7B1E8-2912-7F81-FD1A-CBE7D0CE363E}"/>
              </a:ext>
            </a:extLst>
          </p:cNvPr>
          <p:cNvSpPr>
            <a:spLocks noGrp="1"/>
          </p:cNvSpPr>
          <p:nvPr>
            <p:ph type="title"/>
          </p:nvPr>
        </p:nvSpPr>
        <p:spPr>
          <a:xfrm>
            <a:off x="1137036" y="548640"/>
            <a:ext cx="9543405" cy="1188720"/>
          </a:xfrm>
        </p:spPr>
        <p:txBody>
          <a:bodyPr vert="horz" lIns="91440" tIns="45720" rIns="91440" bIns="45720" rtlCol="0" anchor="ctr">
            <a:normAutofit/>
          </a:bodyPr>
          <a:lstStyle/>
          <a:p>
            <a:r>
              <a:rPr lang="en-US" kern="1200">
                <a:solidFill>
                  <a:schemeClr val="tx1">
                    <a:lumMod val="85000"/>
                    <a:lumOff val="15000"/>
                  </a:schemeClr>
                </a:solidFill>
                <a:latin typeface="+mj-lt"/>
                <a:ea typeface="+mj-ea"/>
                <a:cs typeface="+mj-cs"/>
              </a:rPr>
              <a:t>Assumptions</a:t>
            </a:r>
          </a:p>
        </p:txBody>
      </p:sp>
      <p:sp>
        <p:nvSpPr>
          <p:cNvPr id="9" name="Content Placeholder 2">
            <a:extLst>
              <a:ext uri="{FF2B5EF4-FFF2-40B4-BE49-F238E27FC236}">
                <a16:creationId xmlns:a16="http://schemas.microsoft.com/office/drawing/2014/main" id="{F4F00AFF-EBEB-9EA3-3B88-86C65DAF3CC0}"/>
              </a:ext>
            </a:extLst>
          </p:cNvPr>
          <p:cNvSpPr txBox="1">
            <a:spLocks/>
          </p:cNvSpPr>
          <p:nvPr/>
        </p:nvSpPr>
        <p:spPr>
          <a:xfrm>
            <a:off x="1499423" y="2285996"/>
            <a:ext cx="9193153" cy="398849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solidFill>
                  <a:schemeClr val="tx1">
                    <a:lumMod val="85000"/>
                    <a:lumOff val="15000"/>
                  </a:schemeClr>
                </a:solidFill>
              </a:rPr>
              <a:t>We assume our FPC is 85%</a:t>
            </a:r>
          </a:p>
          <a:p>
            <a:r>
              <a:rPr lang="en-US" sz="2400"/>
              <a:t>Assume all reaction intermediates go to completion</a:t>
            </a:r>
            <a:endParaRPr lang="en-US" sz="2400">
              <a:solidFill>
                <a:schemeClr val="tx1">
                  <a:lumMod val="85000"/>
                  <a:lumOff val="15000"/>
                </a:schemeClr>
              </a:solidFill>
            </a:endParaRPr>
          </a:p>
          <a:p>
            <a:r>
              <a:rPr lang="en-US" sz="2400">
                <a:solidFill>
                  <a:schemeClr val="tx1">
                    <a:lumMod val="85000"/>
                    <a:lumOff val="15000"/>
                  </a:schemeClr>
                </a:solidFill>
              </a:rPr>
              <a:t>We derived it to make our system match the given recycle ratio of 3</a:t>
            </a:r>
          </a:p>
          <a:p>
            <a:r>
              <a:rPr lang="en-US" sz="2400">
                <a:solidFill>
                  <a:schemeClr val="tx1">
                    <a:lumMod val="85000"/>
                    <a:lumOff val="15000"/>
                  </a:schemeClr>
                </a:solidFill>
              </a:rPr>
              <a:t>Our calculations are not all inclusive – we solved several different versions of the system</a:t>
            </a:r>
          </a:p>
          <a:p>
            <a:r>
              <a:rPr lang="en-US" sz="2400"/>
              <a:t>We want excess O</a:t>
            </a:r>
            <a:r>
              <a:rPr lang="en-US" sz="2400" baseline="-25000"/>
              <a:t>2</a:t>
            </a:r>
            <a:r>
              <a:rPr lang="en-US" sz="2400"/>
              <a:t> and limiting CaO</a:t>
            </a:r>
            <a:endParaRPr lang="en-US" sz="2400">
              <a:solidFill>
                <a:schemeClr val="tx1">
                  <a:lumMod val="85000"/>
                  <a:lumOff val="15000"/>
                </a:schemeClr>
              </a:solidFill>
            </a:endParaRPr>
          </a:p>
          <a:p>
            <a:r>
              <a:rPr lang="en-US" sz="2400">
                <a:solidFill>
                  <a:schemeClr val="tx1">
                    <a:lumMod val="85000"/>
                    <a:lumOff val="15000"/>
                  </a:schemeClr>
                </a:solidFill>
              </a:rPr>
              <a:t>Our reaction is exothermic, but because we must melt iron to 1700</a:t>
            </a:r>
            <a:r>
              <a:rPr lang="en-US" sz="2400"/>
              <a:t>°</a:t>
            </a:r>
            <a:r>
              <a:rPr lang="en-US" sz="2400">
                <a:solidFill>
                  <a:schemeClr val="tx1">
                    <a:lumMod val="85000"/>
                    <a:lumOff val="15000"/>
                  </a:schemeClr>
                </a:solidFill>
              </a:rPr>
              <a:t>C, the overall process is endothermic</a:t>
            </a:r>
          </a:p>
        </p:txBody>
      </p:sp>
      <p:sp>
        <p:nvSpPr>
          <p:cNvPr id="84" name="Freeform: Shape 77">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8043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C66784-3C2D-494D-C81F-093C3D14BB2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Mass Balance</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7139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924868-EA3E-9C23-BA6B-812FF086673D}"/>
              </a:ext>
            </a:extLst>
          </p:cNvPr>
          <p:cNvSpPr>
            <a:spLocks noGrp="1"/>
          </p:cNvSpPr>
          <p:nvPr>
            <p:ph type="title"/>
          </p:nvPr>
        </p:nvSpPr>
        <p:spPr>
          <a:xfrm>
            <a:off x="893293" y="1272639"/>
            <a:ext cx="2378336" cy="1287682"/>
          </a:xfrm>
        </p:spPr>
        <p:txBody>
          <a:bodyPr vert="horz" lIns="91440" tIns="45720" rIns="91440" bIns="45720" rtlCol="0" anchor="t">
            <a:normAutofit/>
          </a:bodyPr>
          <a:lstStyle/>
          <a:p>
            <a:pPr algn="ctr"/>
            <a:r>
              <a:rPr lang="en-US" sz="4000" kern="1200">
                <a:solidFill>
                  <a:srgbClr val="FFFFFF"/>
                </a:solidFill>
                <a:latin typeface="+mj-lt"/>
                <a:ea typeface="+mj-ea"/>
                <a:cs typeface="+mj-cs"/>
              </a:rPr>
              <a:t>Chemical Equations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98D2CC-B008-D165-D61F-6C3C83F8D339}"/>
                  </a:ext>
                </a:extLst>
              </p:cNvPr>
              <p:cNvSpPr>
                <a:spLocks noGrp="1"/>
              </p:cNvSpPr>
              <p:nvPr>
                <p:ph idx="1"/>
              </p:nvPr>
            </p:nvSpPr>
            <p:spPr>
              <a:xfrm>
                <a:off x="4380855" y="1412489"/>
                <a:ext cx="3670602" cy="4363844"/>
              </a:xfrm>
            </p:spPr>
            <p:txBody>
              <a:bodyPr vert="horz" lIns="91440" tIns="45720" rIns="91440" bIns="45720" rtlCol="0" anchor="t">
                <a:normAutofit/>
              </a:bodyPr>
              <a:lstStyle/>
              <a:p>
                <a:pPr marL="0" indent="0" algn="ctr" fontAlgn="base">
                  <a:spcBef>
                    <a:spcPts val="0"/>
                  </a:spcBef>
                  <a:spcAft>
                    <a:spcPts val="600"/>
                  </a:spcAft>
                  <a:buNone/>
                </a:pPr>
                <a:r>
                  <a:rPr lang="en-US" sz="2000" b="0" i="0" u="sng" strike="noStrike">
                    <a:effectLst/>
                  </a:rPr>
                  <a:t>Steel Production </a:t>
                </a:r>
                <a:r>
                  <a:rPr lang="en-US" sz="2000" b="0" i="0" u="none" strike="noStrike">
                    <a:effectLst/>
                  </a:rPr>
                  <a:t> </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𝐶</m:t>
                      </m:r>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2</m:t>
                          </m:r>
                        </m:sub>
                      </m:sSub>
                    </m:oMath>
                  </m:oMathPara>
                </a14:m>
                <a:endParaRPr lang="en-US" sz="200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m:t>
                      </m:r>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𝐶</m:t>
                      </m:r>
                      <m:r>
                        <a:rPr lang="en-US" sz="2000" i="1">
                          <a:latin typeface="Cambria Math" panose="02040503050406030204" pitchFamily="18" charset="0"/>
                        </a:rPr>
                        <m:t>→2</m:t>
                      </m:r>
                      <m:r>
                        <a:rPr lang="en-US" sz="2000" i="1">
                          <a:latin typeface="Cambria Math" panose="02040503050406030204" pitchFamily="18" charset="0"/>
                        </a:rPr>
                        <m:t>𝐶𝑂</m:t>
                      </m:r>
                    </m:oMath>
                  </m:oMathPara>
                </a14:m>
                <a:endParaRPr lang="en-US" sz="200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𝐹</m:t>
                      </m:r>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r>
                            <a:rPr lang="en-US" sz="2000" i="1">
                              <a:latin typeface="Cambria Math" panose="02040503050406030204" pitchFamily="18" charset="0"/>
                            </a:rPr>
                            <m:t>2</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3</m:t>
                          </m:r>
                        </m:sub>
                      </m:sSub>
                      <m:r>
                        <a:rPr lang="en-US" sz="2000" i="1">
                          <a:latin typeface="Cambria Math" panose="02040503050406030204" pitchFamily="18" charset="0"/>
                        </a:rPr>
                        <m:t>+3</m:t>
                      </m:r>
                      <m:r>
                        <a:rPr lang="en-US" sz="2000" i="1">
                          <a:latin typeface="Cambria Math" panose="02040503050406030204" pitchFamily="18" charset="0"/>
                        </a:rPr>
                        <m:t>𝐶𝑂</m:t>
                      </m:r>
                      <m:r>
                        <a:rPr lang="en-US" sz="2000" i="1">
                          <a:latin typeface="Cambria Math" panose="02040503050406030204" pitchFamily="18" charset="0"/>
                        </a:rPr>
                        <m:t>→2</m:t>
                      </m:r>
                      <m:r>
                        <a:rPr lang="en-US" sz="2000" i="1">
                          <a:latin typeface="Cambria Math" panose="02040503050406030204" pitchFamily="18" charset="0"/>
                        </a:rPr>
                        <m:t>𝐹𝑒</m:t>
                      </m:r>
                      <m:r>
                        <a:rPr lang="en-US" sz="2000" i="1">
                          <a:latin typeface="Cambria Math" panose="02040503050406030204" pitchFamily="18" charset="0"/>
                        </a:rPr>
                        <m:t>+3</m:t>
                      </m:r>
                      <m:r>
                        <a:rPr lang="en-US" sz="2000" i="1">
                          <a:latin typeface="Cambria Math" panose="02040503050406030204" pitchFamily="18" charset="0"/>
                        </a:rPr>
                        <m:t>𝐶</m:t>
                      </m:r>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2</m:t>
                          </m:r>
                        </m:sub>
                      </m:sSub>
                    </m:oMath>
                  </m:oMathPara>
                </a14:m>
                <a:endParaRPr lang="en-US" sz="2000"/>
              </a:p>
            </p:txBody>
          </p:sp>
        </mc:Choice>
        <mc:Fallback xmlns="">
          <p:sp>
            <p:nvSpPr>
              <p:cNvPr id="3" name="Content Placeholder 2">
                <a:extLst>
                  <a:ext uri="{FF2B5EF4-FFF2-40B4-BE49-F238E27FC236}">
                    <a16:creationId xmlns:a16="http://schemas.microsoft.com/office/drawing/2014/main" id="{C898D2CC-B008-D165-D61F-6C3C83F8D339}"/>
                  </a:ext>
                </a:extLst>
              </p:cNvPr>
              <p:cNvSpPr>
                <a:spLocks noGrp="1" noRot="1" noChangeAspect="1" noMove="1" noResize="1" noEditPoints="1" noAdjustHandles="1" noChangeArrowheads="1" noChangeShapeType="1" noTextEdit="1"/>
              </p:cNvSpPr>
              <p:nvPr>
                <p:ph idx="1"/>
              </p:nvPr>
            </p:nvSpPr>
            <p:spPr>
              <a:xfrm>
                <a:off x="4380855" y="1412489"/>
                <a:ext cx="3670602" cy="4363844"/>
              </a:xfrm>
              <a:blipFill>
                <a:blip r:embed="rId3"/>
                <a:stretch>
                  <a:fillRect t="-1397"/>
                </a:stretch>
              </a:blipFill>
            </p:spPr>
            <p:txBody>
              <a:bodyPr/>
              <a:lstStyle/>
              <a:p>
                <a:r>
                  <a:rPr lang="en-US">
                    <a:noFill/>
                  </a:rPr>
                  <a:t> </a:t>
                </a:r>
              </a:p>
            </p:txBody>
          </p:sp>
        </mc:Fallback>
      </mc:AlternateContent>
      <p:cxnSp>
        <p:nvCxnSpPr>
          <p:cNvPr id="20" name="Straight Connector 19">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D35F475-ABF5-FC5A-19EB-1C25FCF9ED91}"/>
                  </a:ext>
                </a:extLst>
              </p:cNvPr>
              <p:cNvSpPr txBox="1"/>
              <p:nvPr/>
            </p:nvSpPr>
            <p:spPr>
              <a:xfrm>
                <a:off x="8208284" y="1412488"/>
                <a:ext cx="3983716" cy="5597912"/>
              </a:xfrm>
              <a:prstGeom prst="rect">
                <a:avLst/>
              </a:prstGeom>
            </p:spPr>
            <p:txBody>
              <a:bodyPr vert="horz" lIns="91440" tIns="45720" rIns="91440" bIns="45720" rtlCol="0" anchor="t">
                <a:normAutofit/>
              </a:bodyPr>
              <a:lstStyle/>
              <a:p>
                <a:pPr algn="ctr" fontAlgn="base">
                  <a:lnSpc>
                    <a:spcPct val="90000"/>
                  </a:lnSpc>
                  <a:spcBef>
                    <a:spcPts val="0"/>
                  </a:spcBef>
                  <a:spcAft>
                    <a:spcPts val="600"/>
                  </a:spcAft>
                </a:pPr>
                <a:r>
                  <a:rPr lang="en-US" sz="2000" u="sng"/>
                  <a:t>Impurity</a:t>
                </a:r>
                <a:r>
                  <a:rPr lang="en-US" sz="2000" b="0" i="0" u="sng" strike="noStrike">
                    <a:effectLst/>
                  </a:rPr>
                  <a:t> Oxidation</a:t>
                </a:r>
                <a:r>
                  <a:rPr lang="en-US" sz="2000" b="0" i="0" u="none" strike="noStrike">
                    <a:effectLst/>
                  </a:rPr>
                  <a:t> </a:t>
                </a:r>
              </a:p>
              <a:p>
                <a:pPr fontAlgn="base">
                  <a:lnSpc>
                    <a:spcPct val="90000"/>
                  </a:lnSpc>
                  <a:spcAft>
                    <a:spcPts val="600"/>
                  </a:spcAft>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2</m:t>
                      </m:r>
                      <m:r>
                        <a:rPr lang="en-US" sz="2000" i="1" dirty="0" smtClean="0">
                          <a:latin typeface="Cambria Math" panose="02040503050406030204" pitchFamily="18" charset="0"/>
                        </a:rPr>
                        <m:t>𝐶</m:t>
                      </m:r>
                      <m:r>
                        <a:rPr lang="en-US" sz="2000" b="0" i="1" u="none" strike="noStrike" dirty="0">
                          <a:effectLst/>
                          <a:latin typeface="Cambria Math" panose="02040503050406030204" pitchFamily="18" charset="0"/>
                        </a:rPr>
                        <m:t> + </m:t>
                      </m:r>
                      <m:r>
                        <a:rPr lang="en-US" sz="2000" i="1" dirty="0">
                          <a:latin typeface="Cambria Math" panose="02040503050406030204" pitchFamily="18" charset="0"/>
                        </a:rPr>
                        <m:t>𝑂</m:t>
                      </m:r>
                      <m:r>
                        <a:rPr lang="en-US" sz="2000" i="1" baseline="-25000" dirty="0">
                          <a:latin typeface="Cambria Math" panose="02040503050406030204" pitchFamily="18" charset="0"/>
                        </a:rPr>
                        <m:t>2</m:t>
                      </m:r>
                      <m:r>
                        <a:rPr lang="en-US" sz="2000" b="0" i="1" u="none" strike="noStrike" dirty="0">
                          <a:effectLst/>
                          <a:latin typeface="Cambria Math" panose="02040503050406030204" pitchFamily="18" charset="0"/>
                        </a:rPr>
                        <m:t> </m:t>
                      </m:r>
                      <m:r>
                        <a:rPr lang="en-US" sz="2000" b="0" i="1" u="none" strike="noStrike" dirty="0">
                          <a:effectLst/>
                          <a:latin typeface="Cambria Math" panose="02040503050406030204" pitchFamily="18" charset="0"/>
                        </a:rPr>
                        <m:t>↔</m:t>
                      </m:r>
                      <m:r>
                        <a:rPr lang="en-US" sz="2000" b="0" i="1" u="none" strike="noStrike" dirty="0">
                          <a:effectLst/>
                          <a:latin typeface="Cambria Math" panose="02040503050406030204" pitchFamily="18" charset="0"/>
                        </a:rPr>
                        <m:t> 2</m:t>
                      </m:r>
                      <m:r>
                        <a:rPr lang="en-US" sz="2000" b="0" i="1" u="none" strike="noStrike" dirty="0" smtClean="0">
                          <a:effectLst/>
                          <a:latin typeface="Cambria Math" panose="02040503050406030204" pitchFamily="18" charset="0"/>
                        </a:rPr>
                        <m:t>𝐶𝑂</m:t>
                      </m:r>
                    </m:oMath>
                  </m:oMathPara>
                </a14:m>
                <a:endParaRPr lang="en-US" sz="2000" b="0" i="0" u="none" strike="noStrike">
                  <a:effectLst/>
                </a:endParaRPr>
              </a:p>
              <a:p>
                <a:pPr fontAlgn="base">
                  <a:lnSpc>
                    <a:spcPct val="90000"/>
                  </a:lnSpc>
                  <a:spcBef>
                    <a:spcPts val="0"/>
                  </a:spcBef>
                  <a:spcAft>
                    <a:spcPts val="600"/>
                  </a:spcAft>
                </a:pPr>
                <a:endParaRPr lang="en-US" sz="2000" b="0" i="0" u="none" strike="noStrike">
                  <a:effectLst/>
                </a:endParaRPr>
              </a:p>
              <a:p>
                <a:pPr fontAlgn="base">
                  <a:lnSpc>
                    <a:spcPct val="90000"/>
                  </a:lnSpc>
                  <a:spcAft>
                    <a:spcPts val="600"/>
                  </a:spcAft>
                </a:pPr>
                <a14:m>
                  <m:oMathPara xmlns:m="http://schemas.openxmlformats.org/officeDocument/2006/math">
                    <m:oMathParaPr>
                      <m:jc m:val="centerGroup"/>
                    </m:oMathParaPr>
                    <m:oMath xmlns:m="http://schemas.openxmlformats.org/officeDocument/2006/math">
                      <m:r>
                        <a:rPr lang="en-US" sz="2000" b="0" i="1" u="none" strike="noStrike" dirty="0" smtClean="0">
                          <a:effectLst/>
                          <a:latin typeface="Cambria Math" panose="02040503050406030204" pitchFamily="18" charset="0"/>
                        </a:rPr>
                        <m:t>𝑆𝑖</m:t>
                      </m:r>
                      <m:r>
                        <a:rPr lang="en-US" sz="2000" b="0" i="1" u="none" strike="noStrike" dirty="0" smtClean="0">
                          <a:effectLst/>
                          <a:latin typeface="Cambria Math" panose="02040503050406030204" pitchFamily="18" charset="0"/>
                        </a:rPr>
                        <m:t> + </m:t>
                      </m:r>
                      <m:r>
                        <a:rPr lang="en-US" sz="2000" b="0" i="1" u="none" strike="noStrike" dirty="0" smtClean="0">
                          <a:effectLst/>
                          <a:latin typeface="Cambria Math" panose="02040503050406030204" pitchFamily="18" charset="0"/>
                        </a:rPr>
                        <m:t>𝑂</m:t>
                      </m:r>
                      <m:r>
                        <a:rPr lang="en-US" sz="2000" i="1" baseline="-25000" dirty="0">
                          <a:latin typeface="Cambria Math" panose="02040503050406030204" pitchFamily="18" charset="0"/>
                        </a:rPr>
                        <m:t>2</m:t>
                      </m:r>
                      <m:r>
                        <a:rPr lang="en-US" sz="2000" b="0" i="1" u="none" strike="noStrike" dirty="0">
                          <a:effectLst/>
                          <a:latin typeface="Cambria Math" panose="02040503050406030204" pitchFamily="18" charset="0"/>
                        </a:rPr>
                        <m:t> </m:t>
                      </m:r>
                      <m:r>
                        <a:rPr lang="en-US" sz="2000" b="0" i="1" u="none" strike="noStrike" dirty="0">
                          <a:effectLst/>
                          <a:latin typeface="Cambria Math" panose="02040503050406030204" pitchFamily="18" charset="0"/>
                        </a:rPr>
                        <m:t>↔</m:t>
                      </m:r>
                      <m:r>
                        <a:rPr lang="en-US" sz="2000" b="0" i="1" u="none" strike="noStrike" dirty="0">
                          <a:effectLst/>
                          <a:latin typeface="Cambria Math" panose="02040503050406030204" pitchFamily="18" charset="0"/>
                        </a:rPr>
                        <m:t> </m:t>
                      </m:r>
                      <m:r>
                        <a:rPr lang="en-US" sz="2000" b="0" i="1" u="none" strike="noStrike" dirty="0">
                          <a:effectLst/>
                          <a:latin typeface="Cambria Math" panose="02040503050406030204" pitchFamily="18" charset="0"/>
                        </a:rPr>
                        <m:t>𝑆𝑖𝑂</m:t>
                      </m:r>
                      <m:r>
                        <a:rPr lang="en-US" sz="2000" b="0" i="1" u="none" strike="noStrike" baseline="-25000" dirty="0">
                          <a:effectLst/>
                          <a:latin typeface="Cambria Math" panose="02040503050406030204" pitchFamily="18" charset="0"/>
                        </a:rPr>
                        <m:t>2</m:t>
                      </m:r>
                    </m:oMath>
                  </m:oMathPara>
                </a14:m>
                <a:endParaRPr lang="en-US" sz="2000" b="0" i="0" u="none" strike="noStrike">
                  <a:effectLst/>
                </a:endParaRPr>
              </a:p>
              <a:p>
                <a:pPr fontAlgn="base">
                  <a:lnSpc>
                    <a:spcPct val="9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b="0" i="1" u="none" strike="noStrike" dirty="0" smtClean="0">
                          <a:effectLst/>
                          <a:latin typeface="Cambria Math" panose="02040503050406030204" pitchFamily="18" charset="0"/>
                        </a:rPr>
                        <m:t>𝑆𝑖</m:t>
                      </m:r>
                      <m:r>
                        <a:rPr lang="en-US" sz="2000" b="0" i="1" u="none" strike="noStrike" dirty="0" smtClean="0">
                          <a:effectLst/>
                          <a:latin typeface="Cambria Math" panose="02040503050406030204" pitchFamily="18" charset="0"/>
                        </a:rPr>
                        <m:t> + 2</m:t>
                      </m:r>
                      <m:r>
                        <a:rPr lang="en-US" sz="2000" b="0" i="1" u="none" strike="noStrike" dirty="0" smtClean="0">
                          <a:effectLst/>
                          <a:latin typeface="Cambria Math" panose="02040503050406030204" pitchFamily="18" charset="0"/>
                        </a:rPr>
                        <m:t>𝐹𝑒𝑂</m:t>
                      </m:r>
                      <m:r>
                        <a:rPr lang="en-US" sz="2000" b="0" i="1" u="none" strike="noStrike" dirty="0" smtClean="0">
                          <a:effectLst/>
                          <a:latin typeface="Cambria Math" panose="02040503050406030204" pitchFamily="18" charset="0"/>
                        </a:rPr>
                        <m:t> </m:t>
                      </m:r>
                      <m:r>
                        <a:rPr lang="en-US" sz="2000" b="0" i="1" u="none" strike="noStrike" dirty="0" smtClean="0">
                          <a:effectLst/>
                          <a:latin typeface="Cambria Math" panose="02040503050406030204" pitchFamily="18" charset="0"/>
                        </a:rPr>
                        <m:t>↔</m:t>
                      </m:r>
                      <m:r>
                        <a:rPr lang="en-US" sz="2000" b="0" i="1" u="none" strike="noStrike" dirty="0" smtClean="0">
                          <a:effectLst/>
                          <a:latin typeface="Cambria Math" panose="02040503050406030204" pitchFamily="18" charset="0"/>
                        </a:rPr>
                        <m:t> </m:t>
                      </m:r>
                      <m:r>
                        <a:rPr lang="en-US" sz="2000" b="0" i="1" u="none" strike="noStrike" dirty="0" smtClean="0">
                          <a:effectLst/>
                          <a:latin typeface="Cambria Math" panose="02040503050406030204" pitchFamily="18" charset="0"/>
                        </a:rPr>
                        <m:t>𝑆𝑖𝑂</m:t>
                      </m:r>
                      <m:r>
                        <a:rPr lang="en-US" sz="2000" b="0" i="1" u="none" strike="noStrike" baseline="-25000" dirty="0">
                          <a:effectLst/>
                          <a:latin typeface="Cambria Math" panose="02040503050406030204" pitchFamily="18" charset="0"/>
                        </a:rPr>
                        <m:t>2</m:t>
                      </m:r>
                      <m:r>
                        <a:rPr lang="en-US" sz="2000" b="0" i="1" u="none" strike="noStrike" dirty="0">
                          <a:effectLst/>
                          <a:latin typeface="Cambria Math" panose="02040503050406030204" pitchFamily="18" charset="0"/>
                        </a:rPr>
                        <m:t> + 2</m:t>
                      </m:r>
                      <m:r>
                        <a:rPr lang="en-US" sz="2000" b="0" i="1" u="none" strike="noStrike" dirty="0">
                          <a:effectLst/>
                          <a:latin typeface="Cambria Math" panose="02040503050406030204" pitchFamily="18" charset="0"/>
                        </a:rPr>
                        <m:t>𝐹𝑒</m:t>
                      </m:r>
                    </m:oMath>
                  </m:oMathPara>
                </a14:m>
                <a:endParaRPr lang="en-US" sz="2000" b="0" i="0" u="none" strike="noStrike">
                  <a:effectLst/>
                </a:endParaRPr>
              </a:p>
              <a:p>
                <a:pPr marL="0" indent="-228600" fontAlgn="base">
                  <a:lnSpc>
                    <a:spcPct val="90000"/>
                  </a:lnSpc>
                  <a:spcBef>
                    <a:spcPts val="0"/>
                  </a:spcBef>
                  <a:spcAft>
                    <a:spcPts val="600"/>
                  </a:spcAft>
                  <a:buFont typeface="Arial" panose="020B0604020202020204" pitchFamily="34" charset="0"/>
                  <a:buChar char="•"/>
                </a:pPr>
                <a:endParaRPr lang="en-US" sz="2000" b="0" i="0" u="none" strike="noStrike">
                  <a:effectLst/>
                </a:endParaRPr>
              </a:p>
              <a:p>
                <a:pPr fontAlgn="base">
                  <a:lnSpc>
                    <a:spcPct val="9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b="0" i="1" u="none" strike="noStrike" dirty="0" smtClean="0">
                          <a:effectLst/>
                          <a:latin typeface="Cambria Math" panose="02040503050406030204" pitchFamily="18" charset="0"/>
                        </a:rPr>
                        <m:t>𝑀𝑛</m:t>
                      </m:r>
                      <m:r>
                        <a:rPr lang="en-US" sz="2000" b="0" i="1" u="none" strike="noStrike" dirty="0" smtClean="0">
                          <a:effectLst/>
                          <a:latin typeface="Cambria Math" panose="02040503050406030204" pitchFamily="18" charset="0"/>
                        </a:rPr>
                        <m:t> + </m:t>
                      </m:r>
                      <m:r>
                        <a:rPr lang="en-US" sz="2000" b="0" i="1" u="none" strike="noStrike" dirty="0" smtClean="0">
                          <a:effectLst/>
                          <a:latin typeface="Cambria Math" panose="02040503050406030204" pitchFamily="18" charset="0"/>
                        </a:rPr>
                        <m:t>𝑂</m:t>
                      </m:r>
                      <m:r>
                        <a:rPr lang="en-US" sz="2000" b="0" i="1" u="none" strike="noStrike" dirty="0" smtClean="0">
                          <a:effectLst/>
                          <a:latin typeface="Cambria Math" panose="02040503050406030204" pitchFamily="18" charset="0"/>
                        </a:rPr>
                        <m:t> </m:t>
                      </m:r>
                      <m:r>
                        <a:rPr lang="en-US" sz="2000" b="0" i="1" u="none" strike="noStrike" dirty="0" smtClean="0">
                          <a:effectLst/>
                          <a:latin typeface="Cambria Math" panose="02040503050406030204" pitchFamily="18" charset="0"/>
                        </a:rPr>
                        <m:t>↔</m:t>
                      </m:r>
                      <m:r>
                        <a:rPr lang="en-US" sz="2000" b="0" i="1" u="none" strike="noStrike" dirty="0" smtClean="0">
                          <a:effectLst/>
                          <a:latin typeface="Cambria Math" panose="02040503050406030204" pitchFamily="18" charset="0"/>
                        </a:rPr>
                        <m:t> </m:t>
                      </m:r>
                      <m:r>
                        <a:rPr lang="en-US" sz="2000" b="0" i="1" u="none" strike="noStrike" dirty="0" err="1">
                          <a:effectLst/>
                          <a:latin typeface="Cambria Math" panose="02040503050406030204" pitchFamily="18" charset="0"/>
                        </a:rPr>
                        <m:t>𝑀𝑛𝑂</m:t>
                      </m:r>
                    </m:oMath>
                  </m:oMathPara>
                </a14:m>
                <a:endParaRPr lang="en-US" sz="2000" b="0" i="0" u="none" strike="noStrike">
                  <a:effectLst/>
                </a:endParaRPr>
              </a:p>
              <a:p>
                <a:pPr fontAlgn="base">
                  <a:lnSpc>
                    <a:spcPct val="9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b="0" i="1" u="none" strike="noStrike" dirty="0" smtClean="0">
                          <a:effectLst/>
                          <a:latin typeface="Cambria Math" panose="02040503050406030204" pitchFamily="18" charset="0"/>
                        </a:rPr>
                        <m:t>𝑀𝑛</m:t>
                      </m:r>
                      <m:r>
                        <a:rPr lang="en-US" sz="2000" b="0" i="1" u="none" strike="noStrike" dirty="0" smtClean="0">
                          <a:effectLst/>
                          <a:latin typeface="Cambria Math" panose="02040503050406030204" pitchFamily="18" charset="0"/>
                        </a:rPr>
                        <m:t> + </m:t>
                      </m:r>
                      <m:r>
                        <a:rPr lang="en-US" sz="2000" b="0" i="1" u="none" strike="noStrike" dirty="0" err="1">
                          <a:effectLst/>
                          <a:latin typeface="Cambria Math" panose="02040503050406030204" pitchFamily="18" charset="0"/>
                        </a:rPr>
                        <m:t>𝐹𝑒𝑂</m:t>
                      </m:r>
                      <m:r>
                        <a:rPr lang="en-US" sz="2000" b="0" i="1" u="none" strike="noStrike" dirty="0">
                          <a:effectLst/>
                          <a:latin typeface="Cambria Math" panose="02040503050406030204" pitchFamily="18" charset="0"/>
                        </a:rPr>
                        <m:t> </m:t>
                      </m:r>
                      <m:r>
                        <a:rPr lang="en-US" sz="2000" b="0" i="1" u="none" strike="noStrike" dirty="0">
                          <a:effectLst/>
                          <a:latin typeface="Cambria Math" panose="02040503050406030204" pitchFamily="18" charset="0"/>
                        </a:rPr>
                        <m:t>↔</m:t>
                      </m:r>
                      <m:r>
                        <a:rPr lang="en-US" sz="2000" b="0" i="1" u="none" strike="noStrike" dirty="0">
                          <a:effectLst/>
                          <a:latin typeface="Cambria Math" panose="02040503050406030204" pitchFamily="18" charset="0"/>
                        </a:rPr>
                        <m:t> </m:t>
                      </m:r>
                      <m:r>
                        <a:rPr lang="en-US" sz="2000" b="0" i="1" u="none" strike="noStrike" dirty="0" err="1">
                          <a:effectLst/>
                          <a:latin typeface="Cambria Math" panose="02040503050406030204" pitchFamily="18" charset="0"/>
                        </a:rPr>
                        <m:t>𝑀𝑛𝑂</m:t>
                      </m:r>
                      <m:r>
                        <a:rPr lang="en-US" sz="2000" b="0" i="1" u="none" strike="noStrike" dirty="0">
                          <a:effectLst/>
                          <a:latin typeface="Cambria Math" panose="02040503050406030204" pitchFamily="18" charset="0"/>
                        </a:rPr>
                        <m:t> + </m:t>
                      </m:r>
                      <m:r>
                        <a:rPr lang="en-US" sz="2000" b="0" i="1" u="none" strike="noStrike" dirty="0">
                          <a:effectLst/>
                          <a:latin typeface="Cambria Math" panose="02040503050406030204" pitchFamily="18" charset="0"/>
                        </a:rPr>
                        <m:t>𝐹𝑒</m:t>
                      </m:r>
                    </m:oMath>
                  </m:oMathPara>
                </a14:m>
                <a:endParaRPr lang="en-US" sz="2000" b="0" i="0" u="none" strike="noStrike">
                  <a:effectLst/>
                </a:endParaRPr>
              </a:p>
              <a:p>
                <a:pPr marL="0" indent="-228600" fontAlgn="base">
                  <a:lnSpc>
                    <a:spcPct val="90000"/>
                  </a:lnSpc>
                  <a:spcBef>
                    <a:spcPts val="0"/>
                  </a:spcBef>
                  <a:spcAft>
                    <a:spcPts val="600"/>
                  </a:spcAft>
                  <a:buFont typeface="Arial" panose="020B0604020202020204" pitchFamily="34" charset="0"/>
                  <a:buChar char="•"/>
                </a:pPr>
                <a:endParaRPr lang="en-US" sz="2000" b="0" i="0" u="none" strike="noStrike">
                  <a:effectLst/>
                </a:endParaRPr>
              </a:p>
              <a:p>
                <a:pPr fontAlgn="base">
                  <a:lnSpc>
                    <a:spcPct val="90000"/>
                  </a:lnSpc>
                  <a:spcBef>
                    <a:spcPts val="0"/>
                  </a:spcBef>
                  <a:spcAft>
                    <a:spcPts val="600"/>
                  </a:spcAft>
                </a:pPr>
                <a14:m>
                  <m:oMathPara xmlns:m="http://schemas.openxmlformats.org/officeDocument/2006/math">
                    <m:oMathParaPr>
                      <m:jc m:val="centerGroup"/>
                    </m:oMathParaPr>
                    <m:oMath xmlns:m="http://schemas.openxmlformats.org/officeDocument/2006/math">
                      <m:r>
                        <a:rPr lang="en-US" sz="2000" b="0" i="1" u="none" strike="noStrike" dirty="0" smtClean="0">
                          <a:effectLst/>
                          <a:latin typeface="Cambria Math" panose="02040503050406030204" pitchFamily="18" charset="0"/>
                        </a:rPr>
                        <m:t>2</m:t>
                      </m:r>
                      <m:r>
                        <a:rPr lang="en-US" sz="2000" b="0" i="1" u="none" strike="noStrike" dirty="0" smtClean="0">
                          <a:effectLst/>
                          <a:latin typeface="Cambria Math" panose="02040503050406030204" pitchFamily="18" charset="0"/>
                        </a:rPr>
                        <m:t>𝑃</m:t>
                      </m:r>
                      <m:r>
                        <a:rPr lang="en-US" sz="2000" b="0" i="1" u="none" strike="noStrike" dirty="0" smtClean="0">
                          <a:effectLst/>
                          <a:latin typeface="Cambria Math" panose="02040503050406030204" pitchFamily="18" charset="0"/>
                        </a:rPr>
                        <m:t> + 5</m:t>
                      </m:r>
                      <m:r>
                        <a:rPr lang="en-US" sz="2000" b="0" i="1" u="none" strike="noStrike" dirty="0" smtClean="0">
                          <a:effectLst/>
                          <a:latin typeface="Cambria Math" panose="02040503050406030204" pitchFamily="18" charset="0"/>
                        </a:rPr>
                        <m:t>𝑂</m:t>
                      </m:r>
                      <m:r>
                        <a:rPr lang="en-US" sz="2000" b="0" i="1" u="none" strike="noStrike" dirty="0" smtClean="0">
                          <a:effectLst/>
                          <a:latin typeface="Cambria Math" panose="02040503050406030204" pitchFamily="18" charset="0"/>
                        </a:rPr>
                        <m:t> + 3</m:t>
                      </m:r>
                      <m:r>
                        <a:rPr lang="en-US" sz="2000" b="0" i="1" u="none" strike="noStrike" dirty="0" smtClean="0">
                          <a:effectLst/>
                          <a:latin typeface="Cambria Math" panose="02040503050406030204" pitchFamily="18" charset="0"/>
                        </a:rPr>
                        <m:t>𝑂</m:t>
                      </m:r>
                      <m:r>
                        <a:rPr lang="en-US" sz="2000" b="0" i="1" u="none" strike="noStrike" baseline="30000" dirty="0">
                          <a:effectLst/>
                          <a:latin typeface="Cambria Math" panose="02040503050406030204" pitchFamily="18" charset="0"/>
                        </a:rPr>
                        <m:t>2−</m:t>
                      </m:r>
                      <m:r>
                        <a:rPr lang="en-US" sz="2000" b="0" i="1" u="none" strike="noStrike" dirty="0">
                          <a:effectLst/>
                          <a:latin typeface="Cambria Math" panose="02040503050406030204" pitchFamily="18" charset="0"/>
                        </a:rPr>
                        <m:t> </m:t>
                      </m:r>
                      <m:r>
                        <a:rPr lang="en-US" sz="2000" b="0" i="1" u="none" strike="noStrike" dirty="0">
                          <a:effectLst/>
                          <a:latin typeface="Cambria Math" panose="02040503050406030204" pitchFamily="18" charset="0"/>
                        </a:rPr>
                        <m:t>↔</m:t>
                      </m:r>
                      <m:r>
                        <a:rPr lang="en-US" sz="2000" b="0" i="1" u="none" strike="noStrike" dirty="0">
                          <a:effectLst/>
                          <a:latin typeface="Cambria Math" panose="02040503050406030204" pitchFamily="18" charset="0"/>
                        </a:rPr>
                        <m:t> 2(</m:t>
                      </m:r>
                      <m:r>
                        <a:rPr lang="en-US" sz="2000" b="0" i="1" u="none" strike="noStrike" dirty="0">
                          <a:effectLst/>
                          <a:latin typeface="Cambria Math" panose="02040503050406030204" pitchFamily="18" charset="0"/>
                        </a:rPr>
                        <m:t>𝑃𝑂</m:t>
                      </m:r>
                      <m:r>
                        <a:rPr lang="en-US" sz="2000" b="0" i="1" u="none" strike="noStrike" baseline="30000" dirty="0">
                          <a:effectLst/>
                          <a:latin typeface="Cambria Math" panose="02040503050406030204" pitchFamily="18" charset="0"/>
                        </a:rPr>
                        <m:t>3−</m:t>
                      </m:r>
                      <m:r>
                        <a:rPr lang="en-US" sz="2000" b="0" i="1" u="none" strike="noStrike" dirty="0">
                          <a:effectLst/>
                          <a:latin typeface="Cambria Math" panose="02040503050406030204" pitchFamily="18" charset="0"/>
                        </a:rPr>
                        <m:t>)</m:t>
                      </m:r>
                      <m:r>
                        <a:rPr lang="en-US" sz="2000" b="0" i="1" u="none" strike="noStrike" baseline="-25000" dirty="0">
                          <a:effectLst/>
                          <a:latin typeface="Cambria Math" panose="02040503050406030204" pitchFamily="18" charset="0"/>
                        </a:rPr>
                        <m:t>4</m:t>
                      </m:r>
                    </m:oMath>
                  </m:oMathPara>
                </a14:m>
                <a:endParaRPr lang="en-US" sz="2000" b="0" i="0" u="none" strike="noStrike">
                  <a:effectLst/>
                </a:endParaRPr>
              </a:p>
              <a:p>
                <a:pPr fontAlgn="base">
                  <a:lnSpc>
                    <a:spcPct val="90000"/>
                  </a:lnSpc>
                  <a:spcAft>
                    <a:spcPts val="600"/>
                  </a:spcAft>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𝑆</m:t>
                      </m:r>
                      <m:r>
                        <a:rPr lang="en-US" sz="2000" i="1" dirty="0" smtClean="0">
                          <a:latin typeface="Cambria Math" panose="02040503050406030204" pitchFamily="18" charset="0"/>
                        </a:rPr>
                        <m:t> + </m:t>
                      </m:r>
                      <m:r>
                        <a:rPr lang="en-US" sz="2000" i="1" dirty="0" smtClean="0">
                          <a:latin typeface="Cambria Math" panose="02040503050406030204" pitchFamily="18" charset="0"/>
                        </a:rPr>
                        <m:t>𝑂</m:t>
                      </m:r>
                      <m:r>
                        <a:rPr lang="en-US" sz="2000" i="1" baseline="-25000" dirty="0">
                          <a:latin typeface="Cambria Math" panose="02040503050406030204" pitchFamily="18" charset="0"/>
                          <a:sym typeface="Wingdings" pitchFamily="2" charset="2"/>
                        </a:rPr>
                        <m:t>2</m:t>
                      </m:r>
                      <m:r>
                        <a:rPr lang="en-US" sz="2000" i="1" dirty="0" smtClean="0">
                          <a:latin typeface="Cambria Math" panose="02040503050406030204" pitchFamily="18" charset="0"/>
                        </a:rPr>
                        <m:t> </m:t>
                      </m:r>
                      <m:r>
                        <a:rPr lang="en-US" sz="2000" b="0" i="1" u="none" strike="noStrike" dirty="0">
                          <a:effectLst/>
                          <a:latin typeface="Cambria Math" panose="02040503050406030204" pitchFamily="18" charset="0"/>
                        </a:rPr>
                        <m:t>↔</m:t>
                      </m:r>
                      <m:r>
                        <a:rPr lang="en-US" sz="2000" b="0" i="1" u="none" strike="noStrike" dirty="0">
                          <a:effectLst/>
                          <a:latin typeface="Cambria Math" panose="02040503050406030204" pitchFamily="18" charset="0"/>
                        </a:rPr>
                        <m:t> </m:t>
                      </m:r>
                      <m:r>
                        <a:rPr lang="en-US" sz="2000" i="1" dirty="0">
                          <a:latin typeface="Cambria Math" panose="02040503050406030204" pitchFamily="18" charset="0"/>
                          <a:sym typeface="Wingdings" pitchFamily="2" charset="2"/>
                        </a:rPr>
                        <m:t>𝑆𝑂</m:t>
                      </m:r>
                      <m:r>
                        <a:rPr lang="en-US" sz="2000" i="1" baseline="-25000" dirty="0">
                          <a:latin typeface="Cambria Math" panose="02040503050406030204" pitchFamily="18" charset="0"/>
                          <a:sym typeface="Wingdings" pitchFamily="2" charset="2"/>
                        </a:rPr>
                        <m:t>2</m:t>
                      </m:r>
                      <m:r>
                        <a:rPr lang="en-US" sz="2000" i="1" dirty="0">
                          <a:latin typeface="Cambria Math" panose="02040503050406030204" pitchFamily="18" charset="0"/>
                          <a:sym typeface="Wingdings" pitchFamily="2" charset="2"/>
                        </a:rPr>
                        <m:t>(</m:t>
                      </m:r>
                      <m:r>
                        <a:rPr lang="en-US" sz="2000" i="1" dirty="0">
                          <a:latin typeface="Cambria Math" panose="02040503050406030204" pitchFamily="18" charset="0"/>
                          <a:sym typeface="Wingdings" pitchFamily="2" charset="2"/>
                        </a:rPr>
                        <m:t>𝑔</m:t>
                      </m:r>
                      <m:r>
                        <a:rPr lang="en-US" sz="2000" i="1" dirty="0">
                          <a:latin typeface="Cambria Math" panose="02040503050406030204" pitchFamily="18" charset="0"/>
                          <a:sym typeface="Wingdings" pitchFamily="2" charset="2"/>
                        </a:rPr>
                        <m:t>)</m:t>
                      </m:r>
                    </m:oMath>
                  </m:oMathPara>
                </a14:m>
                <a:endParaRPr lang="en-US" sz="2000">
                  <a:sym typeface="Wingdings" pitchFamily="2" charset="2"/>
                </a:endParaRPr>
              </a:p>
              <a:p>
                <a:pPr marL="0" indent="-228600" fontAlgn="base">
                  <a:lnSpc>
                    <a:spcPct val="90000"/>
                  </a:lnSpc>
                  <a:spcBef>
                    <a:spcPts val="0"/>
                  </a:spcBef>
                  <a:spcAft>
                    <a:spcPts val="600"/>
                  </a:spcAft>
                  <a:buFont typeface="Arial" panose="020B0604020202020204" pitchFamily="34" charset="0"/>
                  <a:buChar char="•"/>
                </a:pPr>
                <a:endParaRPr lang="en-US" sz="2000">
                  <a:sym typeface="Wingdings" pitchFamily="2" charset="2"/>
                </a:endParaRPr>
              </a:p>
              <a:p>
                <a:pPr fontAlgn="base">
                  <a:lnSpc>
                    <a:spcPct val="90000"/>
                  </a:lnSpc>
                  <a:spcAft>
                    <a:spcPts val="600"/>
                  </a:spcAft>
                </a:pPr>
                <a14:m>
                  <m:oMathPara xmlns:m="http://schemas.openxmlformats.org/officeDocument/2006/math">
                    <m:oMathParaPr>
                      <m:jc m:val="centerGroup"/>
                    </m:oMathParaPr>
                    <m:oMath xmlns:m="http://schemas.openxmlformats.org/officeDocument/2006/math">
                      <m:r>
                        <a:rPr lang="en-US" sz="2000" b="0" i="1" u="none" strike="noStrike" dirty="0" smtClean="0">
                          <a:effectLst/>
                          <a:latin typeface="Cambria Math" panose="02040503050406030204" pitchFamily="18" charset="0"/>
                        </a:rPr>
                        <m:t>𝐶𝑎𝐶𝑂</m:t>
                      </m:r>
                      <m:r>
                        <a:rPr lang="en-US" sz="2000" b="0" i="1" u="none" strike="noStrike" baseline="-25000" dirty="0">
                          <a:effectLst/>
                          <a:latin typeface="Cambria Math" panose="02040503050406030204" pitchFamily="18" charset="0"/>
                        </a:rPr>
                        <m:t>3 </m:t>
                      </m:r>
                      <m:r>
                        <a:rPr lang="en-US" sz="2000" i="1" dirty="0">
                          <a:latin typeface="Cambria Math" panose="02040503050406030204" pitchFamily="18" charset="0"/>
                          <a:sym typeface="Wingdings" pitchFamily="2" charset="2"/>
                        </a:rPr>
                        <m:t></m:t>
                      </m:r>
                      <m:r>
                        <a:rPr lang="en-US" sz="2000" b="0" i="1" dirty="0" smtClean="0">
                          <a:latin typeface="Cambria Math" panose="02040503050406030204" pitchFamily="18" charset="0"/>
                          <a:sym typeface="Wingdings" pitchFamily="2" charset="2"/>
                        </a:rPr>
                        <m:t> </m:t>
                      </m:r>
                      <m:r>
                        <a:rPr lang="en-US" sz="2000" i="1" dirty="0">
                          <a:latin typeface="Cambria Math" panose="02040503050406030204" pitchFamily="18" charset="0"/>
                          <a:sym typeface="Wingdings" pitchFamily="2" charset="2"/>
                        </a:rPr>
                        <m:t>𝐶𝑎𝑂</m:t>
                      </m:r>
                      <m:r>
                        <a:rPr lang="en-US" sz="2000" i="1" dirty="0">
                          <a:latin typeface="Cambria Math" panose="02040503050406030204" pitchFamily="18" charset="0"/>
                          <a:sym typeface="Wingdings" pitchFamily="2" charset="2"/>
                        </a:rPr>
                        <m:t> + </m:t>
                      </m:r>
                      <m:r>
                        <a:rPr lang="en-US" sz="2000" i="1" dirty="0">
                          <a:latin typeface="Cambria Math" panose="02040503050406030204" pitchFamily="18" charset="0"/>
                          <a:sym typeface="Wingdings" pitchFamily="2" charset="2"/>
                        </a:rPr>
                        <m:t>𝐶𝑂</m:t>
                      </m:r>
                      <m:r>
                        <a:rPr lang="en-US" sz="2000" i="1" baseline="-25000" dirty="0">
                          <a:latin typeface="Cambria Math" panose="02040503050406030204" pitchFamily="18" charset="0"/>
                          <a:sym typeface="Wingdings" pitchFamily="2" charset="2"/>
                        </a:rPr>
                        <m:t>2</m:t>
                      </m:r>
                    </m:oMath>
                  </m:oMathPara>
                </a14:m>
                <a:endParaRPr lang="en-US" sz="2000" baseline="-25000">
                  <a:sym typeface="Wingdings" pitchFamily="2" charset="2"/>
                </a:endParaRPr>
              </a:p>
              <a:p>
                <a:pPr fontAlgn="base">
                  <a:lnSpc>
                    <a:spcPct val="90000"/>
                  </a:lnSpc>
                  <a:spcAft>
                    <a:spcPts val="600"/>
                  </a:spcAft>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sym typeface="Wingdings" pitchFamily="2" charset="2"/>
                        </a:rPr>
                        <m:t>2</m:t>
                      </m:r>
                      <m:r>
                        <a:rPr lang="en-US" sz="2000" i="1" dirty="0" smtClean="0">
                          <a:latin typeface="Cambria Math" panose="02040503050406030204" pitchFamily="18" charset="0"/>
                          <a:sym typeface="Wingdings" pitchFamily="2" charset="2"/>
                        </a:rPr>
                        <m:t>𝐶𝑎𝑂</m:t>
                      </m:r>
                      <m:r>
                        <a:rPr lang="en-US" sz="2000" i="1" dirty="0" smtClean="0">
                          <a:latin typeface="Cambria Math" panose="02040503050406030204" pitchFamily="18" charset="0"/>
                          <a:sym typeface="Wingdings" pitchFamily="2" charset="2"/>
                        </a:rPr>
                        <m:t> + 2</m:t>
                      </m:r>
                      <m:r>
                        <a:rPr lang="en-US" sz="2000" i="1" dirty="0" smtClean="0">
                          <a:latin typeface="Cambria Math" panose="02040503050406030204" pitchFamily="18" charset="0"/>
                          <a:sym typeface="Wingdings" pitchFamily="2" charset="2"/>
                        </a:rPr>
                        <m:t>𝑆𝑖𝑂</m:t>
                      </m:r>
                      <m:r>
                        <a:rPr lang="en-US" sz="2000" i="1" baseline="-25000" dirty="0" smtClean="0">
                          <a:latin typeface="Cambria Math" panose="02040503050406030204" pitchFamily="18" charset="0"/>
                          <a:sym typeface="Wingdings" pitchFamily="2" charset="2"/>
                        </a:rPr>
                        <m:t>2 </m:t>
                      </m:r>
                      <m:r>
                        <a:rPr lang="en-US" sz="2000" i="1" dirty="0" smtClean="0">
                          <a:latin typeface="Cambria Math" panose="02040503050406030204" pitchFamily="18" charset="0"/>
                          <a:sym typeface="Wingdings" pitchFamily="2" charset="2"/>
                        </a:rPr>
                        <m:t>+ </m:t>
                      </m:r>
                      <m:r>
                        <a:rPr lang="en-US" sz="2000" i="1" dirty="0" smtClean="0">
                          <a:latin typeface="Cambria Math" panose="02040503050406030204" pitchFamily="18" charset="0"/>
                          <a:sym typeface="Wingdings" pitchFamily="2" charset="2"/>
                        </a:rPr>
                        <m:t>𝑂</m:t>
                      </m:r>
                      <m:r>
                        <a:rPr lang="en-US" sz="2000" i="1" baseline="-25000" dirty="0" smtClean="0">
                          <a:latin typeface="Cambria Math" panose="02040503050406030204" pitchFamily="18" charset="0"/>
                          <a:sym typeface="Wingdings" pitchFamily="2" charset="2"/>
                        </a:rPr>
                        <m:t>2</m:t>
                      </m:r>
                      <m:r>
                        <a:rPr lang="en-US" sz="2000" i="1" dirty="0" smtClean="0">
                          <a:latin typeface="Cambria Math" panose="02040503050406030204" pitchFamily="18" charset="0"/>
                          <a:sym typeface="Wingdings" pitchFamily="2" charset="2"/>
                        </a:rPr>
                        <m:t></m:t>
                      </m:r>
                      <m:r>
                        <a:rPr lang="en-US" sz="2000" b="0" i="1" dirty="0" smtClean="0">
                          <a:latin typeface="Cambria Math" panose="02040503050406030204" pitchFamily="18" charset="0"/>
                          <a:sym typeface="Wingdings" pitchFamily="2" charset="2"/>
                        </a:rPr>
                        <m:t> </m:t>
                      </m:r>
                      <m:r>
                        <a:rPr lang="en-US" sz="2000" i="1" dirty="0" smtClean="0">
                          <a:latin typeface="Cambria Math" panose="02040503050406030204" pitchFamily="18" charset="0"/>
                          <a:sym typeface="Wingdings" pitchFamily="2" charset="2"/>
                        </a:rPr>
                        <m:t>2</m:t>
                      </m:r>
                      <m:r>
                        <a:rPr lang="en-US" sz="2000" i="1" dirty="0" smtClean="0">
                          <a:latin typeface="Cambria Math" panose="02040503050406030204" pitchFamily="18" charset="0"/>
                          <a:sym typeface="Wingdings" pitchFamily="2" charset="2"/>
                        </a:rPr>
                        <m:t>𝐶𝑎𝑆𝑖𝑂</m:t>
                      </m:r>
                      <m:r>
                        <a:rPr lang="en-US" sz="2000" i="1" baseline="-25000" dirty="0" smtClean="0">
                          <a:latin typeface="Cambria Math" panose="02040503050406030204" pitchFamily="18" charset="0"/>
                        </a:rPr>
                        <m:t> </m:t>
                      </m:r>
                      <m:r>
                        <a:rPr lang="en-US" sz="2000" i="1" baseline="-25000" dirty="0">
                          <a:latin typeface="Cambria Math" panose="02040503050406030204" pitchFamily="18" charset="0"/>
                        </a:rPr>
                        <m:t>4</m:t>
                      </m:r>
                    </m:oMath>
                  </m:oMathPara>
                </a14:m>
                <a:endParaRPr lang="en-US" sz="2000">
                  <a:sym typeface="Wingdings" pitchFamily="2" charset="2"/>
                </a:endParaRPr>
              </a:p>
            </p:txBody>
          </p:sp>
        </mc:Choice>
        <mc:Fallback xmlns="">
          <p:sp>
            <p:nvSpPr>
              <p:cNvPr id="4" name="TextBox 3">
                <a:extLst>
                  <a:ext uri="{FF2B5EF4-FFF2-40B4-BE49-F238E27FC236}">
                    <a16:creationId xmlns:a16="http://schemas.microsoft.com/office/drawing/2014/main" id="{0D35F475-ABF5-FC5A-19EB-1C25FCF9ED91}"/>
                  </a:ext>
                </a:extLst>
              </p:cNvPr>
              <p:cNvSpPr txBox="1">
                <a:spLocks noRot="1" noChangeAspect="1" noMove="1" noResize="1" noEditPoints="1" noAdjustHandles="1" noChangeArrowheads="1" noChangeShapeType="1" noTextEdit="1"/>
              </p:cNvSpPr>
              <p:nvPr/>
            </p:nvSpPr>
            <p:spPr>
              <a:xfrm>
                <a:off x="8208284" y="1412488"/>
                <a:ext cx="3983716" cy="5597912"/>
              </a:xfrm>
              <a:prstGeom prst="rect">
                <a:avLst/>
              </a:prstGeom>
              <a:blipFill>
                <a:blip r:embed="rId4"/>
                <a:stretch>
                  <a:fillRect t="-108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D5EDDC3-C1DD-04B5-D445-B9004791F262}"/>
              </a:ext>
            </a:extLst>
          </p:cNvPr>
          <p:cNvSpPr txBox="1"/>
          <p:nvPr/>
        </p:nvSpPr>
        <p:spPr>
          <a:xfrm>
            <a:off x="427533" y="2700170"/>
            <a:ext cx="3309856" cy="646331"/>
          </a:xfrm>
          <a:prstGeom prst="rect">
            <a:avLst/>
          </a:prstGeom>
          <a:noFill/>
        </p:spPr>
        <p:txBody>
          <a:bodyPr wrap="square" rtlCol="0">
            <a:spAutoFit/>
          </a:bodyPr>
          <a:lstStyle/>
          <a:p>
            <a:pPr algn="ctr"/>
            <a:r>
              <a:rPr lang="en-US">
                <a:solidFill>
                  <a:schemeClr val="bg1"/>
                </a:solidFill>
              </a:rPr>
              <a:t>**Impurity Equations Are Exothermic</a:t>
            </a:r>
          </a:p>
        </p:txBody>
      </p:sp>
      <p:cxnSp>
        <p:nvCxnSpPr>
          <p:cNvPr id="7" name="Straight Connector 6">
            <a:extLst>
              <a:ext uri="{FF2B5EF4-FFF2-40B4-BE49-F238E27FC236}">
                <a16:creationId xmlns:a16="http://schemas.microsoft.com/office/drawing/2014/main" id="{236A034D-C127-9937-ACD3-60162796CBBE}"/>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6550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46B1B-3938-C7DB-B47C-882D37EB4B21}"/>
              </a:ext>
            </a:extLst>
          </p:cNvPr>
          <p:cNvSpPr>
            <a:spLocks noGrp="1"/>
          </p:cNvSpPr>
          <p:nvPr>
            <p:ph type="title"/>
          </p:nvPr>
        </p:nvSpPr>
        <p:spPr>
          <a:xfrm>
            <a:off x="388095" y="464488"/>
            <a:ext cx="10838705" cy="1015570"/>
          </a:xfrm>
        </p:spPr>
        <p:txBody>
          <a:bodyPr vert="horz" lIns="91440" tIns="45720" rIns="91440" bIns="45720" rtlCol="0" anchor="ctr">
            <a:normAutofit/>
          </a:bodyPr>
          <a:lstStyle/>
          <a:p>
            <a:r>
              <a:rPr lang="en-US" sz="4000"/>
              <a:t>Composition of Pig Iron Impurities During Reaction</a:t>
            </a:r>
          </a:p>
        </p:txBody>
      </p:sp>
      <p:sp>
        <p:nvSpPr>
          <p:cNvPr id="46"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503936" y="1512277"/>
            <a:ext cx="9144000" cy="18288"/>
          </a:xfrm>
          <a:custGeom>
            <a:avLst/>
            <a:gdLst>
              <a:gd name="csX0" fmla="*/ 0 w 9144000"/>
              <a:gd name="csY0" fmla="*/ 0 h 18288"/>
              <a:gd name="csX1" fmla="*/ 744583 w 9144000"/>
              <a:gd name="csY1" fmla="*/ 0 h 18288"/>
              <a:gd name="csX2" fmla="*/ 1306286 w 9144000"/>
              <a:gd name="csY2" fmla="*/ 0 h 18288"/>
              <a:gd name="csX3" fmla="*/ 1959429 w 9144000"/>
              <a:gd name="csY3" fmla="*/ 0 h 18288"/>
              <a:gd name="csX4" fmla="*/ 2795451 w 9144000"/>
              <a:gd name="csY4" fmla="*/ 0 h 18288"/>
              <a:gd name="csX5" fmla="*/ 3265714 w 9144000"/>
              <a:gd name="csY5" fmla="*/ 0 h 18288"/>
              <a:gd name="csX6" fmla="*/ 4010297 w 9144000"/>
              <a:gd name="csY6" fmla="*/ 0 h 18288"/>
              <a:gd name="csX7" fmla="*/ 4480560 w 9144000"/>
              <a:gd name="csY7" fmla="*/ 0 h 18288"/>
              <a:gd name="csX8" fmla="*/ 5133703 w 9144000"/>
              <a:gd name="csY8" fmla="*/ 0 h 18288"/>
              <a:gd name="csX9" fmla="*/ 5878286 w 9144000"/>
              <a:gd name="csY9" fmla="*/ 0 h 18288"/>
              <a:gd name="csX10" fmla="*/ 6257109 w 9144000"/>
              <a:gd name="csY10" fmla="*/ 0 h 18288"/>
              <a:gd name="csX11" fmla="*/ 6635931 w 9144000"/>
              <a:gd name="csY11" fmla="*/ 0 h 18288"/>
              <a:gd name="csX12" fmla="*/ 7471954 w 9144000"/>
              <a:gd name="csY12" fmla="*/ 0 h 18288"/>
              <a:gd name="csX13" fmla="*/ 8125097 w 9144000"/>
              <a:gd name="csY13" fmla="*/ 0 h 18288"/>
              <a:gd name="csX14" fmla="*/ 8503920 w 9144000"/>
              <a:gd name="csY14" fmla="*/ 0 h 18288"/>
              <a:gd name="csX15" fmla="*/ 9144000 w 9144000"/>
              <a:gd name="csY15" fmla="*/ 0 h 18288"/>
              <a:gd name="csX16" fmla="*/ 9144000 w 9144000"/>
              <a:gd name="csY16" fmla="*/ 18288 h 18288"/>
              <a:gd name="csX17" fmla="*/ 8673737 w 9144000"/>
              <a:gd name="csY17" fmla="*/ 18288 h 18288"/>
              <a:gd name="csX18" fmla="*/ 8020594 w 9144000"/>
              <a:gd name="csY18" fmla="*/ 18288 h 18288"/>
              <a:gd name="csX19" fmla="*/ 7184571 w 9144000"/>
              <a:gd name="csY19" fmla="*/ 18288 h 18288"/>
              <a:gd name="csX20" fmla="*/ 6348549 w 9144000"/>
              <a:gd name="csY20" fmla="*/ 18288 h 18288"/>
              <a:gd name="csX21" fmla="*/ 5603966 w 9144000"/>
              <a:gd name="csY21" fmla="*/ 18288 h 18288"/>
              <a:gd name="csX22" fmla="*/ 4859383 w 9144000"/>
              <a:gd name="csY22" fmla="*/ 18288 h 18288"/>
              <a:gd name="csX23" fmla="*/ 4114800 w 9144000"/>
              <a:gd name="csY23" fmla="*/ 18288 h 18288"/>
              <a:gd name="csX24" fmla="*/ 3644537 w 9144000"/>
              <a:gd name="csY24" fmla="*/ 18288 h 18288"/>
              <a:gd name="csX25" fmla="*/ 2808514 w 9144000"/>
              <a:gd name="csY25" fmla="*/ 18288 h 18288"/>
              <a:gd name="csX26" fmla="*/ 2155371 w 9144000"/>
              <a:gd name="csY26" fmla="*/ 18288 h 18288"/>
              <a:gd name="csX27" fmla="*/ 1776549 w 9144000"/>
              <a:gd name="csY27" fmla="*/ 18288 h 18288"/>
              <a:gd name="csX28" fmla="*/ 1123406 w 9144000"/>
              <a:gd name="csY28" fmla="*/ 18288 h 18288"/>
              <a:gd name="csX29" fmla="*/ 561703 w 9144000"/>
              <a:gd name="csY29" fmla="*/ 18288 h 18288"/>
              <a:gd name="csX30" fmla="*/ 0 w 9144000"/>
              <a:gd name="csY30" fmla="*/ 18288 h 18288"/>
              <a:gd name="csX31" fmla="*/ 0 w 9144000"/>
              <a:gd name="csY3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144000" h="18288" fill="none" extrusionOk="0">
                <a:moveTo>
                  <a:pt x="0" y="0"/>
                </a:moveTo>
                <a:cubicBezTo>
                  <a:pt x="327235" y="20490"/>
                  <a:pt x="586878" y="34225"/>
                  <a:pt x="744583" y="0"/>
                </a:cubicBezTo>
                <a:cubicBezTo>
                  <a:pt x="902288" y="-34225"/>
                  <a:pt x="1063840" y="-6877"/>
                  <a:pt x="1306286" y="0"/>
                </a:cubicBezTo>
                <a:cubicBezTo>
                  <a:pt x="1548732" y="6877"/>
                  <a:pt x="1644742" y="-11189"/>
                  <a:pt x="1959429" y="0"/>
                </a:cubicBezTo>
                <a:cubicBezTo>
                  <a:pt x="2274116" y="11189"/>
                  <a:pt x="2449906" y="17913"/>
                  <a:pt x="2795451" y="0"/>
                </a:cubicBezTo>
                <a:cubicBezTo>
                  <a:pt x="3140996" y="-17913"/>
                  <a:pt x="3118227" y="-18911"/>
                  <a:pt x="3265714" y="0"/>
                </a:cubicBezTo>
                <a:cubicBezTo>
                  <a:pt x="3413201" y="18911"/>
                  <a:pt x="3780108" y="9817"/>
                  <a:pt x="4010297" y="0"/>
                </a:cubicBezTo>
                <a:cubicBezTo>
                  <a:pt x="4240486" y="-9817"/>
                  <a:pt x="4253630" y="21107"/>
                  <a:pt x="4480560" y="0"/>
                </a:cubicBezTo>
                <a:cubicBezTo>
                  <a:pt x="4707490" y="-21107"/>
                  <a:pt x="4982298" y="-25774"/>
                  <a:pt x="5133703" y="0"/>
                </a:cubicBezTo>
                <a:cubicBezTo>
                  <a:pt x="5285108" y="25774"/>
                  <a:pt x="5612384" y="-27905"/>
                  <a:pt x="5878286" y="0"/>
                </a:cubicBezTo>
                <a:cubicBezTo>
                  <a:pt x="6144188" y="27905"/>
                  <a:pt x="6075166" y="3204"/>
                  <a:pt x="6257109" y="0"/>
                </a:cubicBezTo>
                <a:cubicBezTo>
                  <a:pt x="6439052" y="-3204"/>
                  <a:pt x="6534347" y="3511"/>
                  <a:pt x="6635931" y="0"/>
                </a:cubicBezTo>
                <a:cubicBezTo>
                  <a:pt x="6737515" y="-3511"/>
                  <a:pt x="7072908" y="-5431"/>
                  <a:pt x="7471954" y="0"/>
                </a:cubicBezTo>
                <a:cubicBezTo>
                  <a:pt x="7871000" y="5431"/>
                  <a:pt x="7909223" y="-7495"/>
                  <a:pt x="8125097" y="0"/>
                </a:cubicBezTo>
                <a:cubicBezTo>
                  <a:pt x="8340971" y="7495"/>
                  <a:pt x="8389208" y="16437"/>
                  <a:pt x="8503920" y="0"/>
                </a:cubicBezTo>
                <a:cubicBezTo>
                  <a:pt x="8618632" y="-16437"/>
                  <a:pt x="8925597" y="9734"/>
                  <a:pt x="9144000" y="0"/>
                </a:cubicBezTo>
                <a:cubicBezTo>
                  <a:pt x="9143145" y="5972"/>
                  <a:pt x="9144311" y="13600"/>
                  <a:pt x="9144000" y="18288"/>
                </a:cubicBezTo>
                <a:cubicBezTo>
                  <a:pt x="9045233" y="6882"/>
                  <a:pt x="8855456" y="37279"/>
                  <a:pt x="8673737" y="18288"/>
                </a:cubicBezTo>
                <a:cubicBezTo>
                  <a:pt x="8492018" y="-703"/>
                  <a:pt x="8225756" y="42121"/>
                  <a:pt x="8020594" y="18288"/>
                </a:cubicBezTo>
                <a:cubicBezTo>
                  <a:pt x="7815432" y="-5545"/>
                  <a:pt x="7463378" y="45227"/>
                  <a:pt x="7184571" y="18288"/>
                </a:cubicBezTo>
                <a:cubicBezTo>
                  <a:pt x="6905764" y="-8651"/>
                  <a:pt x="6726328" y="53065"/>
                  <a:pt x="6348549" y="18288"/>
                </a:cubicBezTo>
                <a:cubicBezTo>
                  <a:pt x="5970770" y="-16489"/>
                  <a:pt x="5919143" y="8327"/>
                  <a:pt x="5603966" y="18288"/>
                </a:cubicBezTo>
                <a:cubicBezTo>
                  <a:pt x="5288789" y="28249"/>
                  <a:pt x="5056397" y="569"/>
                  <a:pt x="4859383" y="18288"/>
                </a:cubicBezTo>
                <a:cubicBezTo>
                  <a:pt x="4662369" y="36007"/>
                  <a:pt x="4417355" y="29062"/>
                  <a:pt x="4114800" y="18288"/>
                </a:cubicBezTo>
                <a:cubicBezTo>
                  <a:pt x="3812245" y="7514"/>
                  <a:pt x="3761669" y="30796"/>
                  <a:pt x="3644537" y="18288"/>
                </a:cubicBezTo>
                <a:cubicBezTo>
                  <a:pt x="3527405" y="5780"/>
                  <a:pt x="3199232" y="-19102"/>
                  <a:pt x="2808514" y="18288"/>
                </a:cubicBezTo>
                <a:cubicBezTo>
                  <a:pt x="2417796" y="55678"/>
                  <a:pt x="2382352" y="43107"/>
                  <a:pt x="2155371" y="18288"/>
                </a:cubicBezTo>
                <a:cubicBezTo>
                  <a:pt x="1928390" y="-6531"/>
                  <a:pt x="1857642" y="18670"/>
                  <a:pt x="1776549" y="18288"/>
                </a:cubicBezTo>
                <a:cubicBezTo>
                  <a:pt x="1695456" y="17906"/>
                  <a:pt x="1300689" y="35541"/>
                  <a:pt x="1123406" y="18288"/>
                </a:cubicBezTo>
                <a:cubicBezTo>
                  <a:pt x="946123" y="1035"/>
                  <a:pt x="733855" y="12170"/>
                  <a:pt x="561703" y="18288"/>
                </a:cubicBezTo>
                <a:cubicBezTo>
                  <a:pt x="389551" y="24406"/>
                  <a:pt x="239502" y="-5399"/>
                  <a:pt x="0" y="18288"/>
                </a:cubicBezTo>
                <a:cubicBezTo>
                  <a:pt x="-535" y="14319"/>
                  <a:pt x="580" y="5503"/>
                  <a:pt x="0" y="0"/>
                </a:cubicBezTo>
                <a:close/>
              </a:path>
              <a:path w="9144000" h="18288" stroke="0" extrusionOk="0">
                <a:moveTo>
                  <a:pt x="0" y="0"/>
                </a:moveTo>
                <a:cubicBezTo>
                  <a:pt x="198878" y="-10557"/>
                  <a:pt x="407088" y="-8082"/>
                  <a:pt x="561703" y="0"/>
                </a:cubicBezTo>
                <a:cubicBezTo>
                  <a:pt x="716318" y="8082"/>
                  <a:pt x="835202" y="-18772"/>
                  <a:pt x="940526" y="0"/>
                </a:cubicBezTo>
                <a:cubicBezTo>
                  <a:pt x="1045850" y="18772"/>
                  <a:pt x="1393324" y="-3579"/>
                  <a:pt x="1776549" y="0"/>
                </a:cubicBezTo>
                <a:cubicBezTo>
                  <a:pt x="2159774" y="3579"/>
                  <a:pt x="2190081" y="-10610"/>
                  <a:pt x="2338251" y="0"/>
                </a:cubicBezTo>
                <a:cubicBezTo>
                  <a:pt x="2486421" y="10610"/>
                  <a:pt x="2645997" y="17984"/>
                  <a:pt x="2899954" y="0"/>
                </a:cubicBezTo>
                <a:cubicBezTo>
                  <a:pt x="3153911" y="-17984"/>
                  <a:pt x="3493774" y="11651"/>
                  <a:pt x="3735977" y="0"/>
                </a:cubicBezTo>
                <a:cubicBezTo>
                  <a:pt x="3978180" y="-11651"/>
                  <a:pt x="4089476" y="16082"/>
                  <a:pt x="4206240" y="0"/>
                </a:cubicBezTo>
                <a:cubicBezTo>
                  <a:pt x="4323004" y="-16082"/>
                  <a:pt x="4870551" y="33406"/>
                  <a:pt x="5042263" y="0"/>
                </a:cubicBezTo>
                <a:cubicBezTo>
                  <a:pt x="5213975" y="-33406"/>
                  <a:pt x="5518384" y="-39039"/>
                  <a:pt x="5878286" y="0"/>
                </a:cubicBezTo>
                <a:cubicBezTo>
                  <a:pt x="6238188" y="39039"/>
                  <a:pt x="6358789" y="24913"/>
                  <a:pt x="6531429" y="0"/>
                </a:cubicBezTo>
                <a:cubicBezTo>
                  <a:pt x="6704069" y="-24913"/>
                  <a:pt x="7047419" y="-5128"/>
                  <a:pt x="7367451" y="0"/>
                </a:cubicBezTo>
                <a:cubicBezTo>
                  <a:pt x="7687483" y="5128"/>
                  <a:pt x="7814430" y="-16092"/>
                  <a:pt x="7929154" y="0"/>
                </a:cubicBezTo>
                <a:cubicBezTo>
                  <a:pt x="8043878" y="16092"/>
                  <a:pt x="8250575" y="-17929"/>
                  <a:pt x="8490857" y="0"/>
                </a:cubicBezTo>
                <a:cubicBezTo>
                  <a:pt x="8731139" y="17929"/>
                  <a:pt x="8898894" y="-15257"/>
                  <a:pt x="9144000" y="0"/>
                </a:cubicBezTo>
                <a:cubicBezTo>
                  <a:pt x="9143889" y="5202"/>
                  <a:pt x="9144838" y="11043"/>
                  <a:pt x="9144000" y="18288"/>
                </a:cubicBezTo>
                <a:cubicBezTo>
                  <a:pt x="8915356" y="32534"/>
                  <a:pt x="8724530" y="14423"/>
                  <a:pt x="8490857" y="18288"/>
                </a:cubicBezTo>
                <a:cubicBezTo>
                  <a:pt x="8257184" y="22153"/>
                  <a:pt x="7848956" y="-23511"/>
                  <a:pt x="7654834" y="18288"/>
                </a:cubicBezTo>
                <a:cubicBezTo>
                  <a:pt x="7460712" y="60087"/>
                  <a:pt x="7256327" y="-1415"/>
                  <a:pt x="7001691" y="18288"/>
                </a:cubicBezTo>
                <a:cubicBezTo>
                  <a:pt x="6747055" y="37991"/>
                  <a:pt x="6791537" y="18455"/>
                  <a:pt x="6622869" y="18288"/>
                </a:cubicBezTo>
                <a:cubicBezTo>
                  <a:pt x="6454201" y="18121"/>
                  <a:pt x="6361044" y="10401"/>
                  <a:pt x="6152606" y="18288"/>
                </a:cubicBezTo>
                <a:cubicBezTo>
                  <a:pt x="5944168" y="26175"/>
                  <a:pt x="5679842" y="37700"/>
                  <a:pt x="5316583" y="18288"/>
                </a:cubicBezTo>
                <a:cubicBezTo>
                  <a:pt x="4953324" y="-1124"/>
                  <a:pt x="4935707" y="22540"/>
                  <a:pt x="4663440" y="18288"/>
                </a:cubicBezTo>
                <a:cubicBezTo>
                  <a:pt x="4391173" y="14036"/>
                  <a:pt x="4360119" y="890"/>
                  <a:pt x="4193177" y="18288"/>
                </a:cubicBezTo>
                <a:cubicBezTo>
                  <a:pt x="4026235" y="35686"/>
                  <a:pt x="3779770" y="16750"/>
                  <a:pt x="3540034" y="18288"/>
                </a:cubicBezTo>
                <a:cubicBezTo>
                  <a:pt x="3300298" y="19826"/>
                  <a:pt x="3318165" y="36779"/>
                  <a:pt x="3161211" y="18288"/>
                </a:cubicBezTo>
                <a:cubicBezTo>
                  <a:pt x="3004257" y="-203"/>
                  <a:pt x="2920595" y="4512"/>
                  <a:pt x="2782389" y="18288"/>
                </a:cubicBezTo>
                <a:cubicBezTo>
                  <a:pt x="2644183" y="32064"/>
                  <a:pt x="2452795" y="-3654"/>
                  <a:pt x="2129246" y="18288"/>
                </a:cubicBezTo>
                <a:cubicBezTo>
                  <a:pt x="1805697" y="40230"/>
                  <a:pt x="1776404" y="4570"/>
                  <a:pt x="1658983" y="18288"/>
                </a:cubicBezTo>
                <a:cubicBezTo>
                  <a:pt x="1541562" y="32006"/>
                  <a:pt x="1169691" y="-7293"/>
                  <a:pt x="914400" y="18288"/>
                </a:cubicBezTo>
                <a:cubicBezTo>
                  <a:pt x="659109" y="43869"/>
                  <a:pt x="378514" y="-16280"/>
                  <a:pt x="0" y="18288"/>
                </a:cubicBezTo>
                <a:cubicBezTo>
                  <a:pt x="-284" y="13526"/>
                  <a:pt x="19" y="566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A4B7041-4BF5-C434-4951-5E6F23D8DEC1}"/>
              </a:ext>
            </a:extLst>
          </p:cNvPr>
          <p:cNvSpPr txBox="1"/>
          <p:nvPr/>
        </p:nvSpPr>
        <p:spPr>
          <a:xfrm>
            <a:off x="388095" y="5566058"/>
            <a:ext cx="6007608" cy="1190928"/>
          </a:xfrm>
          <a:prstGeom prst="rect">
            <a:avLst/>
          </a:prstGeom>
        </p:spPr>
        <p:txBody>
          <a:bodyPr vert="horz" lIns="91440" tIns="45720" rIns="91440" bIns="45720" rtlCol="0" anchor="ctr">
            <a:normAutofit/>
          </a:bodyPr>
          <a:lstStyle/>
          <a:p>
            <a:pPr>
              <a:lnSpc>
                <a:spcPct val="90000"/>
              </a:lnSpc>
              <a:spcAft>
                <a:spcPts val="600"/>
              </a:spcAft>
            </a:pPr>
            <a:r>
              <a:rPr lang="en-US" sz="1600">
                <a:effectLst/>
              </a:rPr>
              <a:t>Goswami, P. (2025, January 12). </a:t>
            </a:r>
            <a:r>
              <a:rPr lang="en-US" sz="1600" i="1">
                <a:effectLst/>
              </a:rPr>
              <a:t>LD converter process in steelmaking ► </a:t>
            </a:r>
            <a:r>
              <a:rPr lang="en-US" sz="1600" i="1" err="1">
                <a:effectLst/>
              </a:rPr>
              <a:t>MetaTechX</a:t>
            </a:r>
            <a:r>
              <a:rPr lang="en-US" sz="1600">
                <a:effectLst/>
              </a:rPr>
              <a:t>. </a:t>
            </a:r>
            <a:r>
              <a:rPr lang="en-US" sz="1600" err="1">
                <a:effectLst/>
              </a:rPr>
              <a:t>MetaTechX</a:t>
            </a:r>
            <a:r>
              <a:rPr lang="en-US" sz="1600">
                <a:effectLst/>
              </a:rPr>
              <a:t>. </a:t>
            </a:r>
            <a:r>
              <a:rPr lang="en-US" sz="1600" u="sng">
                <a:effectLst/>
                <a:hlinkClick r:id="rId3"/>
              </a:rPr>
              <a:t>https://metatechx.in/ld-converter-process-in-steelmaking</a:t>
            </a:r>
            <a:r>
              <a:rPr lang="en-US" sz="1600">
                <a:effectLst/>
              </a:rPr>
              <a:t> </a:t>
            </a:r>
            <a:endParaRPr lang="en-US" sz="1600"/>
          </a:p>
        </p:txBody>
      </p:sp>
      <p:pic>
        <p:nvPicPr>
          <p:cNvPr id="4" name="Picture 3" descr="A graph of a number of objects&#10;&#10;AI-generated content may be incorrect.">
            <a:extLst>
              <a:ext uri="{FF2B5EF4-FFF2-40B4-BE49-F238E27FC236}">
                <a16:creationId xmlns:a16="http://schemas.microsoft.com/office/drawing/2014/main" id="{0A2E4D49-16E5-D3A2-6D5D-3844CEC2C9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550357" y="1868759"/>
            <a:ext cx="5634544" cy="3747806"/>
          </a:xfrm>
          <a:prstGeom prst="rect">
            <a:avLst/>
          </a:prstGeom>
          <a:noFill/>
        </p:spPr>
      </p:pic>
      <p:graphicFrame>
        <p:nvGraphicFramePr>
          <p:cNvPr id="7" name="Content Placeholder 6">
            <a:extLst>
              <a:ext uri="{FF2B5EF4-FFF2-40B4-BE49-F238E27FC236}">
                <a16:creationId xmlns:a16="http://schemas.microsoft.com/office/drawing/2014/main" id="{259F14C7-EC8B-E94A-2F5A-D49A0EA4D6E4}"/>
              </a:ext>
            </a:extLst>
          </p:cNvPr>
          <p:cNvGraphicFramePr>
            <a:graphicFrameLocks noGrp="1"/>
          </p:cNvGraphicFramePr>
          <p:nvPr>
            <p:ph idx="1"/>
            <p:extLst>
              <p:ext uri="{D42A27DB-BD31-4B8C-83A1-F6EECF244321}">
                <p14:modId xmlns:p14="http://schemas.microsoft.com/office/powerpoint/2010/main" val="916779505"/>
              </p:ext>
            </p:extLst>
          </p:nvPr>
        </p:nvGraphicFramePr>
        <p:xfrm>
          <a:off x="6392333" y="1869722"/>
          <a:ext cx="5865504" cy="4673399"/>
        </p:xfrm>
        <a:graphic>
          <a:graphicData uri="http://schemas.openxmlformats.org/drawingml/2006/table">
            <a:tbl>
              <a:tblPr firstRow="1" bandRow="1">
                <a:noFill/>
                <a:tableStyleId>{0660B408-B3CF-4A94-85FC-2B1E0A45F4A2}</a:tableStyleId>
              </a:tblPr>
              <a:tblGrid>
                <a:gridCol w="1470895">
                  <a:extLst>
                    <a:ext uri="{9D8B030D-6E8A-4147-A177-3AD203B41FA5}">
                      <a16:colId xmlns:a16="http://schemas.microsoft.com/office/drawing/2014/main" val="3588701591"/>
                    </a:ext>
                  </a:extLst>
                </a:gridCol>
                <a:gridCol w="1426320">
                  <a:extLst>
                    <a:ext uri="{9D8B030D-6E8A-4147-A177-3AD203B41FA5}">
                      <a16:colId xmlns:a16="http://schemas.microsoft.com/office/drawing/2014/main" val="2389631740"/>
                    </a:ext>
                  </a:extLst>
                </a:gridCol>
                <a:gridCol w="1469296">
                  <a:extLst>
                    <a:ext uri="{9D8B030D-6E8A-4147-A177-3AD203B41FA5}">
                      <a16:colId xmlns:a16="http://schemas.microsoft.com/office/drawing/2014/main" val="1474702420"/>
                    </a:ext>
                  </a:extLst>
                </a:gridCol>
                <a:gridCol w="1498993">
                  <a:extLst>
                    <a:ext uri="{9D8B030D-6E8A-4147-A177-3AD203B41FA5}">
                      <a16:colId xmlns:a16="http://schemas.microsoft.com/office/drawing/2014/main" val="1358104195"/>
                    </a:ext>
                  </a:extLst>
                </a:gridCol>
              </a:tblGrid>
              <a:tr h="1060674">
                <a:tc>
                  <a:txBody>
                    <a:bodyPr/>
                    <a:lstStyle/>
                    <a:p>
                      <a:r>
                        <a:rPr lang="en-US" sz="2100" b="1">
                          <a:solidFill>
                            <a:srgbClr val="FFFFFF"/>
                          </a:solidFill>
                        </a:rPr>
                        <a:t>Species</a:t>
                      </a:r>
                    </a:p>
                  </a:txBody>
                  <a:tcPr marL="303209" marR="181925" marT="181925" marB="181925">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r>
                        <a:rPr lang="en-US" sz="2100" b="1">
                          <a:solidFill>
                            <a:srgbClr val="FFFFFF"/>
                          </a:solidFill>
                        </a:rPr>
                        <a:t>%comp before</a:t>
                      </a:r>
                    </a:p>
                  </a:txBody>
                  <a:tcPr marL="303209" marR="181925" marT="181925" marB="181925">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noFill/>
                      <a:prstDash val="solid"/>
                    </a:lnT>
                    <a:lnB w="38100" cap="flat" cmpd="sng" algn="ctr">
                      <a:solidFill>
                        <a:srgbClr val="FFFFFF"/>
                      </a:solidFill>
                      <a:prstDash val="solid"/>
                      <a:round/>
                      <a:headEnd type="none" w="med" len="med"/>
                      <a:tailEnd type="none" w="med" len="med"/>
                    </a:lnB>
                    <a:solidFill>
                      <a:srgbClr val="636B68">
                        <a:alpha val="69804"/>
                      </a:srgbClr>
                    </a:solidFill>
                  </a:tcPr>
                </a:tc>
                <a:tc>
                  <a:txBody>
                    <a:bodyPr/>
                    <a:lstStyle/>
                    <a:p>
                      <a:pPr lvl="0">
                        <a:buNone/>
                      </a:pPr>
                      <a:r>
                        <a:rPr lang="en-US" sz="2100" b="1">
                          <a:solidFill>
                            <a:srgbClr val="FFFFFF"/>
                          </a:solidFill>
                        </a:rPr>
                        <a:t>%compafter</a:t>
                      </a:r>
                      <a:endParaRPr lang="en-US" sz="2100" b="1" err="1">
                        <a:solidFill>
                          <a:srgbClr val="FFFFFF"/>
                        </a:solidFill>
                      </a:endParaRPr>
                    </a:p>
                  </a:txBody>
                  <a:tcPr marL="303208" marR="181925" marT="181925" marB="181925">
                    <a:lnL w="38100" cap="flat" cmpd="sng" algn="ctr">
                      <a:solidFill>
                        <a:srgbClr val="FFFFFF"/>
                      </a:solidFill>
                      <a:prstDash val="solid"/>
                      <a:round/>
                      <a:headEnd type="none" w="med" len="med"/>
                      <a:tailEnd type="none" w="med" len="med"/>
                    </a:lnL>
                    <a:lnR w="38099" cap="flat" cmpd="sng" algn="ctr">
                      <a:solidFill>
                        <a:srgbClr val="FFFFFF"/>
                      </a:solidFill>
                      <a:prstDash val="solid"/>
                      <a:round/>
                      <a:headEnd type="none" w="med" len="med"/>
                      <a:tailEnd type="none" w="med" len="med"/>
                    </a:lnR>
                    <a:lnT w="0">
                      <a:noFill/>
                    </a:lnT>
                    <a:lnB w="38099">
                      <a:solidFill>
                        <a:srgbClr val="FFFFFF"/>
                      </a:solidFill>
                    </a:lnB>
                    <a:solidFill>
                      <a:srgbClr val="636B68">
                        <a:alpha val="69804"/>
                      </a:srgbClr>
                    </a:solidFill>
                  </a:tcPr>
                </a:tc>
                <a:tc>
                  <a:txBody>
                    <a:bodyPr/>
                    <a:lstStyle/>
                    <a:p>
                      <a:pPr lvl="0">
                        <a:buNone/>
                      </a:pPr>
                      <a:r>
                        <a:rPr lang="en-US" sz="2100" b="1">
                          <a:solidFill>
                            <a:srgbClr val="FFFFFF"/>
                          </a:solidFill>
                        </a:rPr>
                        <a:t>Ratio</a:t>
                      </a:r>
                    </a:p>
                  </a:txBody>
                  <a:tcPr marL="303207" marR="181925" marT="181925" marB="181925">
                    <a:lnL w="38099">
                      <a:solidFill>
                        <a:srgbClr val="FFFFFF"/>
                      </a:solidFill>
                    </a:lnL>
                    <a:lnR w="38099">
                      <a:solidFill>
                        <a:srgbClr val="FFFFFF"/>
                      </a:solidFill>
                    </a:lnR>
                    <a:lnT w="0">
                      <a:noFill/>
                    </a:lnT>
                    <a:lnB w="38099">
                      <a:solidFill>
                        <a:srgbClr val="FFFFFF"/>
                      </a:solidFill>
                    </a:lnB>
                    <a:solidFill>
                      <a:srgbClr val="636B68">
                        <a:alpha val="69804"/>
                      </a:srgbClr>
                    </a:solidFill>
                  </a:tcPr>
                </a:tc>
                <a:extLst>
                  <a:ext uri="{0D108BD9-81ED-4DB2-BD59-A6C34878D82A}">
                    <a16:rowId xmlns:a16="http://schemas.microsoft.com/office/drawing/2014/main" val="2904466027"/>
                  </a:ext>
                </a:extLst>
              </a:tr>
              <a:tr h="722545">
                <a:tc>
                  <a:txBody>
                    <a:bodyPr/>
                    <a:lstStyle/>
                    <a:p>
                      <a:r>
                        <a:rPr lang="en-US" sz="2100">
                          <a:solidFill>
                            <a:schemeClr val="tx1">
                              <a:lumMod val="85000"/>
                              <a:lumOff val="15000"/>
                            </a:schemeClr>
                          </a:solidFill>
                        </a:rPr>
                        <a:t>C</a:t>
                      </a:r>
                    </a:p>
                  </a:txBody>
                  <a:tcPr marL="303209" marR="181925" marT="181925" marB="181925">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2100">
                          <a:solidFill>
                            <a:schemeClr val="tx1">
                              <a:lumMod val="85000"/>
                              <a:lumOff val="15000"/>
                            </a:schemeClr>
                          </a:solidFill>
                        </a:rPr>
                        <a:t>4.00</a:t>
                      </a:r>
                    </a:p>
                  </a:txBody>
                  <a:tcPr marL="303209" marR="181925" marT="181925" marB="181925">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lvl="0">
                        <a:buNone/>
                      </a:pPr>
                      <a:r>
                        <a:rPr lang="en-US" sz="2100">
                          <a:solidFill>
                            <a:schemeClr val="tx1">
                              <a:lumMod val="85000"/>
                              <a:lumOff val="15000"/>
                            </a:schemeClr>
                          </a:solidFill>
                        </a:rPr>
                        <a:t>0.1</a:t>
                      </a:r>
                    </a:p>
                  </a:txBody>
                  <a:tcPr marL="303208" marR="181925" marT="181925" marB="181925">
                    <a:lnL w="38100" cap="flat" cmpd="sng" algn="ctr">
                      <a:solidFill>
                        <a:srgbClr val="FFFFFF"/>
                      </a:solidFill>
                      <a:prstDash val="solid"/>
                      <a:round/>
                      <a:headEnd type="none" w="med" len="med"/>
                      <a:tailEnd type="none" w="med" len="med"/>
                    </a:lnL>
                    <a:lnR w="38099" cap="flat" cmpd="sng" algn="ctr">
                      <a:solidFill>
                        <a:srgbClr val="FFFFFF"/>
                      </a:solidFill>
                      <a:prstDash val="solid"/>
                      <a:round/>
                      <a:headEnd type="none" w="med" len="med"/>
                      <a:tailEnd type="none" w="med" len="med"/>
                    </a:lnR>
                    <a:lnT w="38099">
                      <a:solidFill>
                        <a:srgbClr val="FFFFFF"/>
                      </a:solidFill>
                    </a:lnT>
                    <a:lnB w="38099">
                      <a:solidFill>
                        <a:srgbClr val="FFFFFF"/>
                      </a:solidFill>
                    </a:lnB>
                    <a:solidFill>
                      <a:srgbClr val="878E8B">
                        <a:alpha val="14902"/>
                      </a:srgbClr>
                    </a:solidFill>
                  </a:tcPr>
                </a:tc>
                <a:tc>
                  <a:txBody>
                    <a:bodyPr/>
                    <a:lstStyle/>
                    <a:p>
                      <a:pPr lvl="0">
                        <a:buNone/>
                      </a:pPr>
                      <a:r>
                        <a:rPr lang="en-US" sz="2100">
                          <a:solidFill>
                            <a:schemeClr val="tx1">
                              <a:lumMod val="85000"/>
                              <a:lumOff val="15000"/>
                            </a:schemeClr>
                          </a:solidFill>
                        </a:rPr>
                        <a:t>0.025</a:t>
                      </a:r>
                    </a:p>
                  </a:txBody>
                  <a:tcPr marL="303207" marR="181925" marT="181925" marB="181925">
                    <a:lnL w="38099">
                      <a:solidFill>
                        <a:srgbClr val="FFFFFF"/>
                      </a:solidFill>
                    </a:lnL>
                    <a:lnR w="38099">
                      <a:solidFill>
                        <a:srgbClr val="FFFFFF"/>
                      </a:solidFill>
                    </a:lnR>
                    <a:lnT w="38099">
                      <a:solidFill>
                        <a:srgbClr val="FFFFFF"/>
                      </a:solidFill>
                    </a:lnT>
                    <a:lnB w="38099">
                      <a:solidFill>
                        <a:srgbClr val="FFFFFF"/>
                      </a:solidFill>
                    </a:lnB>
                    <a:solidFill>
                      <a:srgbClr val="878E8B">
                        <a:alpha val="14902"/>
                      </a:srgbClr>
                    </a:solidFill>
                  </a:tcPr>
                </a:tc>
                <a:extLst>
                  <a:ext uri="{0D108BD9-81ED-4DB2-BD59-A6C34878D82A}">
                    <a16:rowId xmlns:a16="http://schemas.microsoft.com/office/drawing/2014/main" val="530150044"/>
                  </a:ext>
                </a:extLst>
              </a:tr>
              <a:tr h="722545">
                <a:tc>
                  <a:txBody>
                    <a:bodyPr/>
                    <a:lstStyle/>
                    <a:p>
                      <a:r>
                        <a:rPr lang="en-US" sz="2100">
                          <a:solidFill>
                            <a:schemeClr val="tx1">
                              <a:lumMod val="85000"/>
                              <a:lumOff val="15000"/>
                            </a:schemeClr>
                          </a:solidFill>
                        </a:rPr>
                        <a:t>S</a:t>
                      </a:r>
                    </a:p>
                  </a:txBody>
                  <a:tcPr marL="303209" marR="181925" marT="181925" marB="181925">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2100">
                          <a:solidFill>
                            <a:schemeClr val="tx1">
                              <a:lumMod val="85000"/>
                              <a:lumOff val="15000"/>
                            </a:schemeClr>
                          </a:solidFill>
                        </a:rPr>
                        <a:t>0.046</a:t>
                      </a:r>
                    </a:p>
                  </a:txBody>
                  <a:tcPr marL="303209" marR="181925" marT="181925" marB="181925">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30196"/>
                      </a:srgbClr>
                    </a:solidFill>
                  </a:tcPr>
                </a:tc>
                <a:tc>
                  <a:txBody>
                    <a:bodyPr/>
                    <a:lstStyle/>
                    <a:p>
                      <a:pPr lvl="0">
                        <a:buNone/>
                      </a:pPr>
                      <a:r>
                        <a:rPr lang="en-US" sz="2100">
                          <a:solidFill>
                            <a:schemeClr val="tx1">
                              <a:lumMod val="85000"/>
                              <a:lumOff val="15000"/>
                            </a:schemeClr>
                          </a:solidFill>
                        </a:rPr>
                        <a:t>0.025</a:t>
                      </a:r>
                    </a:p>
                  </a:txBody>
                  <a:tcPr marL="303208" marR="181925" marT="181925" marB="181925">
                    <a:lnL w="38100" cap="flat" cmpd="sng" algn="ctr">
                      <a:solidFill>
                        <a:srgbClr val="FFFFFF"/>
                      </a:solidFill>
                      <a:prstDash val="solid"/>
                      <a:round/>
                      <a:headEnd type="none" w="med" len="med"/>
                      <a:tailEnd type="none" w="med" len="med"/>
                    </a:lnL>
                    <a:lnR w="38099" cap="flat" cmpd="sng" algn="ctr">
                      <a:solidFill>
                        <a:srgbClr val="FFFFFF"/>
                      </a:solidFill>
                      <a:prstDash val="solid"/>
                      <a:round/>
                      <a:headEnd type="none" w="med" len="med"/>
                      <a:tailEnd type="none" w="med" len="med"/>
                    </a:lnR>
                    <a:lnT w="38099">
                      <a:solidFill>
                        <a:srgbClr val="FFFFFF"/>
                      </a:solidFill>
                    </a:lnT>
                    <a:lnB w="38099">
                      <a:solidFill>
                        <a:srgbClr val="FFFFFF"/>
                      </a:solidFill>
                    </a:lnB>
                    <a:solidFill>
                      <a:srgbClr val="878E8B">
                        <a:alpha val="30196"/>
                      </a:srgbClr>
                    </a:solidFill>
                  </a:tcPr>
                </a:tc>
                <a:tc>
                  <a:txBody>
                    <a:bodyPr/>
                    <a:lstStyle/>
                    <a:p>
                      <a:pPr lvl="0">
                        <a:buNone/>
                      </a:pPr>
                      <a:r>
                        <a:rPr lang="en-US" sz="2100">
                          <a:solidFill>
                            <a:schemeClr val="tx1">
                              <a:lumMod val="85000"/>
                              <a:lumOff val="15000"/>
                            </a:schemeClr>
                          </a:solidFill>
                        </a:rPr>
                        <a:t>0.543</a:t>
                      </a:r>
                    </a:p>
                  </a:txBody>
                  <a:tcPr marL="303207" marR="181925" marT="181925" marB="181925">
                    <a:lnL w="38099">
                      <a:solidFill>
                        <a:srgbClr val="FFFFFF"/>
                      </a:solidFill>
                    </a:lnL>
                    <a:lnR w="38099">
                      <a:solidFill>
                        <a:srgbClr val="FFFFFF"/>
                      </a:solidFill>
                    </a:lnR>
                    <a:lnT w="38099">
                      <a:solidFill>
                        <a:srgbClr val="FFFFFF"/>
                      </a:solidFill>
                    </a:lnT>
                    <a:lnB w="38099">
                      <a:solidFill>
                        <a:srgbClr val="FFFFFF"/>
                      </a:solidFill>
                    </a:lnB>
                    <a:solidFill>
                      <a:srgbClr val="878E8B">
                        <a:alpha val="30196"/>
                      </a:srgbClr>
                    </a:solidFill>
                  </a:tcPr>
                </a:tc>
                <a:extLst>
                  <a:ext uri="{0D108BD9-81ED-4DB2-BD59-A6C34878D82A}">
                    <a16:rowId xmlns:a16="http://schemas.microsoft.com/office/drawing/2014/main" val="626180090"/>
                  </a:ext>
                </a:extLst>
              </a:tr>
              <a:tr h="722545">
                <a:tc>
                  <a:txBody>
                    <a:bodyPr/>
                    <a:lstStyle/>
                    <a:p>
                      <a:r>
                        <a:rPr lang="en-US" sz="2100">
                          <a:solidFill>
                            <a:schemeClr val="tx1">
                              <a:lumMod val="85000"/>
                              <a:lumOff val="15000"/>
                            </a:schemeClr>
                          </a:solidFill>
                        </a:rPr>
                        <a:t>Si</a:t>
                      </a:r>
                    </a:p>
                  </a:txBody>
                  <a:tcPr marL="303209" marR="181925" marT="181925" marB="181925">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2100">
                          <a:solidFill>
                            <a:schemeClr val="tx1">
                              <a:lumMod val="85000"/>
                              <a:lumOff val="15000"/>
                            </a:schemeClr>
                          </a:solidFill>
                        </a:rPr>
                        <a:t>0.9</a:t>
                      </a:r>
                    </a:p>
                  </a:txBody>
                  <a:tcPr marL="303209" marR="181925" marT="181925" marB="181925">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lvl="0">
                        <a:buNone/>
                      </a:pPr>
                      <a:r>
                        <a:rPr lang="en-US" sz="2100">
                          <a:solidFill>
                            <a:schemeClr val="tx1">
                              <a:lumMod val="85000"/>
                              <a:lumOff val="15000"/>
                            </a:schemeClr>
                          </a:solidFill>
                        </a:rPr>
                        <a:t>0</a:t>
                      </a:r>
                    </a:p>
                  </a:txBody>
                  <a:tcPr marL="303208" marR="181925" marT="181925" marB="181925">
                    <a:lnL w="38100" cap="flat" cmpd="sng" algn="ctr">
                      <a:solidFill>
                        <a:srgbClr val="FFFFFF"/>
                      </a:solidFill>
                      <a:prstDash val="solid"/>
                      <a:round/>
                      <a:headEnd type="none" w="med" len="med"/>
                      <a:tailEnd type="none" w="med" len="med"/>
                    </a:lnL>
                    <a:lnR w="38099" cap="flat" cmpd="sng" algn="ctr">
                      <a:solidFill>
                        <a:srgbClr val="FFFFFF"/>
                      </a:solidFill>
                      <a:prstDash val="solid"/>
                      <a:round/>
                      <a:headEnd type="none" w="med" len="med"/>
                      <a:tailEnd type="none" w="med" len="med"/>
                    </a:lnR>
                    <a:lnT w="38099">
                      <a:solidFill>
                        <a:srgbClr val="FFFFFF"/>
                      </a:solidFill>
                    </a:lnT>
                    <a:lnB w="38099">
                      <a:solidFill>
                        <a:srgbClr val="FFFFFF"/>
                      </a:solidFill>
                    </a:lnB>
                    <a:solidFill>
                      <a:srgbClr val="878E8B">
                        <a:alpha val="14902"/>
                      </a:srgbClr>
                    </a:solidFill>
                  </a:tcPr>
                </a:tc>
                <a:tc>
                  <a:txBody>
                    <a:bodyPr/>
                    <a:lstStyle/>
                    <a:p>
                      <a:pPr lvl="0">
                        <a:buNone/>
                      </a:pPr>
                      <a:r>
                        <a:rPr lang="en-US" sz="2100">
                          <a:solidFill>
                            <a:schemeClr val="tx1">
                              <a:lumMod val="85000"/>
                              <a:lumOff val="15000"/>
                            </a:schemeClr>
                          </a:solidFill>
                        </a:rPr>
                        <a:t>0</a:t>
                      </a:r>
                    </a:p>
                  </a:txBody>
                  <a:tcPr marL="303207" marR="181925" marT="181925" marB="181925">
                    <a:lnL w="38099">
                      <a:solidFill>
                        <a:srgbClr val="FFFFFF"/>
                      </a:solidFill>
                    </a:lnL>
                    <a:lnR w="38099">
                      <a:solidFill>
                        <a:srgbClr val="FFFFFF"/>
                      </a:solidFill>
                    </a:lnR>
                    <a:lnT w="38099">
                      <a:solidFill>
                        <a:srgbClr val="FFFFFF"/>
                      </a:solidFill>
                    </a:lnT>
                    <a:lnB w="38099">
                      <a:solidFill>
                        <a:srgbClr val="FFFFFF"/>
                      </a:solidFill>
                    </a:lnB>
                    <a:solidFill>
                      <a:srgbClr val="878E8B">
                        <a:alpha val="14902"/>
                      </a:srgbClr>
                    </a:solidFill>
                  </a:tcPr>
                </a:tc>
                <a:extLst>
                  <a:ext uri="{0D108BD9-81ED-4DB2-BD59-A6C34878D82A}">
                    <a16:rowId xmlns:a16="http://schemas.microsoft.com/office/drawing/2014/main" val="1341368728"/>
                  </a:ext>
                </a:extLst>
              </a:tr>
              <a:tr h="722545">
                <a:tc>
                  <a:txBody>
                    <a:bodyPr/>
                    <a:lstStyle/>
                    <a:p>
                      <a:r>
                        <a:rPr lang="en-US" sz="2100">
                          <a:solidFill>
                            <a:schemeClr val="tx1">
                              <a:lumMod val="85000"/>
                              <a:lumOff val="15000"/>
                            </a:schemeClr>
                          </a:solidFill>
                        </a:rPr>
                        <a:t>Mn</a:t>
                      </a:r>
                    </a:p>
                  </a:txBody>
                  <a:tcPr marL="303209" marR="181925" marT="181925" marB="181925">
                    <a:lnL w="38100" cap="flat" cmpd="sng" algn="ctr">
                      <a:noFill/>
                      <a:prstDash val="soli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lnB>
                    <a:solidFill>
                      <a:srgbClr val="878E8B">
                        <a:alpha val="14902"/>
                      </a:srgbClr>
                    </a:solidFill>
                  </a:tcPr>
                </a:tc>
                <a:tc>
                  <a:txBody>
                    <a:bodyPr/>
                    <a:lstStyle/>
                    <a:p>
                      <a:r>
                        <a:rPr lang="en-US" sz="2100">
                          <a:solidFill>
                            <a:schemeClr val="tx1">
                              <a:lumMod val="85000"/>
                              <a:lumOff val="15000"/>
                            </a:schemeClr>
                          </a:solidFill>
                        </a:rPr>
                        <a:t>1.00</a:t>
                      </a:r>
                    </a:p>
                  </a:txBody>
                  <a:tcPr marL="303209" marR="181925" marT="181925" marB="181925">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878E8B">
                        <a:alpha val="14902"/>
                      </a:srgbClr>
                    </a:solidFill>
                  </a:tcPr>
                </a:tc>
                <a:tc>
                  <a:txBody>
                    <a:bodyPr/>
                    <a:lstStyle/>
                    <a:p>
                      <a:pPr lvl="0">
                        <a:buNone/>
                      </a:pPr>
                      <a:r>
                        <a:rPr lang="en-US" sz="2100">
                          <a:solidFill>
                            <a:schemeClr val="tx1">
                              <a:lumMod val="85000"/>
                              <a:lumOff val="15000"/>
                            </a:schemeClr>
                          </a:solidFill>
                        </a:rPr>
                        <a:t>0.12</a:t>
                      </a:r>
                    </a:p>
                  </a:txBody>
                  <a:tcPr marL="303208" marR="181925" marT="181925" marB="181925">
                    <a:lnL w="38100" cap="flat" cmpd="sng" algn="ctr">
                      <a:solidFill>
                        <a:srgbClr val="FFFFFF"/>
                      </a:solidFill>
                      <a:prstDash val="solid"/>
                      <a:round/>
                      <a:headEnd type="none" w="med" len="med"/>
                      <a:tailEnd type="none" w="med" len="med"/>
                    </a:lnL>
                    <a:lnR w="38099" cap="flat" cmpd="sng" algn="ctr">
                      <a:solidFill>
                        <a:srgbClr val="FFFFFF"/>
                      </a:solidFill>
                      <a:prstDash val="solid"/>
                      <a:round/>
                      <a:headEnd type="none" w="med" len="med"/>
                      <a:tailEnd type="none" w="med" len="med"/>
                    </a:lnR>
                    <a:lnT w="38099">
                      <a:solidFill>
                        <a:srgbClr val="FFFFFF"/>
                      </a:solidFill>
                    </a:lnT>
                    <a:lnB w="38099">
                      <a:solidFill>
                        <a:srgbClr val="FFFFFF"/>
                      </a:solidFill>
                    </a:lnB>
                    <a:solidFill>
                      <a:srgbClr val="878E8B">
                        <a:alpha val="14902"/>
                      </a:srgbClr>
                    </a:solidFill>
                  </a:tcPr>
                </a:tc>
                <a:tc>
                  <a:txBody>
                    <a:bodyPr/>
                    <a:lstStyle/>
                    <a:p>
                      <a:pPr lvl="0">
                        <a:buNone/>
                      </a:pPr>
                      <a:r>
                        <a:rPr lang="en-US" sz="2100">
                          <a:solidFill>
                            <a:schemeClr val="tx1">
                              <a:lumMod val="85000"/>
                              <a:lumOff val="15000"/>
                            </a:schemeClr>
                          </a:solidFill>
                        </a:rPr>
                        <a:t>0.12</a:t>
                      </a:r>
                    </a:p>
                  </a:txBody>
                  <a:tcPr marL="303207" marR="181925" marT="181925" marB="181925">
                    <a:lnL w="38099">
                      <a:solidFill>
                        <a:srgbClr val="FFFFFF"/>
                      </a:solidFill>
                    </a:lnL>
                    <a:lnR w="38099">
                      <a:solidFill>
                        <a:srgbClr val="FFFFFF"/>
                      </a:solidFill>
                    </a:lnR>
                    <a:lnT w="38099">
                      <a:solidFill>
                        <a:srgbClr val="FFFFFF"/>
                      </a:solidFill>
                    </a:lnT>
                    <a:lnB w="38099">
                      <a:solidFill>
                        <a:srgbClr val="FFFFFF"/>
                      </a:solidFill>
                    </a:lnB>
                    <a:solidFill>
                      <a:srgbClr val="878E8B">
                        <a:alpha val="14902"/>
                      </a:srgbClr>
                    </a:solidFill>
                  </a:tcPr>
                </a:tc>
                <a:extLst>
                  <a:ext uri="{0D108BD9-81ED-4DB2-BD59-A6C34878D82A}">
                    <a16:rowId xmlns:a16="http://schemas.microsoft.com/office/drawing/2014/main" val="2435455526"/>
                  </a:ext>
                </a:extLst>
              </a:tr>
              <a:tr h="722545">
                <a:tc>
                  <a:txBody>
                    <a:bodyPr/>
                    <a:lstStyle/>
                    <a:p>
                      <a:r>
                        <a:rPr lang="en-US" sz="2100">
                          <a:solidFill>
                            <a:schemeClr val="tx1">
                              <a:lumMod val="85000"/>
                              <a:lumOff val="15000"/>
                            </a:schemeClr>
                          </a:solidFill>
                        </a:rPr>
                        <a:t>P</a:t>
                      </a:r>
                    </a:p>
                  </a:txBody>
                  <a:tcPr marL="303209" marR="181925" marT="181925" marB="181925">
                    <a:lnL w="12700" cmpd="sng">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30196"/>
                      </a:srgbClr>
                    </a:solidFill>
                  </a:tcPr>
                </a:tc>
                <a:tc>
                  <a:txBody>
                    <a:bodyPr/>
                    <a:lstStyle/>
                    <a:p>
                      <a:r>
                        <a:rPr lang="en-US" sz="2100">
                          <a:solidFill>
                            <a:schemeClr val="tx1">
                              <a:lumMod val="85000"/>
                              <a:lumOff val="15000"/>
                            </a:schemeClr>
                          </a:solidFill>
                        </a:rPr>
                        <a:t>0.07</a:t>
                      </a:r>
                    </a:p>
                  </a:txBody>
                  <a:tcPr marL="303209" marR="181925" marT="181925" marB="181925">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mpd="sng">
                      <a:noFill/>
                      <a:prstDash val="solid"/>
                    </a:lnB>
                    <a:solidFill>
                      <a:srgbClr val="878E8B">
                        <a:alpha val="30196"/>
                      </a:srgbClr>
                    </a:solidFill>
                  </a:tcPr>
                </a:tc>
                <a:tc>
                  <a:txBody>
                    <a:bodyPr/>
                    <a:lstStyle/>
                    <a:p>
                      <a:pPr lvl="0">
                        <a:buNone/>
                      </a:pPr>
                      <a:r>
                        <a:rPr lang="en-US" sz="2100">
                          <a:solidFill>
                            <a:schemeClr val="tx1">
                              <a:lumMod val="85000"/>
                              <a:lumOff val="15000"/>
                            </a:schemeClr>
                          </a:solidFill>
                        </a:rPr>
                        <a:t>0.017</a:t>
                      </a:r>
                    </a:p>
                  </a:txBody>
                  <a:tcPr marL="303208" marR="181925" marT="181925" marB="181925">
                    <a:lnL w="38100" cap="flat" cmpd="sng" algn="ctr">
                      <a:solidFill>
                        <a:srgbClr val="FFFFFF"/>
                      </a:solidFill>
                      <a:prstDash val="solid"/>
                      <a:round/>
                      <a:headEnd type="none" w="med" len="med"/>
                      <a:tailEnd type="none" w="med" len="med"/>
                    </a:lnL>
                    <a:lnR w="38099" cap="flat" cmpd="sng" algn="ctr">
                      <a:solidFill>
                        <a:srgbClr val="FFFFFF"/>
                      </a:solidFill>
                      <a:prstDash val="solid"/>
                      <a:round/>
                      <a:headEnd type="none" w="med" len="med"/>
                      <a:tailEnd type="none" w="med" len="med"/>
                    </a:lnR>
                    <a:lnT w="38099">
                      <a:solidFill>
                        <a:srgbClr val="FFFFFF"/>
                      </a:solidFill>
                    </a:lnT>
                    <a:lnB w="0">
                      <a:noFill/>
                    </a:lnB>
                    <a:solidFill>
                      <a:srgbClr val="878E8B">
                        <a:alpha val="30196"/>
                      </a:srgbClr>
                    </a:solidFill>
                  </a:tcPr>
                </a:tc>
                <a:tc>
                  <a:txBody>
                    <a:bodyPr/>
                    <a:lstStyle/>
                    <a:p>
                      <a:pPr lvl="0">
                        <a:buNone/>
                      </a:pPr>
                      <a:r>
                        <a:rPr lang="en-US" sz="2100">
                          <a:solidFill>
                            <a:schemeClr val="tx1">
                              <a:lumMod val="85000"/>
                              <a:lumOff val="15000"/>
                            </a:schemeClr>
                          </a:solidFill>
                        </a:rPr>
                        <a:t>0.243</a:t>
                      </a:r>
                    </a:p>
                  </a:txBody>
                  <a:tcPr marL="303207" marR="181925" marT="181925" marB="181925">
                    <a:lnL w="38099">
                      <a:solidFill>
                        <a:srgbClr val="FFFFFF"/>
                      </a:solidFill>
                    </a:lnL>
                    <a:lnR w="38099">
                      <a:solidFill>
                        <a:srgbClr val="FFFFFF"/>
                      </a:solidFill>
                    </a:lnR>
                    <a:lnT w="38099">
                      <a:solidFill>
                        <a:srgbClr val="FFFFFF"/>
                      </a:solidFill>
                    </a:lnT>
                    <a:lnB w="0">
                      <a:noFill/>
                    </a:lnB>
                    <a:solidFill>
                      <a:srgbClr val="878E8B">
                        <a:alpha val="30196"/>
                      </a:srgbClr>
                    </a:solidFill>
                  </a:tcPr>
                </a:tc>
                <a:extLst>
                  <a:ext uri="{0D108BD9-81ED-4DB2-BD59-A6C34878D82A}">
                    <a16:rowId xmlns:a16="http://schemas.microsoft.com/office/drawing/2014/main" val="3674861115"/>
                  </a:ext>
                </a:extLst>
              </a:tr>
            </a:tbl>
          </a:graphicData>
        </a:graphic>
      </p:graphicFrame>
    </p:spTree>
    <p:extLst>
      <p:ext uri="{BB962C8B-B14F-4D97-AF65-F5344CB8AC3E}">
        <p14:creationId xmlns:p14="http://schemas.microsoft.com/office/powerpoint/2010/main" val="341128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24704A-DA75-F06E-4916-DBF7EE25E8F8}"/>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54DB6227-B5EB-DB12-CFA5-B51D6392445B}"/>
              </a:ext>
            </a:extLst>
          </p:cNvPr>
          <p:cNvSpPr/>
          <p:nvPr/>
        </p:nvSpPr>
        <p:spPr>
          <a:xfrm>
            <a:off x="4345529" y="252745"/>
            <a:ext cx="7491322" cy="3031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FB2CC46-D24F-F857-AC14-93A967107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3AA43EF-6995-1351-2EFB-F71C7F34C175}"/>
              </a:ext>
            </a:extLst>
          </p:cNvPr>
          <p:cNvSpPr>
            <a:spLocks noGrp="1"/>
          </p:cNvSpPr>
          <p:nvPr>
            <p:ph type="title"/>
          </p:nvPr>
        </p:nvSpPr>
        <p:spPr>
          <a:xfrm>
            <a:off x="263230" y="1762677"/>
            <a:ext cx="3703901" cy="661259"/>
          </a:xfrm>
        </p:spPr>
        <p:txBody>
          <a:bodyPr vert="horz" lIns="91440" tIns="45720" rIns="91440" bIns="45720" rtlCol="0" anchor="t">
            <a:normAutofit/>
          </a:bodyPr>
          <a:lstStyle/>
          <a:p>
            <a:pPr algn="ctr"/>
            <a:r>
              <a:rPr lang="en-US" sz="4000" kern="1200">
                <a:solidFill>
                  <a:srgbClr val="FFFFFF"/>
                </a:solidFill>
                <a:latin typeface="+mj-lt"/>
                <a:ea typeface="+mj-ea"/>
                <a:cs typeface="+mj-cs"/>
              </a:rPr>
              <a:t>Recycle Ratio</a:t>
            </a:r>
          </a:p>
        </p:txBody>
      </p:sp>
      <p:cxnSp>
        <p:nvCxnSpPr>
          <p:cNvPr id="7" name="Straight Connector 6">
            <a:extLst>
              <a:ext uri="{FF2B5EF4-FFF2-40B4-BE49-F238E27FC236}">
                <a16:creationId xmlns:a16="http://schemas.microsoft.com/office/drawing/2014/main" id="{02036933-0A55-4346-B413-43BC35AD457E}"/>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946DB3E6-2F34-991A-DF8D-7D554FADB339}"/>
              </a:ext>
            </a:extLst>
          </p:cNvPr>
          <p:cNvSpPr/>
          <p:nvPr/>
        </p:nvSpPr>
        <p:spPr>
          <a:xfrm>
            <a:off x="4345529" y="3574026"/>
            <a:ext cx="7491322" cy="3031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C5924CC9-7FBD-5463-2963-5E270AA77BF5}"/>
              </a:ext>
            </a:extLst>
          </p:cNvPr>
          <p:cNvPicPr>
            <a:picLocks noChangeAspect="1"/>
          </p:cNvPicPr>
          <p:nvPr/>
        </p:nvPicPr>
        <p:blipFill>
          <a:blip r:embed="rId2"/>
          <a:stretch>
            <a:fillRect/>
          </a:stretch>
        </p:blipFill>
        <p:spPr>
          <a:xfrm>
            <a:off x="8338923" y="3891946"/>
            <a:ext cx="3357092" cy="2407612"/>
          </a:xfrm>
          <a:prstGeom prst="rect">
            <a:avLst/>
          </a:prstGeom>
          <a:ln w="12700">
            <a:solidFill>
              <a:schemeClr val="tx1"/>
            </a:solidFill>
          </a:ln>
        </p:spPr>
      </p:pic>
      <p:pic>
        <p:nvPicPr>
          <p:cNvPr id="26" name="Picture 25">
            <a:extLst>
              <a:ext uri="{FF2B5EF4-FFF2-40B4-BE49-F238E27FC236}">
                <a16:creationId xmlns:a16="http://schemas.microsoft.com/office/drawing/2014/main" id="{0F8BFAA8-0E1B-002F-14C8-929FD51CCEB0}"/>
              </a:ext>
            </a:extLst>
          </p:cNvPr>
          <p:cNvPicPr>
            <a:picLocks noChangeAspect="1"/>
          </p:cNvPicPr>
          <p:nvPr/>
        </p:nvPicPr>
        <p:blipFill>
          <a:blip r:embed="rId3"/>
          <a:stretch>
            <a:fillRect/>
          </a:stretch>
        </p:blipFill>
        <p:spPr>
          <a:xfrm>
            <a:off x="4563454" y="4183782"/>
            <a:ext cx="3488990" cy="1810862"/>
          </a:xfrm>
          <a:prstGeom prst="rect">
            <a:avLst/>
          </a:prstGeom>
          <a:ln w="12700">
            <a:solidFill>
              <a:schemeClr val="tx1"/>
            </a:solidFill>
          </a:ln>
        </p:spPr>
      </p:pic>
      <p:graphicFrame>
        <p:nvGraphicFramePr>
          <p:cNvPr id="5" name="Table 4">
            <a:extLst>
              <a:ext uri="{FF2B5EF4-FFF2-40B4-BE49-F238E27FC236}">
                <a16:creationId xmlns:a16="http://schemas.microsoft.com/office/drawing/2014/main" id="{029E5616-ECE4-EA80-6F9B-F22D382C8DA9}"/>
              </a:ext>
            </a:extLst>
          </p:cNvPr>
          <p:cNvGraphicFramePr>
            <a:graphicFrameLocks noGrp="1"/>
          </p:cNvGraphicFramePr>
          <p:nvPr>
            <p:extLst>
              <p:ext uri="{D42A27DB-BD31-4B8C-83A1-F6EECF244321}">
                <p14:modId xmlns:p14="http://schemas.microsoft.com/office/powerpoint/2010/main" val="3127739918"/>
              </p:ext>
            </p:extLst>
          </p:nvPr>
        </p:nvGraphicFramePr>
        <p:xfrm>
          <a:off x="4563454" y="896906"/>
          <a:ext cx="3351324" cy="1905000"/>
        </p:xfrm>
        <a:graphic>
          <a:graphicData uri="http://schemas.openxmlformats.org/drawingml/2006/table">
            <a:tbl>
              <a:tblPr/>
              <a:tblGrid>
                <a:gridCol w="606636">
                  <a:extLst>
                    <a:ext uri="{9D8B030D-6E8A-4147-A177-3AD203B41FA5}">
                      <a16:colId xmlns:a16="http://schemas.microsoft.com/office/drawing/2014/main" val="2094404815"/>
                    </a:ext>
                  </a:extLst>
                </a:gridCol>
                <a:gridCol w="614723">
                  <a:extLst>
                    <a:ext uri="{9D8B030D-6E8A-4147-A177-3AD203B41FA5}">
                      <a16:colId xmlns:a16="http://schemas.microsoft.com/office/drawing/2014/main" val="1706034216"/>
                    </a:ext>
                  </a:extLst>
                </a:gridCol>
                <a:gridCol w="560801">
                  <a:extLst>
                    <a:ext uri="{9D8B030D-6E8A-4147-A177-3AD203B41FA5}">
                      <a16:colId xmlns:a16="http://schemas.microsoft.com/office/drawing/2014/main" val="4293963439"/>
                    </a:ext>
                  </a:extLst>
                </a:gridCol>
                <a:gridCol w="752228">
                  <a:extLst>
                    <a:ext uri="{9D8B030D-6E8A-4147-A177-3AD203B41FA5}">
                      <a16:colId xmlns:a16="http://schemas.microsoft.com/office/drawing/2014/main" val="4027687969"/>
                    </a:ext>
                  </a:extLst>
                </a:gridCol>
                <a:gridCol w="816936">
                  <a:extLst>
                    <a:ext uri="{9D8B030D-6E8A-4147-A177-3AD203B41FA5}">
                      <a16:colId xmlns:a16="http://schemas.microsoft.com/office/drawing/2014/main" val="2572736038"/>
                    </a:ext>
                  </a:extLst>
                </a:gridCol>
              </a:tblGrid>
              <a:tr h="190500">
                <a:tc>
                  <a:txBody>
                    <a:bodyPr/>
                    <a:lstStyle/>
                    <a:p>
                      <a:pPr algn="l" fontAlgn="b"/>
                      <a:r>
                        <a:rPr lang="en-US" sz="1100" b="0" i="0" u="none" strike="noStrike">
                          <a:solidFill>
                            <a:srgbClr val="000000"/>
                          </a:solidFill>
                          <a:effectLst/>
                          <a:latin typeface="Aptos Narrow" panose="020B0004020202020204" pitchFamily="34" charset="0"/>
                        </a:rPr>
                        <a:t> </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gridSpan="2">
                  <a:txBody>
                    <a:bodyPr/>
                    <a:lstStyle/>
                    <a:p>
                      <a:pPr algn="ctr" fontAlgn="b"/>
                      <a:r>
                        <a:rPr lang="en-US" sz="1100" b="0" i="0" u="none" strike="noStrike">
                          <a:solidFill>
                            <a:srgbClr val="000000"/>
                          </a:solidFill>
                          <a:effectLst/>
                          <a:latin typeface="Aptos Narrow" panose="020B0004020202020204" pitchFamily="34" charset="0"/>
                        </a:rPr>
                        <a:t>Material Mass (g)</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640946141"/>
                  </a:ext>
                </a:extLst>
              </a:tr>
              <a:tr h="190500">
                <a:tc>
                  <a:txBody>
                    <a:bodyPr/>
                    <a:lstStyle/>
                    <a:p>
                      <a:pPr algn="l" fontAlgn="b"/>
                      <a:r>
                        <a:rPr lang="en-US" sz="1100" b="0" i="0" u="none" strike="noStrike">
                          <a:solidFill>
                            <a:srgbClr val="000000"/>
                          </a:solidFill>
                          <a:effectLst/>
                          <a:latin typeface="Aptos Narrow" panose="020B0004020202020204" pitchFamily="34" charset="0"/>
                        </a:rPr>
                        <a:t>Species</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Rxn. Eff.</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1-Eff</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Reacted</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Unreacted</a:t>
                      </a:r>
                    </a:p>
                  </a:txBody>
                  <a:tcPr marL="9525" marR="9525" marT="9525" marB="0" anchor="b">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9348813"/>
                  </a:ext>
                </a:extLst>
              </a:tr>
              <a:tr h="190500">
                <a:tc>
                  <a:txBody>
                    <a:bodyPr/>
                    <a:lstStyle/>
                    <a:p>
                      <a:pPr algn="l" fontAlgn="b"/>
                      <a:r>
                        <a:rPr lang="en-US" sz="1100" b="0" i="0" u="none" strike="noStrike">
                          <a:solidFill>
                            <a:srgbClr val="000000"/>
                          </a:solidFill>
                          <a:effectLst/>
                          <a:latin typeface="Aptos Narrow" panose="020B0004020202020204" pitchFamily="34" charset="0"/>
                        </a:rPr>
                        <a:t>O2:</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48.1210243</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8.491945469</a:t>
                      </a:r>
                    </a:p>
                  </a:txBody>
                  <a:tcPr marL="9525" marR="9525" marT="9525" marB="0" anchor="b">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0408142"/>
                  </a:ext>
                </a:extLst>
              </a:tr>
              <a:tr h="190500">
                <a:tc>
                  <a:txBody>
                    <a:bodyPr/>
                    <a:lstStyle/>
                    <a:p>
                      <a:pPr algn="l" fontAlgn="b"/>
                      <a:r>
                        <a:rPr lang="en-US" sz="1100" b="0" i="0" u="none" strike="noStrike">
                          <a:solidFill>
                            <a:srgbClr val="000000"/>
                          </a:solidFill>
                          <a:effectLst/>
                          <a:latin typeface="Aptos Narrow" panose="020B0004020202020204" pitchFamily="34" charset="0"/>
                        </a:rPr>
                        <a:t>C:</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0.69833096</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0.123234875</a:t>
                      </a:r>
                    </a:p>
                  </a:txBody>
                  <a:tcPr marL="9525" marR="9525" marT="9525" marB="0" anchor="b">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21703911"/>
                  </a:ext>
                </a:extLst>
              </a:tr>
              <a:tr h="190500">
                <a:tc>
                  <a:txBody>
                    <a:bodyPr/>
                    <a:lstStyle/>
                    <a:p>
                      <a:pPr algn="l" fontAlgn="b"/>
                      <a:r>
                        <a:rPr lang="en-US" sz="1100" b="0" i="0" u="none" strike="noStrike">
                          <a:solidFill>
                            <a:srgbClr val="000000"/>
                          </a:solidFill>
                          <a:effectLst/>
                          <a:latin typeface="Aptos Narrow" panose="020B0004020202020204" pitchFamily="34" charset="0"/>
                        </a:rPr>
                        <a:t>Cr:</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179.258031</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31.63377014</a:t>
                      </a:r>
                    </a:p>
                  </a:txBody>
                  <a:tcPr marL="9525" marR="9525" marT="9525" marB="0" anchor="b">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6986347"/>
                  </a:ext>
                </a:extLst>
              </a:tr>
              <a:tr h="190500">
                <a:tc>
                  <a:txBody>
                    <a:bodyPr/>
                    <a:lstStyle/>
                    <a:p>
                      <a:pPr algn="l" fontAlgn="b"/>
                      <a:r>
                        <a:rPr lang="en-US" sz="1100" b="0" i="0" u="none" strike="noStrike">
                          <a:solidFill>
                            <a:srgbClr val="000000"/>
                          </a:solidFill>
                          <a:effectLst/>
                          <a:latin typeface="Aptos Narrow" panose="020B0004020202020204" pitchFamily="34" charset="0"/>
                        </a:rPr>
                        <a:t>Ni:</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107.241091</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18.9248985</a:t>
                      </a:r>
                    </a:p>
                  </a:txBody>
                  <a:tcPr marL="9525" marR="9525" marT="9525" marB="0" anchor="b">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0938797"/>
                  </a:ext>
                </a:extLst>
              </a:tr>
              <a:tr h="190500">
                <a:tc>
                  <a:txBody>
                    <a:bodyPr/>
                    <a:lstStyle/>
                    <a:p>
                      <a:pPr algn="l" fontAlgn="b"/>
                      <a:r>
                        <a:rPr lang="en-US" sz="1100" b="0" i="0" u="none" strike="noStrike">
                          <a:solidFill>
                            <a:srgbClr val="000000"/>
                          </a:solidFill>
                          <a:effectLst/>
                          <a:latin typeface="Aptos Narrow" panose="020B0004020202020204" pitchFamily="34" charset="0"/>
                        </a:rPr>
                        <a:t>Mo:</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20.6840451</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3.650125612</a:t>
                      </a:r>
                    </a:p>
                  </a:txBody>
                  <a:tcPr marL="9525" marR="9525" marT="9525" marB="0" anchor="b">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3978618"/>
                  </a:ext>
                </a:extLst>
              </a:tr>
              <a:tr h="190500">
                <a:tc>
                  <a:txBody>
                    <a:bodyPr/>
                    <a:lstStyle/>
                    <a:p>
                      <a:pPr algn="l" fontAlgn="b"/>
                      <a:r>
                        <a:rPr lang="en-US" sz="1100" b="0" i="0" u="none" strike="noStrike">
                          <a:solidFill>
                            <a:srgbClr val="000000"/>
                          </a:solidFill>
                          <a:effectLst/>
                          <a:latin typeface="Aptos Narrow" panose="020B0004020202020204" pitchFamily="34" charset="0"/>
                        </a:rPr>
                        <a:t>Fe:</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692.118502</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122.1385591</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288661"/>
                  </a:ext>
                </a:extLst>
              </a:tr>
              <a:tr h="190500">
                <a:tc>
                  <a:txBody>
                    <a:bodyPr/>
                    <a:lstStyle/>
                    <a:p>
                      <a:pPr algn="l" fontAlgn="b"/>
                      <a:r>
                        <a:rPr lang="en-US" sz="1100" b="0" i="0" u="none" strike="noStrike">
                          <a:solidFill>
                            <a:srgbClr val="000000"/>
                          </a:solidFill>
                          <a:effectLst/>
                          <a:latin typeface="Aptos Narrow" panose="020B0004020202020204" pitchFamily="34" charset="0"/>
                        </a:rPr>
                        <a:t>CaO:</a:t>
                      </a:r>
                    </a:p>
                  </a:txBody>
                  <a:tcPr marL="9525" marR="9525" marT="9525" marB="0" anchor="b">
                    <a:lnL w="635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85.00%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15.00%</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1.05607881</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0.186366849</a:t>
                      </a: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3534914"/>
                  </a:ext>
                </a:extLst>
              </a:tr>
              <a:tr h="190500">
                <a:tc>
                  <a:txBody>
                    <a:bodyPr/>
                    <a:lstStyle/>
                    <a:p>
                      <a:pPr algn="l" fontAlgn="b"/>
                      <a:r>
                        <a:rPr lang="en-US" sz="1100" b="0" i="0" u="none" strike="noStrike">
                          <a:solidFill>
                            <a:srgbClr val="000000"/>
                          </a:solidFill>
                          <a:effectLst/>
                          <a:latin typeface="Aptos Narrow" panose="020B0004020202020204" pitchFamily="34" charset="0"/>
                        </a:rPr>
                        <a:t> </a:t>
                      </a:r>
                    </a:p>
                  </a:txBody>
                  <a:tcPr marL="9525" marR="9525" marT="9525" marB="0" anchor="b">
                    <a:lnL w="6350" cap="flat" cmpd="sng" algn="ctr">
                      <a:no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Total: </a:t>
                      </a:r>
                    </a:p>
                  </a:txBody>
                  <a:tcPr marL="9525" marR="9525" marT="9525"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1049.1771</a:t>
                      </a:r>
                    </a:p>
                  </a:txBody>
                  <a:tcPr marL="9525" marR="9525" marT="9525" marB="0" anchor="b">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177.7108475</a:t>
                      </a:r>
                    </a:p>
                  </a:txBody>
                  <a:tcPr marL="9525" marR="9525" marT="9525" marB="0" anchor="b">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2039862"/>
                  </a:ext>
                </a:extLst>
              </a:tr>
            </a:tbl>
          </a:graphicData>
        </a:graphic>
      </p:graphicFrame>
      <p:graphicFrame>
        <p:nvGraphicFramePr>
          <p:cNvPr id="3" name="Table 2">
            <a:extLst>
              <a:ext uri="{FF2B5EF4-FFF2-40B4-BE49-F238E27FC236}">
                <a16:creationId xmlns:a16="http://schemas.microsoft.com/office/drawing/2014/main" id="{65271073-1D15-EB72-F5AB-88469C0FA2DE}"/>
              </a:ext>
            </a:extLst>
          </p:cNvPr>
          <p:cNvGraphicFramePr>
            <a:graphicFrameLocks noGrp="1"/>
          </p:cNvGraphicFramePr>
          <p:nvPr>
            <p:extLst>
              <p:ext uri="{D42A27DB-BD31-4B8C-83A1-F6EECF244321}">
                <p14:modId xmlns:p14="http://schemas.microsoft.com/office/powerpoint/2010/main" val="2201981636"/>
              </p:ext>
            </p:extLst>
          </p:nvPr>
        </p:nvGraphicFramePr>
        <p:xfrm>
          <a:off x="8201256" y="451756"/>
          <a:ext cx="3486636" cy="2638680"/>
        </p:xfrm>
        <a:graphic>
          <a:graphicData uri="http://schemas.openxmlformats.org/drawingml/2006/table">
            <a:tbl>
              <a:tblPr/>
              <a:tblGrid>
                <a:gridCol w="563898">
                  <a:extLst>
                    <a:ext uri="{9D8B030D-6E8A-4147-A177-3AD203B41FA5}">
                      <a16:colId xmlns:a16="http://schemas.microsoft.com/office/drawing/2014/main" val="3563271715"/>
                    </a:ext>
                  </a:extLst>
                </a:gridCol>
                <a:gridCol w="992778">
                  <a:extLst>
                    <a:ext uri="{9D8B030D-6E8A-4147-A177-3AD203B41FA5}">
                      <a16:colId xmlns:a16="http://schemas.microsoft.com/office/drawing/2014/main" val="735043657"/>
                    </a:ext>
                  </a:extLst>
                </a:gridCol>
                <a:gridCol w="611551">
                  <a:extLst>
                    <a:ext uri="{9D8B030D-6E8A-4147-A177-3AD203B41FA5}">
                      <a16:colId xmlns:a16="http://schemas.microsoft.com/office/drawing/2014/main" val="3103388114"/>
                    </a:ext>
                  </a:extLst>
                </a:gridCol>
                <a:gridCol w="722742">
                  <a:extLst>
                    <a:ext uri="{9D8B030D-6E8A-4147-A177-3AD203B41FA5}">
                      <a16:colId xmlns:a16="http://schemas.microsoft.com/office/drawing/2014/main" val="3051769395"/>
                    </a:ext>
                  </a:extLst>
                </a:gridCol>
                <a:gridCol w="595667">
                  <a:extLst>
                    <a:ext uri="{9D8B030D-6E8A-4147-A177-3AD203B41FA5}">
                      <a16:colId xmlns:a16="http://schemas.microsoft.com/office/drawing/2014/main" val="2573060461"/>
                    </a:ext>
                  </a:extLst>
                </a:gridCol>
              </a:tblGrid>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bg1"/>
                    </a:solidFill>
                  </a:tcPr>
                </a:tc>
                <a:tc gridSpan="2">
                  <a:txBody>
                    <a:bodyPr/>
                    <a:lstStyle/>
                    <a:p>
                      <a:pPr algn="l" fontAlgn="b"/>
                      <a:r>
                        <a:rPr lang="en-US" sz="900" b="0" i="0" u="none" strike="noStrike">
                          <a:solidFill>
                            <a:srgbClr val="000000"/>
                          </a:solidFill>
                          <a:effectLst/>
                          <a:latin typeface="Aptos Narrow" panose="020B0004020202020204" pitchFamily="34" charset="0"/>
                        </a:rPr>
                        <a:t>Stream Variables Mass (g)</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861487345"/>
                  </a:ext>
                </a:extLst>
              </a:tr>
              <a:tr h="175912">
                <a:tc>
                  <a:txBody>
                    <a:bodyPr/>
                    <a:lstStyle/>
                    <a:p>
                      <a:pPr algn="l" fontAlgn="b"/>
                      <a:r>
                        <a:rPr lang="en-US" sz="900" b="0" i="0" u="none" strike="noStrike">
                          <a:solidFill>
                            <a:srgbClr val="000000"/>
                          </a:solidFill>
                          <a:effectLst/>
                          <a:latin typeface="Aptos Narrow" panose="020B0004020202020204" pitchFamily="34" charset="0"/>
                        </a:rPr>
                        <a:t>RR: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0.160978291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9EDD"/>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Mass (1k kg)</a:t>
                      </a:r>
                    </a:p>
                  </a:txBody>
                  <a:tcPr marL="9525" marR="9525" marT="9525" marB="0" anchor="b">
                    <a:lnL>
                      <a:noFill/>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Mass (g)</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3782208277"/>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Charge Stream:</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hMerge="1">
                  <a:txBody>
                    <a:bodyPr/>
                    <a:lstStyle/>
                    <a:p>
                      <a:endParaRPr lang="en-US"/>
                    </a:p>
                  </a:txBody>
                  <a:tcPr/>
                </a:tc>
                <a:tc>
                  <a:txBody>
                    <a:bodyPr/>
                    <a:lstStyle/>
                    <a:p>
                      <a:pPr algn="r" fontAlgn="b"/>
                      <a:r>
                        <a:rPr lang="en-US" sz="900" b="0" i="0" u="none" strike="noStrike">
                          <a:solidFill>
                            <a:srgbClr val="000000"/>
                          </a:solidFill>
                          <a:effectLst/>
                          <a:latin typeface="Aptos Narrow" panose="020B0004020202020204" pitchFamily="34" charset="0"/>
                        </a:rPr>
                        <a:t>100.00%</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1103.94293</a:t>
                      </a:r>
                    </a:p>
                  </a:txBody>
                  <a:tcPr marL="9525" marR="9525" marT="9525" marB="0" anchor="b">
                    <a:lnL>
                      <a:noFill/>
                    </a:lnL>
                    <a:lnR>
                      <a:noFill/>
                    </a:lnR>
                    <a:lnT>
                      <a:noFill/>
                    </a:lnT>
                    <a:lnB w="6350" cap="flat" cmpd="sng" algn="ctr">
                      <a:solidFill>
                        <a:srgbClr val="B2B2B2"/>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1103.943</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chemeClr val="bg1"/>
                    </a:solidFill>
                  </a:tcPr>
                </a:tc>
                <a:extLst>
                  <a:ext uri="{0D108BD9-81ED-4DB2-BD59-A6C34878D82A}">
                    <a16:rowId xmlns:a16="http://schemas.microsoft.com/office/drawing/2014/main" val="4128035985"/>
                  </a:ext>
                </a:extLst>
              </a:tr>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Pig Iron Charge:</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66.30%</a:t>
                      </a:r>
                    </a:p>
                  </a:txBody>
                  <a:tcPr marL="9525" marR="9525" marT="9525" marB="0" anchor="b">
                    <a:lnL>
                      <a:noFill/>
                    </a:lnL>
                    <a:lnR w="6350" cap="flat" cmpd="sng" algn="ctr">
                      <a:solidFill>
                        <a:srgbClr val="B2B2B2"/>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731.93581</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B2B2B2"/>
                      </a:solidFill>
                      <a:prstDash val="solid"/>
                      <a:round/>
                      <a:headEnd type="none" w="med" len="med"/>
                      <a:tailEnd type="none" w="med" len="med"/>
                    </a:lnT>
                    <a:lnB w="6350" cap="flat" cmpd="sng" algn="ctr">
                      <a:solidFill>
                        <a:srgbClr val="B2B2B2"/>
                      </a:solidFill>
                      <a:prstDash val="solid"/>
                      <a:round/>
                      <a:headEnd type="none" w="med" len="med"/>
                      <a:tailEnd type="none" w="med" len="med"/>
                    </a:lnB>
                    <a:solidFill>
                      <a:srgbClr val="FFFFCC"/>
                    </a:solidFill>
                  </a:tcPr>
                </a:tc>
                <a:tc>
                  <a:txBody>
                    <a:bodyPr/>
                    <a:lstStyle/>
                    <a:p>
                      <a:pPr algn="r" fontAlgn="b"/>
                      <a:r>
                        <a:rPr lang="en-US" sz="900" b="0" i="0" u="none" strike="noStrike">
                          <a:solidFill>
                            <a:srgbClr val="3F3F76"/>
                          </a:solidFill>
                          <a:effectLst/>
                          <a:latin typeface="Aptos Narrow" panose="020B0004020202020204" pitchFamily="34" charset="0"/>
                        </a:rPr>
                        <a:t>731.9358</a:t>
                      </a:r>
                    </a:p>
                  </a:txBody>
                  <a:tcPr marL="9525" marR="9525" marT="9525" marB="0" anchor="b">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extLst>
                  <a:ext uri="{0D108BD9-81ED-4DB2-BD59-A6C34878D82A}">
                    <a16:rowId xmlns:a16="http://schemas.microsoft.com/office/drawing/2014/main" val="4050100255"/>
                  </a:ext>
                </a:extLst>
              </a:tr>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Lime Charge:</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0.10%</a:t>
                      </a:r>
                    </a:p>
                  </a:txBody>
                  <a:tcPr marL="9525" marR="9525" marT="9525" marB="0" anchor="b">
                    <a:lnL>
                      <a:noFill/>
                    </a:lnL>
                    <a:lnR w="6350" cap="flat" cmpd="sng" algn="ctr">
                      <a:solidFill>
                        <a:srgbClr val="B2B2B2"/>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1.05607881</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B2B2B2"/>
                      </a:solidFill>
                      <a:prstDash val="solid"/>
                      <a:round/>
                      <a:headEnd type="none" w="med" len="med"/>
                      <a:tailEnd type="none" w="med" len="med"/>
                    </a:lnT>
                    <a:lnB w="6350" cap="flat" cmpd="sng" algn="ctr">
                      <a:solidFill>
                        <a:srgbClr val="B2B2B2"/>
                      </a:solidFill>
                      <a:prstDash val="solid"/>
                      <a:round/>
                      <a:headEnd type="none" w="med" len="med"/>
                      <a:tailEnd type="none" w="med" len="med"/>
                    </a:lnB>
                    <a:solidFill>
                      <a:srgbClr val="FFFFCC"/>
                    </a:solidFill>
                  </a:tcPr>
                </a:tc>
                <a:tc>
                  <a:txBody>
                    <a:bodyPr/>
                    <a:lstStyle/>
                    <a:p>
                      <a:pPr algn="r" fontAlgn="b"/>
                      <a:r>
                        <a:rPr lang="en-US" sz="900" b="0" i="0" u="none" strike="noStrike">
                          <a:solidFill>
                            <a:srgbClr val="3F3F76"/>
                          </a:solidFill>
                          <a:effectLst/>
                          <a:latin typeface="Aptos Narrow" panose="020B0004020202020204" pitchFamily="34" charset="0"/>
                        </a:rPr>
                        <a:t>1.056079</a:t>
                      </a:r>
                    </a:p>
                  </a:txBody>
                  <a:tcPr marL="9525" marR="9525" marT="9525" marB="0" anchor="b">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extLst>
                  <a:ext uri="{0D108BD9-81ED-4DB2-BD59-A6C34878D82A}">
                    <a16:rowId xmlns:a16="http://schemas.microsoft.com/office/drawing/2014/main" val="1158856231"/>
                  </a:ext>
                </a:extLst>
              </a:tr>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Chromium Charge:</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16.37%</a:t>
                      </a:r>
                    </a:p>
                  </a:txBody>
                  <a:tcPr marL="9525" marR="9525" marT="9525" marB="0" anchor="b">
                    <a:lnL>
                      <a:noFill/>
                    </a:lnL>
                    <a:lnR w="6350" cap="flat" cmpd="sng" algn="ctr">
                      <a:solidFill>
                        <a:srgbClr val="B2B2B2"/>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180.758325</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B2B2B2"/>
                      </a:solidFill>
                      <a:prstDash val="solid"/>
                      <a:round/>
                      <a:headEnd type="none" w="med" len="med"/>
                      <a:tailEnd type="none" w="med" len="med"/>
                    </a:lnT>
                    <a:lnB w="6350" cap="flat" cmpd="sng" algn="ctr">
                      <a:solidFill>
                        <a:srgbClr val="B2B2B2"/>
                      </a:solidFill>
                      <a:prstDash val="solid"/>
                      <a:round/>
                      <a:headEnd type="none" w="med" len="med"/>
                      <a:tailEnd type="none" w="med" len="med"/>
                    </a:lnB>
                    <a:solidFill>
                      <a:srgbClr val="FFFFCC"/>
                    </a:solidFill>
                  </a:tcPr>
                </a:tc>
                <a:tc>
                  <a:txBody>
                    <a:bodyPr/>
                    <a:lstStyle/>
                    <a:p>
                      <a:pPr algn="r" fontAlgn="b"/>
                      <a:r>
                        <a:rPr lang="en-US" sz="900" b="0" i="0" u="none" strike="noStrike">
                          <a:solidFill>
                            <a:srgbClr val="3F3F76"/>
                          </a:solidFill>
                          <a:effectLst/>
                          <a:latin typeface="Aptos Narrow" panose="020B0004020202020204" pitchFamily="34" charset="0"/>
                        </a:rPr>
                        <a:t>180.7583</a:t>
                      </a:r>
                    </a:p>
                  </a:txBody>
                  <a:tcPr marL="9525" marR="9525" marT="9525" marB="0" anchor="b">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extLst>
                  <a:ext uri="{0D108BD9-81ED-4DB2-BD59-A6C34878D82A}">
                    <a16:rowId xmlns:a16="http://schemas.microsoft.com/office/drawing/2014/main" val="2194303556"/>
                  </a:ext>
                </a:extLst>
              </a:tr>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Nickel  Charge:</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10.23%</a:t>
                      </a:r>
                    </a:p>
                  </a:txBody>
                  <a:tcPr marL="9525" marR="9525" marT="9525" marB="0" anchor="b">
                    <a:lnL>
                      <a:noFill/>
                    </a:lnL>
                    <a:lnR w="6350" cap="flat" cmpd="sng" algn="ctr">
                      <a:solidFill>
                        <a:srgbClr val="B2B2B2"/>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112.885359</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B2B2B2"/>
                      </a:solidFill>
                      <a:prstDash val="solid"/>
                      <a:round/>
                      <a:headEnd type="none" w="med" len="med"/>
                      <a:tailEnd type="none" w="med" len="med"/>
                    </a:lnT>
                    <a:lnB w="6350" cap="flat" cmpd="sng" algn="ctr">
                      <a:solidFill>
                        <a:srgbClr val="B2B2B2"/>
                      </a:solidFill>
                      <a:prstDash val="solid"/>
                      <a:round/>
                      <a:headEnd type="none" w="med" len="med"/>
                      <a:tailEnd type="none" w="med" len="med"/>
                    </a:lnB>
                    <a:solidFill>
                      <a:srgbClr val="FFFFCC"/>
                    </a:solidFill>
                  </a:tcPr>
                </a:tc>
                <a:tc>
                  <a:txBody>
                    <a:bodyPr/>
                    <a:lstStyle/>
                    <a:p>
                      <a:pPr algn="r" fontAlgn="b"/>
                      <a:r>
                        <a:rPr lang="en-US" sz="900" b="0" i="0" u="none" strike="noStrike">
                          <a:solidFill>
                            <a:srgbClr val="3F3F76"/>
                          </a:solidFill>
                          <a:effectLst/>
                          <a:latin typeface="Aptos Narrow" panose="020B0004020202020204" pitchFamily="34" charset="0"/>
                        </a:rPr>
                        <a:t>112.8854</a:t>
                      </a:r>
                    </a:p>
                  </a:txBody>
                  <a:tcPr marL="9525" marR="9525" marT="9525" marB="0" anchor="b">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extLst>
                  <a:ext uri="{0D108BD9-81ED-4DB2-BD59-A6C34878D82A}">
                    <a16:rowId xmlns:a16="http://schemas.microsoft.com/office/drawing/2014/main" val="614376425"/>
                  </a:ext>
                </a:extLst>
              </a:tr>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Molybdenum Charge:</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1.87%</a:t>
                      </a:r>
                    </a:p>
                  </a:txBody>
                  <a:tcPr marL="9525" marR="9525" marT="9525" marB="0" anchor="b">
                    <a:lnL>
                      <a:noFill/>
                    </a:lnL>
                    <a:lnR w="6350" cap="flat" cmpd="sng" algn="ctr">
                      <a:solidFill>
                        <a:srgbClr val="B2B2B2"/>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20.6943923</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B2B2B2"/>
                      </a:solidFill>
                      <a:prstDash val="solid"/>
                      <a:round/>
                      <a:headEnd type="none" w="med" len="med"/>
                      <a:tailEnd type="none" w="med" len="med"/>
                    </a:lnT>
                    <a:lnB w="6350" cap="flat" cmpd="sng" algn="ctr">
                      <a:solidFill>
                        <a:srgbClr val="B2B2B2"/>
                      </a:solidFill>
                      <a:prstDash val="solid"/>
                      <a:round/>
                      <a:headEnd type="none" w="med" len="med"/>
                      <a:tailEnd type="none" w="med" len="med"/>
                    </a:lnB>
                    <a:solidFill>
                      <a:srgbClr val="FFFFCC"/>
                    </a:solidFill>
                  </a:tcPr>
                </a:tc>
                <a:tc>
                  <a:txBody>
                    <a:bodyPr/>
                    <a:lstStyle/>
                    <a:p>
                      <a:pPr algn="r" fontAlgn="b"/>
                      <a:r>
                        <a:rPr lang="en-US" sz="900" b="0" i="0" u="none" strike="noStrike">
                          <a:solidFill>
                            <a:srgbClr val="3F3F76"/>
                          </a:solidFill>
                          <a:effectLst/>
                          <a:latin typeface="Aptos Narrow" panose="020B0004020202020204" pitchFamily="34" charset="0"/>
                        </a:rPr>
                        <a:t>20.69439</a:t>
                      </a:r>
                    </a:p>
                  </a:txBody>
                  <a:tcPr marL="9525" marR="9525" marT="9525" marB="0" anchor="b">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extLst>
                  <a:ext uri="{0D108BD9-81ED-4DB2-BD59-A6C34878D82A}">
                    <a16:rowId xmlns:a16="http://schemas.microsoft.com/office/drawing/2014/main" val="668169077"/>
                  </a:ext>
                </a:extLst>
              </a:tr>
              <a:tr h="175912">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Oxygen Charge:</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5.13%</a:t>
                      </a:r>
                    </a:p>
                  </a:txBody>
                  <a:tcPr marL="9525" marR="9525" marT="9525" marB="0" anchor="b">
                    <a:lnL>
                      <a:noFill/>
                    </a:lnL>
                    <a:lnR w="6350" cap="flat" cmpd="sng" algn="ctr">
                      <a:solidFill>
                        <a:srgbClr val="B2B2B2"/>
                      </a:solidFill>
                      <a:prstDash val="solid"/>
                      <a:round/>
                      <a:headEnd type="none" w="med" len="med"/>
                      <a:tailEnd type="none" w="med" len="med"/>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56.6129698</a:t>
                      </a:r>
                    </a:p>
                  </a:txBody>
                  <a:tcPr marL="9525" marR="9525" marT="9525" marB="0" anchor="b">
                    <a:lnL w="6350" cap="flat" cmpd="sng" algn="ctr">
                      <a:solidFill>
                        <a:srgbClr val="B2B2B2"/>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B2B2B2"/>
                      </a:solidFill>
                      <a:prstDash val="solid"/>
                      <a:round/>
                      <a:headEnd type="none" w="med" len="med"/>
                      <a:tailEnd type="none" w="med" len="med"/>
                    </a:lnT>
                    <a:lnB w="6350" cap="flat" cmpd="sng" algn="ctr">
                      <a:solidFill>
                        <a:srgbClr val="B2B2B2"/>
                      </a:solidFill>
                      <a:prstDash val="solid"/>
                      <a:round/>
                      <a:headEnd type="none" w="med" len="med"/>
                      <a:tailEnd type="none" w="med" len="med"/>
                    </a:lnB>
                    <a:solidFill>
                      <a:srgbClr val="FFFFCC"/>
                    </a:solidFill>
                  </a:tcPr>
                </a:tc>
                <a:tc>
                  <a:txBody>
                    <a:bodyPr/>
                    <a:lstStyle/>
                    <a:p>
                      <a:pPr algn="r" fontAlgn="b"/>
                      <a:r>
                        <a:rPr lang="en-US" sz="900" b="0" i="0" u="none" strike="noStrike">
                          <a:solidFill>
                            <a:srgbClr val="3F3F76"/>
                          </a:solidFill>
                          <a:effectLst/>
                          <a:latin typeface="Aptos Narrow" panose="020B0004020202020204" pitchFamily="34" charset="0"/>
                        </a:rPr>
                        <a:t>56.61297</a:t>
                      </a:r>
                    </a:p>
                  </a:txBody>
                  <a:tcPr marL="9525" marR="9525" marT="9525" marB="0" anchor="b">
                    <a:lnL w="6350" cap="flat" cmpd="sng" algn="ctr">
                      <a:solidFill>
                        <a:srgbClr val="7F7F7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FFCC99"/>
                    </a:solidFill>
                  </a:tcPr>
                </a:tc>
                <a:extLst>
                  <a:ext uri="{0D108BD9-81ED-4DB2-BD59-A6C34878D82A}">
                    <a16:rowId xmlns:a16="http://schemas.microsoft.com/office/drawing/2014/main" val="1630792804"/>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Reactor Outlet:</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B2B2B2"/>
                      </a:solidFill>
                      <a:prstDash val="solid"/>
                      <a:round/>
                      <a:headEnd type="none" w="med" len="med"/>
                      <a:tailEnd type="none" w="med" len="med"/>
                    </a:lnT>
                    <a:lnB>
                      <a:noFill/>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7F7F7F"/>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268249269"/>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SS316 Product Outlet:</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9C5700"/>
                          </a:solidFill>
                          <a:effectLst/>
                          <a:latin typeface="Aptos Narrow" panose="020B0004020202020204" pitchFamily="34" charset="0"/>
                        </a:rPr>
                        <a:t>1000</a:t>
                      </a:r>
                    </a:p>
                  </a:txBody>
                  <a:tcPr marL="9525" marR="9525" marT="9525" marB="0" anchor="b">
                    <a:lnL>
                      <a:noFill/>
                    </a:lnL>
                    <a:lnR>
                      <a:noFill/>
                    </a:lnR>
                    <a:lnT>
                      <a:noFill/>
                    </a:lnT>
                    <a:lnB>
                      <a:noFill/>
                    </a:lnB>
                    <a:solidFill>
                      <a:srgbClr val="FFEB9C"/>
                    </a:solidFill>
                  </a:tcPr>
                </a:tc>
                <a:tc>
                  <a:txBody>
                    <a:bodyPr/>
                    <a:lstStyle/>
                    <a:p>
                      <a:pPr algn="r" fontAlgn="b"/>
                      <a:r>
                        <a:rPr lang="en-US" sz="900" b="0" i="0" u="none" strike="noStrike">
                          <a:solidFill>
                            <a:srgbClr val="000000"/>
                          </a:solidFill>
                          <a:effectLst/>
                          <a:latin typeface="Aptos Narrow" panose="020B0004020202020204" pitchFamily="34" charset="0"/>
                        </a:rPr>
                        <a:t>1000</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541348192"/>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Slag Product Outlet:</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17.80716</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151392659"/>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Recycled Stream:</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177.710847</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177.7108</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541387048"/>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Net Flow Rate:</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1281.65378</a:t>
                      </a:r>
                    </a:p>
                  </a:txBody>
                  <a:tcPr marL="9525" marR="9525" marT="9525" marB="0" anchor="b">
                    <a:lnL>
                      <a:noFill/>
                    </a:lnL>
                    <a:lnR>
                      <a:noFill/>
                    </a:lnR>
                    <a:lnT>
                      <a:noFill/>
                    </a:lnT>
                    <a:lnB>
                      <a:noFill/>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1281.654</a:t>
                      </a:r>
                    </a:p>
                  </a:txBody>
                  <a:tcPr marL="9525" marR="9525" marT="9525" marB="0" anchor="b">
                    <a:lnL>
                      <a:noFill/>
                    </a:lnL>
                    <a:lnR w="635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382628368"/>
                  </a:ext>
                </a:extLst>
              </a:tr>
              <a:tr h="175912">
                <a:tc gridSpan="2">
                  <a:txBody>
                    <a:bodyPr/>
                    <a:lstStyle/>
                    <a:p>
                      <a:pPr algn="l" fontAlgn="b"/>
                      <a:r>
                        <a:rPr lang="en-US" sz="900" b="0" i="0" u="none" strike="noStrike">
                          <a:solidFill>
                            <a:srgbClr val="000000"/>
                          </a:solidFill>
                          <a:effectLst/>
                          <a:latin typeface="Aptos Narrow" panose="020B0004020202020204" pitchFamily="34" charset="0"/>
                        </a:rPr>
                        <a:t>Net Flow Rate Check:</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 </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1281.654</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48046337"/>
                  </a:ext>
                </a:extLst>
              </a:tr>
            </a:tbl>
          </a:graphicData>
        </a:graphic>
      </p:graphicFrame>
      <p:sp>
        <p:nvSpPr>
          <p:cNvPr id="27" name="Rectangle 26">
            <a:extLst>
              <a:ext uri="{FF2B5EF4-FFF2-40B4-BE49-F238E27FC236}">
                <a16:creationId xmlns:a16="http://schemas.microsoft.com/office/drawing/2014/main" id="{1C37F243-9CDA-D5B1-D28B-228ADE900680}"/>
              </a:ext>
            </a:extLst>
          </p:cNvPr>
          <p:cNvSpPr/>
          <p:nvPr/>
        </p:nvSpPr>
        <p:spPr>
          <a:xfrm>
            <a:off x="5171768" y="1250066"/>
            <a:ext cx="668593" cy="140558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Elbow 28">
            <a:extLst>
              <a:ext uri="{FF2B5EF4-FFF2-40B4-BE49-F238E27FC236}">
                <a16:creationId xmlns:a16="http://schemas.microsoft.com/office/drawing/2014/main" id="{08E39EB3-27CC-6C9F-F601-1D33ECD66757}"/>
              </a:ext>
            </a:extLst>
          </p:cNvPr>
          <p:cNvCxnSpPr>
            <a:cxnSpLocks/>
            <a:stCxn id="27" idx="0"/>
            <a:endCxn id="34" idx="0"/>
          </p:cNvCxnSpPr>
          <p:nvPr/>
        </p:nvCxnSpPr>
        <p:spPr>
          <a:xfrm rot="5400000" flipH="1" flipV="1">
            <a:off x="7076087" y="-925068"/>
            <a:ext cx="605112" cy="3745157"/>
          </a:xfrm>
          <a:prstGeom prst="bentConnector3">
            <a:avLst>
              <a:gd name="adj1" fmla="val 137778"/>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CF2C1DAA-A78F-7B82-CDBD-1955C124204F}"/>
              </a:ext>
            </a:extLst>
          </p:cNvPr>
          <p:cNvSpPr/>
          <p:nvPr/>
        </p:nvSpPr>
        <p:spPr>
          <a:xfrm>
            <a:off x="8764525" y="644954"/>
            <a:ext cx="973393" cy="1456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B99848F-1CA6-EFE7-F7FA-3AA868A75446}"/>
              </a:ext>
            </a:extLst>
          </p:cNvPr>
          <p:cNvSpPr/>
          <p:nvPr/>
        </p:nvSpPr>
        <p:spPr>
          <a:xfrm>
            <a:off x="5171769" y="4380272"/>
            <a:ext cx="668593" cy="143550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Connector: Elbow 39">
            <a:extLst>
              <a:ext uri="{FF2B5EF4-FFF2-40B4-BE49-F238E27FC236}">
                <a16:creationId xmlns:a16="http://schemas.microsoft.com/office/drawing/2014/main" id="{2C688738-15B2-9158-50C8-45FC44933C2E}"/>
              </a:ext>
            </a:extLst>
          </p:cNvPr>
          <p:cNvCxnSpPr>
            <a:cxnSpLocks/>
            <a:stCxn id="39" idx="0"/>
            <a:endCxn id="41" idx="0"/>
          </p:cNvCxnSpPr>
          <p:nvPr/>
        </p:nvCxnSpPr>
        <p:spPr>
          <a:xfrm rot="5400000" flipH="1" flipV="1">
            <a:off x="7268498" y="2293376"/>
            <a:ext cx="324464" cy="3849329"/>
          </a:xfrm>
          <a:prstGeom prst="bentConnector3">
            <a:avLst>
              <a:gd name="adj1" fmla="val 170455"/>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6EE931A7-46AB-B1AA-96CA-C33A34E54B84}"/>
              </a:ext>
            </a:extLst>
          </p:cNvPr>
          <p:cNvSpPr/>
          <p:nvPr/>
        </p:nvSpPr>
        <p:spPr>
          <a:xfrm>
            <a:off x="8868698" y="4055808"/>
            <a:ext cx="973393" cy="1456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1CEA2C9-ADEC-8F70-C25B-7EBD55BA66AB}"/>
              </a:ext>
            </a:extLst>
          </p:cNvPr>
          <p:cNvSpPr/>
          <p:nvPr/>
        </p:nvSpPr>
        <p:spPr>
          <a:xfrm>
            <a:off x="763584" y="3513567"/>
            <a:ext cx="2524926" cy="12302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athematical equation with numbers and symbols&#10;&#10;AI-generated content may be incorrect.">
            <a:extLst>
              <a:ext uri="{FF2B5EF4-FFF2-40B4-BE49-F238E27FC236}">
                <a16:creationId xmlns:a16="http://schemas.microsoft.com/office/drawing/2014/main" id="{E14FA4E9-7C23-78FB-EE8B-896B011880AF}"/>
              </a:ext>
            </a:extLst>
          </p:cNvPr>
          <p:cNvPicPr>
            <a:picLocks noChangeAspect="1"/>
          </p:cNvPicPr>
          <p:nvPr/>
        </p:nvPicPr>
        <p:blipFill>
          <a:blip r:embed="rId4"/>
          <a:stretch>
            <a:fillRect/>
          </a:stretch>
        </p:blipFill>
        <p:spPr>
          <a:xfrm>
            <a:off x="1105941" y="3685695"/>
            <a:ext cx="1847850" cy="895350"/>
          </a:xfrm>
          <a:prstGeom prst="rect">
            <a:avLst/>
          </a:prstGeom>
        </p:spPr>
      </p:pic>
    </p:spTree>
    <p:extLst>
      <p:ext uri="{BB962C8B-B14F-4D97-AF65-F5344CB8AC3E}">
        <p14:creationId xmlns:p14="http://schemas.microsoft.com/office/powerpoint/2010/main" val="1211307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2252649-C4E3-4F1F-FFD4-8E8B8C195393}"/>
              </a:ext>
            </a:extLst>
          </p:cNvPr>
          <p:cNvPicPr>
            <a:picLocks noChangeAspect="1"/>
          </p:cNvPicPr>
          <p:nvPr/>
        </p:nvPicPr>
        <p:blipFill>
          <a:blip r:embed="rId3"/>
          <a:stretch>
            <a:fillRect/>
          </a:stretch>
        </p:blipFill>
        <p:spPr>
          <a:xfrm>
            <a:off x="4667330" y="4683859"/>
            <a:ext cx="2850938" cy="2087897"/>
          </a:xfrm>
          <a:prstGeom prst="rect">
            <a:avLst/>
          </a:prstGeom>
        </p:spPr>
      </p:pic>
      <p:pic>
        <p:nvPicPr>
          <p:cNvPr id="5" name="Picture 4">
            <a:extLst>
              <a:ext uri="{FF2B5EF4-FFF2-40B4-BE49-F238E27FC236}">
                <a16:creationId xmlns:a16="http://schemas.microsoft.com/office/drawing/2014/main" id="{24285EC9-7B2B-0F18-6B75-152EB2B47690}"/>
              </a:ext>
            </a:extLst>
          </p:cNvPr>
          <p:cNvPicPr>
            <a:picLocks noChangeAspect="1"/>
          </p:cNvPicPr>
          <p:nvPr/>
        </p:nvPicPr>
        <p:blipFill>
          <a:blip r:embed="rId4"/>
          <a:stretch>
            <a:fillRect/>
          </a:stretch>
        </p:blipFill>
        <p:spPr>
          <a:xfrm>
            <a:off x="4348923" y="2712585"/>
            <a:ext cx="3494155" cy="2246059"/>
          </a:xfrm>
          <a:prstGeom prst="rect">
            <a:avLst/>
          </a:prstGeom>
        </p:spPr>
      </p:pic>
      <p:pic>
        <p:nvPicPr>
          <p:cNvPr id="4" name="Picture 3">
            <a:extLst>
              <a:ext uri="{FF2B5EF4-FFF2-40B4-BE49-F238E27FC236}">
                <a16:creationId xmlns:a16="http://schemas.microsoft.com/office/drawing/2014/main" id="{8A179266-AFB2-C36D-31E2-00FA1ED73B93}"/>
              </a:ext>
            </a:extLst>
          </p:cNvPr>
          <p:cNvPicPr>
            <a:picLocks noChangeAspect="1"/>
          </p:cNvPicPr>
          <p:nvPr/>
        </p:nvPicPr>
        <p:blipFill>
          <a:blip r:embed="rId5"/>
          <a:stretch>
            <a:fillRect/>
          </a:stretch>
        </p:blipFill>
        <p:spPr>
          <a:xfrm>
            <a:off x="4423923" y="415258"/>
            <a:ext cx="3344156" cy="2300729"/>
          </a:xfrm>
          <a:prstGeom prst="rect">
            <a:avLst/>
          </a:prstGeom>
        </p:spPr>
      </p:pic>
      <p:sp>
        <p:nvSpPr>
          <p:cNvPr id="10" name="Flowchart: Document 9">
            <a:extLst>
              <a:ext uri="{FF2B5EF4-FFF2-40B4-BE49-F238E27FC236}">
                <a16:creationId xmlns:a16="http://schemas.microsoft.com/office/drawing/2014/main" id="{2892407F-2AD0-AABA-628F-F36DE6E30ED7}"/>
              </a:ext>
            </a:extLst>
          </p:cNvPr>
          <p:cNvSpPr/>
          <p:nvPr/>
        </p:nvSpPr>
        <p:spPr>
          <a:xfrm>
            <a:off x="-1484" y="-1426"/>
            <a:ext cx="12190719" cy="638262"/>
          </a:xfrm>
          <a:prstGeom prst="flowChartDocument">
            <a:avLst/>
          </a:prstGeom>
          <a:solidFill>
            <a:schemeClr val="tx1">
              <a:lumMod val="50000"/>
              <a:lumOff val="5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Document 10">
            <a:extLst>
              <a:ext uri="{FF2B5EF4-FFF2-40B4-BE49-F238E27FC236}">
                <a16:creationId xmlns:a16="http://schemas.microsoft.com/office/drawing/2014/main" id="{15755E78-1E6B-5219-1228-AECA8A96C828}"/>
              </a:ext>
            </a:extLst>
          </p:cNvPr>
          <p:cNvSpPr/>
          <p:nvPr/>
        </p:nvSpPr>
        <p:spPr>
          <a:xfrm rot="10800000">
            <a:off x="-1485" y="6658069"/>
            <a:ext cx="12190719" cy="638262"/>
          </a:xfrm>
          <a:prstGeom prst="flowChartDocument">
            <a:avLst/>
          </a:prstGeom>
          <a:solidFill>
            <a:schemeClr val="tx1">
              <a:lumMod val="50000"/>
              <a:lumOff val="5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Document 7">
            <a:extLst>
              <a:ext uri="{FF2B5EF4-FFF2-40B4-BE49-F238E27FC236}">
                <a16:creationId xmlns:a16="http://schemas.microsoft.com/office/drawing/2014/main" id="{865E9D03-D3B3-E633-B9B5-CBF33FE58A0B}"/>
              </a:ext>
            </a:extLst>
          </p:cNvPr>
          <p:cNvSpPr/>
          <p:nvPr/>
        </p:nvSpPr>
        <p:spPr>
          <a:xfrm rot="5400000">
            <a:off x="6540618" y="1441466"/>
            <a:ext cx="7091508" cy="4211338"/>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Document 8">
            <a:extLst>
              <a:ext uri="{FF2B5EF4-FFF2-40B4-BE49-F238E27FC236}">
                <a16:creationId xmlns:a16="http://schemas.microsoft.com/office/drawing/2014/main" id="{C1D8E2B0-C981-7F3C-9BF0-444F2D70FED6}"/>
              </a:ext>
            </a:extLst>
          </p:cNvPr>
          <p:cNvSpPr/>
          <p:nvPr/>
        </p:nvSpPr>
        <p:spPr>
          <a:xfrm rot="-5400000">
            <a:off x="-1372805" y="1290032"/>
            <a:ext cx="6902965" cy="4228055"/>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21EEBAA-5F82-00BB-5F60-361C548043B2}"/>
              </a:ext>
            </a:extLst>
          </p:cNvPr>
          <p:cNvSpPr/>
          <p:nvPr/>
        </p:nvSpPr>
        <p:spPr>
          <a:xfrm>
            <a:off x="4346222" y="4903612"/>
            <a:ext cx="3630788" cy="536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5BAFD7C-AAE6-B270-2FD5-A72F50A1268C}"/>
              </a:ext>
            </a:extLst>
          </p:cNvPr>
          <p:cNvSpPr/>
          <p:nvPr/>
        </p:nvSpPr>
        <p:spPr>
          <a:xfrm rot="-5400000">
            <a:off x="6032500" y="4247445"/>
            <a:ext cx="3630788" cy="536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5352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E9E692B-220F-4A2F-4867-4478815CC865}"/>
              </a:ext>
            </a:extLst>
          </p:cNvPr>
          <p:cNvSpPr/>
          <p:nvPr/>
        </p:nvSpPr>
        <p:spPr>
          <a:xfrm>
            <a:off x="8279297" y="1766880"/>
            <a:ext cx="3150704" cy="4601817"/>
          </a:xfrm>
          <a:prstGeom prst="roundRect">
            <a:avLst/>
          </a:prstGeom>
          <a:solidFill>
            <a:schemeClr val="accent5">
              <a:lumMod val="40000"/>
              <a:lumOff val="60000"/>
              <a:alpha val="7490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91BED9-957F-46EA-378F-DACA7A115CA8}"/>
              </a:ext>
            </a:extLst>
          </p:cNvPr>
          <p:cNvSpPr>
            <a:spLocks noGrp="1"/>
          </p:cNvSpPr>
          <p:nvPr>
            <p:ph type="title"/>
          </p:nvPr>
        </p:nvSpPr>
        <p:spPr/>
        <p:txBody>
          <a:bodyPr/>
          <a:lstStyle/>
          <a:p>
            <a:r>
              <a:rPr lang="en-US"/>
              <a:t>Reagent Breakdown</a:t>
            </a:r>
          </a:p>
        </p:txBody>
      </p:sp>
      <p:sp>
        <p:nvSpPr>
          <p:cNvPr id="4" name="TextBox 3">
            <a:extLst>
              <a:ext uri="{FF2B5EF4-FFF2-40B4-BE49-F238E27FC236}">
                <a16:creationId xmlns:a16="http://schemas.microsoft.com/office/drawing/2014/main" id="{B733DE94-CA2C-4BB7-4B43-347563C2CAD6}"/>
              </a:ext>
            </a:extLst>
          </p:cNvPr>
          <p:cNvSpPr txBox="1"/>
          <p:nvPr/>
        </p:nvSpPr>
        <p:spPr>
          <a:xfrm>
            <a:off x="8834645" y="2990874"/>
            <a:ext cx="2099642" cy="1130887"/>
          </a:xfrm>
          <a:prstGeom prst="rect">
            <a:avLst/>
          </a:prstGeom>
          <a:noFill/>
        </p:spPr>
        <p:txBody>
          <a:bodyPr wrap="square">
            <a:spAutoFit/>
          </a:bodyPr>
          <a:lstStyle/>
          <a:p>
            <a:pPr algn="l" rtl="0" fontAlgn="base">
              <a:lnSpc>
                <a:spcPts val="1564"/>
              </a:lnSpc>
              <a:buFont typeface="Arial" panose="020B0604020202020204" pitchFamily="34" charset="0"/>
              <a:buChar char="•"/>
            </a:pPr>
            <a:r>
              <a:rPr lang="en-US" sz="1800" b="1" i="0">
                <a:solidFill>
                  <a:schemeClr val="tx2"/>
                </a:solidFill>
                <a:effectLst/>
                <a:latin typeface="Aptos" panose="020B0004020202020204" pitchFamily="34" charset="0"/>
              </a:rPr>
              <a:t>17% Chromium </a:t>
            </a:r>
          </a:p>
          <a:p>
            <a:pPr algn="l" rtl="0" fontAlgn="base">
              <a:lnSpc>
                <a:spcPts val="1564"/>
              </a:lnSpc>
              <a:buFont typeface="Arial" panose="020B0604020202020204" pitchFamily="34" charset="0"/>
              <a:buChar char="•"/>
            </a:pPr>
            <a:r>
              <a:rPr lang="en-US" sz="1800" b="1" i="0">
                <a:solidFill>
                  <a:schemeClr val="tx2"/>
                </a:solidFill>
                <a:effectLst/>
                <a:latin typeface="Aptos" panose="020B0004020202020204" pitchFamily="34" charset="0"/>
              </a:rPr>
              <a:t>11% Nickel </a:t>
            </a:r>
          </a:p>
          <a:p>
            <a:pPr algn="l" rtl="0" fontAlgn="base">
              <a:lnSpc>
                <a:spcPts val="1564"/>
              </a:lnSpc>
              <a:buFont typeface="Arial" panose="020B0604020202020204" pitchFamily="34" charset="0"/>
              <a:buChar char="•"/>
            </a:pPr>
            <a:r>
              <a:rPr lang="en-US" sz="1800" b="1" i="0">
                <a:solidFill>
                  <a:schemeClr val="tx2"/>
                </a:solidFill>
                <a:effectLst/>
                <a:latin typeface="Aptos" panose="020B0004020202020204" pitchFamily="34" charset="0"/>
              </a:rPr>
              <a:t>2% Molybdenum </a:t>
            </a:r>
          </a:p>
          <a:p>
            <a:pPr algn="l" rtl="0" fontAlgn="base">
              <a:lnSpc>
                <a:spcPts val="1564"/>
              </a:lnSpc>
              <a:buFont typeface="Arial" panose="020B0604020202020204" pitchFamily="34" charset="0"/>
              <a:buChar char="•"/>
            </a:pPr>
            <a:r>
              <a:rPr lang="en-US" sz="1800" b="1" i="0">
                <a:solidFill>
                  <a:schemeClr val="tx2"/>
                </a:solidFill>
                <a:effectLst/>
                <a:latin typeface="Aptos" panose="020B0004020202020204" pitchFamily="34" charset="0"/>
              </a:rPr>
              <a:t>70% Iron </a:t>
            </a:r>
          </a:p>
          <a:p>
            <a:pPr algn="l" rtl="0" fontAlgn="base">
              <a:lnSpc>
                <a:spcPts val="1564"/>
              </a:lnSpc>
              <a:buFont typeface="Arial" panose="020B0604020202020204" pitchFamily="34" charset="0"/>
              <a:buChar char="•"/>
            </a:pPr>
            <a:r>
              <a:rPr lang="en-US" sz="1800" b="1" i="0">
                <a:solidFill>
                  <a:schemeClr val="tx2"/>
                </a:solidFill>
                <a:effectLst/>
                <a:latin typeface="Aptos" panose="020B0004020202020204" pitchFamily="34" charset="0"/>
              </a:rPr>
              <a:t>0.07% Carbon </a:t>
            </a:r>
          </a:p>
        </p:txBody>
      </p:sp>
      <p:sp>
        <p:nvSpPr>
          <p:cNvPr id="5" name="TextBox 4">
            <a:extLst>
              <a:ext uri="{FF2B5EF4-FFF2-40B4-BE49-F238E27FC236}">
                <a16:creationId xmlns:a16="http://schemas.microsoft.com/office/drawing/2014/main" id="{D962268C-F34B-ABB4-BE1E-5799C03D3A3B}"/>
              </a:ext>
            </a:extLst>
          </p:cNvPr>
          <p:cNvSpPr txBox="1"/>
          <p:nvPr/>
        </p:nvSpPr>
        <p:spPr>
          <a:xfrm>
            <a:off x="8425524" y="2219080"/>
            <a:ext cx="2917884" cy="646331"/>
          </a:xfrm>
          <a:prstGeom prst="rect">
            <a:avLst/>
          </a:prstGeom>
          <a:noFill/>
        </p:spPr>
        <p:txBody>
          <a:bodyPr wrap="square" rtlCol="0">
            <a:spAutoFit/>
          </a:bodyPr>
          <a:lstStyle/>
          <a:p>
            <a:pPr algn="ctr"/>
            <a:r>
              <a:rPr lang="en-US" b="1">
                <a:solidFill>
                  <a:schemeClr val="tx2"/>
                </a:solidFill>
              </a:rPr>
              <a:t>Example of Desired Product SS136</a:t>
            </a:r>
          </a:p>
        </p:txBody>
      </p:sp>
      <p:sp>
        <p:nvSpPr>
          <p:cNvPr id="7" name="Rectangle: Rounded Corners 6">
            <a:extLst>
              <a:ext uri="{FF2B5EF4-FFF2-40B4-BE49-F238E27FC236}">
                <a16:creationId xmlns:a16="http://schemas.microsoft.com/office/drawing/2014/main" id="{FD644853-54FD-4962-23D8-B8D18D087E09}"/>
              </a:ext>
            </a:extLst>
          </p:cNvPr>
          <p:cNvSpPr/>
          <p:nvPr/>
        </p:nvSpPr>
        <p:spPr>
          <a:xfrm>
            <a:off x="543339" y="1766880"/>
            <a:ext cx="3458817" cy="2077279"/>
          </a:xfrm>
          <a:prstGeom prst="round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1529EF90-30E7-4BEA-BF93-AE025F5229CF}"/>
              </a:ext>
            </a:extLst>
          </p:cNvPr>
          <p:cNvSpPr/>
          <p:nvPr/>
        </p:nvSpPr>
        <p:spPr>
          <a:xfrm>
            <a:off x="526773" y="4291419"/>
            <a:ext cx="3458817" cy="207727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E5717689-0C37-723D-DADD-F061328C9551}"/>
              </a:ext>
            </a:extLst>
          </p:cNvPr>
          <p:cNvSpPr/>
          <p:nvPr/>
        </p:nvSpPr>
        <p:spPr>
          <a:xfrm>
            <a:off x="4366591" y="1766880"/>
            <a:ext cx="3458817" cy="2077279"/>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95DDB85-7F3F-98AF-9E99-DFDEB89CB609}"/>
              </a:ext>
            </a:extLst>
          </p:cNvPr>
          <p:cNvSpPr/>
          <p:nvPr/>
        </p:nvSpPr>
        <p:spPr>
          <a:xfrm>
            <a:off x="4366591" y="4286449"/>
            <a:ext cx="3458817" cy="2077279"/>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A8D1604-D738-1E36-85A6-518328ACC78A}"/>
              </a:ext>
            </a:extLst>
          </p:cNvPr>
          <p:cNvSpPr txBox="1"/>
          <p:nvPr/>
        </p:nvSpPr>
        <p:spPr>
          <a:xfrm>
            <a:off x="4562060" y="4961187"/>
            <a:ext cx="3121002" cy="1200329"/>
          </a:xfrm>
          <a:prstGeom prst="rect">
            <a:avLst/>
          </a:prstGeom>
          <a:noFill/>
        </p:spPr>
        <p:txBody>
          <a:bodyPr wrap="square">
            <a:spAutoFit/>
          </a:bodyPr>
          <a:lstStyle/>
          <a:p>
            <a:pPr fontAlgn="base"/>
            <a:r>
              <a:rPr lang="en-US"/>
              <a:t>C: 4.05% 	S: 0.04% </a:t>
            </a:r>
          </a:p>
          <a:p>
            <a:pPr fontAlgn="base"/>
            <a:r>
              <a:rPr lang="en-US"/>
              <a:t>Si: 0.5%		Mn: 0.8% </a:t>
            </a:r>
          </a:p>
          <a:p>
            <a:pPr fontAlgn="base"/>
            <a:r>
              <a:rPr lang="en-US"/>
              <a:t>P: 0.05% 	</a:t>
            </a:r>
          </a:p>
          <a:p>
            <a:pPr fontAlgn="base"/>
            <a:r>
              <a:rPr lang="en-US"/>
              <a:t>Fe: 94.56% </a:t>
            </a:r>
          </a:p>
        </p:txBody>
      </p:sp>
      <p:sp>
        <p:nvSpPr>
          <p:cNvPr id="13" name="TextBox 12">
            <a:extLst>
              <a:ext uri="{FF2B5EF4-FFF2-40B4-BE49-F238E27FC236}">
                <a16:creationId xmlns:a16="http://schemas.microsoft.com/office/drawing/2014/main" id="{E202E53B-9E69-F1C0-6D03-1F2036B47A04}"/>
              </a:ext>
            </a:extLst>
          </p:cNvPr>
          <p:cNvSpPr txBox="1"/>
          <p:nvPr/>
        </p:nvSpPr>
        <p:spPr>
          <a:xfrm>
            <a:off x="4620038" y="4448566"/>
            <a:ext cx="2951922" cy="369332"/>
          </a:xfrm>
          <a:prstGeom prst="rect">
            <a:avLst/>
          </a:prstGeom>
          <a:noFill/>
        </p:spPr>
        <p:txBody>
          <a:bodyPr wrap="square" rtlCol="0">
            <a:spAutoFit/>
          </a:bodyPr>
          <a:lstStyle/>
          <a:p>
            <a:pPr algn="ctr"/>
            <a:r>
              <a:rPr lang="en-US"/>
              <a:t>Pig Iron Composition</a:t>
            </a:r>
          </a:p>
        </p:txBody>
      </p:sp>
      <p:sp>
        <p:nvSpPr>
          <p:cNvPr id="15" name="TextBox 14">
            <a:extLst>
              <a:ext uri="{FF2B5EF4-FFF2-40B4-BE49-F238E27FC236}">
                <a16:creationId xmlns:a16="http://schemas.microsoft.com/office/drawing/2014/main" id="{65678BC0-893A-8CAF-0979-9A4C13153A00}"/>
              </a:ext>
            </a:extLst>
          </p:cNvPr>
          <p:cNvSpPr txBox="1"/>
          <p:nvPr/>
        </p:nvSpPr>
        <p:spPr>
          <a:xfrm>
            <a:off x="1531039" y="5140422"/>
            <a:ext cx="1483415" cy="369332"/>
          </a:xfrm>
          <a:prstGeom prst="rect">
            <a:avLst/>
          </a:prstGeom>
          <a:noFill/>
        </p:spPr>
        <p:txBody>
          <a:bodyPr wrap="square">
            <a:spAutoFit/>
          </a:bodyPr>
          <a:lstStyle/>
          <a:p>
            <a:r>
              <a:rPr lang="en-US">
                <a:solidFill>
                  <a:srgbClr val="000000"/>
                </a:solidFill>
                <a:latin typeface="Roboto" panose="02000000000000000000" pitchFamily="2" charset="0"/>
              </a:rPr>
              <a:t>Mo</a:t>
            </a:r>
            <a:r>
              <a:rPr lang="en-US" sz="1800" b="0" i="0">
                <a:solidFill>
                  <a:srgbClr val="000000"/>
                </a:solidFill>
                <a:effectLst/>
                <a:latin typeface="Roboto" panose="02000000000000000000" pitchFamily="2" charset="0"/>
              </a:rPr>
              <a:t>: 99.95% </a:t>
            </a:r>
            <a:endParaRPr lang="en-US"/>
          </a:p>
        </p:txBody>
      </p:sp>
      <p:sp>
        <p:nvSpPr>
          <p:cNvPr id="17" name="TextBox 16">
            <a:extLst>
              <a:ext uri="{FF2B5EF4-FFF2-40B4-BE49-F238E27FC236}">
                <a16:creationId xmlns:a16="http://schemas.microsoft.com/office/drawing/2014/main" id="{72E3CBE1-BBF3-EB73-59EA-2E8A8E83599B}"/>
              </a:ext>
            </a:extLst>
          </p:cNvPr>
          <p:cNvSpPr txBox="1"/>
          <p:nvPr/>
        </p:nvSpPr>
        <p:spPr>
          <a:xfrm>
            <a:off x="761999" y="1965663"/>
            <a:ext cx="2981740" cy="369332"/>
          </a:xfrm>
          <a:prstGeom prst="rect">
            <a:avLst/>
          </a:prstGeom>
          <a:noFill/>
        </p:spPr>
        <p:txBody>
          <a:bodyPr wrap="square" rtlCol="0">
            <a:spAutoFit/>
          </a:bodyPr>
          <a:lstStyle/>
          <a:p>
            <a:pPr algn="ctr"/>
            <a:r>
              <a:rPr lang="en-US"/>
              <a:t>Chromium Purity</a:t>
            </a:r>
          </a:p>
        </p:txBody>
      </p:sp>
      <p:sp>
        <p:nvSpPr>
          <p:cNvPr id="19" name="TextBox 18">
            <a:extLst>
              <a:ext uri="{FF2B5EF4-FFF2-40B4-BE49-F238E27FC236}">
                <a16:creationId xmlns:a16="http://schemas.microsoft.com/office/drawing/2014/main" id="{FCCBF109-05A2-28C3-0BF7-2A540F7443FF}"/>
              </a:ext>
            </a:extLst>
          </p:cNvPr>
          <p:cNvSpPr txBox="1"/>
          <p:nvPr/>
        </p:nvSpPr>
        <p:spPr>
          <a:xfrm>
            <a:off x="4813851" y="2805519"/>
            <a:ext cx="2564295" cy="369332"/>
          </a:xfrm>
          <a:prstGeom prst="rect">
            <a:avLst/>
          </a:prstGeom>
          <a:noFill/>
        </p:spPr>
        <p:txBody>
          <a:bodyPr wrap="square">
            <a:spAutoFit/>
          </a:bodyPr>
          <a:lstStyle/>
          <a:p>
            <a:pPr algn="ctr"/>
            <a:r>
              <a:rPr lang="en-US" sz="1800" b="0" i="0">
                <a:solidFill>
                  <a:srgbClr val="000000"/>
                </a:solidFill>
                <a:effectLst/>
                <a:latin typeface="Roboto" panose="02000000000000000000" pitchFamily="2" charset="0"/>
              </a:rPr>
              <a:t>Ni: 95% </a:t>
            </a:r>
            <a:endParaRPr lang="en-US"/>
          </a:p>
        </p:txBody>
      </p:sp>
      <p:sp>
        <p:nvSpPr>
          <p:cNvPr id="20" name="TextBox 19">
            <a:extLst>
              <a:ext uri="{FF2B5EF4-FFF2-40B4-BE49-F238E27FC236}">
                <a16:creationId xmlns:a16="http://schemas.microsoft.com/office/drawing/2014/main" id="{8C4F38A9-879F-15B5-AD70-A8C9159527CA}"/>
              </a:ext>
            </a:extLst>
          </p:cNvPr>
          <p:cNvSpPr txBox="1"/>
          <p:nvPr/>
        </p:nvSpPr>
        <p:spPr>
          <a:xfrm>
            <a:off x="4620038" y="1944190"/>
            <a:ext cx="2981740" cy="369332"/>
          </a:xfrm>
          <a:prstGeom prst="rect">
            <a:avLst/>
          </a:prstGeom>
          <a:noFill/>
        </p:spPr>
        <p:txBody>
          <a:bodyPr wrap="square" rtlCol="0">
            <a:spAutoFit/>
          </a:bodyPr>
          <a:lstStyle/>
          <a:p>
            <a:pPr algn="ctr"/>
            <a:r>
              <a:rPr lang="en-US"/>
              <a:t>Nickel Purity</a:t>
            </a:r>
          </a:p>
        </p:txBody>
      </p:sp>
      <p:sp>
        <p:nvSpPr>
          <p:cNvPr id="3" name="TextBox 2">
            <a:extLst>
              <a:ext uri="{FF2B5EF4-FFF2-40B4-BE49-F238E27FC236}">
                <a16:creationId xmlns:a16="http://schemas.microsoft.com/office/drawing/2014/main" id="{B1772647-B7A7-00E4-73E6-7BC62194F659}"/>
              </a:ext>
            </a:extLst>
          </p:cNvPr>
          <p:cNvSpPr txBox="1"/>
          <p:nvPr/>
        </p:nvSpPr>
        <p:spPr>
          <a:xfrm>
            <a:off x="761999" y="4414075"/>
            <a:ext cx="2981740" cy="369332"/>
          </a:xfrm>
          <a:prstGeom prst="rect">
            <a:avLst/>
          </a:prstGeom>
          <a:noFill/>
        </p:spPr>
        <p:txBody>
          <a:bodyPr wrap="square" rtlCol="0">
            <a:spAutoFit/>
          </a:bodyPr>
          <a:lstStyle/>
          <a:p>
            <a:pPr algn="ctr"/>
            <a:r>
              <a:rPr lang="en-US"/>
              <a:t>Molybdenum Purity</a:t>
            </a:r>
          </a:p>
        </p:txBody>
      </p:sp>
      <p:sp>
        <p:nvSpPr>
          <p:cNvPr id="11" name="TextBox 10">
            <a:extLst>
              <a:ext uri="{FF2B5EF4-FFF2-40B4-BE49-F238E27FC236}">
                <a16:creationId xmlns:a16="http://schemas.microsoft.com/office/drawing/2014/main" id="{18AC5EEF-44D3-FD5C-BBE5-75E54201D943}"/>
              </a:ext>
            </a:extLst>
          </p:cNvPr>
          <p:cNvSpPr txBox="1"/>
          <p:nvPr/>
        </p:nvSpPr>
        <p:spPr>
          <a:xfrm>
            <a:off x="1666873" y="2957919"/>
            <a:ext cx="1483415" cy="369332"/>
          </a:xfrm>
          <a:prstGeom prst="rect">
            <a:avLst/>
          </a:prstGeom>
          <a:noFill/>
        </p:spPr>
        <p:txBody>
          <a:bodyPr wrap="square">
            <a:spAutoFit/>
          </a:bodyPr>
          <a:lstStyle/>
          <a:p>
            <a:r>
              <a:rPr lang="en-US" sz="1800" b="0" i="0">
                <a:solidFill>
                  <a:srgbClr val="000000"/>
                </a:solidFill>
                <a:effectLst/>
                <a:latin typeface="Roboto" panose="02000000000000000000" pitchFamily="2" charset="0"/>
              </a:rPr>
              <a:t>Cr: 99.17% </a:t>
            </a:r>
            <a:endParaRPr lang="en-US"/>
          </a:p>
        </p:txBody>
      </p:sp>
    </p:spTree>
    <p:extLst>
      <p:ext uri="{BB962C8B-B14F-4D97-AF65-F5344CB8AC3E}">
        <p14:creationId xmlns:p14="http://schemas.microsoft.com/office/powerpoint/2010/main" val="1296934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88C552F3-3EFD-FD38-08E6-612F64F4A5D8}"/>
              </a:ext>
            </a:extLst>
          </p:cNvPr>
          <p:cNvSpPr/>
          <p:nvPr/>
        </p:nvSpPr>
        <p:spPr>
          <a:xfrm>
            <a:off x="2070110" y="1437591"/>
            <a:ext cx="7956760" cy="4014191"/>
          </a:xfrm>
          <a:prstGeom prst="rect">
            <a:avLst/>
          </a:prstGeom>
          <a:noFill/>
          <a:ln w="76200">
            <a:solidFill>
              <a:schemeClr val="tx2">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08" name="Group 107">
            <a:extLst>
              <a:ext uri="{FF2B5EF4-FFF2-40B4-BE49-F238E27FC236}">
                <a16:creationId xmlns:a16="http://schemas.microsoft.com/office/drawing/2014/main" id="{5CD47348-ACBD-461F-183D-EFC359C2C967}"/>
              </a:ext>
            </a:extLst>
          </p:cNvPr>
          <p:cNvGrpSpPr/>
          <p:nvPr/>
        </p:nvGrpSpPr>
        <p:grpSpPr>
          <a:xfrm>
            <a:off x="189101" y="3394452"/>
            <a:ext cx="11813798" cy="3367976"/>
            <a:chOff x="21000" y="3383942"/>
            <a:chExt cx="11813798" cy="3367976"/>
          </a:xfrm>
        </p:grpSpPr>
        <p:cxnSp>
          <p:nvCxnSpPr>
            <p:cNvPr id="72" name="Elbow Connector 71">
              <a:extLst>
                <a:ext uri="{FF2B5EF4-FFF2-40B4-BE49-F238E27FC236}">
                  <a16:creationId xmlns:a16="http://schemas.microsoft.com/office/drawing/2014/main" id="{3B868735-A3CE-5FD8-6C32-0BE6C10D4394}"/>
                </a:ext>
              </a:extLst>
            </p:cNvPr>
            <p:cNvCxnSpPr>
              <a:cxnSpLocks/>
            </p:cNvCxnSpPr>
            <p:nvPr/>
          </p:nvCxnSpPr>
          <p:spPr>
            <a:xfrm rot="16200000" flipV="1">
              <a:off x="5978374" y="1085965"/>
              <a:ext cx="45058" cy="4641011"/>
            </a:xfrm>
            <a:prstGeom prst="bentConnector3">
              <a:avLst>
                <a:gd name="adj1" fmla="val 3664368"/>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51F03BE6-B7E7-5292-2524-49E8830C94D7}"/>
                </a:ext>
              </a:extLst>
            </p:cNvPr>
            <p:cNvCxnSpPr>
              <a:cxnSpLocks/>
            </p:cNvCxnSpPr>
            <p:nvPr/>
          </p:nvCxnSpPr>
          <p:spPr>
            <a:xfrm>
              <a:off x="21000" y="4334351"/>
              <a:ext cx="2445108" cy="0"/>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53044440-1974-2F87-6804-5688432CB779}"/>
                </a:ext>
              </a:extLst>
            </p:cNvPr>
            <p:cNvCxnSpPr>
              <a:cxnSpLocks/>
            </p:cNvCxnSpPr>
            <p:nvPr/>
          </p:nvCxnSpPr>
          <p:spPr>
            <a:xfrm>
              <a:off x="33780" y="3819338"/>
              <a:ext cx="2432328" cy="8099"/>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67F49B8A-9FF5-63D7-16E8-062A69C05522}"/>
                </a:ext>
              </a:extLst>
            </p:cNvPr>
            <p:cNvCxnSpPr>
              <a:cxnSpLocks/>
            </p:cNvCxnSpPr>
            <p:nvPr/>
          </p:nvCxnSpPr>
          <p:spPr>
            <a:xfrm>
              <a:off x="4894684" y="4050493"/>
              <a:ext cx="2212435" cy="22529"/>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986A91E9-069E-3A71-4C6F-439F113B72BD}"/>
                </a:ext>
              </a:extLst>
            </p:cNvPr>
            <p:cNvCxnSpPr>
              <a:cxnSpLocks/>
            </p:cNvCxnSpPr>
            <p:nvPr/>
          </p:nvCxnSpPr>
          <p:spPr>
            <a:xfrm>
              <a:off x="9535696" y="4084168"/>
              <a:ext cx="2299102" cy="10773"/>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0E385E91-C135-1F87-399A-9785ED08D60F}"/>
                </a:ext>
              </a:extLst>
            </p:cNvPr>
            <p:cNvCxnSpPr>
              <a:cxnSpLocks/>
            </p:cNvCxnSpPr>
            <p:nvPr/>
          </p:nvCxnSpPr>
          <p:spPr>
            <a:xfrm>
              <a:off x="8310032" y="4717043"/>
              <a:ext cx="0" cy="2034875"/>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9" name="Group 68">
            <a:extLst>
              <a:ext uri="{FF2B5EF4-FFF2-40B4-BE49-F238E27FC236}">
                <a16:creationId xmlns:a16="http://schemas.microsoft.com/office/drawing/2014/main" id="{FE1FD82E-CE06-3F23-B9C8-6A3890537F3A}"/>
              </a:ext>
            </a:extLst>
          </p:cNvPr>
          <p:cNvGrpSpPr/>
          <p:nvPr/>
        </p:nvGrpSpPr>
        <p:grpSpPr>
          <a:xfrm>
            <a:off x="2634210" y="3394452"/>
            <a:ext cx="7069587" cy="1333101"/>
            <a:chOff x="2429272" y="2748731"/>
            <a:chExt cx="7069587" cy="1333101"/>
          </a:xfrm>
        </p:grpSpPr>
        <p:sp>
          <p:nvSpPr>
            <p:cNvPr id="4" name="Rectangle: Rounded Corners 3">
              <a:extLst>
                <a:ext uri="{FF2B5EF4-FFF2-40B4-BE49-F238E27FC236}">
                  <a16:creationId xmlns:a16="http://schemas.microsoft.com/office/drawing/2014/main" id="{82A28068-4BF4-B199-04A1-2EFFBA4A2319}"/>
                </a:ext>
              </a:extLst>
            </p:cNvPr>
            <p:cNvSpPr/>
            <p:nvPr/>
          </p:nvSpPr>
          <p:spPr>
            <a:xfrm>
              <a:off x="2429272" y="2748731"/>
              <a:ext cx="2428575" cy="13331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Basic Oxygen Furnace</a:t>
              </a:r>
            </a:p>
          </p:txBody>
        </p:sp>
        <p:sp>
          <p:nvSpPr>
            <p:cNvPr id="5" name="Rectangle: Rounded Corners 4">
              <a:extLst>
                <a:ext uri="{FF2B5EF4-FFF2-40B4-BE49-F238E27FC236}">
                  <a16:creationId xmlns:a16="http://schemas.microsoft.com/office/drawing/2014/main" id="{62EF27A7-973E-B037-D986-F327EE7D7C22}"/>
                </a:ext>
              </a:extLst>
            </p:cNvPr>
            <p:cNvSpPr/>
            <p:nvPr/>
          </p:nvSpPr>
          <p:spPr>
            <a:xfrm>
              <a:off x="7070282" y="2793789"/>
              <a:ext cx="2428577" cy="12880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Separator</a:t>
              </a:r>
            </a:p>
          </p:txBody>
        </p:sp>
      </p:grpSp>
      <p:grpSp>
        <p:nvGrpSpPr>
          <p:cNvPr id="68" name="Group 67">
            <a:extLst>
              <a:ext uri="{FF2B5EF4-FFF2-40B4-BE49-F238E27FC236}">
                <a16:creationId xmlns:a16="http://schemas.microsoft.com/office/drawing/2014/main" id="{77E0088E-B0AE-0647-E7E9-0B1D75474481}"/>
              </a:ext>
            </a:extLst>
          </p:cNvPr>
          <p:cNvGrpSpPr/>
          <p:nvPr/>
        </p:nvGrpSpPr>
        <p:grpSpPr>
          <a:xfrm>
            <a:off x="358560" y="4573659"/>
            <a:ext cx="1388477" cy="1906219"/>
            <a:chOff x="173074" y="4008994"/>
            <a:chExt cx="1388477" cy="1906219"/>
          </a:xfrm>
        </p:grpSpPr>
        <p:sp>
          <p:nvSpPr>
            <p:cNvPr id="35" name="Rectangle: Rounded Corners 34">
              <a:extLst>
                <a:ext uri="{FF2B5EF4-FFF2-40B4-BE49-F238E27FC236}">
                  <a16:creationId xmlns:a16="http://schemas.microsoft.com/office/drawing/2014/main" id="{2B3223B2-62A3-E09A-73CC-26787D26EDD6}"/>
                </a:ext>
              </a:extLst>
            </p:cNvPr>
            <p:cNvSpPr/>
            <p:nvPr/>
          </p:nvSpPr>
          <p:spPr>
            <a:xfrm>
              <a:off x="173074" y="4008994"/>
              <a:ext cx="1388477" cy="1906219"/>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TextBox 31">
              <a:extLst>
                <a:ext uri="{FF2B5EF4-FFF2-40B4-BE49-F238E27FC236}">
                  <a16:creationId xmlns:a16="http://schemas.microsoft.com/office/drawing/2014/main" id="{27B467D4-A518-ED21-D766-994C60000E8B}"/>
                </a:ext>
              </a:extLst>
            </p:cNvPr>
            <p:cNvSpPr txBox="1"/>
            <p:nvPr/>
          </p:nvSpPr>
          <p:spPr>
            <a:xfrm>
              <a:off x="232993" y="4119731"/>
              <a:ext cx="1270211" cy="1677382"/>
            </a:xfrm>
            <a:prstGeom prst="rect">
              <a:avLst/>
            </a:prstGeom>
            <a:noFill/>
          </p:spPr>
          <p:txBody>
            <a:bodyPr wrap="square" rtlCol="0" anchor="ctr">
              <a:spAutoFit/>
            </a:bodyPr>
            <a:lstStyle/>
            <a:p>
              <a:pPr algn="ctr"/>
              <a:r>
                <a:rPr lang="en-US" sz="1200" u="sng"/>
                <a:t>Pig Iron Stream</a:t>
              </a:r>
            </a:p>
            <a:p>
              <a:pPr algn="ctr"/>
              <a:endParaRPr lang="en-US" sz="800" u="sng"/>
            </a:p>
            <a:p>
              <a:pPr algn="ctr" fontAlgn="base"/>
              <a:r>
                <a:rPr lang="en-US" sz="1200"/>
                <a:t>C: 4.05% </a:t>
              </a:r>
            </a:p>
            <a:p>
              <a:pPr algn="ctr" fontAlgn="base"/>
              <a:r>
                <a:rPr lang="en-US" sz="1200"/>
                <a:t>S: 0.04% </a:t>
              </a:r>
            </a:p>
            <a:p>
              <a:pPr algn="ctr" fontAlgn="base"/>
              <a:r>
                <a:rPr lang="en-US" sz="1200"/>
                <a:t>Si: 0.5% </a:t>
              </a:r>
            </a:p>
            <a:p>
              <a:pPr algn="ctr" fontAlgn="base"/>
              <a:r>
                <a:rPr lang="en-US" sz="1200"/>
                <a:t>Mn: 0.8% </a:t>
              </a:r>
            </a:p>
            <a:p>
              <a:pPr algn="ctr" fontAlgn="base"/>
              <a:r>
                <a:rPr lang="en-US" sz="1200"/>
                <a:t>P: 0.05% </a:t>
              </a:r>
            </a:p>
            <a:p>
              <a:pPr algn="ctr" fontAlgn="base"/>
              <a:r>
                <a:rPr lang="en-US" sz="1200"/>
                <a:t>Ti: 0.00% </a:t>
              </a:r>
            </a:p>
            <a:p>
              <a:pPr algn="ctr" fontAlgn="base"/>
              <a:r>
                <a:rPr lang="en-US" sz="1200"/>
                <a:t>Fe: 95.0% </a:t>
              </a:r>
            </a:p>
          </p:txBody>
        </p:sp>
      </p:grpSp>
      <p:grpSp>
        <p:nvGrpSpPr>
          <p:cNvPr id="88" name="Group 87">
            <a:extLst>
              <a:ext uri="{FF2B5EF4-FFF2-40B4-BE49-F238E27FC236}">
                <a16:creationId xmlns:a16="http://schemas.microsoft.com/office/drawing/2014/main" id="{6422E1C2-47AD-BC08-E710-03E991F29564}"/>
              </a:ext>
            </a:extLst>
          </p:cNvPr>
          <p:cNvGrpSpPr/>
          <p:nvPr/>
        </p:nvGrpSpPr>
        <p:grpSpPr>
          <a:xfrm>
            <a:off x="376166" y="2110616"/>
            <a:ext cx="1548070" cy="1442482"/>
            <a:chOff x="120649" y="2411018"/>
            <a:chExt cx="1668386" cy="971198"/>
          </a:xfrm>
        </p:grpSpPr>
        <p:sp>
          <p:nvSpPr>
            <p:cNvPr id="34" name="Rectangle: Rounded Corners 33">
              <a:extLst>
                <a:ext uri="{FF2B5EF4-FFF2-40B4-BE49-F238E27FC236}">
                  <a16:creationId xmlns:a16="http://schemas.microsoft.com/office/drawing/2014/main" id="{0AF93A5C-712A-D3DE-BF15-C8BA864E8806}"/>
                </a:ext>
              </a:extLst>
            </p:cNvPr>
            <p:cNvSpPr/>
            <p:nvPr/>
          </p:nvSpPr>
          <p:spPr>
            <a:xfrm>
              <a:off x="120649" y="2411018"/>
              <a:ext cx="1668386" cy="971198"/>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TextBox 32">
              <a:extLst>
                <a:ext uri="{FF2B5EF4-FFF2-40B4-BE49-F238E27FC236}">
                  <a16:creationId xmlns:a16="http://schemas.microsoft.com/office/drawing/2014/main" id="{368A7940-AD18-0548-6B22-D8D8A3E1CBBE}"/>
                </a:ext>
              </a:extLst>
            </p:cNvPr>
            <p:cNvSpPr txBox="1"/>
            <p:nvPr/>
          </p:nvSpPr>
          <p:spPr>
            <a:xfrm>
              <a:off x="158428" y="2417356"/>
              <a:ext cx="1592827" cy="958522"/>
            </a:xfrm>
            <a:prstGeom prst="rect">
              <a:avLst/>
            </a:prstGeom>
            <a:noFill/>
          </p:spPr>
          <p:txBody>
            <a:bodyPr wrap="square" rtlCol="0" anchor="ctr">
              <a:spAutoFit/>
            </a:bodyPr>
            <a:lstStyle/>
            <a:p>
              <a:pPr algn="ctr"/>
              <a:r>
                <a:rPr lang="en-US" sz="1200" u="sng"/>
                <a:t>Stream 1</a:t>
              </a:r>
            </a:p>
            <a:p>
              <a:pPr algn="ctr"/>
              <a:r>
                <a:rPr lang="en-US" sz="700"/>
                <a:t> </a:t>
              </a:r>
              <a:br>
                <a:rPr lang="en-US" sz="1200"/>
              </a:br>
              <a:r>
                <a:rPr lang="en-US" sz="1200"/>
                <a:t>CaO: 100%</a:t>
              </a:r>
            </a:p>
            <a:p>
              <a:pPr algn="ctr"/>
              <a:r>
                <a:rPr lang="en-US" sz="1200"/>
                <a:t>Cr: 99.17%</a:t>
              </a:r>
            </a:p>
            <a:p>
              <a:pPr algn="ctr"/>
              <a:r>
                <a:rPr lang="en-US" sz="1200"/>
                <a:t>Ni 95%</a:t>
              </a:r>
            </a:p>
            <a:p>
              <a:pPr algn="ctr"/>
              <a:r>
                <a:rPr lang="en-US" sz="1200"/>
                <a:t>Mo 99.95</a:t>
              </a:r>
            </a:p>
            <a:p>
              <a:pPr algn="ctr"/>
              <a:r>
                <a:rPr lang="en-US" sz="1200"/>
                <a:t>Inert</a:t>
              </a:r>
            </a:p>
          </p:txBody>
        </p:sp>
      </p:grpSp>
      <p:grpSp>
        <p:nvGrpSpPr>
          <p:cNvPr id="70" name="Group 69">
            <a:extLst>
              <a:ext uri="{FF2B5EF4-FFF2-40B4-BE49-F238E27FC236}">
                <a16:creationId xmlns:a16="http://schemas.microsoft.com/office/drawing/2014/main" id="{7F86793D-40AA-1351-38F6-17612CAE68EE}"/>
              </a:ext>
            </a:extLst>
          </p:cNvPr>
          <p:cNvGrpSpPr/>
          <p:nvPr/>
        </p:nvGrpSpPr>
        <p:grpSpPr>
          <a:xfrm>
            <a:off x="5394733" y="4577820"/>
            <a:ext cx="1402531" cy="1794773"/>
            <a:chOff x="5272434" y="4393096"/>
            <a:chExt cx="1402531" cy="1794773"/>
          </a:xfrm>
        </p:grpSpPr>
        <p:sp>
          <p:nvSpPr>
            <p:cNvPr id="8" name="Rectangle: Rounded Corners 34">
              <a:extLst>
                <a:ext uri="{FF2B5EF4-FFF2-40B4-BE49-F238E27FC236}">
                  <a16:creationId xmlns:a16="http://schemas.microsoft.com/office/drawing/2014/main" id="{AD25DE6C-5D7C-B9F4-5163-7B561A3216B1}"/>
                </a:ext>
              </a:extLst>
            </p:cNvPr>
            <p:cNvSpPr/>
            <p:nvPr/>
          </p:nvSpPr>
          <p:spPr>
            <a:xfrm>
              <a:off x="5272434" y="4393096"/>
              <a:ext cx="1402531" cy="1794773"/>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TextBox 8">
              <a:extLst>
                <a:ext uri="{FF2B5EF4-FFF2-40B4-BE49-F238E27FC236}">
                  <a16:creationId xmlns:a16="http://schemas.microsoft.com/office/drawing/2014/main" id="{60BA79FB-95A3-ECB9-13F5-FD0BBEE409B5}"/>
                </a:ext>
              </a:extLst>
            </p:cNvPr>
            <p:cNvSpPr txBox="1"/>
            <p:nvPr/>
          </p:nvSpPr>
          <p:spPr>
            <a:xfrm>
              <a:off x="5353083" y="4628762"/>
              <a:ext cx="1241231" cy="1323439"/>
            </a:xfrm>
            <a:prstGeom prst="rect">
              <a:avLst/>
            </a:prstGeom>
            <a:noFill/>
          </p:spPr>
          <p:txBody>
            <a:bodyPr wrap="square" rtlCol="0" anchor="ctr">
              <a:spAutoFit/>
            </a:bodyPr>
            <a:lstStyle/>
            <a:p>
              <a:pPr algn="ctr"/>
              <a:r>
                <a:rPr lang="en-US" sz="1200" u="sng"/>
                <a:t>Stream 3</a:t>
              </a:r>
            </a:p>
            <a:p>
              <a:pPr algn="ctr"/>
              <a:endParaRPr lang="en-US" sz="800"/>
            </a:p>
            <a:p>
              <a:pPr algn="ctr" fontAlgn="base"/>
              <a:r>
                <a:rPr lang="en-US" sz="1200"/>
                <a:t>Reactants</a:t>
              </a:r>
            </a:p>
            <a:p>
              <a:pPr algn="ctr" fontAlgn="base"/>
              <a:r>
                <a:rPr lang="en-US" sz="1200"/>
                <a:t>Steel</a:t>
              </a:r>
            </a:p>
            <a:p>
              <a:pPr algn="ctr" fontAlgn="base"/>
              <a:r>
                <a:rPr lang="en-US" sz="1200"/>
                <a:t>Slag</a:t>
              </a:r>
            </a:p>
            <a:p>
              <a:pPr algn="ctr" fontAlgn="base"/>
              <a:r>
                <a:rPr lang="en-US" sz="1200"/>
                <a:t>Gases</a:t>
              </a:r>
            </a:p>
            <a:p>
              <a:pPr algn="ctr" fontAlgn="base"/>
              <a:r>
                <a:rPr lang="en-US" sz="1200"/>
                <a:t>Inert</a:t>
              </a:r>
            </a:p>
          </p:txBody>
        </p:sp>
      </p:grpSp>
      <p:grpSp>
        <p:nvGrpSpPr>
          <p:cNvPr id="66" name="Group 65">
            <a:extLst>
              <a:ext uri="{FF2B5EF4-FFF2-40B4-BE49-F238E27FC236}">
                <a16:creationId xmlns:a16="http://schemas.microsoft.com/office/drawing/2014/main" id="{CF46D390-3F6C-13D8-9F75-2B7466F8AEDB}"/>
              </a:ext>
            </a:extLst>
          </p:cNvPr>
          <p:cNvGrpSpPr/>
          <p:nvPr/>
        </p:nvGrpSpPr>
        <p:grpSpPr>
          <a:xfrm>
            <a:off x="10287970" y="2437461"/>
            <a:ext cx="1527864" cy="1500245"/>
            <a:chOff x="10311860" y="746853"/>
            <a:chExt cx="1527864" cy="1500245"/>
          </a:xfrm>
        </p:grpSpPr>
        <p:sp>
          <p:nvSpPr>
            <p:cNvPr id="10" name="Rectangle: Rounded Corners 34">
              <a:extLst>
                <a:ext uri="{FF2B5EF4-FFF2-40B4-BE49-F238E27FC236}">
                  <a16:creationId xmlns:a16="http://schemas.microsoft.com/office/drawing/2014/main" id="{13DF270A-2ACE-3776-8B1D-15E105D9453D}"/>
                </a:ext>
              </a:extLst>
            </p:cNvPr>
            <p:cNvSpPr/>
            <p:nvPr/>
          </p:nvSpPr>
          <p:spPr>
            <a:xfrm>
              <a:off x="10311860" y="746853"/>
              <a:ext cx="1527864" cy="1500245"/>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TextBox 11">
              <a:extLst>
                <a:ext uri="{FF2B5EF4-FFF2-40B4-BE49-F238E27FC236}">
                  <a16:creationId xmlns:a16="http://schemas.microsoft.com/office/drawing/2014/main" id="{51584E59-E6FD-A4B5-DA7B-11C11595BAF1}"/>
                </a:ext>
              </a:extLst>
            </p:cNvPr>
            <p:cNvSpPr txBox="1"/>
            <p:nvPr/>
          </p:nvSpPr>
          <p:spPr>
            <a:xfrm>
              <a:off x="10452619" y="781265"/>
              <a:ext cx="1241231" cy="1384995"/>
            </a:xfrm>
            <a:prstGeom prst="rect">
              <a:avLst/>
            </a:prstGeom>
            <a:noFill/>
          </p:spPr>
          <p:txBody>
            <a:bodyPr wrap="square" rtlCol="0" anchor="ctr">
              <a:spAutoFit/>
            </a:bodyPr>
            <a:lstStyle/>
            <a:p>
              <a:pPr algn="ctr"/>
              <a:r>
                <a:rPr lang="en-US" sz="1200"/>
                <a:t>Product Stream (SS136)</a:t>
              </a:r>
            </a:p>
            <a:p>
              <a:pPr algn="ctr" fontAlgn="base"/>
              <a:r>
                <a:rPr lang="en-US" sz="1200"/>
                <a:t>Fe: 70%</a:t>
              </a:r>
            </a:p>
            <a:p>
              <a:pPr algn="ctr" fontAlgn="base"/>
              <a:r>
                <a:rPr lang="en-US" sz="1200"/>
                <a:t>Cr: 17.92%</a:t>
              </a:r>
            </a:p>
            <a:p>
              <a:pPr algn="ctr" fontAlgn="base"/>
              <a:r>
                <a:rPr lang="en-US" sz="1200"/>
                <a:t>Ni: 11%</a:t>
              </a:r>
            </a:p>
            <a:p>
              <a:pPr algn="ctr" fontAlgn="base"/>
              <a:r>
                <a:rPr lang="en-US" sz="1200"/>
                <a:t>Mo: 2%</a:t>
              </a:r>
            </a:p>
            <a:p>
              <a:pPr algn="ctr" fontAlgn="base"/>
              <a:r>
                <a:rPr lang="en-US" sz="1200"/>
                <a:t>C: 0.07%</a:t>
              </a:r>
            </a:p>
          </p:txBody>
        </p:sp>
      </p:grpSp>
      <p:grpSp>
        <p:nvGrpSpPr>
          <p:cNvPr id="65" name="Group 64">
            <a:extLst>
              <a:ext uri="{FF2B5EF4-FFF2-40B4-BE49-F238E27FC236}">
                <a16:creationId xmlns:a16="http://schemas.microsoft.com/office/drawing/2014/main" id="{B99114E5-5A3C-A76A-1D97-A194E015F4DF}"/>
              </a:ext>
            </a:extLst>
          </p:cNvPr>
          <p:cNvGrpSpPr/>
          <p:nvPr/>
        </p:nvGrpSpPr>
        <p:grpSpPr>
          <a:xfrm>
            <a:off x="8929363" y="5497614"/>
            <a:ext cx="1885067" cy="971185"/>
            <a:chOff x="8644657" y="4844074"/>
            <a:chExt cx="1885067" cy="971185"/>
          </a:xfrm>
        </p:grpSpPr>
        <p:sp>
          <p:nvSpPr>
            <p:cNvPr id="14" name="Rectangle: Rounded Corners 33">
              <a:extLst>
                <a:ext uri="{FF2B5EF4-FFF2-40B4-BE49-F238E27FC236}">
                  <a16:creationId xmlns:a16="http://schemas.microsoft.com/office/drawing/2014/main" id="{18FBA48B-5582-C824-2416-488F361DD558}"/>
                </a:ext>
              </a:extLst>
            </p:cNvPr>
            <p:cNvSpPr/>
            <p:nvPr/>
          </p:nvSpPr>
          <p:spPr>
            <a:xfrm>
              <a:off x="8644657" y="4844074"/>
              <a:ext cx="1885067" cy="97118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5" name="TextBox 14">
              <a:extLst>
                <a:ext uri="{FF2B5EF4-FFF2-40B4-BE49-F238E27FC236}">
                  <a16:creationId xmlns:a16="http://schemas.microsoft.com/office/drawing/2014/main" id="{9A917161-81C8-D2C7-9D1B-651773E10624}"/>
                </a:ext>
              </a:extLst>
            </p:cNvPr>
            <p:cNvSpPr txBox="1"/>
            <p:nvPr/>
          </p:nvSpPr>
          <p:spPr>
            <a:xfrm>
              <a:off x="8859783" y="4944945"/>
              <a:ext cx="1454814" cy="769441"/>
            </a:xfrm>
            <a:prstGeom prst="rect">
              <a:avLst/>
            </a:prstGeom>
            <a:noFill/>
          </p:spPr>
          <p:txBody>
            <a:bodyPr wrap="square" rtlCol="0" anchor="ctr">
              <a:spAutoFit/>
            </a:bodyPr>
            <a:lstStyle/>
            <a:p>
              <a:pPr algn="ctr"/>
              <a:r>
                <a:rPr lang="en-US" sz="1200" u="sng"/>
                <a:t>Purge Stream</a:t>
              </a:r>
            </a:p>
            <a:p>
              <a:pPr algn="ctr"/>
              <a:endParaRPr lang="en-US" sz="800" u="sng"/>
            </a:p>
            <a:p>
              <a:pPr algn="ctr"/>
              <a:r>
                <a:rPr lang="en-US" sz="1200"/>
                <a:t>   CO	Slag</a:t>
              </a:r>
            </a:p>
            <a:p>
              <a:pPr algn="ctr"/>
              <a:r>
                <a:rPr lang="en-US" sz="1200"/>
                <a:t>Inert	O2</a:t>
              </a:r>
            </a:p>
          </p:txBody>
        </p:sp>
      </p:grpSp>
      <p:grpSp>
        <p:nvGrpSpPr>
          <p:cNvPr id="36" name="Group 35">
            <a:extLst>
              <a:ext uri="{FF2B5EF4-FFF2-40B4-BE49-F238E27FC236}">
                <a16:creationId xmlns:a16="http://schemas.microsoft.com/office/drawing/2014/main" id="{AAD4EF4A-250F-76A7-286E-F41AE84F10EB}"/>
              </a:ext>
            </a:extLst>
          </p:cNvPr>
          <p:cNvGrpSpPr/>
          <p:nvPr/>
        </p:nvGrpSpPr>
        <p:grpSpPr>
          <a:xfrm>
            <a:off x="4500818" y="2110617"/>
            <a:ext cx="2129365" cy="777334"/>
            <a:chOff x="3928327" y="393035"/>
            <a:chExt cx="2129365" cy="777334"/>
          </a:xfrm>
        </p:grpSpPr>
        <p:grpSp>
          <p:nvGrpSpPr>
            <p:cNvPr id="19" name="Group 18">
              <a:extLst>
                <a:ext uri="{FF2B5EF4-FFF2-40B4-BE49-F238E27FC236}">
                  <a16:creationId xmlns:a16="http://schemas.microsoft.com/office/drawing/2014/main" id="{0693FE19-97B7-CEEE-61F3-D685C9B38588}"/>
                </a:ext>
              </a:extLst>
            </p:cNvPr>
            <p:cNvGrpSpPr/>
            <p:nvPr/>
          </p:nvGrpSpPr>
          <p:grpSpPr>
            <a:xfrm>
              <a:off x="3928327" y="393035"/>
              <a:ext cx="2129365" cy="777334"/>
              <a:chOff x="2496703" y="452350"/>
              <a:chExt cx="4189558" cy="971185"/>
            </a:xfrm>
          </p:grpSpPr>
          <p:sp>
            <p:nvSpPr>
              <p:cNvPr id="3" name="Rectangle: Rounded Corners 33">
                <a:extLst>
                  <a:ext uri="{FF2B5EF4-FFF2-40B4-BE49-F238E27FC236}">
                    <a16:creationId xmlns:a16="http://schemas.microsoft.com/office/drawing/2014/main" id="{F1CDA51B-288D-7FD3-AEA4-B2579AEAF191}"/>
                  </a:ext>
                </a:extLst>
              </p:cNvPr>
              <p:cNvSpPr/>
              <p:nvPr/>
            </p:nvSpPr>
            <p:spPr>
              <a:xfrm>
                <a:off x="2496703" y="452350"/>
                <a:ext cx="4189558" cy="97118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TextBox 5">
                <a:extLst>
                  <a:ext uri="{FF2B5EF4-FFF2-40B4-BE49-F238E27FC236}">
                    <a16:creationId xmlns:a16="http://schemas.microsoft.com/office/drawing/2014/main" id="{A7012810-4E19-0183-0B58-35F79D09E3CB}"/>
                  </a:ext>
                </a:extLst>
              </p:cNvPr>
              <p:cNvSpPr txBox="1"/>
              <p:nvPr/>
            </p:nvSpPr>
            <p:spPr>
              <a:xfrm>
                <a:off x="2574715" y="649545"/>
                <a:ext cx="2272549" cy="576795"/>
              </a:xfrm>
              <a:prstGeom prst="rect">
                <a:avLst/>
              </a:prstGeom>
              <a:noFill/>
            </p:spPr>
            <p:txBody>
              <a:bodyPr wrap="square" rtlCol="0">
                <a:spAutoFit/>
              </a:bodyPr>
              <a:lstStyle/>
              <a:p>
                <a:pPr algn="ctr"/>
                <a:r>
                  <a:rPr lang="en-US" sz="1200"/>
                  <a:t>Recycle Stream</a:t>
                </a:r>
              </a:p>
            </p:txBody>
          </p:sp>
        </p:grpSp>
        <p:sp>
          <p:nvSpPr>
            <p:cNvPr id="31" name="TextBox 30">
              <a:extLst>
                <a:ext uri="{FF2B5EF4-FFF2-40B4-BE49-F238E27FC236}">
                  <a16:creationId xmlns:a16="http://schemas.microsoft.com/office/drawing/2014/main" id="{2D750020-533E-594A-68DC-3CB71F6EEA9E}"/>
                </a:ext>
              </a:extLst>
            </p:cNvPr>
            <p:cNvSpPr txBox="1"/>
            <p:nvPr/>
          </p:nvSpPr>
          <p:spPr>
            <a:xfrm>
              <a:off x="4993009" y="530061"/>
              <a:ext cx="891407" cy="461665"/>
            </a:xfrm>
            <a:prstGeom prst="rect">
              <a:avLst/>
            </a:prstGeom>
            <a:noFill/>
          </p:spPr>
          <p:txBody>
            <a:bodyPr wrap="square" rtlCol="0">
              <a:spAutoFit/>
            </a:bodyPr>
            <a:lstStyle/>
            <a:p>
              <a:pPr algn="ctr"/>
              <a:r>
                <a:rPr lang="en-US" sz="1200"/>
                <a:t>Recycle Ratio: 3:1</a:t>
              </a:r>
            </a:p>
          </p:txBody>
        </p:sp>
      </p:grpSp>
      <p:sp>
        <p:nvSpPr>
          <p:cNvPr id="67" name="Title 1">
            <a:extLst>
              <a:ext uri="{FF2B5EF4-FFF2-40B4-BE49-F238E27FC236}">
                <a16:creationId xmlns:a16="http://schemas.microsoft.com/office/drawing/2014/main" id="{F9F0FD5D-1F6F-F123-84CE-D7A964D65257}"/>
              </a:ext>
            </a:extLst>
          </p:cNvPr>
          <p:cNvSpPr txBox="1">
            <a:spLocks/>
          </p:cNvSpPr>
          <p:nvPr/>
        </p:nvSpPr>
        <p:spPr>
          <a:xfrm>
            <a:off x="288750" y="317653"/>
            <a:ext cx="4489638" cy="82200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a:t>Block Flow Diagram</a:t>
            </a:r>
          </a:p>
        </p:txBody>
      </p:sp>
      <p:grpSp>
        <p:nvGrpSpPr>
          <p:cNvPr id="2" name="Group 1">
            <a:extLst>
              <a:ext uri="{FF2B5EF4-FFF2-40B4-BE49-F238E27FC236}">
                <a16:creationId xmlns:a16="http://schemas.microsoft.com/office/drawing/2014/main" id="{67AB3BF6-5BC2-DA5C-7541-F11E3F8992C1}"/>
              </a:ext>
            </a:extLst>
          </p:cNvPr>
          <p:cNvGrpSpPr/>
          <p:nvPr/>
        </p:nvGrpSpPr>
        <p:grpSpPr>
          <a:xfrm>
            <a:off x="6891284" y="1969660"/>
            <a:ext cx="1359066" cy="1125473"/>
            <a:chOff x="5272434" y="4376582"/>
            <a:chExt cx="1402531" cy="1863954"/>
          </a:xfrm>
          <a:solidFill>
            <a:srgbClr val="84E291"/>
          </a:solidFill>
        </p:grpSpPr>
        <p:sp>
          <p:nvSpPr>
            <p:cNvPr id="7" name="Rectangle: Rounded Corners 34">
              <a:extLst>
                <a:ext uri="{FF2B5EF4-FFF2-40B4-BE49-F238E27FC236}">
                  <a16:creationId xmlns:a16="http://schemas.microsoft.com/office/drawing/2014/main" id="{D5C0D237-0AE1-558F-94D9-714F4A96DE0F}"/>
                </a:ext>
              </a:extLst>
            </p:cNvPr>
            <p:cNvSpPr/>
            <p:nvPr/>
          </p:nvSpPr>
          <p:spPr>
            <a:xfrm>
              <a:off x="5272434" y="4393096"/>
              <a:ext cx="1402531" cy="179477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2271B1E6-2CBE-FD7D-D443-A7D898A270D1}"/>
                </a:ext>
              </a:extLst>
            </p:cNvPr>
            <p:cNvSpPr txBox="1"/>
            <p:nvPr/>
          </p:nvSpPr>
          <p:spPr>
            <a:xfrm>
              <a:off x="5310971" y="4376582"/>
              <a:ext cx="1325455" cy="1863954"/>
            </a:xfrm>
            <a:prstGeom prst="rect">
              <a:avLst/>
            </a:prstGeom>
            <a:noFill/>
          </p:spPr>
          <p:txBody>
            <a:bodyPr wrap="square" rtlCol="0" anchor="ctr">
              <a:spAutoFit/>
            </a:bodyPr>
            <a:lstStyle/>
            <a:p>
              <a:pPr algn="ctr"/>
              <a:r>
                <a:rPr lang="en-US" sz="1200" u="sng"/>
                <a:t>Recycle Stream</a:t>
              </a:r>
            </a:p>
            <a:p>
              <a:pPr algn="ctr"/>
              <a:endParaRPr lang="en-US" sz="800"/>
            </a:p>
            <a:p>
              <a:pPr algn="ctr" fontAlgn="base"/>
              <a:r>
                <a:rPr lang="en-US" sz="1200"/>
                <a:t>Impure Iron, Ni, Cr, Mo, </a:t>
              </a:r>
            </a:p>
          </p:txBody>
        </p:sp>
      </p:grpSp>
    </p:spTree>
    <p:extLst>
      <p:ext uri="{BB962C8B-B14F-4D97-AF65-F5344CB8AC3E}">
        <p14:creationId xmlns:p14="http://schemas.microsoft.com/office/powerpoint/2010/main" val="720260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7DEE307-3AAA-1CEE-8FCB-1FFA0F775EE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D4C80494-2B37-B93D-1FBB-6D6D00EA2C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F1C80F-F44E-5CB7-4AE3-FB353576AEC1}"/>
              </a:ext>
            </a:extLst>
          </p:cNvPr>
          <p:cNvSpPr>
            <a:spLocks noGrp="1"/>
          </p:cNvSpPr>
          <p:nvPr>
            <p:ph type="title"/>
          </p:nvPr>
        </p:nvSpPr>
        <p:spPr>
          <a:xfrm>
            <a:off x="571459" y="1510601"/>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Stream</a:t>
            </a:r>
            <a:r>
              <a:rPr lang="en-US" sz="4000">
                <a:solidFill>
                  <a:srgbClr val="FFFFFF"/>
                </a:solidFill>
              </a:rPr>
              <a:t> Compositions</a:t>
            </a:r>
            <a:endParaRPr lang="en-US" sz="4000" kern="1200">
              <a:solidFill>
                <a:srgbClr val="FFFFFF"/>
              </a:solidFill>
              <a:latin typeface="+mj-lt"/>
              <a:ea typeface="+mj-ea"/>
              <a:cs typeface="+mj-cs"/>
            </a:endParaRPr>
          </a:p>
        </p:txBody>
      </p:sp>
      <p:sp>
        <p:nvSpPr>
          <p:cNvPr id="15" name="Rectangle 14">
            <a:extLst>
              <a:ext uri="{FF2B5EF4-FFF2-40B4-BE49-F238E27FC236}">
                <a16:creationId xmlns:a16="http://schemas.microsoft.com/office/drawing/2014/main" id="{36A6C19F-5A94-FA54-5CE4-1F13D1D4A547}"/>
              </a:ext>
            </a:extLst>
          </p:cNvPr>
          <p:cNvSpPr/>
          <p:nvPr/>
        </p:nvSpPr>
        <p:spPr>
          <a:xfrm>
            <a:off x="334561" y="3590407"/>
            <a:ext cx="3543059" cy="12046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491A077-9DF3-0FFF-E4BC-0E26FFF0650F}"/>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D4B9AC16-7EAE-56E0-2036-BA11B0DBF14B}"/>
              </a:ext>
            </a:extLst>
          </p:cNvPr>
          <p:cNvSpPr/>
          <p:nvPr/>
        </p:nvSpPr>
        <p:spPr>
          <a:xfrm>
            <a:off x="4229759" y="244386"/>
            <a:ext cx="4241897" cy="31393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8" name="Rectangle 7">
            <a:extLst>
              <a:ext uri="{FF2B5EF4-FFF2-40B4-BE49-F238E27FC236}">
                <a16:creationId xmlns:a16="http://schemas.microsoft.com/office/drawing/2014/main" id="{9615CC74-E32E-E41E-944C-016C91ABDCE4}"/>
              </a:ext>
            </a:extLst>
          </p:cNvPr>
          <p:cNvSpPr/>
          <p:nvPr/>
        </p:nvSpPr>
        <p:spPr>
          <a:xfrm>
            <a:off x="4229760" y="3542079"/>
            <a:ext cx="4282971" cy="31828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D7E31CC-2CF2-B76A-F659-07BBBFB1DF77}"/>
              </a:ext>
            </a:extLst>
          </p:cNvPr>
          <p:cNvSpPr/>
          <p:nvPr/>
        </p:nvSpPr>
        <p:spPr>
          <a:xfrm>
            <a:off x="8666500" y="2719449"/>
            <a:ext cx="3432921" cy="40240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3FBB685-6301-FA7C-2BC2-C32999B6E3AE}"/>
              </a:ext>
            </a:extLst>
          </p:cNvPr>
          <p:cNvSpPr/>
          <p:nvPr/>
        </p:nvSpPr>
        <p:spPr>
          <a:xfrm>
            <a:off x="8666500" y="244386"/>
            <a:ext cx="3357826" cy="22575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5624C9FE-58C1-ABD4-A865-00E2F56EBBDA}"/>
              </a:ext>
            </a:extLst>
          </p:cNvPr>
          <p:cNvGraphicFramePr>
            <a:graphicFrameLocks noGrp="1"/>
          </p:cNvGraphicFramePr>
          <p:nvPr>
            <p:extLst>
              <p:ext uri="{D42A27DB-BD31-4B8C-83A1-F6EECF244321}">
                <p14:modId xmlns:p14="http://schemas.microsoft.com/office/powerpoint/2010/main" val="1437533676"/>
              </p:ext>
            </p:extLst>
          </p:nvPr>
        </p:nvGraphicFramePr>
        <p:xfrm>
          <a:off x="4383529" y="3671886"/>
          <a:ext cx="3970821" cy="2951730"/>
        </p:xfrm>
        <a:graphic>
          <a:graphicData uri="http://schemas.openxmlformats.org/drawingml/2006/table">
            <a:tbl>
              <a:tblPr/>
              <a:tblGrid>
                <a:gridCol w="849843">
                  <a:extLst>
                    <a:ext uri="{9D8B030D-6E8A-4147-A177-3AD203B41FA5}">
                      <a16:colId xmlns:a16="http://schemas.microsoft.com/office/drawing/2014/main" val="887196596"/>
                    </a:ext>
                  </a:extLst>
                </a:gridCol>
                <a:gridCol w="666687">
                  <a:extLst>
                    <a:ext uri="{9D8B030D-6E8A-4147-A177-3AD203B41FA5}">
                      <a16:colId xmlns:a16="http://schemas.microsoft.com/office/drawing/2014/main" val="990561990"/>
                    </a:ext>
                  </a:extLst>
                </a:gridCol>
                <a:gridCol w="549468">
                  <a:extLst>
                    <a:ext uri="{9D8B030D-6E8A-4147-A177-3AD203B41FA5}">
                      <a16:colId xmlns:a16="http://schemas.microsoft.com/office/drawing/2014/main" val="3786180117"/>
                    </a:ext>
                  </a:extLst>
                </a:gridCol>
                <a:gridCol w="564121">
                  <a:extLst>
                    <a:ext uri="{9D8B030D-6E8A-4147-A177-3AD203B41FA5}">
                      <a16:colId xmlns:a16="http://schemas.microsoft.com/office/drawing/2014/main" val="407637265"/>
                    </a:ext>
                  </a:extLst>
                </a:gridCol>
                <a:gridCol w="556795">
                  <a:extLst>
                    <a:ext uri="{9D8B030D-6E8A-4147-A177-3AD203B41FA5}">
                      <a16:colId xmlns:a16="http://schemas.microsoft.com/office/drawing/2014/main" val="1849103764"/>
                    </a:ext>
                  </a:extLst>
                </a:gridCol>
                <a:gridCol w="783907">
                  <a:extLst>
                    <a:ext uri="{9D8B030D-6E8A-4147-A177-3AD203B41FA5}">
                      <a16:colId xmlns:a16="http://schemas.microsoft.com/office/drawing/2014/main" val="1991626316"/>
                    </a:ext>
                  </a:extLst>
                </a:gridCol>
              </a:tblGrid>
              <a:tr h="196782">
                <a:tc gridSpan="2">
                  <a:txBody>
                    <a:bodyPr/>
                    <a:lstStyle/>
                    <a:p>
                      <a:pPr algn="ctr" fontAlgn="b"/>
                      <a:r>
                        <a:rPr lang="en-US" sz="900" b="0" i="0" u="none" strike="noStrike">
                          <a:solidFill>
                            <a:srgbClr val="000000"/>
                          </a:solidFill>
                          <a:effectLst/>
                          <a:latin typeface="Aptos Narrow" panose="020B0004020202020204" pitchFamily="34" charset="0"/>
                        </a:rPr>
                        <a:t>Charge Stream Composition</a:t>
                      </a:r>
                    </a:p>
                  </a:txBody>
                  <a:tcPr marL="100584" marR="100584"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l" fontAlgn="b"/>
                      <a:r>
                        <a:rPr lang="en-US" sz="900" b="0" i="0" u="none" strike="noStrike">
                          <a:solidFill>
                            <a:srgbClr val="000000"/>
                          </a:solidFill>
                          <a:effectLst/>
                          <a:latin typeface="Aptos Narrow" panose="020B0004020202020204" pitchFamily="34" charset="0"/>
                        </a:rPr>
                        <a:t>%comp by mass</a:t>
                      </a:r>
                    </a:p>
                  </a:txBody>
                  <a:tcPr marL="100584" marR="100584"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77416401"/>
                  </a:ext>
                </a:extLst>
              </a:tr>
              <a:tr h="196782">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Mass (g)</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Mass (g)</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0176114"/>
                  </a:ext>
                </a:extLst>
              </a:tr>
              <a:tr h="196782">
                <a:tc>
                  <a:txBody>
                    <a:bodyPr/>
                    <a:lstStyle/>
                    <a:p>
                      <a:pPr algn="l" fontAlgn="b"/>
                      <a:r>
                        <a:rPr lang="en-US" sz="900" b="0" i="0" u="none" strike="noStrike">
                          <a:solidFill>
                            <a:srgbClr val="000000"/>
                          </a:solidFill>
                          <a:effectLst/>
                          <a:latin typeface="Aptos Narrow" panose="020B0004020202020204" pitchFamily="34" charset="0"/>
                        </a:rPr>
                        <a:t>Pig Iron Stream</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66.30%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Cr Stream</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16.37%</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6093286"/>
                  </a:ext>
                </a:extLst>
              </a:tr>
              <a:tr h="196782">
                <a:tc>
                  <a:txBody>
                    <a:bodyPr/>
                    <a:lstStyle/>
                    <a:p>
                      <a:pPr algn="l" fontAlgn="b"/>
                      <a:r>
                        <a:rPr lang="en-US" sz="900" b="0" i="0" u="none" strike="noStrike">
                          <a:solidFill>
                            <a:srgbClr val="000000"/>
                          </a:solidFill>
                          <a:effectLst/>
                          <a:latin typeface="Aptos Narrow" panose="020B0004020202020204" pitchFamily="34" charset="0"/>
                        </a:rPr>
                        <a:t>C:</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4.05%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29.6434</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Cr:</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99.17%</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179.2580308</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2760957"/>
                  </a:ext>
                </a:extLst>
              </a:tr>
              <a:tr h="196782">
                <a:tc>
                  <a:txBody>
                    <a:bodyPr/>
                    <a:lstStyle/>
                    <a:p>
                      <a:pPr algn="l" fontAlgn="b"/>
                      <a:r>
                        <a:rPr lang="en-US" sz="900" b="0" i="0" u="none" strike="noStrike">
                          <a:solidFill>
                            <a:srgbClr val="000000"/>
                          </a:solidFill>
                          <a:effectLst/>
                          <a:latin typeface="Aptos Narrow" panose="020B0004020202020204" pitchFamily="34" charset="0"/>
                        </a:rPr>
                        <a:t>Si:</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0.50%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3.659679</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Inerts:</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0.83%</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1.500294097</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3623255"/>
                  </a:ext>
                </a:extLst>
              </a:tr>
              <a:tr h="196782">
                <a:tc>
                  <a:txBody>
                    <a:bodyPr/>
                    <a:lstStyle/>
                    <a:p>
                      <a:pPr algn="l" fontAlgn="b"/>
                      <a:r>
                        <a:rPr lang="en-US" sz="900" b="0" i="0" u="none" strike="noStrike">
                          <a:solidFill>
                            <a:srgbClr val="000000"/>
                          </a:solidFill>
                          <a:effectLst/>
                          <a:latin typeface="Aptos Narrow" panose="020B0004020202020204" pitchFamily="34" charset="0"/>
                        </a:rPr>
                        <a:t>P:</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0.365968</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Total:</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180.7583249</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6122032"/>
                  </a:ext>
                </a:extLst>
              </a:tr>
              <a:tr h="196782">
                <a:tc>
                  <a:txBody>
                    <a:bodyPr/>
                    <a:lstStyle/>
                    <a:p>
                      <a:pPr algn="l" fontAlgn="b"/>
                      <a:r>
                        <a:rPr lang="en-US" sz="900" b="0" i="0" u="none" strike="noStrike">
                          <a:solidFill>
                            <a:srgbClr val="000000"/>
                          </a:solidFill>
                          <a:effectLst/>
                          <a:latin typeface="Aptos Narrow" panose="020B0004020202020204" pitchFamily="34" charset="0"/>
                        </a:rPr>
                        <a:t>Fe:</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94.56%</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692.1185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Ni Stream</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10.23%</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79782931"/>
                  </a:ext>
                </a:extLst>
              </a:tr>
              <a:tr h="196782">
                <a:tc>
                  <a:txBody>
                    <a:bodyPr/>
                    <a:lstStyle/>
                    <a:p>
                      <a:pPr algn="l" fontAlgn="b"/>
                      <a:r>
                        <a:rPr lang="en-US" sz="900" b="0" i="0" u="none" strike="noStrike">
                          <a:solidFill>
                            <a:srgbClr val="000000"/>
                          </a:solidFill>
                          <a:effectLst/>
                          <a:latin typeface="Aptos Narrow" panose="020B0004020202020204" pitchFamily="34" charset="0"/>
                        </a:rPr>
                        <a:t>S:</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0.04%</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0.292774</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Ni:</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95.00%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107.2410915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5203989"/>
                  </a:ext>
                </a:extLst>
              </a:tr>
              <a:tr h="196782">
                <a:tc>
                  <a:txBody>
                    <a:bodyPr/>
                    <a:lstStyle/>
                    <a:p>
                      <a:pPr algn="l" fontAlgn="b"/>
                      <a:r>
                        <a:rPr lang="en-US" sz="900" b="0" i="0" u="none" strike="noStrike">
                          <a:solidFill>
                            <a:srgbClr val="000000"/>
                          </a:solidFill>
                          <a:effectLst/>
                          <a:latin typeface="Aptos Narrow" panose="020B0004020202020204" pitchFamily="34" charset="0"/>
                        </a:rPr>
                        <a:t>Mn:</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0.80%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5.855486</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Inerts:</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5.00%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5.644267973</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66032338"/>
                  </a:ext>
                </a:extLst>
              </a:tr>
              <a:tr h="196782">
                <a:tc>
                  <a:txBody>
                    <a:bodyPr/>
                    <a:lstStyle/>
                    <a:p>
                      <a:pPr algn="l" fontAlgn="b"/>
                      <a:r>
                        <a:rPr lang="en-US" sz="900" b="0" i="0" u="none" strike="noStrike">
                          <a:solidFill>
                            <a:srgbClr val="000000"/>
                          </a:solidFill>
                          <a:effectLst/>
                          <a:latin typeface="Aptos Narrow" panose="020B0004020202020204" pitchFamily="34" charset="0"/>
                        </a:rPr>
                        <a:t>Ti:</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Total:</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112.8853595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107285"/>
                  </a:ext>
                </a:extLst>
              </a:tr>
              <a:tr h="196782">
                <a:tc>
                  <a:txBody>
                    <a:bodyPr/>
                    <a:lstStyle/>
                    <a:p>
                      <a:pPr algn="l" fontAlgn="b"/>
                      <a:r>
                        <a:rPr lang="en-US" sz="900" b="0" i="0" u="none" strike="noStrike">
                          <a:solidFill>
                            <a:srgbClr val="000000"/>
                          </a:solidFill>
                          <a:effectLst/>
                          <a:latin typeface="Aptos Narrow" panose="020B0004020202020204" pitchFamily="34" charset="0"/>
                        </a:rPr>
                        <a:t>Inerts:</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Mo Stream</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1.87%</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2843576"/>
                  </a:ext>
                </a:extLst>
              </a:tr>
              <a:tr h="196782">
                <a:tc>
                  <a:txBody>
                    <a:bodyPr/>
                    <a:lstStyle/>
                    <a:p>
                      <a:pPr algn="l" fontAlgn="b"/>
                      <a:r>
                        <a:rPr lang="en-US" sz="900" b="0" i="0" u="none" strike="noStrike">
                          <a:solidFill>
                            <a:srgbClr val="000000"/>
                          </a:solidFill>
                          <a:effectLst/>
                          <a:latin typeface="Aptos Narrow" panose="020B0004020202020204" pitchFamily="34" charset="0"/>
                        </a:rPr>
                        <a:t>Total:</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731.9358</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Mo:</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99.95%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20.68404514</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19416133"/>
                  </a:ext>
                </a:extLst>
              </a:tr>
              <a:tr h="196782">
                <a:tc>
                  <a:txBody>
                    <a:bodyPr/>
                    <a:lstStyle/>
                    <a:p>
                      <a:pPr algn="l" fontAlgn="b"/>
                      <a:r>
                        <a:rPr lang="en-US" sz="900" b="0" i="0" u="none" strike="noStrike">
                          <a:solidFill>
                            <a:srgbClr val="000000"/>
                          </a:solidFill>
                          <a:effectLst/>
                          <a:latin typeface="Aptos Narrow" panose="020B0004020202020204" pitchFamily="34" charset="0"/>
                        </a:rPr>
                        <a:t>Lime Stream:</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Inerts:</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0.05%</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0.010347196</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7060775"/>
                  </a:ext>
                </a:extLst>
              </a:tr>
              <a:tr h="196782">
                <a:tc>
                  <a:txBody>
                    <a:bodyPr/>
                    <a:lstStyle/>
                    <a:p>
                      <a:pPr algn="l" fontAlgn="b"/>
                      <a:r>
                        <a:rPr lang="en-US" sz="900" b="0" i="0" u="none" strike="noStrike">
                          <a:solidFill>
                            <a:srgbClr val="000000"/>
                          </a:solidFill>
                          <a:effectLst/>
                          <a:latin typeface="Aptos Narrow" panose="020B0004020202020204" pitchFamily="34" charset="0"/>
                        </a:rPr>
                        <a:t>CaO:</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1.056079</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Total:</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20.69439233</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9467034"/>
                  </a:ext>
                </a:extLst>
              </a:tr>
              <a:tr h="196782">
                <a:tc>
                  <a:txBody>
                    <a:bodyPr/>
                    <a:lstStyle/>
                    <a:p>
                      <a:pPr algn="l" fontAlgn="b"/>
                      <a:r>
                        <a:rPr lang="en-US" sz="900" b="0" i="0" u="none" strike="noStrike">
                          <a:solidFill>
                            <a:srgbClr val="000000"/>
                          </a:solidFill>
                          <a:effectLst/>
                          <a:latin typeface="Aptos Narrow" panose="020B0004020202020204" pitchFamily="34" charset="0"/>
                        </a:rPr>
                        <a:t>O2:</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56.61297</a:t>
                      </a: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10478" marR="10478"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6410745"/>
                  </a:ext>
                </a:extLst>
              </a:tr>
            </a:tbl>
          </a:graphicData>
        </a:graphic>
      </p:graphicFrame>
      <p:graphicFrame>
        <p:nvGraphicFramePr>
          <p:cNvPr id="16" name="Table 15">
            <a:extLst>
              <a:ext uri="{FF2B5EF4-FFF2-40B4-BE49-F238E27FC236}">
                <a16:creationId xmlns:a16="http://schemas.microsoft.com/office/drawing/2014/main" id="{F1BC4C61-143B-25A0-80E4-75E2EB4EE395}"/>
              </a:ext>
            </a:extLst>
          </p:cNvPr>
          <p:cNvGraphicFramePr>
            <a:graphicFrameLocks noGrp="1"/>
          </p:cNvGraphicFramePr>
          <p:nvPr>
            <p:extLst>
              <p:ext uri="{D42A27DB-BD31-4B8C-83A1-F6EECF244321}">
                <p14:modId xmlns:p14="http://schemas.microsoft.com/office/powerpoint/2010/main" val="4105172575"/>
              </p:ext>
            </p:extLst>
          </p:nvPr>
        </p:nvGraphicFramePr>
        <p:xfrm>
          <a:off x="4371608" y="376386"/>
          <a:ext cx="3863109" cy="2892988"/>
        </p:xfrm>
        <a:graphic>
          <a:graphicData uri="http://schemas.openxmlformats.org/drawingml/2006/table">
            <a:tbl>
              <a:tblPr/>
              <a:tblGrid>
                <a:gridCol w="1167172">
                  <a:extLst>
                    <a:ext uri="{9D8B030D-6E8A-4147-A177-3AD203B41FA5}">
                      <a16:colId xmlns:a16="http://schemas.microsoft.com/office/drawing/2014/main" val="134995156"/>
                    </a:ext>
                  </a:extLst>
                </a:gridCol>
                <a:gridCol w="1139708">
                  <a:extLst>
                    <a:ext uri="{9D8B030D-6E8A-4147-A177-3AD203B41FA5}">
                      <a16:colId xmlns:a16="http://schemas.microsoft.com/office/drawing/2014/main" val="1159142381"/>
                    </a:ext>
                  </a:extLst>
                </a:gridCol>
                <a:gridCol w="1556229">
                  <a:extLst>
                    <a:ext uri="{9D8B030D-6E8A-4147-A177-3AD203B41FA5}">
                      <a16:colId xmlns:a16="http://schemas.microsoft.com/office/drawing/2014/main" val="2370923726"/>
                    </a:ext>
                  </a:extLst>
                </a:gridCol>
              </a:tblGrid>
              <a:tr h="206642">
                <a:tc gridSpan="2">
                  <a:txBody>
                    <a:bodyPr/>
                    <a:lstStyle/>
                    <a:p>
                      <a:pPr algn="l" fontAlgn="b"/>
                      <a:r>
                        <a:rPr lang="en-US" sz="900" b="0" i="0" u="none" strike="noStrike">
                          <a:solidFill>
                            <a:srgbClr val="000000"/>
                          </a:solidFill>
                          <a:effectLst/>
                          <a:latin typeface="Aptos Narrow" panose="020B0004020202020204" pitchFamily="34" charset="0"/>
                        </a:rPr>
                        <a:t>Reactor Recycled Stream:</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3606794"/>
                  </a:ext>
                </a:extLst>
              </a:tr>
              <a:tr h="206642">
                <a:tc>
                  <a:txBody>
                    <a:bodyPr/>
                    <a:lstStyle/>
                    <a:p>
                      <a:pPr algn="l" fontAlgn="b"/>
                      <a:r>
                        <a:rPr lang="en-US" sz="900" b="0" i="0" u="none" strike="noStrike">
                          <a:solidFill>
                            <a:srgbClr val="000000"/>
                          </a:solidFill>
                          <a:effectLst/>
                          <a:latin typeface="Aptos Narrow" panose="020B0004020202020204" pitchFamily="34" charset="0"/>
                        </a:rPr>
                        <a:t>Species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Mass (g)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2182523"/>
                  </a:ext>
                </a:extLst>
              </a:tr>
              <a:tr h="206642">
                <a:tc>
                  <a:txBody>
                    <a:bodyPr/>
                    <a:lstStyle/>
                    <a:p>
                      <a:pPr algn="l" fontAlgn="b"/>
                      <a:r>
                        <a:rPr lang="en-US" sz="900" b="0" i="0" u="none" strike="noStrike">
                          <a:solidFill>
                            <a:srgbClr val="000000"/>
                          </a:solidFill>
                          <a:effectLst/>
                          <a:latin typeface="Aptos Narrow" panose="020B0004020202020204" pitchFamily="34" charset="0"/>
                        </a:rPr>
                        <a:t>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0.069%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0.123234875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1243317"/>
                  </a:ext>
                </a:extLst>
              </a:tr>
              <a:tr h="206642">
                <a:tc>
                  <a:txBody>
                    <a:bodyPr/>
                    <a:lstStyle/>
                    <a:p>
                      <a:pPr algn="l" fontAlgn="b"/>
                      <a:r>
                        <a:rPr lang="en-US" sz="900" b="0" i="0" u="none" strike="noStrike">
                          <a:solidFill>
                            <a:srgbClr val="000000"/>
                          </a:solidFill>
                          <a:effectLst/>
                          <a:latin typeface="Aptos Narrow" panose="020B0004020202020204" pitchFamily="34" charset="0"/>
                        </a:rPr>
                        <a:t>Si: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7304569"/>
                  </a:ext>
                </a:extLst>
              </a:tr>
              <a:tr h="206642">
                <a:tc>
                  <a:txBody>
                    <a:bodyPr/>
                    <a:lstStyle/>
                    <a:p>
                      <a:pPr algn="l" fontAlgn="b"/>
                      <a:r>
                        <a:rPr lang="en-US" sz="900" b="0" i="0" u="none" strike="noStrike">
                          <a:solidFill>
                            <a:srgbClr val="000000"/>
                          </a:solidFill>
                          <a:effectLst/>
                          <a:latin typeface="Aptos Narrow" panose="020B0004020202020204" pitchFamily="34" charset="0"/>
                        </a:rPr>
                        <a:t>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0.055%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0.098529942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736380"/>
                  </a:ext>
                </a:extLst>
              </a:tr>
              <a:tr h="206642">
                <a:tc>
                  <a:txBody>
                    <a:bodyPr/>
                    <a:lstStyle/>
                    <a:p>
                      <a:pPr algn="l" fontAlgn="b"/>
                      <a:r>
                        <a:rPr lang="en-US" sz="900" b="0" i="0" u="none" strike="noStrike">
                          <a:solidFill>
                            <a:srgbClr val="000000"/>
                          </a:solidFill>
                          <a:effectLst/>
                          <a:latin typeface="Aptos Narrow" panose="020B0004020202020204" pitchFamily="34" charset="0"/>
                        </a:rPr>
                        <a:t>Fe: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68.729%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122.1385591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2652965"/>
                  </a:ext>
                </a:extLst>
              </a:tr>
              <a:tr h="206642">
                <a:tc>
                  <a:txBody>
                    <a:bodyPr/>
                    <a:lstStyle/>
                    <a:p>
                      <a:pPr algn="l" fontAlgn="b"/>
                      <a:r>
                        <a:rPr lang="en-US" sz="900" b="0" i="0" u="none" strike="noStrike">
                          <a:solidFill>
                            <a:srgbClr val="000000"/>
                          </a:solidFill>
                          <a:effectLst/>
                          <a:latin typeface="Aptos Narrow" panose="020B0004020202020204" pitchFamily="34" charset="0"/>
                        </a:rPr>
                        <a:t>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0.176396315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6568643"/>
                  </a:ext>
                </a:extLst>
              </a:tr>
              <a:tr h="206642">
                <a:tc>
                  <a:txBody>
                    <a:bodyPr/>
                    <a:lstStyle/>
                    <a:p>
                      <a:pPr algn="l" fontAlgn="b"/>
                      <a:r>
                        <a:rPr lang="en-US" sz="900" b="0" i="0" u="none" strike="noStrike">
                          <a:solidFill>
                            <a:srgbClr val="000000"/>
                          </a:solidFill>
                          <a:effectLst/>
                          <a:latin typeface="Aptos Narrow" panose="020B0004020202020204" pitchFamily="34" charset="0"/>
                        </a:rPr>
                        <a:t>Mn: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0.438%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0.778966126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7248752"/>
                  </a:ext>
                </a:extLst>
              </a:tr>
              <a:tr h="206642">
                <a:tc>
                  <a:txBody>
                    <a:bodyPr/>
                    <a:lstStyle/>
                    <a:p>
                      <a:pPr algn="l" fontAlgn="b"/>
                      <a:r>
                        <a:rPr lang="en-US" sz="900" b="0" i="0" u="none" strike="noStrike">
                          <a:solidFill>
                            <a:srgbClr val="000000"/>
                          </a:solidFill>
                          <a:effectLst/>
                          <a:latin typeface="Aptos Narrow" panose="020B0004020202020204" pitchFamily="34" charset="0"/>
                        </a:rPr>
                        <a:t>Cr: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17.801%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31.63377014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1655289"/>
                  </a:ext>
                </a:extLst>
              </a:tr>
              <a:tr h="206642">
                <a:tc>
                  <a:txBody>
                    <a:bodyPr/>
                    <a:lstStyle/>
                    <a:p>
                      <a:pPr algn="l" fontAlgn="b"/>
                      <a:r>
                        <a:rPr lang="en-US" sz="900" b="0" i="0" u="none" strike="noStrike">
                          <a:solidFill>
                            <a:srgbClr val="000000"/>
                          </a:solidFill>
                          <a:effectLst/>
                          <a:latin typeface="Aptos Narrow" panose="020B0004020202020204" pitchFamily="34" charset="0"/>
                        </a:rPr>
                        <a:t>Ni: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10.649%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18.9248985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8479967"/>
                  </a:ext>
                </a:extLst>
              </a:tr>
              <a:tr h="206642">
                <a:tc>
                  <a:txBody>
                    <a:bodyPr/>
                    <a:lstStyle/>
                    <a:p>
                      <a:pPr algn="l" fontAlgn="b"/>
                      <a:r>
                        <a:rPr lang="en-US" sz="900" b="0" i="0" u="none" strike="noStrike">
                          <a:solidFill>
                            <a:srgbClr val="000000"/>
                          </a:solidFill>
                          <a:effectLst/>
                          <a:latin typeface="Aptos Narrow" panose="020B0004020202020204" pitchFamily="34" charset="0"/>
                        </a:rPr>
                        <a:t>Mo: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2.054%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3.650125612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854722"/>
                  </a:ext>
                </a:extLst>
              </a:tr>
              <a:tr h="206642">
                <a:tc>
                  <a:txBody>
                    <a:bodyPr/>
                    <a:lstStyle/>
                    <a:p>
                      <a:pPr algn="l" fontAlgn="b"/>
                      <a:r>
                        <a:rPr lang="en-US" sz="900" b="0" i="0" u="none" strike="noStrike">
                          <a:solidFill>
                            <a:srgbClr val="000000"/>
                          </a:solidFill>
                          <a:effectLst/>
                          <a:latin typeface="Aptos Narrow" panose="020B0004020202020204" pitchFamily="34" charset="0"/>
                        </a:rPr>
                        <a:t>CaO: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US" sz="900" b="0" i="0" u="none" strike="noStrike">
                          <a:solidFill>
                            <a:srgbClr val="000000"/>
                          </a:solidFill>
                          <a:effectLst/>
                          <a:latin typeface="Aptos Narrow" panose="020B0004020202020204" pitchFamily="34" charset="0"/>
                        </a:rPr>
                        <a:t>0.186366849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9140786"/>
                  </a:ext>
                </a:extLst>
              </a:tr>
              <a:tr h="206642">
                <a:tc>
                  <a:txBody>
                    <a:bodyPr/>
                    <a:lstStyle/>
                    <a:p>
                      <a:pPr algn="l" fontAlgn="b"/>
                      <a:r>
                        <a:rPr lang="en-US" sz="900" b="0" i="0" u="none" strike="noStrike">
                          <a:solidFill>
                            <a:srgbClr val="000000"/>
                          </a:solidFill>
                          <a:effectLst/>
                          <a:latin typeface="Aptos Narrow" panose="020B0004020202020204" pitchFamily="34" charset="0"/>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177.7108475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358708"/>
                  </a:ext>
                </a:extLst>
              </a:tr>
              <a:tr h="206642">
                <a:tc>
                  <a:txBody>
                    <a:bodyPr/>
                    <a:lstStyle/>
                    <a:p>
                      <a:pPr algn="l" fontAlgn="b"/>
                      <a:r>
                        <a:rPr lang="en-US" sz="900" b="0" i="0" u="none" strike="noStrike">
                          <a:solidFill>
                            <a:srgbClr val="000000"/>
                          </a:solidFill>
                          <a:effectLst/>
                          <a:latin typeface="Aptos Narrow" panose="020B0004020202020204" pitchFamily="34" charset="0"/>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6987541"/>
                  </a:ext>
                </a:extLst>
              </a:tr>
            </a:tbl>
          </a:graphicData>
        </a:graphic>
      </p:graphicFrame>
      <p:graphicFrame>
        <p:nvGraphicFramePr>
          <p:cNvPr id="17" name="Table 16">
            <a:extLst>
              <a:ext uri="{FF2B5EF4-FFF2-40B4-BE49-F238E27FC236}">
                <a16:creationId xmlns:a16="http://schemas.microsoft.com/office/drawing/2014/main" id="{18EB9B02-1479-11CD-C41B-47D515F27658}"/>
              </a:ext>
            </a:extLst>
          </p:cNvPr>
          <p:cNvGraphicFramePr>
            <a:graphicFrameLocks noGrp="1"/>
          </p:cNvGraphicFramePr>
          <p:nvPr>
            <p:extLst>
              <p:ext uri="{D42A27DB-BD31-4B8C-83A1-F6EECF244321}">
                <p14:modId xmlns:p14="http://schemas.microsoft.com/office/powerpoint/2010/main" val="3134525157"/>
              </p:ext>
            </p:extLst>
          </p:nvPr>
        </p:nvGraphicFramePr>
        <p:xfrm>
          <a:off x="8898567" y="511175"/>
          <a:ext cx="2844800" cy="1735280"/>
        </p:xfrm>
        <a:graphic>
          <a:graphicData uri="http://schemas.openxmlformats.org/drawingml/2006/table">
            <a:tbl>
              <a:tblPr/>
              <a:tblGrid>
                <a:gridCol w="875323">
                  <a:extLst>
                    <a:ext uri="{9D8B030D-6E8A-4147-A177-3AD203B41FA5}">
                      <a16:colId xmlns:a16="http://schemas.microsoft.com/office/drawing/2014/main" val="3306021495"/>
                    </a:ext>
                  </a:extLst>
                </a:gridCol>
                <a:gridCol w="799208">
                  <a:extLst>
                    <a:ext uri="{9D8B030D-6E8A-4147-A177-3AD203B41FA5}">
                      <a16:colId xmlns:a16="http://schemas.microsoft.com/office/drawing/2014/main" val="2694039525"/>
                    </a:ext>
                  </a:extLst>
                </a:gridCol>
                <a:gridCol w="1170269">
                  <a:extLst>
                    <a:ext uri="{9D8B030D-6E8A-4147-A177-3AD203B41FA5}">
                      <a16:colId xmlns:a16="http://schemas.microsoft.com/office/drawing/2014/main" val="2411282367"/>
                    </a:ext>
                  </a:extLst>
                </a:gridCol>
              </a:tblGrid>
              <a:tr h="216910">
                <a:tc gridSpan="2">
                  <a:txBody>
                    <a:bodyPr/>
                    <a:lstStyle/>
                    <a:p>
                      <a:pPr algn="l" fontAlgn="b"/>
                      <a:r>
                        <a:rPr lang="en-US" sz="1100" b="0" i="0" u="none" strike="noStrike">
                          <a:solidFill>
                            <a:srgbClr val="000000"/>
                          </a:solidFill>
                          <a:effectLst/>
                          <a:latin typeface="Aptos Narrow" panose="020B0004020202020204" pitchFamily="34" charset="0"/>
                        </a:rPr>
                        <a:t>SS316 Template: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r>
                        <a:rPr lang="en-US" sz="1100" b="0" i="0" u="none" strike="noStrike">
                          <a:solidFill>
                            <a:srgbClr val="000000"/>
                          </a:solidFill>
                          <a:effectLst/>
                          <a:latin typeface="Aptos Narrow" panose="020B0004020202020204" pitchFamily="34" charset="0"/>
                        </a:rPr>
                        <a:t>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8888643"/>
                  </a:ext>
                </a:extLst>
              </a:tr>
              <a:tr h="216910">
                <a:tc>
                  <a:txBody>
                    <a:bodyPr/>
                    <a:lstStyle/>
                    <a:p>
                      <a:pPr algn="l" fontAlgn="b"/>
                      <a:r>
                        <a:rPr lang="en-US" sz="1100" b="0" i="0" u="none" strike="noStrike">
                          <a:solidFill>
                            <a:srgbClr val="000000"/>
                          </a:solidFill>
                          <a:effectLst/>
                          <a:latin typeface="Aptos Narrow" panose="020B0004020202020204" pitchFamily="34" charset="0"/>
                        </a:rPr>
                        <a:t>Species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Mass (g)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100" b="0" i="0" u="none" strike="noStrike">
                          <a:solidFill>
                            <a:srgbClr val="000000"/>
                          </a:solidFill>
                          <a:effectLst/>
                          <a:latin typeface="Aptos Narrow" panose="020B0004020202020204" pitchFamily="34" charset="0"/>
                        </a:rPr>
                        <a:t>%comp</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8992149"/>
                  </a:ext>
                </a:extLst>
              </a:tr>
              <a:tr h="216910">
                <a:tc>
                  <a:txBody>
                    <a:bodyPr/>
                    <a:lstStyle/>
                    <a:p>
                      <a:pPr algn="l" fontAlgn="b"/>
                      <a:r>
                        <a:rPr lang="en-US" sz="1100" b="0" i="0" u="none" strike="noStrike">
                          <a:solidFill>
                            <a:srgbClr val="000000"/>
                          </a:solidFill>
                          <a:effectLst/>
                          <a:latin typeface="Aptos Narrow" panose="020B0004020202020204" pitchFamily="34" charset="0"/>
                        </a:rPr>
                        <a:t>C:</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0.07%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9631540"/>
                  </a:ext>
                </a:extLst>
              </a:tr>
              <a:tr h="216910">
                <a:tc>
                  <a:txBody>
                    <a:bodyPr/>
                    <a:lstStyle/>
                    <a:p>
                      <a:pPr algn="l" fontAlgn="b"/>
                      <a:r>
                        <a:rPr lang="en-US" sz="1100" b="0" i="0" u="none" strike="noStrike">
                          <a:solidFill>
                            <a:srgbClr val="000000"/>
                          </a:solidFill>
                          <a:effectLst/>
                          <a:latin typeface="Aptos Narrow" panose="020B0004020202020204" pitchFamily="34" charset="0"/>
                        </a:rPr>
                        <a:t>Cr: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170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17.00%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3269203"/>
                  </a:ext>
                </a:extLst>
              </a:tr>
              <a:tr h="216910">
                <a:tc>
                  <a:txBody>
                    <a:bodyPr/>
                    <a:lstStyle/>
                    <a:p>
                      <a:pPr algn="l" fontAlgn="b"/>
                      <a:r>
                        <a:rPr lang="en-US" sz="1100" b="0" i="0" u="none" strike="noStrike">
                          <a:solidFill>
                            <a:srgbClr val="000000"/>
                          </a:solidFill>
                          <a:effectLst/>
                          <a:latin typeface="Aptos Narrow" panose="020B0004020202020204" pitchFamily="34" charset="0"/>
                        </a:rPr>
                        <a:t>Ni: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11.00%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74883798"/>
                  </a:ext>
                </a:extLst>
              </a:tr>
              <a:tr h="216910">
                <a:tc>
                  <a:txBody>
                    <a:bodyPr/>
                    <a:lstStyle/>
                    <a:p>
                      <a:pPr algn="l" fontAlgn="b"/>
                      <a:r>
                        <a:rPr lang="en-US" sz="1100" b="0" i="0" u="none" strike="noStrike">
                          <a:solidFill>
                            <a:srgbClr val="000000"/>
                          </a:solidFill>
                          <a:effectLst/>
                          <a:latin typeface="Aptos Narrow" panose="020B0004020202020204" pitchFamily="34" charset="0"/>
                        </a:rPr>
                        <a:t>Mo: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20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2.00%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914085"/>
                  </a:ext>
                </a:extLst>
              </a:tr>
              <a:tr h="216910">
                <a:tc>
                  <a:txBody>
                    <a:bodyPr/>
                    <a:lstStyle/>
                    <a:p>
                      <a:pPr algn="l" fontAlgn="b"/>
                      <a:r>
                        <a:rPr lang="en-US" sz="1100" b="0" i="0" u="none" strike="noStrike">
                          <a:solidFill>
                            <a:srgbClr val="000000"/>
                          </a:solidFill>
                          <a:effectLst/>
                          <a:latin typeface="Aptos Narrow" panose="020B0004020202020204" pitchFamily="34" charset="0"/>
                        </a:rPr>
                        <a:t>Fe: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699.3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69.93%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6657968"/>
                  </a:ext>
                </a:extLst>
              </a:tr>
              <a:tr h="216910">
                <a:tc>
                  <a:txBody>
                    <a:bodyPr/>
                    <a:lstStyle/>
                    <a:p>
                      <a:pPr algn="l" fontAlgn="b"/>
                      <a:r>
                        <a:rPr lang="en-US" sz="1100" b="0" i="0" u="none" strike="noStrike">
                          <a:solidFill>
                            <a:srgbClr val="000000"/>
                          </a:solidFill>
                          <a:effectLst/>
                          <a:latin typeface="Aptos Narrow" panose="020B0004020202020204" pitchFamily="34" charset="0"/>
                        </a:rPr>
                        <a:t>Total: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100" b="0" i="0" u="none" strike="noStrike">
                          <a:solidFill>
                            <a:srgbClr val="000000"/>
                          </a:solidFill>
                          <a:effectLst/>
                          <a:latin typeface="Aptos Narrow" panose="020B0004020202020204" pitchFamily="34" charset="0"/>
                        </a:rPr>
                        <a:t>100.00%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0032380"/>
                  </a:ext>
                </a:extLst>
              </a:tr>
            </a:tbl>
          </a:graphicData>
        </a:graphic>
      </p:graphicFrame>
      <p:graphicFrame>
        <p:nvGraphicFramePr>
          <p:cNvPr id="19" name="Table 18">
            <a:extLst>
              <a:ext uri="{FF2B5EF4-FFF2-40B4-BE49-F238E27FC236}">
                <a16:creationId xmlns:a16="http://schemas.microsoft.com/office/drawing/2014/main" id="{5C57E288-ED4F-2393-6094-F240EDE3C880}"/>
              </a:ext>
            </a:extLst>
          </p:cNvPr>
          <p:cNvGraphicFramePr>
            <a:graphicFrameLocks noGrp="1"/>
          </p:cNvGraphicFramePr>
          <p:nvPr>
            <p:extLst>
              <p:ext uri="{D42A27DB-BD31-4B8C-83A1-F6EECF244321}">
                <p14:modId xmlns:p14="http://schemas.microsoft.com/office/powerpoint/2010/main" val="497769100"/>
              </p:ext>
            </p:extLst>
          </p:nvPr>
        </p:nvGraphicFramePr>
        <p:xfrm>
          <a:off x="8861341" y="2888237"/>
          <a:ext cx="3043237" cy="3735374"/>
        </p:xfrm>
        <a:graphic>
          <a:graphicData uri="http://schemas.openxmlformats.org/drawingml/2006/table">
            <a:tbl>
              <a:tblPr/>
              <a:tblGrid>
                <a:gridCol w="550425">
                  <a:extLst>
                    <a:ext uri="{9D8B030D-6E8A-4147-A177-3AD203B41FA5}">
                      <a16:colId xmlns:a16="http://schemas.microsoft.com/office/drawing/2014/main" val="183343850"/>
                    </a:ext>
                  </a:extLst>
                </a:gridCol>
                <a:gridCol w="557764">
                  <a:extLst>
                    <a:ext uri="{9D8B030D-6E8A-4147-A177-3AD203B41FA5}">
                      <a16:colId xmlns:a16="http://schemas.microsoft.com/office/drawing/2014/main" val="3411131315"/>
                    </a:ext>
                  </a:extLst>
                </a:gridCol>
                <a:gridCol w="506391">
                  <a:extLst>
                    <a:ext uri="{9D8B030D-6E8A-4147-A177-3AD203B41FA5}">
                      <a16:colId xmlns:a16="http://schemas.microsoft.com/office/drawing/2014/main" val="1297149895"/>
                    </a:ext>
                  </a:extLst>
                </a:gridCol>
                <a:gridCol w="684972">
                  <a:extLst>
                    <a:ext uri="{9D8B030D-6E8A-4147-A177-3AD203B41FA5}">
                      <a16:colId xmlns:a16="http://schemas.microsoft.com/office/drawing/2014/main" val="1219180790"/>
                    </a:ext>
                  </a:extLst>
                </a:gridCol>
                <a:gridCol w="743685">
                  <a:extLst>
                    <a:ext uri="{9D8B030D-6E8A-4147-A177-3AD203B41FA5}">
                      <a16:colId xmlns:a16="http://schemas.microsoft.com/office/drawing/2014/main" val="3775063029"/>
                    </a:ext>
                  </a:extLst>
                </a:gridCol>
              </a:tblGrid>
              <a:tr h="150262">
                <a:tc gridSpan="3">
                  <a:txBody>
                    <a:bodyPr/>
                    <a:lstStyle/>
                    <a:p>
                      <a:pPr algn="l" fontAlgn="b"/>
                      <a:r>
                        <a:rPr lang="en-US" sz="900" b="0" i="0" u="none" strike="noStrike">
                          <a:solidFill>
                            <a:srgbClr val="000000"/>
                          </a:solidFill>
                          <a:effectLst/>
                          <a:latin typeface="Aptos Narrow" panose="020B0004020202020204" pitchFamily="34" charset="0"/>
                        </a:rPr>
                        <a:t>Reactor Outlet Stream Composition</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8021562"/>
                  </a:ext>
                </a:extLst>
              </a:tr>
              <a:tr h="150262">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519847"/>
                  </a:ext>
                </a:extLst>
              </a:tr>
              <a:tr h="150262">
                <a:tc>
                  <a:txBody>
                    <a:bodyPr/>
                    <a:lstStyle/>
                    <a:p>
                      <a:pPr algn="l" fontAlgn="b"/>
                      <a:r>
                        <a:rPr lang="en-US" sz="900" b="0" i="0" u="none" strike="noStrike">
                          <a:solidFill>
                            <a:srgbClr val="000000"/>
                          </a:solidFill>
                          <a:effectLst/>
                          <a:latin typeface="Aptos Narrow" panose="020B0004020202020204" pitchFamily="34" charset="0"/>
                        </a:rPr>
                        <a:t>Fe(total):</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814.2571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9684561"/>
                  </a:ext>
                </a:extLst>
              </a:tr>
              <a:tr h="150262">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231815"/>
                  </a:ext>
                </a:extLst>
              </a:tr>
              <a:tr h="150262">
                <a:tc gridSpan="2">
                  <a:txBody>
                    <a:bodyPr/>
                    <a:lstStyle/>
                    <a:p>
                      <a:pPr algn="l" fontAlgn="b"/>
                      <a:r>
                        <a:rPr lang="en-US" sz="900" b="0" i="0" u="none" strike="noStrike">
                          <a:solidFill>
                            <a:srgbClr val="000000"/>
                          </a:solidFill>
                          <a:effectLst/>
                          <a:latin typeface="Aptos Narrow" panose="020B0004020202020204" pitchFamily="34" charset="0"/>
                        </a:rPr>
                        <a:t>Unreacted Reagents</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2764218"/>
                  </a:ext>
                </a:extLst>
              </a:tr>
              <a:tr h="150262">
                <a:tc gridSpan="2">
                  <a:txBody>
                    <a:bodyPr/>
                    <a:lstStyle/>
                    <a:p>
                      <a:pPr algn="l" fontAlgn="b"/>
                      <a:r>
                        <a:rPr lang="en-US" sz="900" b="0" i="0" u="none" strike="noStrike">
                          <a:solidFill>
                            <a:srgbClr val="000000"/>
                          </a:solidFill>
                          <a:effectLst/>
                          <a:latin typeface="Aptos Narrow" panose="020B0004020202020204" pitchFamily="34" charset="0"/>
                        </a:rPr>
                        <a:t>1st-pass% (of %comp):</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a:txBody>
                    <a:bodyPr/>
                    <a:lstStyle/>
                    <a:p>
                      <a:pPr algn="l" fontAlgn="b"/>
                      <a:r>
                        <a:rPr lang="en-US" sz="900" b="0" i="0" u="none" strike="noStrike">
                          <a:solidFill>
                            <a:srgbClr val="000000"/>
                          </a:solidFill>
                          <a:effectLst/>
                          <a:latin typeface="Aptos Narrow" panose="020B0004020202020204" pitchFamily="34" charset="0"/>
                        </a:rPr>
                        <a:t>%comp</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%corrected</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Mass (g)</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7252791"/>
                  </a:ext>
                </a:extLst>
              </a:tr>
              <a:tr h="150262">
                <a:tc>
                  <a:txBody>
                    <a:bodyPr/>
                    <a:lstStyle/>
                    <a:p>
                      <a:pPr algn="l" fontAlgn="b"/>
                      <a:r>
                        <a:rPr lang="en-US" sz="900" b="0" i="0" u="none" strike="noStrike">
                          <a:solidFill>
                            <a:srgbClr val="000000"/>
                          </a:solidFill>
                          <a:effectLst/>
                          <a:latin typeface="Aptos Narrow" panose="020B0004020202020204" pitchFamily="34" charset="0"/>
                        </a:rPr>
                        <a:t>C:</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Calibri" panose="020F0502020204030204" pitchFamily="34" charset="0"/>
                        </a:rPr>
                        <a:t>2.50%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0.101%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0.101%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0.821565836</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5875476"/>
                  </a:ext>
                </a:extLst>
              </a:tr>
              <a:tr h="0">
                <a:tc>
                  <a:txBody>
                    <a:bodyPr/>
                    <a:lstStyle/>
                    <a:p>
                      <a:pPr algn="l" fontAlgn="b"/>
                      <a:r>
                        <a:rPr lang="en-US" sz="900" b="0" i="0" u="none" strike="noStrike">
                          <a:solidFill>
                            <a:srgbClr val="000000"/>
                          </a:solidFill>
                          <a:effectLst/>
                          <a:latin typeface="Aptos Narrow" panose="020B0004020202020204" pitchFamily="34" charset="0"/>
                        </a:rPr>
                        <a:t>Si:</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Calibri" panose="020F0502020204030204" pitchFamily="34" charset="0"/>
                        </a:rPr>
                        <a:t>0.00%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9818410"/>
                  </a:ext>
                </a:extLst>
              </a:tr>
              <a:tr h="150262">
                <a:tc>
                  <a:txBody>
                    <a:bodyPr/>
                    <a:lstStyle/>
                    <a:p>
                      <a:pPr algn="l" fontAlgn="b"/>
                      <a:r>
                        <a:rPr lang="en-US" sz="900" b="0" i="0" u="none" strike="noStrike">
                          <a:solidFill>
                            <a:srgbClr val="000000"/>
                          </a:solidFill>
                          <a:effectLst/>
                          <a:latin typeface="Aptos Narrow" panose="020B0004020202020204" pitchFamily="34" charset="0"/>
                        </a:rPr>
                        <a:t>P:</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Calibri" panose="020F0502020204030204" pitchFamily="34" charset="0"/>
                        </a:rPr>
                        <a:t>24.29%</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0.012%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0.012%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0.098529942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431570"/>
                  </a:ext>
                </a:extLst>
              </a:tr>
              <a:tr h="150262">
                <a:tc>
                  <a:txBody>
                    <a:bodyPr/>
                    <a:lstStyle/>
                    <a:p>
                      <a:pPr algn="l" fontAlgn="b"/>
                      <a:r>
                        <a:rPr lang="en-US" sz="900" b="0" i="0" u="none" strike="noStrike">
                          <a:solidFill>
                            <a:srgbClr val="000000"/>
                          </a:solidFill>
                          <a:effectLst/>
                          <a:latin typeface="Aptos Narrow" panose="020B0004020202020204" pitchFamily="34" charset="0"/>
                        </a:rPr>
                        <a:t>S:</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Calibri" panose="020F0502020204030204" pitchFamily="34" charset="0"/>
                        </a:rPr>
                        <a:t>54.35%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0.022%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0.022%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0.176396315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2794278"/>
                  </a:ext>
                </a:extLst>
              </a:tr>
              <a:tr h="150262">
                <a:tc>
                  <a:txBody>
                    <a:bodyPr/>
                    <a:lstStyle/>
                    <a:p>
                      <a:pPr algn="l" fontAlgn="b"/>
                      <a:r>
                        <a:rPr lang="en-US" sz="900" b="0" i="0" u="none" strike="noStrike">
                          <a:solidFill>
                            <a:srgbClr val="000000"/>
                          </a:solidFill>
                          <a:effectLst/>
                          <a:latin typeface="Aptos Narrow" panose="020B0004020202020204" pitchFamily="34" charset="0"/>
                        </a:rPr>
                        <a:t>Mn:</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Calibri" panose="020F0502020204030204" pitchFamily="34" charset="0"/>
                        </a:rPr>
                        <a:t>12.00%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0.096%</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0.095%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0.778966126</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5814096"/>
                  </a:ext>
                </a:extLst>
              </a:tr>
              <a:tr h="150262">
                <a:tc>
                  <a:txBody>
                    <a:bodyPr/>
                    <a:lstStyle/>
                    <a:p>
                      <a:pPr algn="l" fontAlgn="b"/>
                      <a:r>
                        <a:rPr lang="en-US" sz="900" b="0" i="0" u="none" strike="noStrike">
                          <a:solidFill>
                            <a:srgbClr val="000000"/>
                          </a:solidFill>
                          <a:effectLst/>
                          <a:latin typeface="Aptos Narrow" panose="020B0004020202020204" pitchFamily="34" charset="0"/>
                        </a:rPr>
                        <a:t>Fe(total):</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Calibri" panose="020F0502020204030204" pitchFamily="34" charset="0"/>
                        </a:rPr>
                        <a:t>106.12%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100.35%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99.770%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814.2570607</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52620160"/>
                  </a:ext>
                </a:extLst>
              </a:tr>
              <a:tr h="150262">
                <a:tc>
                  <a:txBody>
                    <a:bodyPr/>
                    <a:lstStyle/>
                    <a:p>
                      <a:pPr algn="l" fontAlgn="b"/>
                      <a:r>
                        <a:rPr lang="en-US" sz="900" b="0" i="0" u="none" strike="noStrike">
                          <a:solidFill>
                            <a:srgbClr val="000000"/>
                          </a:solidFill>
                          <a:effectLst/>
                          <a:latin typeface="Aptos Narrow" panose="020B0004020202020204" pitchFamily="34" charset="0"/>
                        </a:rPr>
                        <a:t>Total:</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N/A</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100.58%</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100.000%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816.1325189</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4118285"/>
                  </a:ext>
                </a:extLst>
              </a:tr>
              <a:tr h="150262">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3882783"/>
                  </a:ext>
                </a:extLst>
              </a:tr>
              <a:tr h="150262">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fontAlgn="b"/>
                      <a:r>
                        <a:rPr lang="en-US" sz="900" b="0" i="0" u="none" strike="noStrike">
                          <a:solidFill>
                            <a:srgbClr val="000000"/>
                          </a:solidFill>
                          <a:effectLst/>
                          <a:latin typeface="Aptos Narrow" panose="020B0004020202020204" pitchFamily="34" charset="0"/>
                        </a:rPr>
                        <a:t>Material Mass (g)</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1944187080"/>
                  </a:ext>
                </a:extLst>
              </a:tr>
              <a:tr h="150262">
                <a:tc>
                  <a:txBody>
                    <a:bodyPr/>
                    <a:lstStyle/>
                    <a:p>
                      <a:pPr algn="l" fontAlgn="b"/>
                      <a:r>
                        <a:rPr lang="en-US" sz="900" b="0" i="0" u="none" strike="noStrike">
                          <a:solidFill>
                            <a:srgbClr val="000000"/>
                          </a:solidFill>
                          <a:effectLst/>
                          <a:latin typeface="Aptos Narrow" panose="020B0004020202020204" pitchFamily="34" charset="0"/>
                        </a:rPr>
                        <a:t>Species</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Rxn. Eff.</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1-Eff</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Reacted</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Unreacted</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3178253"/>
                  </a:ext>
                </a:extLst>
              </a:tr>
              <a:tr h="150262">
                <a:tc>
                  <a:txBody>
                    <a:bodyPr/>
                    <a:lstStyle/>
                    <a:p>
                      <a:pPr algn="l" fontAlgn="b"/>
                      <a:r>
                        <a:rPr lang="en-US" sz="900" b="0" i="0" u="none" strike="noStrike">
                          <a:solidFill>
                            <a:srgbClr val="000000"/>
                          </a:solidFill>
                          <a:effectLst/>
                          <a:latin typeface="Aptos Narrow" panose="020B0004020202020204" pitchFamily="34" charset="0"/>
                        </a:rPr>
                        <a:t>O2: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48.1210243</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8.491945469</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6940064"/>
                  </a:ext>
                </a:extLst>
              </a:tr>
              <a:tr h="150262">
                <a:tc>
                  <a:txBody>
                    <a:bodyPr/>
                    <a:lstStyle/>
                    <a:p>
                      <a:pPr algn="l" fontAlgn="b"/>
                      <a:r>
                        <a:rPr lang="en-US" sz="900" b="0" i="0" u="none" strike="noStrike">
                          <a:solidFill>
                            <a:srgbClr val="000000"/>
                          </a:solidFill>
                          <a:effectLst/>
                          <a:latin typeface="Aptos Narrow" panose="020B0004020202020204" pitchFamily="34" charset="0"/>
                        </a:rPr>
                        <a:t>C:</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0.69833096</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0.123234875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7694707"/>
                  </a:ext>
                </a:extLst>
              </a:tr>
              <a:tr h="150262">
                <a:tc>
                  <a:txBody>
                    <a:bodyPr/>
                    <a:lstStyle/>
                    <a:p>
                      <a:pPr algn="l" fontAlgn="b"/>
                      <a:r>
                        <a:rPr lang="en-US" sz="900" b="0" i="0" u="none" strike="noStrike">
                          <a:solidFill>
                            <a:srgbClr val="000000"/>
                          </a:solidFill>
                          <a:effectLst/>
                          <a:latin typeface="Aptos Narrow" panose="020B0004020202020204" pitchFamily="34" charset="0"/>
                        </a:rPr>
                        <a:t>Cr:</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179.258031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31.63377014</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6858913"/>
                  </a:ext>
                </a:extLst>
              </a:tr>
              <a:tr h="150262">
                <a:tc>
                  <a:txBody>
                    <a:bodyPr/>
                    <a:lstStyle/>
                    <a:p>
                      <a:pPr algn="l" fontAlgn="b"/>
                      <a:r>
                        <a:rPr lang="en-US" sz="900" b="0" i="0" u="none" strike="noStrike">
                          <a:solidFill>
                            <a:srgbClr val="000000"/>
                          </a:solidFill>
                          <a:effectLst/>
                          <a:latin typeface="Aptos Narrow" panose="020B0004020202020204" pitchFamily="34" charset="0"/>
                        </a:rPr>
                        <a:t>Ni:</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107.241091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18.9248985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0836536"/>
                  </a:ext>
                </a:extLst>
              </a:tr>
              <a:tr h="150262">
                <a:tc>
                  <a:txBody>
                    <a:bodyPr/>
                    <a:lstStyle/>
                    <a:p>
                      <a:pPr algn="l" fontAlgn="b"/>
                      <a:r>
                        <a:rPr lang="en-US" sz="900" b="0" i="0" u="none" strike="noStrike">
                          <a:solidFill>
                            <a:srgbClr val="000000"/>
                          </a:solidFill>
                          <a:effectLst/>
                          <a:latin typeface="Aptos Narrow" panose="020B0004020202020204" pitchFamily="34" charset="0"/>
                        </a:rPr>
                        <a:t>Mo:</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20.6840451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3.650125612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1813363"/>
                  </a:ext>
                </a:extLst>
              </a:tr>
              <a:tr h="150262">
                <a:tc>
                  <a:txBody>
                    <a:bodyPr/>
                    <a:lstStyle/>
                    <a:p>
                      <a:pPr algn="l" fontAlgn="b"/>
                      <a:r>
                        <a:rPr lang="en-US" sz="900" b="0" i="0" u="none" strike="noStrike">
                          <a:solidFill>
                            <a:srgbClr val="000000"/>
                          </a:solidFill>
                          <a:effectLst/>
                          <a:latin typeface="Aptos Narrow" panose="020B0004020202020204" pitchFamily="34" charset="0"/>
                        </a:rPr>
                        <a:t>Fe:</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692.118502</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122.1385591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6638667"/>
                  </a:ext>
                </a:extLst>
              </a:tr>
              <a:tr h="150262">
                <a:tc>
                  <a:txBody>
                    <a:bodyPr/>
                    <a:lstStyle/>
                    <a:p>
                      <a:pPr algn="l" fontAlgn="b"/>
                      <a:r>
                        <a:rPr lang="en-US" sz="900" b="0" i="0" u="none" strike="noStrike">
                          <a:solidFill>
                            <a:srgbClr val="000000"/>
                          </a:solidFill>
                          <a:effectLst/>
                          <a:latin typeface="Aptos Narrow" panose="020B0004020202020204" pitchFamily="34" charset="0"/>
                        </a:rPr>
                        <a:t>CaO:</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85.00%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15.00%</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1.05607881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0.186366849</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6634975"/>
                  </a:ext>
                </a:extLst>
              </a:tr>
              <a:tr h="150262">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endParaRPr lang="en-US" sz="900" b="0" i="0" u="none" strike="noStrike">
                        <a:solidFill>
                          <a:srgbClr val="000000"/>
                        </a:solidFill>
                        <a:effectLst/>
                        <a:latin typeface="Aptos Narrow" panose="020B0004020202020204" pitchFamily="34" charset="0"/>
                      </a:endParaRP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r>
                        <a:rPr lang="en-US" sz="900" b="0" i="0" u="none" strike="noStrike">
                          <a:solidFill>
                            <a:srgbClr val="000000"/>
                          </a:solidFill>
                          <a:effectLst/>
                          <a:latin typeface="Aptos Narrow" panose="020B0004020202020204" pitchFamily="34" charset="0"/>
                        </a:rPr>
                        <a:t>Total: </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1049.1771</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900" b="0" i="0" u="none" strike="noStrike">
                          <a:solidFill>
                            <a:srgbClr val="000000"/>
                          </a:solidFill>
                          <a:effectLst/>
                          <a:latin typeface="Aptos Narrow" panose="020B0004020202020204" pitchFamily="34" charset="0"/>
                        </a:rPr>
                        <a:t>177.7108475</a:t>
                      </a:r>
                    </a:p>
                  </a:txBody>
                  <a:tcPr marL="9065" marR="9065" marT="906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4008343"/>
                  </a:ext>
                </a:extLst>
              </a:tr>
            </a:tbl>
          </a:graphicData>
        </a:graphic>
      </p:graphicFrame>
      <p:graphicFrame>
        <p:nvGraphicFramePr>
          <p:cNvPr id="20" name="Table 19">
            <a:extLst>
              <a:ext uri="{FF2B5EF4-FFF2-40B4-BE49-F238E27FC236}">
                <a16:creationId xmlns:a16="http://schemas.microsoft.com/office/drawing/2014/main" id="{470C13AB-4CF0-A32F-CE64-4291938EFA1F}"/>
              </a:ext>
            </a:extLst>
          </p:cNvPr>
          <p:cNvGraphicFramePr>
            <a:graphicFrameLocks noGrp="1"/>
          </p:cNvGraphicFramePr>
          <p:nvPr>
            <p:extLst>
              <p:ext uri="{D42A27DB-BD31-4B8C-83A1-F6EECF244321}">
                <p14:modId xmlns:p14="http://schemas.microsoft.com/office/powerpoint/2010/main" val="4155867295"/>
              </p:ext>
            </p:extLst>
          </p:nvPr>
        </p:nvGraphicFramePr>
        <p:xfrm>
          <a:off x="571459" y="3716478"/>
          <a:ext cx="3087443" cy="952500"/>
        </p:xfrm>
        <a:graphic>
          <a:graphicData uri="http://schemas.openxmlformats.org/drawingml/2006/table">
            <a:tbl>
              <a:tblPr/>
              <a:tblGrid>
                <a:gridCol w="546535">
                  <a:extLst>
                    <a:ext uri="{9D8B030D-6E8A-4147-A177-3AD203B41FA5}">
                      <a16:colId xmlns:a16="http://schemas.microsoft.com/office/drawing/2014/main" val="3346178192"/>
                    </a:ext>
                  </a:extLst>
                </a:gridCol>
                <a:gridCol w="517770">
                  <a:extLst>
                    <a:ext uri="{9D8B030D-6E8A-4147-A177-3AD203B41FA5}">
                      <a16:colId xmlns:a16="http://schemas.microsoft.com/office/drawing/2014/main" val="3795991143"/>
                    </a:ext>
                  </a:extLst>
                </a:gridCol>
                <a:gridCol w="613653">
                  <a:extLst>
                    <a:ext uri="{9D8B030D-6E8A-4147-A177-3AD203B41FA5}">
                      <a16:colId xmlns:a16="http://schemas.microsoft.com/office/drawing/2014/main" val="3818444208"/>
                    </a:ext>
                  </a:extLst>
                </a:gridCol>
                <a:gridCol w="596874">
                  <a:extLst>
                    <a:ext uri="{9D8B030D-6E8A-4147-A177-3AD203B41FA5}">
                      <a16:colId xmlns:a16="http://schemas.microsoft.com/office/drawing/2014/main" val="3018256683"/>
                    </a:ext>
                  </a:extLst>
                </a:gridCol>
                <a:gridCol w="812611">
                  <a:extLst>
                    <a:ext uri="{9D8B030D-6E8A-4147-A177-3AD203B41FA5}">
                      <a16:colId xmlns:a16="http://schemas.microsoft.com/office/drawing/2014/main" val="255827445"/>
                    </a:ext>
                  </a:extLst>
                </a:gridCol>
              </a:tblGrid>
              <a:tr h="190500">
                <a:tc gridSpan="2">
                  <a:txBody>
                    <a:bodyPr/>
                    <a:lstStyle/>
                    <a:p>
                      <a:pPr algn="l" fontAlgn="b"/>
                      <a:r>
                        <a:rPr lang="en-US" sz="1000" b="0" i="0" u="none" strike="noStrike">
                          <a:solidFill>
                            <a:srgbClr val="000000"/>
                          </a:solidFill>
                          <a:effectLst/>
                          <a:latin typeface="Aptos Narrow" panose="020B0004020202020204" pitchFamily="34" charset="0"/>
                        </a:rPr>
                        <a:t>Slag  Product (g):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3CCEB"/>
                    </a:solidFill>
                  </a:tcPr>
                </a:tc>
                <a:tc hMerge="1">
                  <a:txBody>
                    <a:bodyPr/>
                    <a:lstStyle/>
                    <a:p>
                      <a:endParaRPr lang="en-US"/>
                    </a:p>
                  </a:txBody>
                  <a:tcPr/>
                </a:tc>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gridSpan="2">
                  <a:txBody>
                    <a:bodyPr/>
                    <a:lstStyle/>
                    <a:p>
                      <a:pPr algn="l" fontAlgn="b"/>
                      <a:r>
                        <a:rPr lang="en-US" sz="1000" b="0" i="0" u="none" strike="noStrike">
                          <a:solidFill>
                            <a:srgbClr val="000000"/>
                          </a:solidFill>
                          <a:effectLst/>
                          <a:latin typeface="Aptos Narrow" panose="020B0004020202020204" pitchFamily="34" charset="0"/>
                        </a:rPr>
                        <a:t>SS316 Tot. Similarity: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94DCF8"/>
                    </a:solidFill>
                  </a:tcPr>
                </a:tc>
                <a:tc hMerge="1">
                  <a:txBody>
                    <a:bodyPr/>
                    <a:lstStyle/>
                    <a:p>
                      <a:endParaRPr lang="en-US"/>
                    </a:p>
                  </a:txBody>
                  <a:tcPr/>
                </a:tc>
                <a:extLst>
                  <a:ext uri="{0D108BD9-81ED-4DB2-BD59-A6C34878D82A}">
                    <a16:rowId xmlns:a16="http://schemas.microsoft.com/office/drawing/2014/main" val="4075375199"/>
                  </a:ext>
                </a:extLst>
              </a:tr>
              <a:tr h="190500">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83CCEB"/>
                    </a:solidFill>
                  </a:tcPr>
                </a:tc>
                <a:tc>
                  <a:txBody>
                    <a:bodyPr/>
                    <a:lstStyle/>
                    <a:p>
                      <a:pPr algn="r" fontAlgn="b"/>
                      <a:r>
                        <a:rPr lang="en-US" sz="1000" b="0" i="0" u="none" strike="noStrike">
                          <a:solidFill>
                            <a:srgbClr val="000000"/>
                          </a:solidFill>
                          <a:effectLst/>
                          <a:latin typeface="Aptos Narrow" panose="020B0004020202020204" pitchFamily="34" charset="0"/>
                        </a:rPr>
                        <a:t>20.79534</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83CCEB"/>
                    </a:solidFill>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94DCF8"/>
                    </a:solidFill>
                  </a:tcPr>
                </a:tc>
                <a:tc>
                  <a:txBody>
                    <a:bodyPr/>
                    <a:lstStyle/>
                    <a:p>
                      <a:pPr algn="r" fontAlgn="b"/>
                      <a:r>
                        <a:rPr lang="en-US" sz="1000" b="0" i="0" u="none" strike="noStrike">
                          <a:solidFill>
                            <a:srgbClr val="000000"/>
                          </a:solidFill>
                          <a:effectLst/>
                          <a:latin typeface="Aptos Narrow" panose="020B0004020202020204" pitchFamily="34" charset="0"/>
                        </a:rPr>
                        <a:t>99.01%</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4DCF8"/>
                    </a:solidFill>
                  </a:tcPr>
                </a:tc>
                <a:extLst>
                  <a:ext uri="{0D108BD9-81ED-4DB2-BD59-A6C34878D82A}">
                    <a16:rowId xmlns:a16="http://schemas.microsoft.com/office/drawing/2014/main" val="2212930149"/>
                  </a:ext>
                </a:extLst>
              </a:tr>
              <a:tr h="190500">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solidFill>
                      <a:schemeClr val="bg1"/>
                    </a:solidFill>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81446919"/>
                  </a:ext>
                </a:extLst>
              </a:tr>
              <a:tr h="190500">
                <a:tc gridSpan="2">
                  <a:txBody>
                    <a:bodyPr/>
                    <a:lstStyle/>
                    <a:p>
                      <a:pPr algn="l" fontAlgn="b"/>
                      <a:r>
                        <a:rPr lang="en-US" sz="1000" b="0" i="0" u="none" strike="noStrike">
                          <a:solidFill>
                            <a:srgbClr val="000000"/>
                          </a:solidFill>
                          <a:effectLst/>
                          <a:latin typeface="Aptos Narrow" panose="020B0004020202020204" pitchFamily="34" charset="0"/>
                        </a:rPr>
                        <a:t>Purge Stream (g):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83CCEB"/>
                    </a:solidFill>
                  </a:tcPr>
                </a:tc>
                <a:tc hMerge="1">
                  <a:txBody>
                    <a:bodyPr/>
                    <a:lstStyle/>
                    <a:p>
                      <a:endParaRPr lang="en-US"/>
                    </a:p>
                  </a:txBody>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gridSpan="2">
                  <a:txBody>
                    <a:bodyPr/>
                    <a:lstStyle/>
                    <a:p>
                      <a:pPr algn="l" fontAlgn="b"/>
                      <a:r>
                        <a:rPr lang="en-US" sz="1000" b="0" i="0" u="none" strike="noStrike">
                          <a:solidFill>
                            <a:srgbClr val="000000"/>
                          </a:solidFill>
                          <a:effectLst/>
                          <a:latin typeface="Aptos Narrow" panose="020B0004020202020204" pitchFamily="34" charset="0"/>
                        </a:rPr>
                        <a:t>SS316 Tot. Mass (g):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94DCF8"/>
                    </a:solidFill>
                  </a:tcPr>
                </a:tc>
                <a:tc hMerge="1">
                  <a:txBody>
                    <a:bodyPr/>
                    <a:lstStyle/>
                    <a:p>
                      <a:endParaRPr lang="en-US"/>
                    </a:p>
                  </a:txBody>
                  <a:tcPr/>
                </a:tc>
                <a:extLst>
                  <a:ext uri="{0D108BD9-81ED-4DB2-BD59-A6C34878D82A}">
                    <a16:rowId xmlns:a16="http://schemas.microsoft.com/office/drawing/2014/main" val="887991818"/>
                  </a:ext>
                </a:extLst>
              </a:tr>
              <a:tr h="190500">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83CCEB"/>
                    </a:solidFill>
                  </a:tcPr>
                </a:tc>
                <a:tc>
                  <a:txBody>
                    <a:bodyPr/>
                    <a:lstStyle/>
                    <a:p>
                      <a:pPr algn="r" fontAlgn="b"/>
                      <a:r>
                        <a:rPr lang="en-US" sz="1000" b="0" i="0" u="none" strike="noStrike">
                          <a:solidFill>
                            <a:srgbClr val="000000"/>
                          </a:solidFill>
                          <a:effectLst/>
                          <a:latin typeface="Aptos Narrow" panose="020B0004020202020204" pitchFamily="34" charset="0"/>
                        </a:rPr>
                        <a:t>83.1476</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83CCEB"/>
                    </a:solidFill>
                  </a:tcPr>
                </a:tc>
                <a:tc>
                  <a:txBody>
                    <a:bodyPr/>
                    <a:lstStyle/>
                    <a:p>
                      <a:pPr algn="l" fontAlgn="b"/>
                      <a:endParaRPr lang="en-US" sz="1000" b="0" i="0" u="none" strike="noStrike">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bg1"/>
                    </a:solidFill>
                  </a:tcPr>
                </a:tc>
                <a:tc>
                  <a:txBody>
                    <a:bodyPr/>
                    <a:lstStyle/>
                    <a:p>
                      <a:pPr algn="l" fontAlgn="b"/>
                      <a:r>
                        <a:rPr lang="en-US" sz="1000" b="0" i="0" u="none" strike="noStrike">
                          <a:solidFill>
                            <a:srgbClr val="000000"/>
                          </a:solidFill>
                          <a:effectLst/>
                          <a:latin typeface="Aptos Narrow" panose="020B00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94DCF8"/>
                    </a:solidFill>
                  </a:tcPr>
                </a:tc>
                <a:tc>
                  <a:txBody>
                    <a:bodyPr/>
                    <a:lstStyle/>
                    <a:p>
                      <a:pPr algn="r" fontAlgn="b"/>
                      <a:r>
                        <a:rPr lang="en-US" sz="1000" b="0" i="0" u="none" strike="noStrike">
                          <a:solidFill>
                            <a:srgbClr val="000000"/>
                          </a:solidFill>
                          <a:effectLst/>
                          <a:latin typeface="Aptos Narrow" panose="020B0004020202020204" pitchFamily="34" charset="0"/>
                        </a:rPr>
                        <a:t>1000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4DCF8"/>
                    </a:solidFill>
                  </a:tcPr>
                </a:tc>
                <a:extLst>
                  <a:ext uri="{0D108BD9-81ED-4DB2-BD59-A6C34878D82A}">
                    <a16:rowId xmlns:a16="http://schemas.microsoft.com/office/drawing/2014/main" val="2427242858"/>
                  </a:ext>
                </a:extLst>
              </a:tr>
            </a:tbl>
          </a:graphicData>
        </a:graphic>
      </p:graphicFrame>
    </p:spTree>
    <p:extLst>
      <p:ext uri="{BB962C8B-B14F-4D97-AF65-F5344CB8AC3E}">
        <p14:creationId xmlns:p14="http://schemas.microsoft.com/office/powerpoint/2010/main" val="2161574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pic>
        <p:nvPicPr>
          <p:cNvPr id="5" name="Picture 4" descr="A screenshot of a spreadsheet&#10;&#10;AI-generated content may be incorrect.">
            <a:extLst>
              <a:ext uri="{FF2B5EF4-FFF2-40B4-BE49-F238E27FC236}">
                <a16:creationId xmlns:a16="http://schemas.microsoft.com/office/drawing/2014/main" id="{727F0DBF-EE2B-C7E8-4C98-66461DEF80A7}"/>
              </a:ext>
            </a:extLst>
          </p:cNvPr>
          <p:cNvPicPr>
            <a:picLocks noChangeAspect="1"/>
          </p:cNvPicPr>
          <p:nvPr/>
        </p:nvPicPr>
        <p:blipFill>
          <a:blip r:embed="rId2"/>
          <a:stretch>
            <a:fillRect/>
          </a:stretch>
        </p:blipFill>
        <p:spPr>
          <a:xfrm>
            <a:off x="0" y="1112024"/>
            <a:ext cx="12192000" cy="4633951"/>
          </a:xfrm>
          <a:prstGeom prst="rect">
            <a:avLst/>
          </a:prstGeom>
        </p:spPr>
      </p:pic>
      <p:sp>
        <p:nvSpPr>
          <p:cNvPr id="6" name="TextBox 5">
            <a:extLst>
              <a:ext uri="{FF2B5EF4-FFF2-40B4-BE49-F238E27FC236}">
                <a16:creationId xmlns:a16="http://schemas.microsoft.com/office/drawing/2014/main" id="{E0A075D8-98C7-BE46-2676-9725BD9BFDBC}"/>
              </a:ext>
            </a:extLst>
          </p:cNvPr>
          <p:cNvSpPr txBox="1"/>
          <p:nvPr/>
        </p:nvSpPr>
        <p:spPr>
          <a:xfrm>
            <a:off x="1890888" y="254000"/>
            <a:ext cx="840881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solidFill>
                  <a:srgbClr val="FFFFFF"/>
                </a:solidFill>
                <a:latin typeface="Aptos Display"/>
              </a:rPr>
              <a:t>The Real Block Flow Diagram</a:t>
            </a:r>
            <a:endParaRPr lang="en-US"/>
          </a:p>
        </p:txBody>
      </p:sp>
      <p:sp>
        <p:nvSpPr>
          <p:cNvPr id="7" name="Flowchart: Document 6">
            <a:extLst>
              <a:ext uri="{FF2B5EF4-FFF2-40B4-BE49-F238E27FC236}">
                <a16:creationId xmlns:a16="http://schemas.microsoft.com/office/drawing/2014/main" id="{7B79544F-C0F5-0059-D20C-9541CAF9592B}"/>
              </a:ext>
            </a:extLst>
          </p:cNvPr>
          <p:cNvSpPr/>
          <p:nvPr/>
        </p:nvSpPr>
        <p:spPr>
          <a:xfrm rot="10800000">
            <a:off x="-84666" y="5891389"/>
            <a:ext cx="12450233" cy="1035981"/>
          </a:xfrm>
          <a:prstGeom prst="flowChartDocumen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3258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6FB385-F730-4383-0168-41A4D3510A8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FB87378-9AC8-6EC9-A62E-480D8ACA3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CC29E96D-6116-2B13-D557-D917A678EC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F9843BDE-784E-7071-3192-903236F159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A30FE2-9325-4099-EF53-EAB0398C1B60}"/>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Energy Balance</a:t>
            </a:r>
          </a:p>
        </p:txBody>
      </p:sp>
      <p:sp>
        <p:nvSpPr>
          <p:cNvPr id="13" name="Rectangle 12">
            <a:extLst>
              <a:ext uri="{FF2B5EF4-FFF2-40B4-BE49-F238E27FC236}">
                <a16:creationId xmlns:a16="http://schemas.microsoft.com/office/drawing/2014/main" id="{DCE0756C-7E0D-6A07-47EB-2A50D613A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0896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6515D-2A77-3910-2726-4D3FE2215A5B}"/>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FF434D0E-E798-39C6-C258-38339213ED58}"/>
              </a:ext>
            </a:extLst>
          </p:cNvPr>
          <p:cNvSpPr/>
          <p:nvPr/>
        </p:nvSpPr>
        <p:spPr>
          <a:xfrm>
            <a:off x="2070110" y="1437591"/>
            <a:ext cx="7956760" cy="4014191"/>
          </a:xfrm>
          <a:prstGeom prst="rect">
            <a:avLst/>
          </a:prstGeom>
          <a:noFill/>
          <a:ln w="76200">
            <a:solidFill>
              <a:schemeClr val="tx2">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08" name="Group 107">
            <a:extLst>
              <a:ext uri="{FF2B5EF4-FFF2-40B4-BE49-F238E27FC236}">
                <a16:creationId xmlns:a16="http://schemas.microsoft.com/office/drawing/2014/main" id="{0CF7F90C-8154-90B4-0031-74C29F195F88}"/>
              </a:ext>
            </a:extLst>
          </p:cNvPr>
          <p:cNvGrpSpPr/>
          <p:nvPr/>
        </p:nvGrpSpPr>
        <p:grpSpPr>
          <a:xfrm>
            <a:off x="189101" y="3394452"/>
            <a:ext cx="11813798" cy="3367976"/>
            <a:chOff x="21000" y="3383942"/>
            <a:chExt cx="11813798" cy="3367976"/>
          </a:xfrm>
        </p:grpSpPr>
        <p:cxnSp>
          <p:nvCxnSpPr>
            <p:cNvPr id="72" name="Elbow Connector 71">
              <a:extLst>
                <a:ext uri="{FF2B5EF4-FFF2-40B4-BE49-F238E27FC236}">
                  <a16:creationId xmlns:a16="http://schemas.microsoft.com/office/drawing/2014/main" id="{0DD657D1-98DE-F811-D17D-40EE9AE8C994}"/>
                </a:ext>
              </a:extLst>
            </p:cNvPr>
            <p:cNvCxnSpPr>
              <a:cxnSpLocks/>
            </p:cNvCxnSpPr>
            <p:nvPr/>
          </p:nvCxnSpPr>
          <p:spPr>
            <a:xfrm rot="16200000" flipV="1">
              <a:off x="5978374" y="1085965"/>
              <a:ext cx="45058" cy="4641011"/>
            </a:xfrm>
            <a:prstGeom prst="bentConnector3">
              <a:avLst>
                <a:gd name="adj1" fmla="val 3664368"/>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31A9D7D2-E645-C185-10FC-280CDC7D7370}"/>
                </a:ext>
              </a:extLst>
            </p:cNvPr>
            <p:cNvCxnSpPr>
              <a:cxnSpLocks/>
            </p:cNvCxnSpPr>
            <p:nvPr/>
          </p:nvCxnSpPr>
          <p:spPr>
            <a:xfrm>
              <a:off x="21000" y="4334351"/>
              <a:ext cx="2445108" cy="0"/>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9862788C-995C-85B5-6DF2-6614DEE8CAD4}"/>
                </a:ext>
              </a:extLst>
            </p:cNvPr>
            <p:cNvCxnSpPr>
              <a:cxnSpLocks/>
            </p:cNvCxnSpPr>
            <p:nvPr/>
          </p:nvCxnSpPr>
          <p:spPr>
            <a:xfrm>
              <a:off x="33780" y="3819338"/>
              <a:ext cx="2432328" cy="8099"/>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FAC2F1A8-CFC0-DC51-D21B-72BF7C0C35DA}"/>
                </a:ext>
              </a:extLst>
            </p:cNvPr>
            <p:cNvCxnSpPr>
              <a:cxnSpLocks/>
            </p:cNvCxnSpPr>
            <p:nvPr/>
          </p:nvCxnSpPr>
          <p:spPr>
            <a:xfrm>
              <a:off x="4894684" y="4050493"/>
              <a:ext cx="2212435" cy="22529"/>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52DB4C01-0C7F-1FBE-F35D-CB37D131394F}"/>
                </a:ext>
              </a:extLst>
            </p:cNvPr>
            <p:cNvCxnSpPr>
              <a:cxnSpLocks/>
            </p:cNvCxnSpPr>
            <p:nvPr/>
          </p:nvCxnSpPr>
          <p:spPr>
            <a:xfrm>
              <a:off x="9535696" y="4084168"/>
              <a:ext cx="2299102" cy="10773"/>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3DA72223-476F-A3B2-0A7D-E15B47EDA53C}"/>
                </a:ext>
              </a:extLst>
            </p:cNvPr>
            <p:cNvCxnSpPr>
              <a:cxnSpLocks/>
            </p:cNvCxnSpPr>
            <p:nvPr/>
          </p:nvCxnSpPr>
          <p:spPr>
            <a:xfrm>
              <a:off x="8310032" y="4717043"/>
              <a:ext cx="0" cy="2034875"/>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9" name="Group 68">
            <a:extLst>
              <a:ext uri="{FF2B5EF4-FFF2-40B4-BE49-F238E27FC236}">
                <a16:creationId xmlns:a16="http://schemas.microsoft.com/office/drawing/2014/main" id="{4610C70E-8DA0-4937-C04C-BA83258C521B}"/>
              </a:ext>
            </a:extLst>
          </p:cNvPr>
          <p:cNvGrpSpPr/>
          <p:nvPr/>
        </p:nvGrpSpPr>
        <p:grpSpPr>
          <a:xfrm>
            <a:off x="2634210" y="3394452"/>
            <a:ext cx="7069587" cy="1333101"/>
            <a:chOff x="2429272" y="2748731"/>
            <a:chExt cx="7069587" cy="1333101"/>
          </a:xfrm>
        </p:grpSpPr>
        <p:sp>
          <p:nvSpPr>
            <p:cNvPr id="4" name="Rectangle: Rounded Corners 3">
              <a:extLst>
                <a:ext uri="{FF2B5EF4-FFF2-40B4-BE49-F238E27FC236}">
                  <a16:creationId xmlns:a16="http://schemas.microsoft.com/office/drawing/2014/main" id="{E3BE8514-D872-998A-4855-09E462E4BCA7}"/>
                </a:ext>
              </a:extLst>
            </p:cNvPr>
            <p:cNvSpPr/>
            <p:nvPr/>
          </p:nvSpPr>
          <p:spPr>
            <a:xfrm>
              <a:off x="2429272" y="2748731"/>
              <a:ext cx="2428575" cy="13331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Basic Oxygen Furnace</a:t>
              </a:r>
            </a:p>
          </p:txBody>
        </p:sp>
        <p:sp>
          <p:nvSpPr>
            <p:cNvPr id="5" name="Rectangle: Rounded Corners 4">
              <a:extLst>
                <a:ext uri="{FF2B5EF4-FFF2-40B4-BE49-F238E27FC236}">
                  <a16:creationId xmlns:a16="http://schemas.microsoft.com/office/drawing/2014/main" id="{8AF49EF7-3F4E-4C9B-F1F8-69CA07AA6BD4}"/>
                </a:ext>
              </a:extLst>
            </p:cNvPr>
            <p:cNvSpPr/>
            <p:nvPr/>
          </p:nvSpPr>
          <p:spPr>
            <a:xfrm>
              <a:off x="7070282" y="2793789"/>
              <a:ext cx="2428577" cy="12880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Separator</a:t>
              </a:r>
            </a:p>
          </p:txBody>
        </p:sp>
      </p:grpSp>
      <p:grpSp>
        <p:nvGrpSpPr>
          <p:cNvPr id="68" name="Group 67">
            <a:extLst>
              <a:ext uri="{FF2B5EF4-FFF2-40B4-BE49-F238E27FC236}">
                <a16:creationId xmlns:a16="http://schemas.microsoft.com/office/drawing/2014/main" id="{CC38249A-CC9B-CE24-C702-08EF8AC85A91}"/>
              </a:ext>
            </a:extLst>
          </p:cNvPr>
          <p:cNvGrpSpPr/>
          <p:nvPr/>
        </p:nvGrpSpPr>
        <p:grpSpPr>
          <a:xfrm>
            <a:off x="358560" y="4573659"/>
            <a:ext cx="1388477" cy="1906219"/>
            <a:chOff x="173074" y="4008994"/>
            <a:chExt cx="1388477" cy="1906219"/>
          </a:xfrm>
        </p:grpSpPr>
        <p:sp>
          <p:nvSpPr>
            <p:cNvPr id="35" name="Rectangle: Rounded Corners 34">
              <a:extLst>
                <a:ext uri="{FF2B5EF4-FFF2-40B4-BE49-F238E27FC236}">
                  <a16:creationId xmlns:a16="http://schemas.microsoft.com/office/drawing/2014/main" id="{8D83E211-35FC-B2BD-D128-6F1E17B0F04B}"/>
                </a:ext>
              </a:extLst>
            </p:cNvPr>
            <p:cNvSpPr/>
            <p:nvPr/>
          </p:nvSpPr>
          <p:spPr>
            <a:xfrm>
              <a:off x="173074" y="4008994"/>
              <a:ext cx="1388477" cy="1906219"/>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TextBox 31">
              <a:extLst>
                <a:ext uri="{FF2B5EF4-FFF2-40B4-BE49-F238E27FC236}">
                  <a16:creationId xmlns:a16="http://schemas.microsoft.com/office/drawing/2014/main" id="{D090F065-ED05-D745-FBB3-C3A6A0FF593F}"/>
                </a:ext>
              </a:extLst>
            </p:cNvPr>
            <p:cNvSpPr txBox="1"/>
            <p:nvPr/>
          </p:nvSpPr>
          <p:spPr>
            <a:xfrm>
              <a:off x="232993" y="4119731"/>
              <a:ext cx="1270211" cy="1677382"/>
            </a:xfrm>
            <a:prstGeom prst="rect">
              <a:avLst/>
            </a:prstGeom>
            <a:noFill/>
          </p:spPr>
          <p:txBody>
            <a:bodyPr wrap="square" rtlCol="0" anchor="ctr">
              <a:spAutoFit/>
            </a:bodyPr>
            <a:lstStyle/>
            <a:p>
              <a:pPr algn="ctr"/>
              <a:r>
                <a:rPr lang="en-US" sz="1200" u="sng"/>
                <a:t>Pig Iron Stream</a:t>
              </a:r>
            </a:p>
            <a:p>
              <a:pPr algn="ctr"/>
              <a:endParaRPr lang="en-US" sz="800" u="sng"/>
            </a:p>
            <a:p>
              <a:pPr algn="ctr" fontAlgn="base"/>
              <a:r>
                <a:rPr lang="en-US" sz="1200"/>
                <a:t>C: 4.05% </a:t>
              </a:r>
            </a:p>
            <a:p>
              <a:pPr algn="ctr" fontAlgn="base"/>
              <a:r>
                <a:rPr lang="en-US" sz="1200"/>
                <a:t>S: 0.04% </a:t>
              </a:r>
            </a:p>
            <a:p>
              <a:pPr algn="ctr" fontAlgn="base"/>
              <a:r>
                <a:rPr lang="en-US" sz="1200"/>
                <a:t>Si: 0.5% </a:t>
              </a:r>
            </a:p>
            <a:p>
              <a:pPr algn="ctr" fontAlgn="base"/>
              <a:r>
                <a:rPr lang="en-US" sz="1200"/>
                <a:t>Mn: 0.8% </a:t>
              </a:r>
            </a:p>
            <a:p>
              <a:pPr algn="ctr" fontAlgn="base"/>
              <a:r>
                <a:rPr lang="en-US" sz="1200"/>
                <a:t>P: 0.05% </a:t>
              </a:r>
            </a:p>
            <a:p>
              <a:pPr algn="ctr" fontAlgn="base"/>
              <a:r>
                <a:rPr lang="en-US" sz="1200"/>
                <a:t>Ti: 0.00% </a:t>
              </a:r>
            </a:p>
            <a:p>
              <a:pPr algn="ctr" fontAlgn="base"/>
              <a:r>
                <a:rPr lang="en-US" sz="1200"/>
                <a:t>Fe: 95.0% </a:t>
              </a:r>
            </a:p>
          </p:txBody>
        </p:sp>
      </p:grpSp>
      <p:grpSp>
        <p:nvGrpSpPr>
          <p:cNvPr id="88" name="Group 87">
            <a:extLst>
              <a:ext uri="{FF2B5EF4-FFF2-40B4-BE49-F238E27FC236}">
                <a16:creationId xmlns:a16="http://schemas.microsoft.com/office/drawing/2014/main" id="{9857A13D-8818-B920-9D50-8F05564B4618}"/>
              </a:ext>
            </a:extLst>
          </p:cNvPr>
          <p:cNvGrpSpPr/>
          <p:nvPr/>
        </p:nvGrpSpPr>
        <p:grpSpPr>
          <a:xfrm>
            <a:off x="376166" y="2231021"/>
            <a:ext cx="1388477" cy="1400804"/>
            <a:chOff x="120649" y="2411018"/>
            <a:chExt cx="1668386" cy="1026491"/>
          </a:xfrm>
        </p:grpSpPr>
        <p:sp>
          <p:nvSpPr>
            <p:cNvPr id="34" name="Rectangle: Rounded Corners 33">
              <a:extLst>
                <a:ext uri="{FF2B5EF4-FFF2-40B4-BE49-F238E27FC236}">
                  <a16:creationId xmlns:a16="http://schemas.microsoft.com/office/drawing/2014/main" id="{EC8163C0-0940-B32A-6CB1-4B671A0329E6}"/>
                </a:ext>
              </a:extLst>
            </p:cNvPr>
            <p:cNvSpPr/>
            <p:nvPr/>
          </p:nvSpPr>
          <p:spPr>
            <a:xfrm>
              <a:off x="120649" y="2411018"/>
              <a:ext cx="1668386" cy="971198"/>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TextBox 32">
              <a:extLst>
                <a:ext uri="{FF2B5EF4-FFF2-40B4-BE49-F238E27FC236}">
                  <a16:creationId xmlns:a16="http://schemas.microsoft.com/office/drawing/2014/main" id="{52CC763C-0865-0A03-BD0D-DB2445AC5C23}"/>
                </a:ext>
              </a:extLst>
            </p:cNvPr>
            <p:cNvSpPr txBox="1"/>
            <p:nvPr/>
          </p:nvSpPr>
          <p:spPr>
            <a:xfrm>
              <a:off x="190204" y="2422602"/>
              <a:ext cx="1592827" cy="1014907"/>
            </a:xfrm>
            <a:prstGeom prst="rect">
              <a:avLst/>
            </a:prstGeom>
            <a:noFill/>
          </p:spPr>
          <p:txBody>
            <a:bodyPr wrap="square" rtlCol="0" anchor="ctr">
              <a:spAutoFit/>
            </a:bodyPr>
            <a:lstStyle/>
            <a:p>
              <a:pPr algn="ctr"/>
              <a:r>
                <a:rPr lang="en-US" sz="1200" u="sng"/>
                <a:t>Stream 1</a:t>
              </a:r>
            </a:p>
            <a:p>
              <a:pPr algn="ctr"/>
              <a:br>
                <a:rPr lang="en-US" sz="1200"/>
              </a:br>
              <a:r>
                <a:rPr lang="en-US" sz="1200"/>
                <a:t>CaO: 100%</a:t>
              </a:r>
            </a:p>
            <a:p>
              <a:pPr algn="ctr"/>
              <a:r>
                <a:rPr lang="en-US" sz="1200"/>
                <a:t>Cr: 99.17%</a:t>
              </a:r>
            </a:p>
            <a:p>
              <a:pPr algn="ctr"/>
              <a:r>
                <a:rPr lang="en-US" sz="1200"/>
                <a:t>Ni 95%</a:t>
              </a:r>
            </a:p>
            <a:p>
              <a:pPr algn="ctr"/>
              <a:r>
                <a:rPr lang="en-US" sz="1200"/>
                <a:t>Mo 99.95</a:t>
              </a:r>
            </a:p>
            <a:p>
              <a:pPr algn="ctr"/>
              <a:r>
                <a:rPr lang="en-US" sz="1200"/>
                <a:t>Inert</a:t>
              </a:r>
            </a:p>
          </p:txBody>
        </p:sp>
      </p:grpSp>
      <p:grpSp>
        <p:nvGrpSpPr>
          <p:cNvPr id="70" name="Group 69">
            <a:extLst>
              <a:ext uri="{FF2B5EF4-FFF2-40B4-BE49-F238E27FC236}">
                <a16:creationId xmlns:a16="http://schemas.microsoft.com/office/drawing/2014/main" id="{85449703-87B0-50EB-4B64-2C15CE26E721}"/>
              </a:ext>
            </a:extLst>
          </p:cNvPr>
          <p:cNvGrpSpPr/>
          <p:nvPr/>
        </p:nvGrpSpPr>
        <p:grpSpPr>
          <a:xfrm>
            <a:off x="5394733" y="4577820"/>
            <a:ext cx="1402531" cy="1794773"/>
            <a:chOff x="5272434" y="4393096"/>
            <a:chExt cx="1402531" cy="1794773"/>
          </a:xfrm>
        </p:grpSpPr>
        <p:sp>
          <p:nvSpPr>
            <p:cNvPr id="8" name="Rectangle: Rounded Corners 34">
              <a:extLst>
                <a:ext uri="{FF2B5EF4-FFF2-40B4-BE49-F238E27FC236}">
                  <a16:creationId xmlns:a16="http://schemas.microsoft.com/office/drawing/2014/main" id="{35E6B897-6A4F-8FC9-D0C8-8965D06BB608}"/>
                </a:ext>
              </a:extLst>
            </p:cNvPr>
            <p:cNvSpPr/>
            <p:nvPr/>
          </p:nvSpPr>
          <p:spPr>
            <a:xfrm>
              <a:off x="5272434" y="4393096"/>
              <a:ext cx="1402531" cy="1794773"/>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TextBox 8">
              <a:extLst>
                <a:ext uri="{FF2B5EF4-FFF2-40B4-BE49-F238E27FC236}">
                  <a16:creationId xmlns:a16="http://schemas.microsoft.com/office/drawing/2014/main" id="{4B248411-8E46-1D1F-9F68-421C934AC819}"/>
                </a:ext>
              </a:extLst>
            </p:cNvPr>
            <p:cNvSpPr txBox="1"/>
            <p:nvPr/>
          </p:nvSpPr>
          <p:spPr>
            <a:xfrm>
              <a:off x="5353083" y="4628762"/>
              <a:ext cx="1241231" cy="1323439"/>
            </a:xfrm>
            <a:prstGeom prst="rect">
              <a:avLst/>
            </a:prstGeom>
            <a:noFill/>
          </p:spPr>
          <p:txBody>
            <a:bodyPr wrap="square" rtlCol="0" anchor="ctr">
              <a:spAutoFit/>
            </a:bodyPr>
            <a:lstStyle/>
            <a:p>
              <a:pPr algn="ctr"/>
              <a:r>
                <a:rPr lang="en-US" sz="1200" u="sng"/>
                <a:t>Stream 3</a:t>
              </a:r>
            </a:p>
            <a:p>
              <a:pPr algn="ctr"/>
              <a:endParaRPr lang="en-US" sz="800"/>
            </a:p>
            <a:p>
              <a:pPr algn="ctr" fontAlgn="base"/>
              <a:r>
                <a:rPr lang="en-US" sz="1200"/>
                <a:t>Reactants</a:t>
              </a:r>
            </a:p>
            <a:p>
              <a:pPr algn="ctr" fontAlgn="base"/>
              <a:r>
                <a:rPr lang="en-US" sz="1200"/>
                <a:t>Steel</a:t>
              </a:r>
            </a:p>
            <a:p>
              <a:pPr algn="ctr" fontAlgn="base"/>
              <a:r>
                <a:rPr lang="en-US" sz="1200"/>
                <a:t>Slag</a:t>
              </a:r>
            </a:p>
            <a:p>
              <a:pPr algn="ctr" fontAlgn="base"/>
              <a:r>
                <a:rPr lang="en-US" sz="1200"/>
                <a:t>Gases</a:t>
              </a:r>
            </a:p>
            <a:p>
              <a:pPr algn="ctr" fontAlgn="base"/>
              <a:r>
                <a:rPr lang="en-US" sz="1200"/>
                <a:t>Inert</a:t>
              </a:r>
            </a:p>
          </p:txBody>
        </p:sp>
      </p:grpSp>
      <p:grpSp>
        <p:nvGrpSpPr>
          <p:cNvPr id="66" name="Group 65">
            <a:extLst>
              <a:ext uri="{FF2B5EF4-FFF2-40B4-BE49-F238E27FC236}">
                <a16:creationId xmlns:a16="http://schemas.microsoft.com/office/drawing/2014/main" id="{B908296C-1CEC-1F50-0BDE-73E1F670B56D}"/>
              </a:ext>
            </a:extLst>
          </p:cNvPr>
          <p:cNvGrpSpPr/>
          <p:nvPr/>
        </p:nvGrpSpPr>
        <p:grpSpPr>
          <a:xfrm>
            <a:off x="10287970" y="2437461"/>
            <a:ext cx="1527864" cy="1500245"/>
            <a:chOff x="10311860" y="746853"/>
            <a:chExt cx="1527864" cy="1500245"/>
          </a:xfrm>
        </p:grpSpPr>
        <p:sp>
          <p:nvSpPr>
            <p:cNvPr id="10" name="Rectangle: Rounded Corners 34">
              <a:extLst>
                <a:ext uri="{FF2B5EF4-FFF2-40B4-BE49-F238E27FC236}">
                  <a16:creationId xmlns:a16="http://schemas.microsoft.com/office/drawing/2014/main" id="{BE6813BB-31D7-C67E-DE0E-B220FD17CD2A}"/>
                </a:ext>
              </a:extLst>
            </p:cNvPr>
            <p:cNvSpPr/>
            <p:nvPr/>
          </p:nvSpPr>
          <p:spPr>
            <a:xfrm>
              <a:off x="10311860" y="746853"/>
              <a:ext cx="1527864" cy="1500245"/>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TextBox 11">
              <a:extLst>
                <a:ext uri="{FF2B5EF4-FFF2-40B4-BE49-F238E27FC236}">
                  <a16:creationId xmlns:a16="http://schemas.microsoft.com/office/drawing/2014/main" id="{8845FC41-7F82-DE51-CBD8-08B662943107}"/>
                </a:ext>
              </a:extLst>
            </p:cNvPr>
            <p:cNvSpPr txBox="1"/>
            <p:nvPr/>
          </p:nvSpPr>
          <p:spPr>
            <a:xfrm>
              <a:off x="10452619" y="781265"/>
              <a:ext cx="1241231" cy="1384995"/>
            </a:xfrm>
            <a:prstGeom prst="rect">
              <a:avLst/>
            </a:prstGeom>
            <a:noFill/>
          </p:spPr>
          <p:txBody>
            <a:bodyPr wrap="square" rtlCol="0" anchor="ctr">
              <a:spAutoFit/>
            </a:bodyPr>
            <a:lstStyle/>
            <a:p>
              <a:pPr algn="ctr"/>
              <a:r>
                <a:rPr lang="en-US" sz="1200"/>
                <a:t>Product Stream (SS136)</a:t>
              </a:r>
            </a:p>
            <a:p>
              <a:pPr algn="ctr" fontAlgn="base"/>
              <a:r>
                <a:rPr lang="en-US" sz="1200"/>
                <a:t>Fe: 70%</a:t>
              </a:r>
            </a:p>
            <a:p>
              <a:pPr algn="ctr" fontAlgn="base"/>
              <a:r>
                <a:rPr lang="en-US" sz="1200"/>
                <a:t>Cr: 17.92%</a:t>
              </a:r>
            </a:p>
            <a:p>
              <a:pPr algn="ctr" fontAlgn="base"/>
              <a:r>
                <a:rPr lang="en-US" sz="1200"/>
                <a:t>Ni: 11%</a:t>
              </a:r>
            </a:p>
            <a:p>
              <a:pPr algn="ctr" fontAlgn="base"/>
              <a:r>
                <a:rPr lang="en-US" sz="1200"/>
                <a:t>Mo: 2%</a:t>
              </a:r>
            </a:p>
            <a:p>
              <a:pPr algn="ctr" fontAlgn="base"/>
              <a:r>
                <a:rPr lang="en-US" sz="1200"/>
                <a:t>C: 0.07%</a:t>
              </a:r>
            </a:p>
          </p:txBody>
        </p:sp>
      </p:grpSp>
      <p:grpSp>
        <p:nvGrpSpPr>
          <p:cNvPr id="65" name="Group 64">
            <a:extLst>
              <a:ext uri="{FF2B5EF4-FFF2-40B4-BE49-F238E27FC236}">
                <a16:creationId xmlns:a16="http://schemas.microsoft.com/office/drawing/2014/main" id="{509D5B9F-E369-A179-57AA-906EB8CE33B5}"/>
              </a:ext>
            </a:extLst>
          </p:cNvPr>
          <p:cNvGrpSpPr/>
          <p:nvPr/>
        </p:nvGrpSpPr>
        <p:grpSpPr>
          <a:xfrm>
            <a:off x="8929363" y="5497614"/>
            <a:ext cx="1885067" cy="971185"/>
            <a:chOff x="8644657" y="4844074"/>
            <a:chExt cx="1885067" cy="971185"/>
          </a:xfrm>
        </p:grpSpPr>
        <p:sp>
          <p:nvSpPr>
            <p:cNvPr id="14" name="Rectangle: Rounded Corners 33">
              <a:extLst>
                <a:ext uri="{FF2B5EF4-FFF2-40B4-BE49-F238E27FC236}">
                  <a16:creationId xmlns:a16="http://schemas.microsoft.com/office/drawing/2014/main" id="{7BD36CB6-9EC4-C2B3-BA72-EBA3974D55D1}"/>
                </a:ext>
              </a:extLst>
            </p:cNvPr>
            <p:cNvSpPr/>
            <p:nvPr/>
          </p:nvSpPr>
          <p:spPr>
            <a:xfrm>
              <a:off x="8644657" y="4844074"/>
              <a:ext cx="1885067" cy="97118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5" name="TextBox 14">
              <a:extLst>
                <a:ext uri="{FF2B5EF4-FFF2-40B4-BE49-F238E27FC236}">
                  <a16:creationId xmlns:a16="http://schemas.microsoft.com/office/drawing/2014/main" id="{86B5F5BB-F1C3-A865-CB66-3AE8292CD2BC}"/>
                </a:ext>
              </a:extLst>
            </p:cNvPr>
            <p:cNvSpPr txBox="1"/>
            <p:nvPr/>
          </p:nvSpPr>
          <p:spPr>
            <a:xfrm>
              <a:off x="8859783" y="4944945"/>
              <a:ext cx="1454814" cy="769441"/>
            </a:xfrm>
            <a:prstGeom prst="rect">
              <a:avLst/>
            </a:prstGeom>
            <a:noFill/>
          </p:spPr>
          <p:txBody>
            <a:bodyPr wrap="square" rtlCol="0" anchor="ctr">
              <a:spAutoFit/>
            </a:bodyPr>
            <a:lstStyle/>
            <a:p>
              <a:pPr algn="ctr"/>
              <a:r>
                <a:rPr lang="en-US" sz="1200" u="sng"/>
                <a:t>Purge Stream</a:t>
              </a:r>
            </a:p>
            <a:p>
              <a:pPr algn="ctr"/>
              <a:endParaRPr lang="en-US" sz="800" u="sng"/>
            </a:p>
            <a:p>
              <a:pPr algn="ctr"/>
              <a:r>
                <a:rPr lang="en-US" sz="1200"/>
                <a:t>   CO	Slag</a:t>
              </a:r>
            </a:p>
            <a:p>
              <a:pPr algn="ctr"/>
              <a:r>
                <a:rPr lang="en-US" sz="1200"/>
                <a:t>Inert	O2</a:t>
              </a:r>
            </a:p>
          </p:txBody>
        </p:sp>
      </p:grpSp>
      <p:grpSp>
        <p:nvGrpSpPr>
          <p:cNvPr id="36" name="Group 35">
            <a:extLst>
              <a:ext uri="{FF2B5EF4-FFF2-40B4-BE49-F238E27FC236}">
                <a16:creationId xmlns:a16="http://schemas.microsoft.com/office/drawing/2014/main" id="{2094F816-58E5-C33A-3C18-6B09EDE8BADA}"/>
              </a:ext>
            </a:extLst>
          </p:cNvPr>
          <p:cNvGrpSpPr/>
          <p:nvPr/>
        </p:nvGrpSpPr>
        <p:grpSpPr>
          <a:xfrm>
            <a:off x="4500818" y="2110617"/>
            <a:ext cx="2129365" cy="777334"/>
            <a:chOff x="3928327" y="393035"/>
            <a:chExt cx="2129365" cy="777334"/>
          </a:xfrm>
        </p:grpSpPr>
        <p:grpSp>
          <p:nvGrpSpPr>
            <p:cNvPr id="19" name="Group 18">
              <a:extLst>
                <a:ext uri="{FF2B5EF4-FFF2-40B4-BE49-F238E27FC236}">
                  <a16:creationId xmlns:a16="http://schemas.microsoft.com/office/drawing/2014/main" id="{4813DA3F-6F7C-0D26-F35E-CB68F90A44B7}"/>
                </a:ext>
              </a:extLst>
            </p:cNvPr>
            <p:cNvGrpSpPr/>
            <p:nvPr/>
          </p:nvGrpSpPr>
          <p:grpSpPr>
            <a:xfrm>
              <a:off x="3928327" y="393035"/>
              <a:ext cx="2129365" cy="777334"/>
              <a:chOff x="2496703" y="452350"/>
              <a:chExt cx="4189558" cy="971185"/>
            </a:xfrm>
          </p:grpSpPr>
          <p:sp>
            <p:nvSpPr>
              <p:cNvPr id="3" name="Rectangle: Rounded Corners 33">
                <a:extLst>
                  <a:ext uri="{FF2B5EF4-FFF2-40B4-BE49-F238E27FC236}">
                    <a16:creationId xmlns:a16="http://schemas.microsoft.com/office/drawing/2014/main" id="{A2A54B4A-30F3-26B5-F340-9D391F897038}"/>
                  </a:ext>
                </a:extLst>
              </p:cNvPr>
              <p:cNvSpPr/>
              <p:nvPr/>
            </p:nvSpPr>
            <p:spPr>
              <a:xfrm>
                <a:off x="2496703" y="452350"/>
                <a:ext cx="4189558" cy="97118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TextBox 5">
                <a:extLst>
                  <a:ext uri="{FF2B5EF4-FFF2-40B4-BE49-F238E27FC236}">
                    <a16:creationId xmlns:a16="http://schemas.microsoft.com/office/drawing/2014/main" id="{EC2D8FB3-31DF-DFCE-57B5-E558FC246793}"/>
                  </a:ext>
                </a:extLst>
              </p:cNvPr>
              <p:cNvSpPr txBox="1"/>
              <p:nvPr/>
            </p:nvSpPr>
            <p:spPr>
              <a:xfrm>
                <a:off x="2574715" y="649545"/>
                <a:ext cx="2272549" cy="576795"/>
              </a:xfrm>
              <a:prstGeom prst="rect">
                <a:avLst/>
              </a:prstGeom>
              <a:noFill/>
            </p:spPr>
            <p:txBody>
              <a:bodyPr wrap="square" rtlCol="0">
                <a:spAutoFit/>
              </a:bodyPr>
              <a:lstStyle/>
              <a:p>
                <a:pPr algn="ctr"/>
                <a:r>
                  <a:rPr lang="en-US" sz="1200"/>
                  <a:t>Recycle Stream</a:t>
                </a:r>
              </a:p>
            </p:txBody>
          </p:sp>
        </p:grpSp>
        <p:sp>
          <p:nvSpPr>
            <p:cNvPr id="31" name="TextBox 30">
              <a:extLst>
                <a:ext uri="{FF2B5EF4-FFF2-40B4-BE49-F238E27FC236}">
                  <a16:creationId xmlns:a16="http://schemas.microsoft.com/office/drawing/2014/main" id="{9271F5DF-CBD2-D653-039F-6231C4FB1807}"/>
                </a:ext>
              </a:extLst>
            </p:cNvPr>
            <p:cNvSpPr txBox="1"/>
            <p:nvPr/>
          </p:nvSpPr>
          <p:spPr>
            <a:xfrm>
              <a:off x="4993009" y="530061"/>
              <a:ext cx="891407" cy="461665"/>
            </a:xfrm>
            <a:prstGeom prst="rect">
              <a:avLst/>
            </a:prstGeom>
            <a:noFill/>
          </p:spPr>
          <p:txBody>
            <a:bodyPr wrap="square" rtlCol="0">
              <a:spAutoFit/>
            </a:bodyPr>
            <a:lstStyle/>
            <a:p>
              <a:pPr algn="ctr"/>
              <a:r>
                <a:rPr lang="en-US" sz="1200"/>
                <a:t>Recycle Ratio: 3:1</a:t>
              </a:r>
            </a:p>
          </p:txBody>
        </p:sp>
      </p:grpSp>
      <p:sp>
        <p:nvSpPr>
          <p:cNvPr id="67" name="Title 1">
            <a:extLst>
              <a:ext uri="{FF2B5EF4-FFF2-40B4-BE49-F238E27FC236}">
                <a16:creationId xmlns:a16="http://schemas.microsoft.com/office/drawing/2014/main" id="{EE1139CC-2D51-130D-020D-C8A9E5A36D79}"/>
              </a:ext>
            </a:extLst>
          </p:cNvPr>
          <p:cNvSpPr txBox="1">
            <a:spLocks/>
          </p:cNvSpPr>
          <p:nvPr/>
        </p:nvSpPr>
        <p:spPr>
          <a:xfrm>
            <a:off x="288750" y="317653"/>
            <a:ext cx="4489638" cy="82200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a:t>Block Flow Diagram</a:t>
            </a:r>
          </a:p>
        </p:txBody>
      </p:sp>
      <p:grpSp>
        <p:nvGrpSpPr>
          <p:cNvPr id="2" name="Group 1">
            <a:extLst>
              <a:ext uri="{FF2B5EF4-FFF2-40B4-BE49-F238E27FC236}">
                <a16:creationId xmlns:a16="http://schemas.microsoft.com/office/drawing/2014/main" id="{A61F9A56-8853-E0CF-D28D-FF1CB5DE1FD8}"/>
              </a:ext>
            </a:extLst>
          </p:cNvPr>
          <p:cNvGrpSpPr/>
          <p:nvPr/>
        </p:nvGrpSpPr>
        <p:grpSpPr>
          <a:xfrm>
            <a:off x="7139380" y="1969660"/>
            <a:ext cx="1110969" cy="1125473"/>
            <a:chOff x="5272434" y="4376582"/>
            <a:chExt cx="1402531" cy="1863954"/>
          </a:xfrm>
          <a:solidFill>
            <a:srgbClr val="84E291"/>
          </a:solidFill>
        </p:grpSpPr>
        <p:sp>
          <p:nvSpPr>
            <p:cNvPr id="7" name="Rectangle: Rounded Corners 34">
              <a:extLst>
                <a:ext uri="{FF2B5EF4-FFF2-40B4-BE49-F238E27FC236}">
                  <a16:creationId xmlns:a16="http://schemas.microsoft.com/office/drawing/2014/main" id="{6B14FC72-EA84-6876-24FC-07D663C5E50A}"/>
                </a:ext>
              </a:extLst>
            </p:cNvPr>
            <p:cNvSpPr/>
            <p:nvPr/>
          </p:nvSpPr>
          <p:spPr>
            <a:xfrm>
              <a:off x="5272434" y="4393096"/>
              <a:ext cx="1402531" cy="179477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350181AA-CB17-4803-8FF9-662006D9E6C0}"/>
                </a:ext>
              </a:extLst>
            </p:cNvPr>
            <p:cNvSpPr txBox="1"/>
            <p:nvPr/>
          </p:nvSpPr>
          <p:spPr>
            <a:xfrm>
              <a:off x="5310971" y="4376582"/>
              <a:ext cx="1325455" cy="1863954"/>
            </a:xfrm>
            <a:prstGeom prst="rect">
              <a:avLst/>
            </a:prstGeom>
            <a:noFill/>
          </p:spPr>
          <p:txBody>
            <a:bodyPr wrap="square" rtlCol="0" anchor="ctr">
              <a:spAutoFit/>
            </a:bodyPr>
            <a:lstStyle/>
            <a:p>
              <a:pPr algn="ctr"/>
              <a:r>
                <a:rPr lang="en-US" sz="1200" u="sng"/>
                <a:t>Recycle Stream</a:t>
              </a:r>
            </a:p>
            <a:p>
              <a:pPr algn="ctr"/>
              <a:endParaRPr lang="en-US" sz="800"/>
            </a:p>
            <a:p>
              <a:pPr algn="ctr" fontAlgn="base"/>
              <a:r>
                <a:rPr lang="en-US" sz="1200"/>
                <a:t>Impure Iron, Ni, Cr, Mo, </a:t>
              </a:r>
            </a:p>
          </p:txBody>
        </p:sp>
      </p:grpSp>
      <p:sp>
        <p:nvSpPr>
          <p:cNvPr id="13" name="TextBox 12">
            <a:extLst>
              <a:ext uri="{FF2B5EF4-FFF2-40B4-BE49-F238E27FC236}">
                <a16:creationId xmlns:a16="http://schemas.microsoft.com/office/drawing/2014/main" id="{EB3FF5F0-075E-01D7-5D53-8F74AE487475}"/>
              </a:ext>
            </a:extLst>
          </p:cNvPr>
          <p:cNvSpPr txBox="1"/>
          <p:nvPr/>
        </p:nvSpPr>
        <p:spPr>
          <a:xfrm>
            <a:off x="263773" y="1663266"/>
            <a:ext cx="1810432" cy="523220"/>
          </a:xfrm>
          <a:prstGeom prst="rect">
            <a:avLst/>
          </a:prstGeom>
          <a:noFill/>
        </p:spPr>
        <p:txBody>
          <a:bodyPr wrap="none" rtlCol="0">
            <a:spAutoFit/>
          </a:bodyPr>
          <a:lstStyle/>
          <a:p>
            <a:r>
              <a:rPr lang="en-US" sz="2500"/>
              <a:t>25</a:t>
            </a:r>
            <a:r>
              <a:rPr lang="en-US" sz="2800"/>
              <a:t>°</a:t>
            </a:r>
            <a:r>
              <a:rPr lang="en-US" sz="2500"/>
              <a:t>C, 1atm</a:t>
            </a:r>
          </a:p>
        </p:txBody>
      </p:sp>
      <p:sp>
        <p:nvSpPr>
          <p:cNvPr id="16" name="TextBox 15">
            <a:extLst>
              <a:ext uri="{FF2B5EF4-FFF2-40B4-BE49-F238E27FC236}">
                <a16:creationId xmlns:a16="http://schemas.microsoft.com/office/drawing/2014/main" id="{BFDF9E7D-CE41-6228-1FF2-CA1FAD25FA4B}"/>
              </a:ext>
            </a:extLst>
          </p:cNvPr>
          <p:cNvSpPr txBox="1"/>
          <p:nvPr/>
        </p:nvSpPr>
        <p:spPr>
          <a:xfrm>
            <a:off x="2140302" y="2845880"/>
            <a:ext cx="1064715" cy="477054"/>
          </a:xfrm>
          <a:prstGeom prst="rect">
            <a:avLst/>
          </a:prstGeom>
          <a:noFill/>
        </p:spPr>
        <p:txBody>
          <a:bodyPr wrap="none" rtlCol="0">
            <a:spAutoFit/>
          </a:bodyPr>
          <a:lstStyle/>
          <a:p>
            <a:r>
              <a:rPr lang="en-US" sz="2500"/>
              <a:t>??? </a:t>
            </a:r>
            <a:r>
              <a:rPr lang="en-US" sz="2400"/>
              <a:t>°</a:t>
            </a:r>
            <a:r>
              <a:rPr lang="en-US" sz="2500"/>
              <a:t>C</a:t>
            </a:r>
          </a:p>
        </p:txBody>
      </p:sp>
      <p:sp>
        <p:nvSpPr>
          <p:cNvPr id="17" name="TextBox 16">
            <a:extLst>
              <a:ext uri="{FF2B5EF4-FFF2-40B4-BE49-F238E27FC236}">
                <a16:creationId xmlns:a16="http://schemas.microsoft.com/office/drawing/2014/main" id="{DA97EA3C-5BA7-A294-1B60-D7C1DB21A639}"/>
              </a:ext>
            </a:extLst>
          </p:cNvPr>
          <p:cNvSpPr txBox="1"/>
          <p:nvPr/>
        </p:nvSpPr>
        <p:spPr>
          <a:xfrm>
            <a:off x="5517152" y="3511729"/>
            <a:ext cx="1204176" cy="477054"/>
          </a:xfrm>
          <a:prstGeom prst="rect">
            <a:avLst/>
          </a:prstGeom>
          <a:noFill/>
        </p:spPr>
        <p:txBody>
          <a:bodyPr wrap="none" rtlCol="0">
            <a:spAutoFit/>
          </a:bodyPr>
          <a:lstStyle/>
          <a:p>
            <a:r>
              <a:rPr lang="en-US" sz="2500"/>
              <a:t>1700</a:t>
            </a:r>
            <a:r>
              <a:rPr lang="en-US" sz="2400"/>
              <a:t>°</a:t>
            </a:r>
            <a:r>
              <a:rPr lang="en-US" sz="2500"/>
              <a:t>C</a:t>
            </a:r>
          </a:p>
        </p:txBody>
      </p:sp>
      <p:sp>
        <p:nvSpPr>
          <p:cNvPr id="18" name="TextBox 17">
            <a:extLst>
              <a:ext uri="{FF2B5EF4-FFF2-40B4-BE49-F238E27FC236}">
                <a16:creationId xmlns:a16="http://schemas.microsoft.com/office/drawing/2014/main" id="{17C05170-8846-7395-86DB-B1A8C32160B3}"/>
              </a:ext>
            </a:extLst>
          </p:cNvPr>
          <p:cNvSpPr txBox="1"/>
          <p:nvPr/>
        </p:nvSpPr>
        <p:spPr>
          <a:xfrm>
            <a:off x="10358818" y="4177616"/>
            <a:ext cx="1204176" cy="477054"/>
          </a:xfrm>
          <a:prstGeom prst="rect">
            <a:avLst/>
          </a:prstGeom>
          <a:noFill/>
        </p:spPr>
        <p:txBody>
          <a:bodyPr wrap="none" rtlCol="0">
            <a:spAutoFit/>
          </a:bodyPr>
          <a:lstStyle/>
          <a:p>
            <a:r>
              <a:rPr lang="en-US" sz="2500"/>
              <a:t>1700</a:t>
            </a:r>
            <a:r>
              <a:rPr lang="en-US" sz="2400"/>
              <a:t>°</a:t>
            </a:r>
            <a:r>
              <a:rPr lang="en-US" sz="2500"/>
              <a:t>C</a:t>
            </a:r>
          </a:p>
        </p:txBody>
      </p:sp>
      <p:sp>
        <p:nvSpPr>
          <p:cNvPr id="20" name="TextBox 19">
            <a:extLst>
              <a:ext uri="{FF2B5EF4-FFF2-40B4-BE49-F238E27FC236}">
                <a16:creationId xmlns:a16="http://schemas.microsoft.com/office/drawing/2014/main" id="{ABC71626-E8A7-846A-D77A-676F60321D9B}"/>
              </a:ext>
            </a:extLst>
          </p:cNvPr>
          <p:cNvSpPr txBox="1"/>
          <p:nvPr/>
        </p:nvSpPr>
        <p:spPr>
          <a:xfrm>
            <a:off x="8516309" y="2995522"/>
            <a:ext cx="1204176" cy="477054"/>
          </a:xfrm>
          <a:prstGeom prst="rect">
            <a:avLst/>
          </a:prstGeom>
          <a:noFill/>
        </p:spPr>
        <p:txBody>
          <a:bodyPr wrap="none" rtlCol="0">
            <a:spAutoFit/>
          </a:bodyPr>
          <a:lstStyle/>
          <a:p>
            <a:r>
              <a:rPr lang="en-US" sz="2500"/>
              <a:t>1700</a:t>
            </a:r>
            <a:r>
              <a:rPr lang="en-US" sz="2400"/>
              <a:t>°</a:t>
            </a:r>
            <a:r>
              <a:rPr lang="en-US" sz="2500"/>
              <a:t>C</a:t>
            </a:r>
          </a:p>
        </p:txBody>
      </p:sp>
      <p:sp>
        <p:nvSpPr>
          <p:cNvPr id="21" name="TextBox 20">
            <a:extLst>
              <a:ext uri="{FF2B5EF4-FFF2-40B4-BE49-F238E27FC236}">
                <a16:creationId xmlns:a16="http://schemas.microsoft.com/office/drawing/2014/main" id="{84859A53-1F54-5A2E-219E-BC68CEF12D61}"/>
              </a:ext>
            </a:extLst>
          </p:cNvPr>
          <p:cNvSpPr txBox="1"/>
          <p:nvPr/>
        </p:nvSpPr>
        <p:spPr>
          <a:xfrm>
            <a:off x="7193306" y="5831501"/>
            <a:ext cx="1204176" cy="477054"/>
          </a:xfrm>
          <a:prstGeom prst="rect">
            <a:avLst/>
          </a:prstGeom>
          <a:noFill/>
        </p:spPr>
        <p:txBody>
          <a:bodyPr wrap="none" rtlCol="0">
            <a:spAutoFit/>
          </a:bodyPr>
          <a:lstStyle/>
          <a:p>
            <a:r>
              <a:rPr lang="en-US" sz="2500"/>
              <a:t>1700</a:t>
            </a:r>
            <a:r>
              <a:rPr lang="en-US" sz="2400"/>
              <a:t>°</a:t>
            </a:r>
            <a:r>
              <a:rPr lang="en-US" sz="2500"/>
              <a:t>C</a:t>
            </a:r>
          </a:p>
        </p:txBody>
      </p:sp>
    </p:spTree>
    <p:extLst>
      <p:ext uri="{BB962C8B-B14F-4D97-AF65-F5344CB8AC3E}">
        <p14:creationId xmlns:p14="http://schemas.microsoft.com/office/powerpoint/2010/main" val="1652419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59C524-08EF-0694-8AA2-6BE9ADAC2E3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88C960EB-341A-8250-1B39-BAFF47EA0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B14C42-0117-FE63-68E4-E7D787CBD0DC}"/>
              </a:ext>
            </a:extLst>
          </p:cNvPr>
          <p:cNvSpPr>
            <a:spLocks noGrp="1"/>
          </p:cNvSpPr>
          <p:nvPr>
            <p:ph type="title"/>
          </p:nvPr>
        </p:nvSpPr>
        <p:spPr>
          <a:xfrm>
            <a:off x="571459" y="1693052"/>
            <a:ext cx="3087444" cy="661259"/>
          </a:xfrm>
        </p:spPr>
        <p:txBody>
          <a:bodyPr vert="horz" lIns="91440" tIns="45720" rIns="91440" bIns="45720" rtlCol="0" anchor="t">
            <a:normAutofit/>
          </a:bodyPr>
          <a:lstStyle/>
          <a:p>
            <a:pPr algn="ctr"/>
            <a:r>
              <a:rPr lang="en-US" sz="4000" kern="1200">
                <a:solidFill>
                  <a:srgbClr val="FFFFFF"/>
                </a:solidFill>
                <a:latin typeface="+mj-lt"/>
                <a:ea typeface="+mj-ea"/>
                <a:cs typeface="+mj-cs"/>
              </a:rPr>
              <a:t>Assumptions</a:t>
            </a:r>
          </a:p>
        </p:txBody>
      </p:sp>
      <p:cxnSp>
        <p:nvCxnSpPr>
          <p:cNvPr id="7" name="Straight Connector 6">
            <a:extLst>
              <a:ext uri="{FF2B5EF4-FFF2-40B4-BE49-F238E27FC236}">
                <a16:creationId xmlns:a16="http://schemas.microsoft.com/office/drawing/2014/main" id="{69852271-2BB6-6CFE-9130-EA58C373474B}"/>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9E10C318-F2A6-CA98-984E-5A171F4FF869}"/>
              </a:ext>
            </a:extLst>
          </p:cNvPr>
          <p:cNvSpPr txBox="1">
            <a:spLocks/>
          </p:cNvSpPr>
          <p:nvPr/>
        </p:nvSpPr>
        <p:spPr>
          <a:xfrm>
            <a:off x="571459" y="2691026"/>
            <a:ext cx="3087444" cy="661259"/>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a:solidFill>
                <a:srgbClr val="FFFFFF"/>
              </a:solidFill>
            </a:endParaRPr>
          </a:p>
        </p:txBody>
      </p:sp>
      <p:sp>
        <p:nvSpPr>
          <p:cNvPr id="4" name="Title 1">
            <a:extLst>
              <a:ext uri="{FF2B5EF4-FFF2-40B4-BE49-F238E27FC236}">
                <a16:creationId xmlns:a16="http://schemas.microsoft.com/office/drawing/2014/main" id="{8DAF6A24-32A0-A7E3-7582-68BDFF11EE1A}"/>
              </a:ext>
            </a:extLst>
          </p:cNvPr>
          <p:cNvSpPr txBox="1">
            <a:spLocks/>
          </p:cNvSpPr>
          <p:nvPr/>
        </p:nvSpPr>
        <p:spPr>
          <a:xfrm>
            <a:off x="372576" y="2766331"/>
            <a:ext cx="3313897" cy="91093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000">
              <a:solidFill>
                <a:srgbClr val="FFFFFF"/>
              </a:solidFill>
            </a:endParaRPr>
          </a:p>
        </p:txBody>
      </p:sp>
      <p:sp>
        <p:nvSpPr>
          <p:cNvPr id="5" name="Content Placeholder 2">
            <a:extLst>
              <a:ext uri="{FF2B5EF4-FFF2-40B4-BE49-F238E27FC236}">
                <a16:creationId xmlns:a16="http://schemas.microsoft.com/office/drawing/2014/main" id="{533ABA4F-D55A-765D-91E1-EF6C0C8441C5}"/>
              </a:ext>
            </a:extLst>
          </p:cNvPr>
          <p:cNvSpPr>
            <a:spLocks noGrp="1"/>
          </p:cNvSpPr>
          <p:nvPr>
            <p:ph idx="1"/>
          </p:nvPr>
        </p:nvSpPr>
        <p:spPr>
          <a:xfrm>
            <a:off x="4285503" y="1945009"/>
            <a:ext cx="7694897" cy="3464509"/>
          </a:xfrm>
        </p:spPr>
        <p:txBody>
          <a:bodyPr>
            <a:noAutofit/>
          </a:bodyPr>
          <a:lstStyle/>
          <a:p>
            <a:r>
              <a:rPr lang="en-US" sz="3200"/>
              <a:t>Fresh Feed at STP</a:t>
            </a:r>
          </a:p>
          <a:p>
            <a:r>
              <a:rPr lang="en-US" sz="3200"/>
              <a:t>No atmospheric change</a:t>
            </a:r>
          </a:p>
          <a:p>
            <a:r>
              <a:rPr lang="en-US" sz="3200"/>
              <a:t>0.16 RR; 85% FPC</a:t>
            </a:r>
          </a:p>
          <a:p>
            <a:r>
              <a:rPr lang="en-US" sz="3200"/>
              <a:t>Inert material is insignificant</a:t>
            </a:r>
          </a:p>
          <a:p>
            <a:r>
              <a:rPr lang="en-US" sz="3200"/>
              <a:t>No heat loss in transportation</a:t>
            </a:r>
          </a:p>
          <a:p>
            <a:r>
              <a:rPr lang="en-US" sz="3200"/>
              <a:t>Things that can melt, will melt</a:t>
            </a:r>
          </a:p>
        </p:txBody>
      </p:sp>
    </p:spTree>
    <p:extLst>
      <p:ext uri="{BB962C8B-B14F-4D97-AF65-F5344CB8AC3E}">
        <p14:creationId xmlns:p14="http://schemas.microsoft.com/office/powerpoint/2010/main" val="2208569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75FDF4-ED52-554A-332E-8ABA2213321C}"/>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BCC6663-52D7-3727-DD1A-0487DA016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72AFBF-4867-08A9-7B08-2E2C57246F30}"/>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DCD5BA25-59DF-DBBD-EEC8-796278E5021E}"/>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3" name="Title 1">
            <a:extLst>
              <a:ext uri="{FF2B5EF4-FFF2-40B4-BE49-F238E27FC236}">
                <a16:creationId xmlns:a16="http://schemas.microsoft.com/office/drawing/2014/main" id="{ACB98725-B47F-1062-0BF2-2E93A14C11CA}"/>
              </a:ext>
            </a:extLst>
          </p:cNvPr>
          <p:cNvSpPr txBox="1">
            <a:spLocks/>
          </p:cNvSpPr>
          <p:nvPr/>
        </p:nvSpPr>
        <p:spPr>
          <a:xfrm>
            <a:off x="571459" y="2691026"/>
            <a:ext cx="3087444" cy="661259"/>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a:solidFill>
                <a:srgbClr val="FFFFFF"/>
              </a:solidFill>
            </a:endParaRPr>
          </a:p>
        </p:txBody>
      </p:sp>
      <p:sp>
        <p:nvSpPr>
          <p:cNvPr id="4" name="Title 1">
            <a:extLst>
              <a:ext uri="{FF2B5EF4-FFF2-40B4-BE49-F238E27FC236}">
                <a16:creationId xmlns:a16="http://schemas.microsoft.com/office/drawing/2014/main" id="{37CF5DE0-0392-3927-E58D-BFF50AD9222E}"/>
              </a:ext>
            </a:extLst>
          </p:cNvPr>
          <p:cNvSpPr txBox="1">
            <a:spLocks/>
          </p:cNvSpPr>
          <p:nvPr/>
        </p:nvSpPr>
        <p:spPr>
          <a:xfrm>
            <a:off x="372576" y="2766331"/>
            <a:ext cx="3313897" cy="910933"/>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a:solidFill>
                  <a:srgbClr val="FFFFFF"/>
                </a:solidFill>
              </a:rPr>
              <a:t>Energy Balance Equation</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E41F285E-2E74-683B-1E3D-520D22B2198F}"/>
                  </a:ext>
                </a:extLst>
              </p:cNvPr>
              <p:cNvSpPr>
                <a:spLocks noGrp="1"/>
              </p:cNvSpPr>
              <p:nvPr>
                <p:ph idx="1"/>
              </p:nvPr>
            </p:nvSpPr>
            <p:spPr>
              <a:xfrm>
                <a:off x="4285503" y="2484007"/>
                <a:ext cx="7694897" cy="564649"/>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sty m:val="p"/>
                        </m:rPr>
                        <a:rPr lang="en-US" sz="5000" b="0" i="0" smtClean="0">
                          <a:latin typeface="Cambria Math" panose="02040503050406030204" pitchFamily="18" charset="0"/>
                        </a:rPr>
                        <m:t>Δ</m:t>
                      </m:r>
                      <m:r>
                        <a:rPr lang="en-US" sz="5000" b="0" i="1" smtClean="0">
                          <a:latin typeface="Cambria Math" panose="02040503050406030204" pitchFamily="18" charset="0"/>
                        </a:rPr>
                        <m:t>𝐻</m:t>
                      </m:r>
                      <m:r>
                        <a:rPr lang="en-US" sz="5000" b="0" i="1" smtClean="0">
                          <a:latin typeface="Cambria Math" panose="02040503050406030204" pitchFamily="18" charset="0"/>
                        </a:rPr>
                        <m:t>+</m:t>
                      </m:r>
                      <m:r>
                        <m:rPr>
                          <m:sty m:val="p"/>
                        </m:rPr>
                        <a:rPr lang="en-US" sz="5000" b="0" i="0" smtClean="0">
                          <a:latin typeface="Cambria Math" panose="02040503050406030204" pitchFamily="18" charset="0"/>
                        </a:rPr>
                        <m:t>Δ</m:t>
                      </m:r>
                      <m:sSub>
                        <m:sSubPr>
                          <m:ctrlPr>
                            <a:rPr lang="en-US" sz="5000" b="0" i="1" smtClean="0">
                              <a:latin typeface="Cambria Math" panose="02040503050406030204" pitchFamily="18" charset="0"/>
                            </a:rPr>
                          </m:ctrlPr>
                        </m:sSubPr>
                        <m:e>
                          <m:r>
                            <a:rPr lang="en-US" sz="5000" b="0" i="1" smtClean="0">
                              <a:latin typeface="Cambria Math" panose="02040503050406030204" pitchFamily="18" charset="0"/>
                            </a:rPr>
                            <m:t>𝐸</m:t>
                          </m:r>
                        </m:e>
                        <m:sub>
                          <m:r>
                            <a:rPr lang="en-US" sz="5000" b="0" i="1" smtClean="0">
                              <a:latin typeface="Cambria Math" panose="02040503050406030204" pitchFamily="18" charset="0"/>
                            </a:rPr>
                            <m:t>𝐾</m:t>
                          </m:r>
                        </m:sub>
                      </m:sSub>
                      <m:r>
                        <a:rPr lang="en-US" sz="5000" b="0" i="1" smtClean="0">
                          <a:latin typeface="Cambria Math" panose="02040503050406030204" pitchFamily="18" charset="0"/>
                        </a:rPr>
                        <m:t>+</m:t>
                      </m:r>
                      <m:r>
                        <m:rPr>
                          <m:sty m:val="p"/>
                        </m:rPr>
                        <a:rPr lang="en-US" sz="5000" b="0" i="0" smtClean="0">
                          <a:latin typeface="Cambria Math" panose="02040503050406030204" pitchFamily="18" charset="0"/>
                        </a:rPr>
                        <m:t>Δ</m:t>
                      </m:r>
                      <m:sSub>
                        <m:sSubPr>
                          <m:ctrlPr>
                            <a:rPr lang="en-US" sz="5000" b="0" i="1" smtClean="0">
                              <a:latin typeface="Cambria Math" panose="02040503050406030204" pitchFamily="18" charset="0"/>
                            </a:rPr>
                          </m:ctrlPr>
                        </m:sSubPr>
                        <m:e>
                          <m:r>
                            <a:rPr lang="en-US" sz="5000" b="0" i="1" smtClean="0">
                              <a:latin typeface="Cambria Math" panose="02040503050406030204" pitchFamily="18" charset="0"/>
                            </a:rPr>
                            <m:t>𝐸</m:t>
                          </m:r>
                        </m:e>
                        <m:sub>
                          <m:r>
                            <a:rPr lang="en-US" sz="5000" b="0" i="1" smtClean="0">
                              <a:latin typeface="Cambria Math" panose="02040503050406030204" pitchFamily="18" charset="0"/>
                            </a:rPr>
                            <m:t>𝑃</m:t>
                          </m:r>
                        </m:sub>
                      </m:sSub>
                      <m:r>
                        <a:rPr lang="en-US" sz="5000" b="0" i="1" smtClean="0">
                          <a:latin typeface="Cambria Math" panose="02040503050406030204" pitchFamily="18" charset="0"/>
                        </a:rPr>
                        <m:t>=</m:t>
                      </m:r>
                      <m:r>
                        <a:rPr lang="en-US" sz="5000" b="0" i="1" smtClean="0">
                          <a:latin typeface="Cambria Math" panose="02040503050406030204" pitchFamily="18" charset="0"/>
                        </a:rPr>
                        <m:t>𝑄</m:t>
                      </m:r>
                      <m:r>
                        <a:rPr lang="en-US" sz="5000" b="0" i="1" smtClean="0">
                          <a:latin typeface="Cambria Math" panose="02040503050406030204" pitchFamily="18" charset="0"/>
                        </a:rPr>
                        <m:t>−</m:t>
                      </m:r>
                      <m:sSub>
                        <m:sSubPr>
                          <m:ctrlPr>
                            <a:rPr lang="en-US" sz="5000" b="0" i="1" smtClean="0">
                              <a:latin typeface="Cambria Math" panose="02040503050406030204" pitchFamily="18" charset="0"/>
                            </a:rPr>
                          </m:ctrlPr>
                        </m:sSubPr>
                        <m:e>
                          <m:r>
                            <a:rPr lang="en-US" sz="5000" b="0" i="1" smtClean="0">
                              <a:latin typeface="Cambria Math" panose="02040503050406030204" pitchFamily="18" charset="0"/>
                            </a:rPr>
                            <m:t>𝑊</m:t>
                          </m:r>
                        </m:e>
                        <m:sub>
                          <m:r>
                            <a:rPr lang="en-US" sz="5000" b="0" i="1" smtClean="0">
                              <a:latin typeface="Cambria Math" panose="02040503050406030204" pitchFamily="18" charset="0"/>
                            </a:rPr>
                            <m:t>𝑆</m:t>
                          </m:r>
                        </m:sub>
                      </m:sSub>
                    </m:oMath>
                  </m:oMathPara>
                </a14:m>
                <a:endParaRPr lang="en-US" sz="5000"/>
              </a:p>
            </p:txBody>
          </p:sp>
        </mc:Choice>
        <mc:Fallback xmlns="">
          <p:sp>
            <p:nvSpPr>
              <p:cNvPr id="5" name="Content Placeholder 2">
                <a:extLst>
                  <a:ext uri="{FF2B5EF4-FFF2-40B4-BE49-F238E27FC236}">
                    <a16:creationId xmlns:a16="http://schemas.microsoft.com/office/drawing/2014/main" id="{E41F285E-2E74-683B-1E3D-520D22B2198F}"/>
                  </a:ext>
                </a:extLst>
              </p:cNvPr>
              <p:cNvSpPr>
                <a:spLocks noGrp="1" noRot="1" noChangeAspect="1" noMove="1" noResize="1" noEditPoints="1" noAdjustHandles="1" noChangeArrowheads="1" noChangeShapeType="1" noTextEdit="1"/>
              </p:cNvSpPr>
              <p:nvPr>
                <p:ph idx="1"/>
              </p:nvPr>
            </p:nvSpPr>
            <p:spPr>
              <a:xfrm>
                <a:off x="4285503" y="2484007"/>
                <a:ext cx="7694897" cy="564649"/>
              </a:xfrm>
              <a:blipFill>
                <a:blip r:embed="rId2"/>
                <a:stretch>
                  <a:fillRect b="-22581"/>
                </a:stretch>
              </a:blipFill>
            </p:spPr>
            <p:txBody>
              <a:bodyPr/>
              <a:lstStyle/>
              <a:p>
                <a:r>
                  <a:rPr lang="en-US">
                    <a:noFill/>
                  </a:rPr>
                  <a:t> </a:t>
                </a:r>
              </a:p>
            </p:txBody>
          </p:sp>
        </mc:Fallback>
      </mc:AlternateContent>
    </p:spTree>
    <p:extLst>
      <p:ext uri="{BB962C8B-B14F-4D97-AF65-F5344CB8AC3E}">
        <p14:creationId xmlns:p14="http://schemas.microsoft.com/office/powerpoint/2010/main" val="4012096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955A5C-1B08-6103-E770-5617F620B39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FA58849B-7B23-1FB4-470D-259D7769E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7F4AEEF-6941-AEA6-595F-D327B549651A}"/>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59EA251A-5C0F-66A3-FE97-6CC5EB4D7F63}"/>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CF750BD1-0E4B-4518-2B1D-FAD9C0D34C52}"/>
              </a:ext>
            </a:extLst>
          </p:cNvPr>
          <p:cNvSpPr txBox="1">
            <a:spLocks/>
          </p:cNvSpPr>
          <p:nvPr/>
        </p:nvSpPr>
        <p:spPr>
          <a:xfrm>
            <a:off x="211600" y="2766332"/>
            <a:ext cx="4073903" cy="128103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No kinetic energy</a:t>
            </a:r>
          </a:p>
          <a:p>
            <a:pPr marL="571500" indent="-571500">
              <a:buFont typeface="Arial" panose="020B0604020202020204" pitchFamily="34" charset="0"/>
              <a:buChar char="•"/>
            </a:pPr>
            <a:r>
              <a:rPr lang="en-US" sz="3000">
                <a:solidFill>
                  <a:srgbClr val="FFFFFF"/>
                </a:solidFill>
              </a:rPr>
              <a:t>No potential energy</a:t>
            </a:r>
          </a:p>
          <a:p>
            <a:pPr marL="571500" indent="-571500">
              <a:buFont typeface="Arial" panose="020B0604020202020204" pitchFamily="34" charset="0"/>
              <a:buChar char="•"/>
            </a:pPr>
            <a:r>
              <a:rPr lang="en-US" sz="3000">
                <a:solidFill>
                  <a:srgbClr val="FFFFFF"/>
                </a:solidFill>
              </a:rPr>
              <a:t>No shaft work</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91AF9B92-B351-BEEF-6A29-53E73EB227BF}"/>
                  </a:ext>
                </a:extLst>
              </p:cNvPr>
              <p:cNvSpPr>
                <a:spLocks noGrp="1"/>
              </p:cNvSpPr>
              <p:nvPr>
                <p:ph idx="1"/>
              </p:nvPr>
            </p:nvSpPr>
            <p:spPr>
              <a:xfrm>
                <a:off x="4285503" y="2484007"/>
                <a:ext cx="7694897" cy="564649"/>
              </a:xfrm>
            </p:spPr>
            <p:txBody>
              <a:bodyPr>
                <a:noAutofit/>
              </a:bodyPr>
              <a:lstStyle/>
              <a:p>
                <a:pPr marL="0" indent="0">
                  <a:buNone/>
                </a:pPr>
                <a14:m>
                  <m:oMathPara xmlns:m="http://schemas.openxmlformats.org/officeDocument/2006/math">
                    <m:oMathParaPr>
                      <m:jc m:val="centerGroup"/>
                    </m:oMathParaPr>
                    <m:oMath xmlns:m="http://schemas.openxmlformats.org/officeDocument/2006/math">
                      <m:r>
                        <m:rPr>
                          <m:sty m:val="p"/>
                        </m:rPr>
                        <a:rPr lang="en-US" sz="5000" b="0" i="0" smtClean="0">
                          <a:latin typeface="Cambria Math" panose="02040503050406030204" pitchFamily="18" charset="0"/>
                        </a:rPr>
                        <m:t>Δ</m:t>
                      </m:r>
                      <m:r>
                        <a:rPr lang="en-US" sz="5000" b="0" i="1" smtClean="0">
                          <a:latin typeface="Cambria Math" panose="02040503050406030204" pitchFamily="18" charset="0"/>
                        </a:rPr>
                        <m:t>𝐻</m:t>
                      </m:r>
                      <m:r>
                        <a:rPr lang="en-US" sz="5000" b="0" i="1" smtClean="0">
                          <a:latin typeface="Cambria Math" panose="02040503050406030204" pitchFamily="18" charset="0"/>
                        </a:rPr>
                        <m:t>+</m:t>
                      </m:r>
                      <m:r>
                        <m:rPr>
                          <m:sty m:val="p"/>
                        </m:rPr>
                        <a:rPr lang="en-US" sz="5000" b="0" i="0" smtClean="0">
                          <a:latin typeface="Cambria Math" panose="02040503050406030204" pitchFamily="18" charset="0"/>
                        </a:rPr>
                        <m:t>Δ</m:t>
                      </m:r>
                      <m:sSub>
                        <m:sSubPr>
                          <m:ctrlPr>
                            <a:rPr lang="en-US" sz="5000" b="0" i="1" smtClean="0">
                              <a:latin typeface="Cambria Math" panose="02040503050406030204" pitchFamily="18" charset="0"/>
                            </a:rPr>
                          </m:ctrlPr>
                        </m:sSubPr>
                        <m:e>
                          <m:r>
                            <a:rPr lang="en-US" sz="5000" b="0" i="1" smtClean="0">
                              <a:latin typeface="Cambria Math" panose="02040503050406030204" pitchFamily="18" charset="0"/>
                            </a:rPr>
                            <m:t>𝐸</m:t>
                          </m:r>
                        </m:e>
                        <m:sub>
                          <m:r>
                            <a:rPr lang="en-US" sz="5000" b="0" i="1" smtClean="0">
                              <a:latin typeface="Cambria Math" panose="02040503050406030204" pitchFamily="18" charset="0"/>
                            </a:rPr>
                            <m:t>𝐾</m:t>
                          </m:r>
                        </m:sub>
                      </m:sSub>
                      <m:r>
                        <a:rPr lang="en-US" sz="5000" b="0" i="1" smtClean="0">
                          <a:latin typeface="Cambria Math" panose="02040503050406030204" pitchFamily="18" charset="0"/>
                        </a:rPr>
                        <m:t>+</m:t>
                      </m:r>
                      <m:r>
                        <m:rPr>
                          <m:sty m:val="p"/>
                        </m:rPr>
                        <a:rPr lang="en-US" sz="5000" b="0" i="0" smtClean="0">
                          <a:latin typeface="Cambria Math" panose="02040503050406030204" pitchFamily="18" charset="0"/>
                        </a:rPr>
                        <m:t>Δ</m:t>
                      </m:r>
                      <m:sSub>
                        <m:sSubPr>
                          <m:ctrlPr>
                            <a:rPr lang="en-US" sz="5000" b="0" i="1" smtClean="0">
                              <a:latin typeface="Cambria Math" panose="02040503050406030204" pitchFamily="18" charset="0"/>
                            </a:rPr>
                          </m:ctrlPr>
                        </m:sSubPr>
                        <m:e>
                          <m:r>
                            <a:rPr lang="en-US" sz="5000" b="0" i="1" smtClean="0">
                              <a:latin typeface="Cambria Math" panose="02040503050406030204" pitchFamily="18" charset="0"/>
                            </a:rPr>
                            <m:t>𝐸</m:t>
                          </m:r>
                        </m:e>
                        <m:sub>
                          <m:r>
                            <a:rPr lang="en-US" sz="5000" b="0" i="1" smtClean="0">
                              <a:latin typeface="Cambria Math" panose="02040503050406030204" pitchFamily="18" charset="0"/>
                            </a:rPr>
                            <m:t>𝑃</m:t>
                          </m:r>
                        </m:sub>
                      </m:sSub>
                      <m:r>
                        <a:rPr lang="en-US" sz="5000" b="0" i="1" smtClean="0">
                          <a:latin typeface="Cambria Math" panose="02040503050406030204" pitchFamily="18" charset="0"/>
                        </a:rPr>
                        <m:t>=</m:t>
                      </m:r>
                      <m:r>
                        <a:rPr lang="en-US" sz="5000" b="0" i="1" smtClean="0">
                          <a:latin typeface="Cambria Math" panose="02040503050406030204" pitchFamily="18" charset="0"/>
                        </a:rPr>
                        <m:t>𝑄</m:t>
                      </m:r>
                      <m:r>
                        <a:rPr lang="en-US" sz="5000" b="0" i="1" smtClean="0">
                          <a:latin typeface="Cambria Math" panose="02040503050406030204" pitchFamily="18" charset="0"/>
                        </a:rPr>
                        <m:t>−</m:t>
                      </m:r>
                      <m:sSub>
                        <m:sSubPr>
                          <m:ctrlPr>
                            <a:rPr lang="en-US" sz="5000" b="0" i="1" smtClean="0">
                              <a:latin typeface="Cambria Math" panose="02040503050406030204" pitchFamily="18" charset="0"/>
                            </a:rPr>
                          </m:ctrlPr>
                        </m:sSubPr>
                        <m:e>
                          <m:r>
                            <a:rPr lang="en-US" sz="5000" b="0" i="1" smtClean="0">
                              <a:latin typeface="Cambria Math" panose="02040503050406030204" pitchFamily="18" charset="0"/>
                            </a:rPr>
                            <m:t>𝑊</m:t>
                          </m:r>
                        </m:e>
                        <m:sub>
                          <m:r>
                            <a:rPr lang="en-US" sz="5000" b="0" i="1" smtClean="0">
                              <a:latin typeface="Cambria Math" panose="02040503050406030204" pitchFamily="18" charset="0"/>
                            </a:rPr>
                            <m:t>𝑆</m:t>
                          </m:r>
                        </m:sub>
                      </m:sSub>
                    </m:oMath>
                  </m:oMathPara>
                </a14:m>
                <a:endParaRPr lang="en-US" sz="5000"/>
              </a:p>
            </p:txBody>
          </p:sp>
        </mc:Choice>
        <mc:Fallback xmlns="">
          <p:sp>
            <p:nvSpPr>
              <p:cNvPr id="5" name="Content Placeholder 2">
                <a:extLst>
                  <a:ext uri="{FF2B5EF4-FFF2-40B4-BE49-F238E27FC236}">
                    <a16:creationId xmlns:a16="http://schemas.microsoft.com/office/drawing/2014/main" id="{91AF9B92-B351-BEEF-6A29-53E73EB227BF}"/>
                  </a:ext>
                </a:extLst>
              </p:cNvPr>
              <p:cNvSpPr>
                <a:spLocks noGrp="1" noRot="1" noChangeAspect="1" noMove="1" noResize="1" noEditPoints="1" noAdjustHandles="1" noChangeArrowheads="1" noChangeShapeType="1" noTextEdit="1"/>
              </p:cNvSpPr>
              <p:nvPr>
                <p:ph idx="1"/>
              </p:nvPr>
            </p:nvSpPr>
            <p:spPr>
              <a:xfrm>
                <a:off x="4285503" y="2484007"/>
                <a:ext cx="7694897" cy="564649"/>
              </a:xfrm>
              <a:blipFill>
                <a:blip r:embed="rId2"/>
                <a:stretch>
                  <a:fillRect b="-22581"/>
                </a:stretch>
              </a:blipFill>
            </p:spPr>
            <p:txBody>
              <a:bodyPr/>
              <a:lstStyle/>
              <a:p>
                <a:r>
                  <a:rPr lang="en-US">
                    <a:noFill/>
                  </a:rPr>
                  <a:t> </a:t>
                </a:r>
              </a:p>
            </p:txBody>
          </p:sp>
        </mc:Fallback>
      </mc:AlternateContent>
      <p:sp>
        <p:nvSpPr>
          <p:cNvPr id="3" name="Arrow: Right 2">
            <a:extLst>
              <a:ext uri="{FF2B5EF4-FFF2-40B4-BE49-F238E27FC236}">
                <a16:creationId xmlns:a16="http://schemas.microsoft.com/office/drawing/2014/main" id="{32843ADD-4C11-03A7-D6FA-DE8F97E1E982}"/>
              </a:ext>
            </a:extLst>
          </p:cNvPr>
          <p:cNvSpPr/>
          <p:nvPr/>
        </p:nvSpPr>
        <p:spPr>
          <a:xfrm rot="18897891">
            <a:off x="5974449" y="2839735"/>
            <a:ext cx="1042219" cy="88491"/>
          </a:xfrm>
          <a:prstGeom prst="rightArrow">
            <a:avLst>
              <a:gd name="adj1" fmla="val 50000"/>
              <a:gd name="adj2" fmla="val 143507"/>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BF6F6136-8713-974F-F25E-E5DB5E5F297F}"/>
              </a:ext>
            </a:extLst>
          </p:cNvPr>
          <p:cNvSpPr/>
          <p:nvPr/>
        </p:nvSpPr>
        <p:spPr>
          <a:xfrm rot="18897891">
            <a:off x="7926151" y="2833370"/>
            <a:ext cx="1042219" cy="88491"/>
          </a:xfrm>
          <a:prstGeom prst="rightArrow">
            <a:avLst>
              <a:gd name="adj1" fmla="val 50000"/>
              <a:gd name="adj2" fmla="val 143507"/>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0B758C21-90C6-FE75-933A-7365A21FB131}"/>
              </a:ext>
            </a:extLst>
          </p:cNvPr>
          <p:cNvSpPr/>
          <p:nvPr/>
        </p:nvSpPr>
        <p:spPr>
          <a:xfrm rot="18897891">
            <a:off x="10875830" y="2833368"/>
            <a:ext cx="1042219" cy="88491"/>
          </a:xfrm>
          <a:prstGeom prst="rightArrow">
            <a:avLst>
              <a:gd name="adj1" fmla="val 50000"/>
              <a:gd name="adj2" fmla="val 143507"/>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92DBE2B-E6C5-398A-A550-38855CF68866}"/>
              </a:ext>
            </a:extLst>
          </p:cNvPr>
          <p:cNvSpPr txBox="1"/>
          <p:nvPr/>
        </p:nvSpPr>
        <p:spPr>
          <a:xfrm>
            <a:off x="6796796" y="2143432"/>
            <a:ext cx="389850" cy="553998"/>
          </a:xfrm>
          <a:prstGeom prst="rect">
            <a:avLst/>
          </a:prstGeom>
          <a:noFill/>
        </p:spPr>
        <p:txBody>
          <a:bodyPr wrap="none" rtlCol="0">
            <a:spAutoFit/>
          </a:bodyPr>
          <a:lstStyle/>
          <a:p>
            <a:r>
              <a:rPr lang="en-US" sz="3000">
                <a:solidFill>
                  <a:srgbClr val="FF0000"/>
                </a:solidFill>
              </a:rPr>
              <a:t>0</a:t>
            </a:r>
          </a:p>
        </p:txBody>
      </p:sp>
      <p:sp>
        <p:nvSpPr>
          <p:cNvPr id="10" name="TextBox 9">
            <a:extLst>
              <a:ext uri="{FF2B5EF4-FFF2-40B4-BE49-F238E27FC236}">
                <a16:creationId xmlns:a16="http://schemas.microsoft.com/office/drawing/2014/main" id="{0D37CC9C-2F84-D774-21FB-3E5C588B13BA}"/>
              </a:ext>
            </a:extLst>
          </p:cNvPr>
          <p:cNvSpPr txBox="1"/>
          <p:nvPr/>
        </p:nvSpPr>
        <p:spPr>
          <a:xfrm>
            <a:off x="8751324" y="2143432"/>
            <a:ext cx="389850" cy="553998"/>
          </a:xfrm>
          <a:prstGeom prst="rect">
            <a:avLst/>
          </a:prstGeom>
          <a:noFill/>
        </p:spPr>
        <p:txBody>
          <a:bodyPr wrap="none" rtlCol="0">
            <a:spAutoFit/>
          </a:bodyPr>
          <a:lstStyle/>
          <a:p>
            <a:r>
              <a:rPr lang="en-US" sz="3000">
                <a:solidFill>
                  <a:srgbClr val="FF0000"/>
                </a:solidFill>
              </a:rPr>
              <a:t>0</a:t>
            </a:r>
          </a:p>
        </p:txBody>
      </p:sp>
      <p:sp>
        <p:nvSpPr>
          <p:cNvPr id="11" name="TextBox 10">
            <a:extLst>
              <a:ext uri="{FF2B5EF4-FFF2-40B4-BE49-F238E27FC236}">
                <a16:creationId xmlns:a16="http://schemas.microsoft.com/office/drawing/2014/main" id="{26905840-CAFA-E3EC-DB65-F0C8FDA7711F}"/>
              </a:ext>
            </a:extLst>
          </p:cNvPr>
          <p:cNvSpPr txBox="1"/>
          <p:nvPr/>
        </p:nvSpPr>
        <p:spPr>
          <a:xfrm>
            <a:off x="11664580" y="2173004"/>
            <a:ext cx="389850" cy="553998"/>
          </a:xfrm>
          <a:prstGeom prst="rect">
            <a:avLst/>
          </a:prstGeom>
          <a:noFill/>
        </p:spPr>
        <p:txBody>
          <a:bodyPr wrap="none" rtlCol="0">
            <a:spAutoFit/>
          </a:bodyPr>
          <a:lstStyle/>
          <a:p>
            <a:r>
              <a:rPr lang="en-US" sz="3000">
                <a:solidFill>
                  <a:srgbClr val="FF0000"/>
                </a:solidFill>
              </a:rPr>
              <a:t>0</a:t>
            </a:r>
          </a:p>
        </p:txBody>
      </p:sp>
    </p:spTree>
    <p:extLst>
      <p:ext uri="{BB962C8B-B14F-4D97-AF65-F5344CB8AC3E}">
        <p14:creationId xmlns:p14="http://schemas.microsoft.com/office/powerpoint/2010/main" val="4096235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C54AF0-759D-3B97-2D68-84395284D73C}"/>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7CE94F5-2C3D-F34F-ED95-49C1A5F05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09FED2-CC71-5CE1-F875-9AE76981C432}"/>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8D3E3C6B-6445-74A9-85A7-C38607831E42}"/>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737784FA-C61D-ED6A-15A2-7F6DBF584594}"/>
              </a:ext>
            </a:extLst>
          </p:cNvPr>
          <p:cNvSpPr txBox="1">
            <a:spLocks/>
          </p:cNvSpPr>
          <p:nvPr/>
        </p:nvSpPr>
        <p:spPr>
          <a:xfrm>
            <a:off x="211600" y="2766332"/>
            <a:ext cx="3673755" cy="2398616"/>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Specific Heat</a:t>
            </a:r>
          </a:p>
          <a:p>
            <a:pPr marL="571500" indent="-571500">
              <a:buFont typeface="Arial" panose="020B0604020202020204" pitchFamily="34" charset="0"/>
              <a:buChar char="•"/>
            </a:pPr>
            <a:r>
              <a:rPr lang="en-US" sz="3000">
                <a:solidFill>
                  <a:srgbClr val="FFFFFF"/>
                </a:solidFill>
              </a:rPr>
              <a:t>Heat of Reaction</a:t>
            </a:r>
          </a:p>
          <a:p>
            <a:pPr marL="571500" indent="-571500">
              <a:buFont typeface="Arial" panose="020B0604020202020204" pitchFamily="34" charset="0"/>
              <a:buChar char="•"/>
            </a:pPr>
            <a:r>
              <a:rPr lang="en-US" sz="3000">
                <a:solidFill>
                  <a:srgbClr val="FFFFFF"/>
                </a:solidFill>
              </a:rPr>
              <a:t>Inlet stream NOT at STP</a:t>
            </a:r>
          </a:p>
          <a:p>
            <a:pPr marL="571500" indent="-571500">
              <a:buFont typeface="Arial" panose="020B0604020202020204" pitchFamily="34" charset="0"/>
              <a:buChar char="•"/>
            </a:pPr>
            <a:endParaRPr lang="en-US" sz="3000">
              <a:solidFill>
                <a:srgbClr val="FFFFFF"/>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926A3F08-3968-4C3A-26C9-A3F8083F2C05}"/>
                  </a:ext>
                </a:extLst>
              </p:cNvPr>
              <p:cNvSpPr txBox="1">
                <a:spLocks/>
              </p:cNvSpPr>
              <p:nvPr/>
            </p:nvSpPr>
            <p:spPr>
              <a:xfrm>
                <a:off x="4059050" y="2277996"/>
                <a:ext cx="8132950" cy="27069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z="5000" smtClean="0">
                          <a:latin typeface="Cambria Math" panose="02040503050406030204" pitchFamily="18" charset="0"/>
                        </a:rPr>
                        <m:t>Δ</m:t>
                      </m:r>
                      <m:r>
                        <a:rPr lang="en-US" sz="5000" i="1" smtClean="0">
                          <a:latin typeface="Cambria Math" panose="02040503050406030204" pitchFamily="18" charset="0"/>
                        </a:rPr>
                        <m:t>𝐻</m:t>
                      </m:r>
                      <m:r>
                        <a:rPr lang="en-US" sz="5000" i="1" smtClean="0">
                          <a:latin typeface="Cambria Math" panose="02040503050406030204" pitchFamily="18" charset="0"/>
                        </a:rPr>
                        <m:t>=</m:t>
                      </m:r>
                      <m:r>
                        <m:rPr>
                          <m:sty m:val="p"/>
                        </m:rPr>
                        <a:rPr lang="en-US" sz="5000" smtClean="0">
                          <a:latin typeface="Cambria Math" panose="02040503050406030204" pitchFamily="18" charset="0"/>
                        </a:rPr>
                        <m:t>Q</m:t>
                      </m:r>
                    </m:oMath>
                  </m:oMathPara>
                </a14:m>
                <a:endParaRPr lang="en-US" sz="5000"/>
              </a:p>
              <a:p>
                <a:pPr marL="0" indent="0">
                  <a:buNone/>
                </a:pPr>
                <a14:m>
                  <m:oMathPara xmlns:m="http://schemas.openxmlformats.org/officeDocument/2006/math">
                    <m:oMathParaPr>
                      <m:jc m:val="centerGroup"/>
                    </m:oMathParaPr>
                    <m:oMath xmlns:m="http://schemas.openxmlformats.org/officeDocument/2006/math">
                      <m:r>
                        <a:rPr lang="en-US" sz="3100" i="1" smtClean="0">
                          <a:latin typeface="Cambria Math" panose="02040503050406030204" pitchFamily="18" charset="0"/>
                        </a:rPr>
                        <m:t>=</m:t>
                      </m:r>
                      <m:nary>
                        <m:naryPr>
                          <m:chr m:val="∑"/>
                          <m:supHide m:val="on"/>
                          <m:ctrlPr>
                            <a:rPr lang="en-US" sz="3100" i="1">
                              <a:latin typeface="Cambria Math" panose="02040503050406030204" pitchFamily="18" charset="0"/>
                            </a:rPr>
                          </m:ctrlPr>
                        </m:naryPr>
                        <m:sub>
                          <m:r>
                            <m:rPr>
                              <m:brk m:alnAt="7"/>
                            </m:rPr>
                            <a:rPr lang="en-US" sz="3100" i="1" smtClean="0">
                              <a:latin typeface="Cambria Math" panose="02040503050406030204" pitchFamily="18" charset="0"/>
                            </a:rPr>
                            <m:t>𝑜</m:t>
                          </m:r>
                          <m:r>
                            <a:rPr lang="en-US" sz="3100" i="1" smtClean="0">
                              <a:latin typeface="Cambria Math" panose="02040503050406030204" pitchFamily="18" charset="0"/>
                            </a:rPr>
                            <m:t>𝑢𝑡</m:t>
                          </m:r>
                        </m:sub>
                        <m:sup/>
                        <m:e>
                          <m:sSub>
                            <m:sSubPr>
                              <m:ctrlPr>
                                <a:rPr lang="en-US" sz="3100" i="1" smtClean="0">
                                  <a:latin typeface="Cambria Math" panose="02040503050406030204" pitchFamily="18" charset="0"/>
                                </a:rPr>
                              </m:ctrlPr>
                            </m:sSubPr>
                            <m:e>
                              <m:r>
                                <a:rPr lang="en-US" sz="3100" i="1" smtClean="0">
                                  <a:latin typeface="Cambria Math" panose="02040503050406030204" pitchFamily="18" charset="0"/>
                                </a:rPr>
                                <m:t>𝑛</m:t>
                              </m:r>
                            </m:e>
                            <m:sub>
                              <m:r>
                                <a:rPr lang="en-US" sz="3100" i="1" smtClean="0">
                                  <a:latin typeface="Cambria Math" panose="02040503050406030204" pitchFamily="18" charset="0"/>
                                </a:rPr>
                                <m:t>𝑖</m:t>
                              </m:r>
                            </m:sub>
                          </m:sSub>
                          <m:sSub>
                            <m:sSubPr>
                              <m:ctrlPr>
                                <a:rPr lang="en-US" sz="3100" i="1" smtClean="0">
                                  <a:latin typeface="Cambria Math" panose="02040503050406030204" pitchFamily="18" charset="0"/>
                                </a:rPr>
                              </m:ctrlPr>
                            </m:sSubPr>
                            <m:e>
                              <m:r>
                                <a:rPr lang="en-US" sz="3100" i="1" smtClean="0">
                                  <a:latin typeface="Cambria Math" panose="02040503050406030204" pitchFamily="18" charset="0"/>
                                </a:rPr>
                                <m:t>𝐻</m:t>
                              </m:r>
                            </m:e>
                            <m:sub>
                              <m:r>
                                <a:rPr lang="en-US" sz="3100" i="1" smtClean="0">
                                  <a:latin typeface="Cambria Math" panose="02040503050406030204" pitchFamily="18" charset="0"/>
                                </a:rPr>
                                <m:t>𝑖</m:t>
                              </m:r>
                            </m:sub>
                          </m:sSub>
                        </m:e>
                      </m:nary>
                      <m:r>
                        <a:rPr lang="en-US" sz="3100" i="1">
                          <a:latin typeface="Cambria Math" panose="02040503050406030204" pitchFamily="18" charset="0"/>
                        </a:rPr>
                        <m:t>+</m:t>
                      </m:r>
                      <m:nary>
                        <m:naryPr>
                          <m:chr m:val="∑"/>
                          <m:supHide m:val="on"/>
                          <m:ctrlPr>
                            <a:rPr lang="en-US" sz="3100" i="1">
                              <a:latin typeface="Cambria Math" panose="02040503050406030204" pitchFamily="18" charset="0"/>
                            </a:rPr>
                          </m:ctrlPr>
                        </m:naryPr>
                        <m:sub>
                          <m:r>
                            <m:rPr>
                              <m:brk m:alnAt="7"/>
                            </m:rPr>
                            <a:rPr lang="en-US" sz="3100" i="1">
                              <a:latin typeface="Cambria Math" panose="02040503050406030204" pitchFamily="18" charset="0"/>
                            </a:rPr>
                            <m:t>𝑚</m:t>
                          </m:r>
                          <m:r>
                            <a:rPr lang="en-US" sz="3100" i="1">
                              <a:latin typeface="Cambria Math" panose="02040503050406030204" pitchFamily="18" charset="0"/>
                            </a:rPr>
                            <m:t>𝑒𝑙𝑡</m:t>
                          </m:r>
                        </m:sub>
                        <m:sup/>
                        <m:e>
                          <m:sSub>
                            <m:sSubPr>
                              <m:ctrlPr>
                                <a:rPr lang="en-US" sz="3100" i="1">
                                  <a:latin typeface="Cambria Math" panose="02040503050406030204" pitchFamily="18" charset="0"/>
                                </a:rPr>
                              </m:ctrlPr>
                            </m:sSubPr>
                            <m:e>
                              <m:r>
                                <a:rPr lang="en-US" sz="3100" i="1">
                                  <a:latin typeface="Cambria Math" panose="02040503050406030204" pitchFamily="18" charset="0"/>
                                </a:rPr>
                                <m:t>𝑛</m:t>
                              </m:r>
                            </m:e>
                            <m:sub>
                              <m:r>
                                <a:rPr lang="en-US" sz="3100" i="1">
                                  <a:latin typeface="Cambria Math" panose="02040503050406030204" pitchFamily="18" charset="0"/>
                                </a:rPr>
                                <m:t>𝑖</m:t>
                              </m:r>
                            </m:sub>
                          </m:sSub>
                          <m:sSub>
                            <m:sSubPr>
                              <m:ctrlPr>
                                <a:rPr lang="en-US" sz="3100" i="1">
                                  <a:latin typeface="Cambria Math" panose="02040503050406030204" pitchFamily="18" charset="0"/>
                                  <a:ea typeface="Cambria Math" panose="02040503050406030204" pitchFamily="18" charset="0"/>
                                </a:rPr>
                              </m:ctrlPr>
                            </m:sSubPr>
                            <m:e>
                              <m:r>
                                <a:rPr lang="en-US" sz="3100" i="1">
                                  <a:latin typeface="Cambria Math" panose="02040503050406030204" pitchFamily="18" charset="0"/>
                                  <a:ea typeface="Cambria Math" panose="02040503050406030204" pitchFamily="18" charset="0"/>
                                </a:rPr>
                                <m:t>𝐻</m:t>
                              </m:r>
                            </m:e>
                            <m:sub>
                              <m:sSub>
                                <m:sSubPr>
                                  <m:ctrlPr>
                                    <a:rPr lang="en-US" sz="3100" i="1">
                                      <a:latin typeface="Cambria Math" panose="02040503050406030204" pitchFamily="18" charset="0"/>
                                      <a:ea typeface="Cambria Math" panose="02040503050406030204" pitchFamily="18" charset="0"/>
                                    </a:rPr>
                                  </m:ctrlPr>
                                </m:sSubPr>
                                <m:e>
                                  <m:r>
                                    <a:rPr lang="en-US" sz="3100" i="1">
                                      <a:latin typeface="Cambria Math" panose="02040503050406030204" pitchFamily="18" charset="0"/>
                                      <a:ea typeface="Cambria Math" panose="02040503050406030204" pitchFamily="18" charset="0"/>
                                    </a:rPr>
                                    <m:t>𝑓</m:t>
                                  </m:r>
                                </m:e>
                                <m:sub>
                                  <m:r>
                                    <a:rPr lang="en-US" sz="3100" i="1">
                                      <a:latin typeface="Cambria Math" panose="02040503050406030204" pitchFamily="18" charset="0"/>
                                      <a:ea typeface="Cambria Math" panose="02040503050406030204" pitchFamily="18" charset="0"/>
                                    </a:rPr>
                                    <m:t>(</m:t>
                                  </m:r>
                                  <m:r>
                                    <a:rPr lang="en-US" sz="3100" i="1">
                                      <a:latin typeface="Cambria Math" panose="02040503050406030204" pitchFamily="18" charset="0"/>
                                      <a:ea typeface="Cambria Math" panose="02040503050406030204" pitchFamily="18" charset="0"/>
                                    </a:rPr>
                                    <m:t>𝑙</m:t>
                                  </m:r>
                                  <m:r>
                                    <a:rPr lang="en-US" sz="3100" i="1">
                                      <a:latin typeface="Cambria Math" panose="02040503050406030204" pitchFamily="18" charset="0"/>
                                      <a:ea typeface="Cambria Math" panose="02040503050406030204" pitchFamily="18" charset="0"/>
                                    </a:rPr>
                                    <m:t>)</m:t>
                                  </m:r>
                                </m:sub>
                              </m:sSub>
                            </m:sub>
                          </m:sSub>
                        </m:e>
                      </m:nary>
                      <m:r>
                        <a:rPr lang="en-US" sz="3100" b="0" i="1" smtClean="0">
                          <a:latin typeface="Cambria Math" panose="02040503050406030204" pitchFamily="18" charset="0"/>
                          <a:ea typeface="Cambria Math" panose="02040503050406030204" pitchFamily="18" charset="0"/>
                        </a:rPr>
                        <m:t>+</m:t>
                      </m:r>
                      <m:nary>
                        <m:naryPr>
                          <m:chr m:val="∑"/>
                          <m:supHide m:val="on"/>
                          <m:ctrlPr>
                            <a:rPr lang="en-US" sz="3100" i="1">
                              <a:latin typeface="Cambria Math" panose="02040503050406030204" pitchFamily="18" charset="0"/>
                            </a:rPr>
                          </m:ctrlPr>
                        </m:naryPr>
                        <m:sub>
                          <m:r>
                            <m:rPr>
                              <m:brk m:alnAt="7"/>
                            </m:rPr>
                            <a:rPr lang="en-US" sz="3100" i="1">
                              <a:latin typeface="Cambria Math" panose="02040503050406030204" pitchFamily="18" charset="0"/>
                            </a:rPr>
                            <m:t>𝑟</m:t>
                          </m:r>
                          <m:r>
                            <a:rPr lang="en-US" sz="3100" i="1">
                              <a:latin typeface="Cambria Math" panose="02040503050406030204" pitchFamily="18" charset="0"/>
                            </a:rPr>
                            <m:t>𝑥𝑛</m:t>
                          </m:r>
                        </m:sub>
                        <m:sup/>
                        <m:e>
                          <m:r>
                            <a:rPr lang="en-US" sz="3100" i="1">
                              <a:latin typeface="Cambria Math" panose="02040503050406030204" pitchFamily="18" charset="0"/>
                              <a:ea typeface="Cambria Math" panose="02040503050406030204" pitchFamily="18" charset="0"/>
                            </a:rPr>
                            <m:t>𝜉</m:t>
                          </m:r>
                          <m:sSub>
                            <m:sSubPr>
                              <m:ctrlPr>
                                <a:rPr lang="en-US" sz="3100" i="1">
                                  <a:latin typeface="Cambria Math" panose="02040503050406030204" pitchFamily="18" charset="0"/>
                                  <a:ea typeface="Cambria Math" panose="02040503050406030204" pitchFamily="18" charset="0"/>
                                </a:rPr>
                              </m:ctrlPr>
                            </m:sSubPr>
                            <m:e>
                              <m:r>
                                <a:rPr lang="en-US" sz="3100" i="1">
                                  <a:latin typeface="Cambria Math" panose="02040503050406030204" pitchFamily="18" charset="0"/>
                                  <a:ea typeface="Cambria Math" panose="02040503050406030204" pitchFamily="18" charset="0"/>
                                </a:rPr>
                                <m:t>𝐻</m:t>
                              </m:r>
                            </m:e>
                            <m:sub>
                              <m:r>
                                <a:rPr lang="en-US" sz="3100" i="1">
                                  <a:latin typeface="Cambria Math" panose="02040503050406030204" pitchFamily="18" charset="0"/>
                                  <a:ea typeface="Cambria Math" panose="02040503050406030204" pitchFamily="18" charset="0"/>
                                </a:rPr>
                                <m:t>𝑟𝑥𝑛</m:t>
                              </m:r>
                            </m:sub>
                          </m:sSub>
                        </m:e>
                      </m:nary>
                      <m:r>
                        <a:rPr lang="en-US" sz="3100" i="1" smtClean="0">
                          <a:latin typeface="Cambria Math" panose="02040503050406030204" pitchFamily="18" charset="0"/>
                        </a:rPr>
                        <m:t>−</m:t>
                      </m:r>
                      <m:nary>
                        <m:naryPr>
                          <m:chr m:val="∑"/>
                          <m:supHide m:val="on"/>
                          <m:ctrlPr>
                            <a:rPr lang="en-US" sz="3100" i="1">
                              <a:latin typeface="Cambria Math" panose="02040503050406030204" pitchFamily="18" charset="0"/>
                            </a:rPr>
                          </m:ctrlPr>
                        </m:naryPr>
                        <m:sub>
                          <m:r>
                            <m:rPr>
                              <m:brk m:alnAt="7"/>
                            </m:rPr>
                            <a:rPr lang="en-US" sz="3100" i="1" smtClean="0">
                              <a:latin typeface="Cambria Math" panose="02040503050406030204" pitchFamily="18" charset="0"/>
                            </a:rPr>
                            <m:t>𝑖</m:t>
                          </m:r>
                          <m:r>
                            <a:rPr lang="en-US" sz="3100" i="1" smtClean="0">
                              <a:latin typeface="Cambria Math" panose="02040503050406030204" pitchFamily="18" charset="0"/>
                            </a:rPr>
                            <m:t>𝑛</m:t>
                          </m:r>
                        </m:sub>
                        <m:sup/>
                        <m:e>
                          <m:sSub>
                            <m:sSubPr>
                              <m:ctrlPr>
                                <a:rPr lang="en-US" sz="3100" i="1" smtClean="0">
                                  <a:latin typeface="Cambria Math" panose="02040503050406030204" pitchFamily="18" charset="0"/>
                                </a:rPr>
                              </m:ctrlPr>
                            </m:sSubPr>
                            <m:e>
                              <m:r>
                                <a:rPr lang="en-US" sz="3100" i="1" smtClean="0">
                                  <a:latin typeface="Cambria Math" panose="02040503050406030204" pitchFamily="18" charset="0"/>
                                </a:rPr>
                                <m:t>𝑛</m:t>
                              </m:r>
                            </m:e>
                            <m:sub>
                              <m:r>
                                <a:rPr lang="en-US" sz="3100" i="1" smtClean="0">
                                  <a:latin typeface="Cambria Math" panose="02040503050406030204" pitchFamily="18" charset="0"/>
                                </a:rPr>
                                <m:t>𝑖</m:t>
                              </m:r>
                            </m:sub>
                          </m:sSub>
                          <m:sSub>
                            <m:sSubPr>
                              <m:ctrlPr>
                                <a:rPr lang="en-US" sz="3100" i="1" smtClean="0">
                                  <a:latin typeface="Cambria Math" panose="02040503050406030204" pitchFamily="18" charset="0"/>
                                </a:rPr>
                              </m:ctrlPr>
                            </m:sSubPr>
                            <m:e>
                              <m:r>
                                <a:rPr lang="en-US" sz="3100" i="1" smtClean="0">
                                  <a:latin typeface="Cambria Math" panose="02040503050406030204" pitchFamily="18" charset="0"/>
                                </a:rPr>
                                <m:t>𝐻</m:t>
                              </m:r>
                            </m:e>
                            <m:sub>
                              <m:r>
                                <a:rPr lang="en-US" sz="3100" i="1" smtClean="0">
                                  <a:latin typeface="Cambria Math" panose="02040503050406030204" pitchFamily="18" charset="0"/>
                                </a:rPr>
                                <m:t>𝑖</m:t>
                              </m:r>
                            </m:sub>
                          </m:sSub>
                        </m:e>
                      </m:nary>
                    </m:oMath>
                  </m:oMathPara>
                </a14:m>
                <a:endParaRPr lang="en-US" sz="3100"/>
              </a:p>
            </p:txBody>
          </p:sp>
        </mc:Choice>
        <mc:Fallback xmlns="">
          <p:sp>
            <p:nvSpPr>
              <p:cNvPr id="8" name="Content Placeholder 2">
                <a:extLst>
                  <a:ext uri="{FF2B5EF4-FFF2-40B4-BE49-F238E27FC236}">
                    <a16:creationId xmlns:a16="http://schemas.microsoft.com/office/drawing/2014/main" id="{926A3F08-3968-4C3A-26C9-A3F8083F2C05}"/>
                  </a:ext>
                </a:extLst>
              </p:cNvPr>
              <p:cNvSpPr txBox="1">
                <a:spLocks noRot="1" noChangeAspect="1" noMove="1" noResize="1" noEditPoints="1" noAdjustHandles="1" noChangeArrowheads="1" noChangeShapeType="1" noTextEdit="1"/>
              </p:cNvSpPr>
              <p:nvPr/>
            </p:nvSpPr>
            <p:spPr>
              <a:xfrm>
                <a:off x="4059050" y="2277996"/>
                <a:ext cx="8132950" cy="2706958"/>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07463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B050DD-E5A4-2F3D-8E61-4633D8761EA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64FD6BA-8943-2836-16D8-8AE951DB0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18E74B6-3C86-EA72-2224-B78639FDCB75}"/>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5774323B-43D7-1C33-CA96-8624DC865DCB}"/>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D5E671F8-15A3-BB10-BCD5-33A218A15BC6}"/>
              </a:ext>
            </a:extLst>
          </p:cNvPr>
          <p:cNvSpPr txBox="1">
            <a:spLocks/>
          </p:cNvSpPr>
          <p:nvPr/>
        </p:nvSpPr>
        <p:spPr>
          <a:xfrm>
            <a:off x="245806" y="2766331"/>
            <a:ext cx="3813244" cy="2680737"/>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Specific Heat values</a:t>
            </a:r>
          </a:p>
          <a:p>
            <a:pPr marL="571500" indent="-571500">
              <a:buFont typeface="Arial" panose="020B0604020202020204" pitchFamily="34" charset="0"/>
              <a:buChar char="•"/>
            </a:pPr>
            <a:r>
              <a:rPr lang="en-US" sz="3000">
                <a:solidFill>
                  <a:srgbClr val="FFFFFF"/>
                </a:solidFill>
              </a:rPr>
              <a:t>Equation NIST uses</a:t>
            </a:r>
          </a:p>
          <a:p>
            <a:pPr marL="571500" indent="-571500">
              <a:buFont typeface="Arial" panose="020B0604020202020204" pitchFamily="34" charset="0"/>
              <a:buChar char="•"/>
            </a:pPr>
            <a:r>
              <a:rPr lang="en-US" sz="3000">
                <a:solidFill>
                  <a:srgbClr val="FFFFFF"/>
                </a:solidFill>
              </a:rPr>
              <a:t>Values found from NIST </a:t>
            </a:r>
            <a:r>
              <a:rPr lang="en-US" sz="3000" err="1">
                <a:solidFill>
                  <a:srgbClr val="FFFFFF"/>
                </a:solidFill>
              </a:rPr>
              <a:t>WebBook</a:t>
            </a:r>
            <a:r>
              <a:rPr lang="en-US" sz="3000">
                <a:solidFill>
                  <a:srgbClr val="FFFFFF"/>
                </a:solidFill>
              </a:rPr>
              <a:t> &amp; other tables</a:t>
            </a:r>
          </a:p>
          <a:p>
            <a:endParaRPr lang="en-US" sz="3000">
              <a:solidFill>
                <a:srgbClr val="FFFFFF"/>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C4DA5CA6-A0DD-89E4-26E6-6ECABAB4E633}"/>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sz="3500" i="1">
                              <a:latin typeface="Cambria Math" panose="02040503050406030204" pitchFamily="18" charset="0"/>
                            </a:rPr>
                          </m:ctrlPr>
                        </m:naryPr>
                        <m:sub>
                          <m:r>
                            <m:rPr>
                              <m:brk m:alnAt="7"/>
                            </m:rPr>
                            <a:rPr lang="en-US" sz="3500" i="1" smtClean="0">
                              <a:latin typeface="Cambria Math" panose="02040503050406030204" pitchFamily="18" charset="0"/>
                            </a:rPr>
                            <m:t>𝑜</m:t>
                          </m:r>
                          <m:r>
                            <a:rPr lang="en-US" sz="3500" i="1" smtClean="0">
                              <a:latin typeface="Cambria Math" panose="02040503050406030204" pitchFamily="18" charset="0"/>
                            </a:rPr>
                            <m:t>𝑢𝑡</m:t>
                          </m:r>
                        </m:sub>
                        <m:sup/>
                        <m:e>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𝑛</m:t>
                              </m:r>
                            </m:e>
                            <m:sub>
                              <m:r>
                                <a:rPr lang="en-US" sz="3500" i="1" smtClean="0">
                                  <a:latin typeface="Cambria Math" panose="02040503050406030204" pitchFamily="18" charset="0"/>
                                </a:rPr>
                                <m:t>𝑖</m:t>
                              </m:r>
                            </m:sub>
                          </m:sSub>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𝐻</m:t>
                              </m:r>
                            </m:e>
                            <m:sub>
                              <m:r>
                                <a:rPr lang="en-US" sz="3500" i="1" smtClean="0">
                                  <a:latin typeface="Cambria Math" panose="02040503050406030204" pitchFamily="18" charset="0"/>
                                </a:rPr>
                                <m:t>𝑖</m:t>
                              </m:r>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C4DA5CA6-A0DD-89E4-26E6-6ECABAB4E633}"/>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770DA761-2A91-E7F4-51C4-9BD4C2C47578}"/>
                  </a:ext>
                </a:extLst>
              </p:cNvPr>
              <p:cNvSpPr txBox="1">
                <a:spLocks/>
              </p:cNvSpPr>
              <p:nvPr/>
            </p:nvSpPr>
            <p:spPr>
              <a:xfrm>
                <a:off x="4059048" y="1741356"/>
                <a:ext cx="8132951" cy="51166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trlPr>
                            <a:rPr lang="en-US" sz="3500" b="0" i="1" smtClean="0">
                              <a:latin typeface="Cambria Math" panose="02040503050406030204" pitchFamily="18" charset="0"/>
                            </a:rPr>
                          </m:ctrlPr>
                        </m:naryPr>
                        <m:sub>
                          <m:sSub>
                            <m:sSubPr>
                              <m:ctrlPr>
                                <a:rPr lang="en-US" sz="3500" b="0" i="1" smtClean="0">
                                  <a:latin typeface="Cambria Math" panose="02040503050406030204" pitchFamily="18" charset="0"/>
                                </a:rPr>
                              </m:ctrlPr>
                            </m:sSubPr>
                            <m:e>
                              <m:r>
                                <m:rPr>
                                  <m:brk m:alnAt="23"/>
                                </m:rPr>
                                <a:rPr lang="en-US" sz="3500" b="0" i="1" smtClean="0">
                                  <a:latin typeface="Cambria Math" panose="02040503050406030204" pitchFamily="18" charset="0"/>
                                </a:rPr>
                                <m:t>𝑇</m:t>
                              </m:r>
                            </m:e>
                            <m:sub>
                              <m:r>
                                <m:rPr>
                                  <m:brk m:alnAt="23"/>
                                </m:rPr>
                                <a:rPr lang="en-US" sz="3500" b="0" i="1" smtClean="0">
                                  <a:latin typeface="Cambria Math" panose="02040503050406030204" pitchFamily="18" charset="0"/>
                                </a:rPr>
                                <m:t>𝑖</m:t>
                              </m:r>
                              <m:r>
                                <a:rPr lang="en-US" sz="3500" b="0" i="1" smtClean="0">
                                  <a:latin typeface="Cambria Math" panose="02040503050406030204" pitchFamily="18" charset="0"/>
                                </a:rPr>
                                <m:t>𝑛</m:t>
                              </m:r>
                            </m:sub>
                          </m:sSub>
                        </m:sub>
                        <m:sup>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𝑇</m:t>
                              </m:r>
                            </m:e>
                            <m:sub>
                              <m:r>
                                <a:rPr lang="en-US" sz="3500" b="0" i="1" smtClean="0">
                                  <a:latin typeface="Cambria Math" panose="02040503050406030204" pitchFamily="18" charset="0"/>
                                </a:rPr>
                                <m:t>𝑜𝑢𝑡</m:t>
                              </m:r>
                            </m:sub>
                          </m:sSub>
                        </m:sup>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𝐶</m:t>
                              </m:r>
                            </m:e>
                            <m:sub>
                              <m:r>
                                <a:rPr lang="en-US" sz="3500" b="0" i="1" smtClean="0">
                                  <a:latin typeface="Cambria Math" panose="02040503050406030204" pitchFamily="18" charset="0"/>
                                </a:rPr>
                                <m:t>𝑝</m:t>
                              </m:r>
                            </m:sub>
                          </m:sSub>
                          <m:d>
                            <m:dPr>
                              <m:ctrlPr>
                                <a:rPr lang="en-US" sz="3500" b="0" i="1" smtClean="0">
                                  <a:latin typeface="Cambria Math" panose="02040503050406030204" pitchFamily="18" charset="0"/>
                                </a:rPr>
                              </m:ctrlPr>
                            </m:dPr>
                            <m:e>
                              <m:r>
                                <a:rPr lang="en-US" sz="3500" b="0" i="1" smtClean="0">
                                  <a:latin typeface="Cambria Math" panose="02040503050406030204" pitchFamily="18" charset="0"/>
                                </a:rPr>
                                <m:t>𝑇</m:t>
                              </m:r>
                            </m:e>
                          </m:d>
                          <m:r>
                            <a:rPr lang="en-US" sz="3500" b="0" i="1" smtClean="0">
                              <a:latin typeface="Cambria Math" panose="02040503050406030204" pitchFamily="18" charset="0"/>
                            </a:rPr>
                            <m:t>𝑑𝑡</m:t>
                          </m:r>
                        </m:e>
                      </m:nary>
                    </m:oMath>
                  </m:oMathPara>
                </a14:m>
                <a:endParaRPr lang="en-US" sz="3500" b="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𝑝</m:t>
                          </m:r>
                        </m:sub>
                      </m:sSub>
                      <m:d>
                        <m:dPr>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𝐽</m:t>
                              </m:r>
                            </m:num>
                            <m:den>
                              <m:r>
                                <a:rPr lang="en-US" sz="3200" b="0" i="1" smtClean="0">
                                  <a:latin typeface="Cambria Math" panose="02040503050406030204" pitchFamily="18" charset="0"/>
                                </a:rPr>
                                <m:t>𝑚𝑜𝑙</m:t>
                              </m:r>
                              <m:r>
                                <a:rPr lang="en-US" sz="3200" b="0" i="1" smtClean="0">
                                  <a:latin typeface="Cambria Math" panose="02040503050406030204" pitchFamily="18" charset="0"/>
                                </a:rPr>
                                <m:t>∗</m:t>
                              </m:r>
                              <m:r>
                                <a:rPr lang="en-US" sz="3200" b="0" i="1" smtClean="0">
                                  <a:latin typeface="Cambria Math" panose="02040503050406030204" pitchFamily="18" charset="0"/>
                                </a:rPr>
                                <m:t>𝐾</m:t>
                              </m:r>
                            </m:den>
                          </m:f>
                        </m:e>
                      </m:d>
                      <m:r>
                        <a:rPr lang="en-US" sz="3200" b="0" i="1" smtClean="0">
                          <a:latin typeface="Cambria Math" panose="02040503050406030204" pitchFamily="18" charset="0"/>
                        </a:rPr>
                        <m:t>=</m:t>
                      </m:r>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0" i="1" smtClean="0">
                          <a:latin typeface="Cambria Math" panose="02040503050406030204" pitchFamily="18" charset="0"/>
                        </a:rPr>
                        <m:t>𝑏𝑇</m:t>
                      </m:r>
                      <m:r>
                        <a:rPr lang="en-US" sz="3200" b="0" i="1" smtClean="0">
                          <a:latin typeface="Cambria Math" panose="02040503050406030204" pitchFamily="18" charset="0"/>
                        </a:rPr>
                        <m:t>+</m:t>
                      </m:r>
                      <m:r>
                        <a:rPr lang="en-US" sz="3200" b="0" i="1" smtClean="0">
                          <a:latin typeface="Cambria Math" panose="02040503050406030204" pitchFamily="18" charset="0"/>
                        </a:rPr>
                        <m:t>𝑐</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𝑇</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r>
                        <a:rPr lang="en-US" sz="3200" b="0" i="1" smtClean="0">
                          <a:latin typeface="Cambria Math" panose="02040503050406030204" pitchFamily="18" charset="0"/>
                        </a:rPr>
                        <m:t>𝑑</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𝑇</m:t>
                          </m:r>
                        </m:e>
                        <m:sup>
                          <m:r>
                            <a:rPr lang="en-US" sz="3200" b="0" i="1" smtClean="0">
                              <a:latin typeface="Cambria Math" panose="02040503050406030204" pitchFamily="18" charset="0"/>
                            </a:rPr>
                            <m:t>3</m:t>
                          </m:r>
                        </m:sup>
                      </m:sSup>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𝑒</m:t>
                          </m:r>
                        </m:num>
                        <m:den>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𝑇</m:t>
                              </m:r>
                            </m:e>
                            <m:sup>
                              <m:r>
                                <a:rPr lang="en-US" sz="3200" b="0" i="1" smtClean="0">
                                  <a:latin typeface="Cambria Math" panose="02040503050406030204" pitchFamily="18" charset="0"/>
                                </a:rPr>
                                <m:t>2</m:t>
                              </m:r>
                            </m:sup>
                          </m:sSup>
                        </m:den>
                      </m:f>
                    </m:oMath>
                  </m:oMathPara>
                </a14:m>
                <a:endParaRPr lang="en-US" sz="350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𝑇</m:t>
                      </m:r>
                      <m:r>
                        <a:rPr lang="en-US" sz="3500" b="0" i="1" smtClean="0">
                          <a:latin typeface="Cambria Math" panose="02040503050406030204" pitchFamily="18" charset="0"/>
                        </a:rPr>
                        <m:t>=</m:t>
                      </m:r>
                      <m:f>
                        <m:fPr>
                          <m:ctrlPr>
                            <a:rPr lang="en-US" sz="3500" b="0" i="1" smtClean="0">
                              <a:latin typeface="Cambria Math" panose="02040503050406030204" pitchFamily="18" charset="0"/>
                            </a:rPr>
                          </m:ctrlPr>
                        </m:fPr>
                        <m:num>
                          <m:r>
                            <a:rPr lang="en-US" sz="3500" b="0" i="1" smtClean="0">
                              <a:latin typeface="Cambria Math" panose="02040503050406030204" pitchFamily="18" charset="0"/>
                            </a:rPr>
                            <m:t>𝑡𝑒𝑚𝑝</m:t>
                          </m:r>
                          <m:d>
                            <m:dPr>
                              <m:ctrlPr>
                                <a:rPr lang="en-US" sz="3500" b="0" i="1" smtClean="0">
                                  <a:latin typeface="Cambria Math" panose="02040503050406030204" pitchFamily="18" charset="0"/>
                                </a:rPr>
                              </m:ctrlPr>
                            </m:dPr>
                            <m:e>
                              <m:r>
                                <a:rPr lang="en-US" sz="3500" b="0" i="1" smtClean="0">
                                  <a:latin typeface="Cambria Math" panose="02040503050406030204" pitchFamily="18" charset="0"/>
                                </a:rPr>
                                <m:t>𝐾</m:t>
                              </m:r>
                            </m:e>
                          </m:d>
                        </m:num>
                        <m:den>
                          <m:r>
                            <a:rPr lang="en-US" sz="3500" b="0" i="1" smtClean="0">
                              <a:latin typeface="Cambria Math" panose="02040503050406030204" pitchFamily="18" charset="0"/>
                            </a:rPr>
                            <m:t>1000</m:t>
                          </m:r>
                        </m:den>
                      </m:f>
                    </m:oMath>
                  </m:oMathPara>
                </a14:m>
                <a:endParaRPr lang="en-US" sz="3500" b="0"/>
              </a:p>
              <a:p>
                <a:pPr marL="0" indent="0">
                  <a:buFont typeface="Arial" panose="020B0604020202020204" pitchFamily="34" charset="0"/>
                  <a:buNone/>
                </a:pPr>
                <a:endParaRPr lang="en-US" sz="3500"/>
              </a:p>
              <a:p>
                <a:pPr marL="0"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𝐻</m:t>
                      </m:r>
                      <m:r>
                        <a:rPr lang="en-US" sz="1800" b="0" i="1" smtClean="0">
                          <a:latin typeface="Cambria Math" panose="02040503050406030204" pitchFamily="18" charset="0"/>
                        </a:rPr>
                        <m:t>°</m:t>
                      </m:r>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𝑘𝐽</m:t>
                              </m:r>
                            </m:num>
                            <m:den>
                              <m:r>
                                <a:rPr lang="en-US" sz="1800" b="0" i="1" smtClean="0">
                                  <a:latin typeface="Cambria Math" panose="02040503050406030204" pitchFamily="18" charset="0"/>
                                </a:rPr>
                                <m:t>𝑚𝑜𝑙</m:t>
                              </m:r>
                            </m:den>
                          </m:f>
                        </m:e>
                      </m:d>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d>
                            <m:dPr>
                              <m:begChr m:val=""/>
                              <m:endChr m:val="|"/>
                              <m:ctrlPr>
                                <a:rPr lang="en-US" sz="1800" b="0" i="1" smtClean="0">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𝑎</m:t>
                                  </m:r>
                                </m:num>
                                <m:den>
                                  <m:sSup>
                                    <m:sSupPr>
                                      <m:ctrlPr>
                                        <a:rPr lang="en-US" sz="1800" i="1">
                                          <a:latin typeface="Cambria Math" panose="02040503050406030204" pitchFamily="18" charset="0"/>
                                        </a:rPr>
                                      </m:ctrlPr>
                                    </m:sSupPr>
                                    <m:e>
                                      <m:r>
                                        <a:rPr lang="en-US" sz="1800" i="1">
                                          <a:latin typeface="Cambria Math" panose="02040503050406030204" pitchFamily="18" charset="0"/>
                                        </a:rPr>
                                        <m:t>10</m:t>
                                      </m:r>
                                    </m:e>
                                    <m:sup>
                                      <m:r>
                                        <a:rPr lang="en-US" sz="1800" i="1">
                                          <a:latin typeface="Cambria Math" panose="02040503050406030204" pitchFamily="18" charset="0"/>
                                        </a:rPr>
                                        <m:t>3</m:t>
                                      </m:r>
                                    </m:sup>
                                  </m:sSup>
                                </m:den>
                              </m:f>
                              <m:r>
                                <a:rPr lang="en-US" sz="1800" i="1">
                                  <a:latin typeface="Cambria Math" panose="02040503050406030204" pitchFamily="18" charset="0"/>
                                </a:rPr>
                                <m:t>𝑇</m:t>
                              </m:r>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𝑏</m:t>
                                  </m:r>
                                </m:num>
                                <m:den>
                                  <m:r>
                                    <a:rPr lang="en-US" sz="1800" i="1">
                                      <a:latin typeface="Cambria Math" panose="02040503050406030204" pitchFamily="18" charset="0"/>
                                    </a:rPr>
                                    <m:t>2∗</m:t>
                                  </m:r>
                                  <m:sSup>
                                    <m:sSupPr>
                                      <m:ctrlPr>
                                        <a:rPr lang="en-US" sz="1800" i="1">
                                          <a:latin typeface="Cambria Math" panose="02040503050406030204" pitchFamily="18" charset="0"/>
                                        </a:rPr>
                                      </m:ctrlPr>
                                    </m:sSupPr>
                                    <m:e>
                                      <m:r>
                                        <a:rPr lang="en-US" sz="1800" i="1">
                                          <a:latin typeface="Cambria Math" panose="02040503050406030204" pitchFamily="18" charset="0"/>
                                        </a:rPr>
                                        <m:t>10</m:t>
                                      </m:r>
                                    </m:e>
                                    <m:sup>
                                      <m:r>
                                        <a:rPr lang="en-US" sz="1800" i="1">
                                          <a:latin typeface="Cambria Math" panose="02040503050406030204" pitchFamily="18" charset="0"/>
                                        </a:rPr>
                                        <m:t>6</m:t>
                                      </m:r>
                                    </m:sup>
                                  </m:sSup>
                                </m:den>
                              </m:f>
                              <m:sSup>
                                <m:sSupPr>
                                  <m:ctrlPr>
                                    <a:rPr lang="en-US" sz="1800" i="1">
                                      <a:latin typeface="Cambria Math" panose="02040503050406030204" pitchFamily="18" charset="0"/>
                                    </a:rPr>
                                  </m:ctrlPr>
                                </m:sSupPr>
                                <m:e>
                                  <m:r>
                                    <a:rPr lang="en-US" sz="1800" i="1">
                                      <a:latin typeface="Cambria Math" panose="02040503050406030204" pitchFamily="18" charset="0"/>
                                    </a:rPr>
                                    <m:t>𝑇</m:t>
                                  </m:r>
                                </m:e>
                                <m:sup>
                                  <m:r>
                                    <a:rPr lang="en-US" sz="1800" i="1">
                                      <a:latin typeface="Cambria Math" panose="02040503050406030204" pitchFamily="18" charset="0"/>
                                    </a:rPr>
                                    <m:t>2</m:t>
                                  </m:r>
                                </m:sup>
                              </m:sSup>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𝑐</m:t>
                                  </m:r>
                                </m:num>
                                <m:den>
                                  <m:r>
                                    <a:rPr lang="en-US" sz="1800" i="1">
                                      <a:latin typeface="Cambria Math" panose="02040503050406030204" pitchFamily="18" charset="0"/>
                                    </a:rPr>
                                    <m:t>3∗</m:t>
                                  </m:r>
                                  <m:sSup>
                                    <m:sSupPr>
                                      <m:ctrlPr>
                                        <a:rPr lang="en-US" sz="1800" i="1">
                                          <a:latin typeface="Cambria Math" panose="02040503050406030204" pitchFamily="18" charset="0"/>
                                        </a:rPr>
                                      </m:ctrlPr>
                                    </m:sSupPr>
                                    <m:e>
                                      <m:r>
                                        <a:rPr lang="en-US" sz="1800" i="1">
                                          <a:latin typeface="Cambria Math" panose="02040503050406030204" pitchFamily="18" charset="0"/>
                                        </a:rPr>
                                        <m:t>10</m:t>
                                      </m:r>
                                    </m:e>
                                    <m:sup>
                                      <m:r>
                                        <a:rPr lang="en-US" sz="1800" i="1">
                                          <a:latin typeface="Cambria Math" panose="02040503050406030204" pitchFamily="18" charset="0"/>
                                        </a:rPr>
                                        <m:t>9</m:t>
                                      </m:r>
                                    </m:sup>
                                  </m:sSup>
                                </m:den>
                              </m:f>
                              <m:sSup>
                                <m:sSupPr>
                                  <m:ctrlPr>
                                    <a:rPr lang="en-US" sz="1800" i="1">
                                      <a:latin typeface="Cambria Math" panose="02040503050406030204" pitchFamily="18" charset="0"/>
                                    </a:rPr>
                                  </m:ctrlPr>
                                </m:sSupPr>
                                <m:e>
                                  <m:r>
                                    <a:rPr lang="en-US" sz="1800" i="1">
                                      <a:latin typeface="Cambria Math" panose="02040503050406030204" pitchFamily="18" charset="0"/>
                                    </a:rPr>
                                    <m:t>𝑇</m:t>
                                  </m:r>
                                </m:e>
                                <m:sup>
                                  <m:r>
                                    <a:rPr lang="en-US" sz="1800" i="1">
                                      <a:latin typeface="Cambria Math" panose="02040503050406030204" pitchFamily="18" charset="0"/>
                                    </a:rPr>
                                    <m:t>3</m:t>
                                  </m:r>
                                </m:sup>
                              </m:sSup>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𝑑</m:t>
                                  </m:r>
                                </m:num>
                                <m:den>
                                  <m:r>
                                    <a:rPr lang="en-US" sz="1800" i="1">
                                      <a:latin typeface="Cambria Math" panose="02040503050406030204" pitchFamily="18" charset="0"/>
                                    </a:rPr>
                                    <m:t>4∗</m:t>
                                  </m:r>
                                  <m:sSup>
                                    <m:sSupPr>
                                      <m:ctrlPr>
                                        <a:rPr lang="en-US" sz="1800" i="1">
                                          <a:latin typeface="Cambria Math" panose="02040503050406030204" pitchFamily="18" charset="0"/>
                                        </a:rPr>
                                      </m:ctrlPr>
                                    </m:sSupPr>
                                    <m:e>
                                      <m:r>
                                        <a:rPr lang="en-US" sz="1800" i="1">
                                          <a:latin typeface="Cambria Math" panose="02040503050406030204" pitchFamily="18" charset="0"/>
                                        </a:rPr>
                                        <m:t>10</m:t>
                                      </m:r>
                                    </m:e>
                                    <m:sup>
                                      <m:r>
                                        <a:rPr lang="en-US" sz="1800" i="1">
                                          <a:latin typeface="Cambria Math" panose="02040503050406030204" pitchFamily="18" charset="0"/>
                                        </a:rPr>
                                        <m:t>12</m:t>
                                      </m:r>
                                    </m:sup>
                                  </m:sSup>
                                </m:den>
                              </m:f>
                              <m:sSup>
                                <m:sSupPr>
                                  <m:ctrlPr>
                                    <a:rPr lang="en-US" sz="1800" i="1">
                                      <a:latin typeface="Cambria Math" panose="02040503050406030204" pitchFamily="18" charset="0"/>
                                    </a:rPr>
                                  </m:ctrlPr>
                                </m:sSupPr>
                                <m:e>
                                  <m:r>
                                    <a:rPr lang="en-US" sz="1800" i="1">
                                      <a:latin typeface="Cambria Math" panose="02040503050406030204" pitchFamily="18" charset="0"/>
                                    </a:rPr>
                                    <m:t>𝑇</m:t>
                                  </m:r>
                                </m:e>
                                <m:sup>
                                  <m:r>
                                    <a:rPr lang="en-US" sz="1800" i="1">
                                      <a:latin typeface="Cambria Math" panose="02040503050406030204" pitchFamily="18" charset="0"/>
                                    </a:rPr>
                                    <m:t>4</m:t>
                                  </m:r>
                                </m:sup>
                              </m:sSup>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𝑒</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10</m:t>
                                      </m:r>
                                    </m:e>
                                    <m:sup>
                                      <m:r>
                                        <a:rPr lang="en-US" sz="1800" i="1">
                                          <a:latin typeface="Cambria Math" panose="02040503050406030204" pitchFamily="18" charset="0"/>
                                        </a:rPr>
                                        <m:t>3</m:t>
                                      </m:r>
                                    </m:sup>
                                  </m:sSup>
                                </m:num>
                                <m:den>
                                  <m:r>
                                    <a:rPr lang="en-US" sz="1800" i="1">
                                      <a:latin typeface="Cambria Math" panose="02040503050406030204" pitchFamily="18" charset="0"/>
                                    </a:rPr>
                                    <m:t>𝑇</m:t>
                                  </m:r>
                                </m:den>
                              </m:f>
                            </m:e>
                          </m:d>
                        </m:e>
                        <m: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𝑖𝑛</m:t>
                              </m:r>
                            </m:sub>
                          </m:sSub>
                        </m:sub>
                        <m: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𝑜𝑢𝑡</m:t>
                              </m:r>
                            </m:sub>
                          </m:sSub>
                        </m:sup>
                      </m:sSubSup>
                    </m:oMath>
                  </m:oMathPara>
                </a14:m>
                <a:endParaRPr lang="en-US" b="0"/>
              </a:p>
              <a:p>
                <a:pPr marL="0" indent="0">
                  <a:buFont typeface="Arial" panose="020B0604020202020204" pitchFamily="34" charset="0"/>
                  <a:buNone/>
                </a:pPr>
                <a:endParaRPr lang="en-US" sz="3500"/>
              </a:p>
            </p:txBody>
          </p:sp>
        </mc:Choice>
        <mc:Fallback xmlns="">
          <p:sp>
            <p:nvSpPr>
              <p:cNvPr id="6" name="Content Placeholder 2">
                <a:extLst>
                  <a:ext uri="{FF2B5EF4-FFF2-40B4-BE49-F238E27FC236}">
                    <a16:creationId xmlns:a16="http://schemas.microsoft.com/office/drawing/2014/main" id="{770DA761-2A91-E7F4-51C4-9BD4C2C47578}"/>
                  </a:ext>
                </a:extLst>
              </p:cNvPr>
              <p:cNvSpPr txBox="1">
                <a:spLocks noRot="1" noChangeAspect="1" noMove="1" noResize="1" noEditPoints="1" noAdjustHandles="1" noChangeArrowheads="1" noChangeShapeType="1" noTextEdit="1"/>
              </p:cNvSpPr>
              <p:nvPr/>
            </p:nvSpPr>
            <p:spPr>
              <a:xfrm>
                <a:off x="4059048" y="1741356"/>
                <a:ext cx="8132951" cy="5116644"/>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27390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84B2A8EA-EF89-ACB6-1835-CE66E01C63EC}"/>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B59786D1-43E9-13B4-6655-C56E2E06B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E1EA6E-0C64-5204-B591-707FB3E0C8A1}"/>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CFED4AC9-A252-22A9-4595-27333440BFF0}"/>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A4FA3B06-9873-0AC6-C370-2874351FB605}"/>
              </a:ext>
            </a:extLst>
          </p:cNvPr>
          <p:cNvSpPr txBox="1">
            <a:spLocks/>
          </p:cNvSpPr>
          <p:nvPr/>
        </p:nvSpPr>
        <p:spPr>
          <a:xfrm>
            <a:off x="245806" y="2766332"/>
            <a:ext cx="3813244" cy="3103526"/>
          </a:xfrm>
          <a:prstGeom prst="rect">
            <a:avLst/>
          </a:prstGeom>
        </p:spPr>
        <p:txBody>
          <a:bodyPr vert="horz" lIns="91440" tIns="45720" rIns="91440" bIns="45720" rtlCol="0" anchor="t">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NIST </a:t>
            </a:r>
            <a:r>
              <a:rPr lang="en-US" sz="3000" err="1">
                <a:solidFill>
                  <a:srgbClr val="FFFFFF"/>
                </a:solidFill>
              </a:rPr>
              <a:t>WebBook</a:t>
            </a:r>
            <a:r>
              <a:rPr lang="en-US" sz="3000">
                <a:solidFill>
                  <a:srgbClr val="FFFFFF"/>
                </a:solidFill>
              </a:rPr>
              <a:t> values</a:t>
            </a:r>
          </a:p>
          <a:p>
            <a:pPr marL="571500" indent="-571500">
              <a:buFont typeface="Arial" panose="020B0604020202020204" pitchFamily="34" charset="0"/>
              <a:buChar char="•"/>
            </a:pPr>
            <a:r>
              <a:rPr lang="en-US" sz="3000">
                <a:solidFill>
                  <a:srgbClr val="FFFFFF"/>
                </a:solidFill>
              </a:rPr>
              <a:t>Steel values are from Office of Scientific and Technical Information (OSTI)</a:t>
            </a:r>
          </a:p>
          <a:p>
            <a:pPr marL="571500" indent="-571500">
              <a:buFont typeface="Arial" panose="020B0604020202020204" pitchFamily="34" charset="0"/>
              <a:buChar char="•"/>
            </a:pPr>
            <a:r>
              <a:rPr lang="en-US" sz="3000">
                <a:solidFill>
                  <a:srgbClr val="FFFFFF"/>
                </a:solidFill>
              </a:rPr>
              <a:t>From 25</a:t>
            </a:r>
            <a:r>
              <a:rPr lang="en-US" sz="3200">
                <a:solidFill>
                  <a:schemeClr val="bg1"/>
                </a:solidFill>
              </a:rPr>
              <a:t>°</a:t>
            </a:r>
            <a:r>
              <a:rPr lang="en-US" sz="3000">
                <a:solidFill>
                  <a:srgbClr val="FFFFFF"/>
                </a:solidFill>
              </a:rPr>
              <a:t>C – 1700</a:t>
            </a:r>
            <a:r>
              <a:rPr lang="en-US" sz="2800">
                <a:solidFill>
                  <a:schemeClr val="bg1"/>
                </a:solidFill>
              </a:rPr>
              <a:t>°</a:t>
            </a:r>
            <a:r>
              <a:rPr lang="en-US" sz="3000">
                <a:solidFill>
                  <a:srgbClr val="FFFFFF"/>
                </a:solidFill>
              </a:rPr>
              <a:t>C</a:t>
            </a:r>
          </a:p>
          <a:p>
            <a:endParaRPr lang="en-US" sz="3000">
              <a:solidFill>
                <a:srgbClr val="FFFFFF"/>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FF021EAA-D7D3-196A-A2F9-FE286538F56A}"/>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sz="3500" i="1">
                              <a:latin typeface="Cambria Math" panose="02040503050406030204" pitchFamily="18" charset="0"/>
                            </a:rPr>
                          </m:ctrlPr>
                        </m:naryPr>
                        <m:sub>
                          <m:r>
                            <m:rPr>
                              <m:brk m:alnAt="7"/>
                            </m:rPr>
                            <a:rPr lang="en-US" sz="3500" i="1" smtClean="0">
                              <a:latin typeface="Cambria Math" panose="02040503050406030204" pitchFamily="18" charset="0"/>
                            </a:rPr>
                            <m:t>𝑜</m:t>
                          </m:r>
                          <m:r>
                            <a:rPr lang="en-US" sz="3500" i="1" smtClean="0">
                              <a:latin typeface="Cambria Math" panose="02040503050406030204" pitchFamily="18" charset="0"/>
                            </a:rPr>
                            <m:t>𝑢𝑡</m:t>
                          </m:r>
                        </m:sub>
                        <m:sup/>
                        <m:e>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𝑛</m:t>
                              </m:r>
                            </m:e>
                            <m:sub>
                              <m:r>
                                <a:rPr lang="en-US" sz="3500" i="1" smtClean="0">
                                  <a:latin typeface="Cambria Math" panose="02040503050406030204" pitchFamily="18" charset="0"/>
                                </a:rPr>
                                <m:t>𝑖</m:t>
                              </m:r>
                            </m:sub>
                          </m:sSub>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𝐻</m:t>
                              </m:r>
                            </m:e>
                            <m:sub>
                              <m:r>
                                <a:rPr lang="en-US" sz="3500" i="1" smtClean="0">
                                  <a:latin typeface="Cambria Math" panose="02040503050406030204" pitchFamily="18" charset="0"/>
                                </a:rPr>
                                <m:t>𝑖</m:t>
                              </m:r>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FF021EAA-D7D3-196A-A2F9-FE286538F56A}"/>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8EDE7DA-CF8E-1B50-AB1A-291118F9772F}"/>
              </a:ext>
            </a:extLst>
          </p:cNvPr>
          <p:cNvPicPr>
            <a:picLocks noChangeAspect="1"/>
          </p:cNvPicPr>
          <p:nvPr/>
        </p:nvPicPr>
        <p:blipFill>
          <a:blip r:embed="rId4"/>
          <a:stretch>
            <a:fillRect/>
          </a:stretch>
        </p:blipFill>
        <p:spPr>
          <a:xfrm>
            <a:off x="4508825" y="1455174"/>
            <a:ext cx="7218550" cy="5160811"/>
          </a:xfrm>
          <a:prstGeom prst="rect">
            <a:avLst/>
          </a:prstGeom>
        </p:spPr>
      </p:pic>
    </p:spTree>
    <p:extLst>
      <p:ext uri="{BB962C8B-B14F-4D97-AF65-F5344CB8AC3E}">
        <p14:creationId xmlns:p14="http://schemas.microsoft.com/office/powerpoint/2010/main" val="3389141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BC38F9BB-6406-A955-010E-F98D18D8A33B}"/>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9AF3D654-17A2-6F65-E734-DE4131F842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278837-F338-87CA-9364-F29D88937D60}"/>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E86163BF-FE5E-A3C0-EF41-F55A04A20980}"/>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8F272E78-6A37-5DB5-DC48-D83DCABF80AC}"/>
              </a:ext>
            </a:extLst>
          </p:cNvPr>
          <p:cNvSpPr txBox="1">
            <a:spLocks/>
          </p:cNvSpPr>
          <p:nvPr/>
        </p:nvSpPr>
        <p:spPr>
          <a:xfrm>
            <a:off x="245806" y="2766332"/>
            <a:ext cx="3813244" cy="12810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Iron’s values don’t seem correct…</a:t>
            </a:r>
          </a:p>
          <a:p>
            <a:pPr marL="571500" indent="-571500">
              <a:buFont typeface="Arial" panose="020B0604020202020204" pitchFamily="34" charset="0"/>
              <a:buChar char="•"/>
            </a:pPr>
            <a:endParaRPr lang="en-US" sz="3000">
              <a:solidFill>
                <a:srgbClr val="FFFFFF"/>
              </a:solidFill>
            </a:endParaRPr>
          </a:p>
          <a:p>
            <a:endParaRPr lang="en-US" sz="3000">
              <a:solidFill>
                <a:srgbClr val="FFFFFF"/>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A5B2867B-51B1-EC30-347E-B3B367056AA8}"/>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nary>
                        <m:naryPr>
                          <m:chr m:val="∑"/>
                          <m:supHide m:val="on"/>
                          <m:ctrlPr>
                            <a:rPr lang="en-US" sz="3500" i="1">
                              <a:latin typeface="Cambria Math" panose="02040503050406030204" pitchFamily="18" charset="0"/>
                            </a:rPr>
                          </m:ctrlPr>
                        </m:naryPr>
                        <m:sub>
                          <m:r>
                            <m:rPr>
                              <m:brk m:alnAt="7"/>
                            </m:rPr>
                            <a:rPr lang="en-US" sz="3500" i="1" smtClean="0">
                              <a:latin typeface="Cambria Math" panose="02040503050406030204" pitchFamily="18" charset="0"/>
                            </a:rPr>
                            <m:t>𝑜</m:t>
                          </m:r>
                          <m:r>
                            <a:rPr lang="en-US" sz="3500" i="1" smtClean="0">
                              <a:latin typeface="Cambria Math" panose="02040503050406030204" pitchFamily="18" charset="0"/>
                            </a:rPr>
                            <m:t>𝑢𝑡</m:t>
                          </m:r>
                        </m:sub>
                        <m:sup/>
                        <m:e>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𝑛</m:t>
                              </m:r>
                            </m:e>
                            <m:sub>
                              <m:r>
                                <a:rPr lang="en-US" sz="3500" i="1" smtClean="0">
                                  <a:latin typeface="Cambria Math" panose="02040503050406030204" pitchFamily="18" charset="0"/>
                                </a:rPr>
                                <m:t>𝑖</m:t>
                              </m:r>
                            </m:sub>
                          </m:sSub>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𝐻</m:t>
                              </m:r>
                            </m:e>
                            <m:sub>
                              <m:r>
                                <a:rPr lang="en-US" sz="3500" i="1" smtClean="0">
                                  <a:latin typeface="Cambria Math" panose="02040503050406030204" pitchFamily="18" charset="0"/>
                                </a:rPr>
                                <m:t>𝑖</m:t>
                              </m:r>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A5B2867B-51B1-EC30-347E-B3B367056AA8}"/>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65710057-65D1-5B57-E639-5F74202996CD}"/>
              </a:ext>
            </a:extLst>
          </p:cNvPr>
          <p:cNvPicPr>
            <a:picLocks noChangeAspect="1"/>
          </p:cNvPicPr>
          <p:nvPr/>
        </p:nvPicPr>
        <p:blipFill>
          <a:blip r:embed="rId4"/>
          <a:srcRect t="-1" r="396" b="94657"/>
          <a:stretch>
            <a:fillRect/>
          </a:stretch>
        </p:blipFill>
        <p:spPr>
          <a:xfrm>
            <a:off x="4230362" y="1648292"/>
            <a:ext cx="7811321" cy="301520"/>
          </a:xfrm>
          <a:prstGeom prst="rect">
            <a:avLst/>
          </a:prstGeom>
        </p:spPr>
      </p:pic>
      <p:graphicFrame>
        <p:nvGraphicFramePr>
          <p:cNvPr id="9" name="Table 8">
            <a:extLst>
              <a:ext uri="{FF2B5EF4-FFF2-40B4-BE49-F238E27FC236}">
                <a16:creationId xmlns:a16="http://schemas.microsoft.com/office/drawing/2014/main" id="{1B03D8EA-57A8-FF11-CF77-BE7B94F6DBB3}"/>
              </a:ext>
            </a:extLst>
          </p:cNvPr>
          <p:cNvGraphicFramePr>
            <a:graphicFrameLocks noGrp="1"/>
          </p:cNvGraphicFramePr>
          <p:nvPr>
            <p:extLst>
              <p:ext uri="{D42A27DB-BD31-4B8C-83A1-F6EECF244321}">
                <p14:modId xmlns:p14="http://schemas.microsoft.com/office/powerpoint/2010/main" val="3212203756"/>
              </p:ext>
            </p:extLst>
          </p:nvPr>
        </p:nvGraphicFramePr>
        <p:xfrm>
          <a:off x="4454641" y="3864270"/>
          <a:ext cx="3265983" cy="2219960"/>
        </p:xfrm>
        <a:graphic>
          <a:graphicData uri="http://schemas.openxmlformats.org/drawingml/2006/table">
            <a:tbl>
              <a:tblPr firstRow="1" bandRow="1">
                <a:tableStyleId>{073A0DAA-6AF3-43AB-8588-CEC1D06C72B9}</a:tableStyleId>
              </a:tblPr>
              <a:tblGrid>
                <a:gridCol w="1923330">
                  <a:extLst>
                    <a:ext uri="{9D8B030D-6E8A-4147-A177-3AD203B41FA5}">
                      <a16:colId xmlns:a16="http://schemas.microsoft.com/office/drawing/2014/main" val="3071452395"/>
                    </a:ext>
                  </a:extLst>
                </a:gridCol>
                <a:gridCol w="1342653">
                  <a:extLst>
                    <a:ext uri="{9D8B030D-6E8A-4147-A177-3AD203B41FA5}">
                      <a16:colId xmlns:a16="http://schemas.microsoft.com/office/drawing/2014/main" val="606235735"/>
                    </a:ext>
                  </a:extLst>
                </a:gridCol>
              </a:tblGrid>
              <a:tr h="0">
                <a:tc>
                  <a:txBody>
                    <a:bodyPr/>
                    <a:lstStyle/>
                    <a:p>
                      <a:r>
                        <a:rPr lang="en-US"/>
                        <a:t>Temp Range (K)</a:t>
                      </a:r>
                    </a:p>
                  </a:txBody>
                  <a:tcPr/>
                </a:tc>
                <a:tc>
                  <a:txBody>
                    <a:bodyPr/>
                    <a:lstStyle/>
                    <a:p>
                      <a:r>
                        <a:rPr lang="en-US"/>
                        <a:t>H (kJ/mol)</a:t>
                      </a:r>
                    </a:p>
                  </a:txBody>
                  <a:tcPr/>
                </a:tc>
                <a:extLst>
                  <a:ext uri="{0D108BD9-81ED-4DB2-BD59-A6C34878D82A}">
                    <a16:rowId xmlns:a16="http://schemas.microsoft.com/office/drawing/2014/main" val="2453037510"/>
                  </a:ext>
                </a:extLst>
              </a:tr>
              <a:tr h="370840">
                <a:tc>
                  <a:txBody>
                    <a:bodyPr/>
                    <a:lstStyle/>
                    <a:p>
                      <a:r>
                        <a:rPr lang="en-US"/>
                        <a:t>298-700</a:t>
                      </a:r>
                    </a:p>
                  </a:txBody>
                  <a:tcPr/>
                </a:tc>
                <a:tc>
                  <a:txBody>
                    <a:bodyPr/>
                    <a:lstStyle/>
                    <a:p>
                      <a:r>
                        <a:rPr lang="en-US"/>
                        <a:t>12.000</a:t>
                      </a:r>
                    </a:p>
                  </a:txBody>
                  <a:tcPr/>
                </a:tc>
                <a:extLst>
                  <a:ext uri="{0D108BD9-81ED-4DB2-BD59-A6C34878D82A}">
                    <a16:rowId xmlns:a16="http://schemas.microsoft.com/office/drawing/2014/main" val="2767259428"/>
                  </a:ext>
                </a:extLst>
              </a:tr>
              <a:tr h="370840">
                <a:tc>
                  <a:txBody>
                    <a:bodyPr/>
                    <a:lstStyle/>
                    <a:p>
                      <a:r>
                        <a:rPr lang="en-US"/>
                        <a:t>700-1042</a:t>
                      </a:r>
                    </a:p>
                  </a:txBody>
                  <a:tcPr/>
                </a:tc>
                <a:tc>
                  <a:txBody>
                    <a:bodyPr/>
                    <a:lstStyle/>
                    <a:p>
                      <a:r>
                        <a:rPr lang="en-US"/>
                        <a:t>-13533.218</a:t>
                      </a:r>
                    </a:p>
                  </a:txBody>
                  <a:tcPr/>
                </a:tc>
                <a:extLst>
                  <a:ext uri="{0D108BD9-81ED-4DB2-BD59-A6C34878D82A}">
                    <a16:rowId xmlns:a16="http://schemas.microsoft.com/office/drawing/2014/main" val="1546758971"/>
                  </a:ext>
                </a:extLst>
              </a:tr>
              <a:tr h="370840">
                <a:tc>
                  <a:txBody>
                    <a:bodyPr/>
                    <a:lstStyle/>
                    <a:p>
                      <a:r>
                        <a:rPr lang="en-US"/>
                        <a:t>1042-1100</a:t>
                      </a:r>
                    </a:p>
                  </a:txBody>
                  <a:tcPr/>
                </a:tc>
                <a:tc>
                  <a:txBody>
                    <a:bodyPr/>
                    <a:lstStyle/>
                    <a:p>
                      <a:r>
                        <a:rPr lang="en-US"/>
                        <a:t>-7119.913</a:t>
                      </a:r>
                    </a:p>
                  </a:txBody>
                  <a:tcPr/>
                </a:tc>
                <a:extLst>
                  <a:ext uri="{0D108BD9-81ED-4DB2-BD59-A6C34878D82A}">
                    <a16:rowId xmlns:a16="http://schemas.microsoft.com/office/drawing/2014/main" val="419241304"/>
                  </a:ext>
                </a:extLst>
              </a:tr>
              <a:tr h="370840">
                <a:tc>
                  <a:txBody>
                    <a:bodyPr/>
                    <a:lstStyle/>
                    <a:p>
                      <a:r>
                        <a:rPr lang="en-US"/>
                        <a:t>1100-1700</a:t>
                      </a:r>
                    </a:p>
                  </a:txBody>
                  <a:tcPr/>
                </a:tc>
                <a:tc>
                  <a:txBody>
                    <a:bodyPr/>
                    <a:lstStyle/>
                    <a:p>
                      <a:r>
                        <a:rPr lang="en-US"/>
                        <a:t>-559.057</a:t>
                      </a:r>
                    </a:p>
                  </a:txBody>
                  <a:tcPr/>
                </a:tc>
                <a:extLst>
                  <a:ext uri="{0D108BD9-81ED-4DB2-BD59-A6C34878D82A}">
                    <a16:rowId xmlns:a16="http://schemas.microsoft.com/office/drawing/2014/main" val="2254610662"/>
                  </a:ext>
                </a:extLst>
              </a:tr>
              <a:tr h="370840">
                <a:tc>
                  <a:txBody>
                    <a:bodyPr/>
                    <a:lstStyle/>
                    <a:p>
                      <a:r>
                        <a:rPr lang="en-US"/>
                        <a:t>Sum:</a:t>
                      </a:r>
                    </a:p>
                  </a:txBody>
                  <a:tcPr/>
                </a:tc>
                <a:tc>
                  <a:txBody>
                    <a:bodyPr/>
                    <a:lstStyle/>
                    <a:p>
                      <a:r>
                        <a:rPr lang="en-US"/>
                        <a:t>-21200.188</a:t>
                      </a:r>
                    </a:p>
                  </a:txBody>
                  <a:tcPr/>
                </a:tc>
                <a:extLst>
                  <a:ext uri="{0D108BD9-81ED-4DB2-BD59-A6C34878D82A}">
                    <a16:rowId xmlns:a16="http://schemas.microsoft.com/office/drawing/2014/main" val="3431014593"/>
                  </a:ext>
                </a:extLst>
              </a:tr>
            </a:tbl>
          </a:graphicData>
        </a:graphic>
      </p:graphicFrame>
      <p:graphicFrame>
        <p:nvGraphicFramePr>
          <p:cNvPr id="10" name="Table 9">
            <a:extLst>
              <a:ext uri="{FF2B5EF4-FFF2-40B4-BE49-F238E27FC236}">
                <a16:creationId xmlns:a16="http://schemas.microsoft.com/office/drawing/2014/main" id="{2D90B4A3-F917-1415-B499-935B84626DFA}"/>
              </a:ext>
            </a:extLst>
          </p:cNvPr>
          <p:cNvGraphicFramePr>
            <a:graphicFrameLocks noGrp="1"/>
          </p:cNvGraphicFramePr>
          <p:nvPr>
            <p:extLst>
              <p:ext uri="{D42A27DB-BD31-4B8C-83A1-F6EECF244321}">
                <p14:modId xmlns:p14="http://schemas.microsoft.com/office/powerpoint/2010/main" val="1766354427"/>
              </p:ext>
            </p:extLst>
          </p:nvPr>
        </p:nvGraphicFramePr>
        <p:xfrm>
          <a:off x="8402293" y="3864270"/>
          <a:ext cx="3265983" cy="1849120"/>
        </p:xfrm>
        <a:graphic>
          <a:graphicData uri="http://schemas.openxmlformats.org/drawingml/2006/table">
            <a:tbl>
              <a:tblPr firstRow="1" bandRow="1">
                <a:tableStyleId>{073A0DAA-6AF3-43AB-8588-CEC1D06C72B9}</a:tableStyleId>
              </a:tblPr>
              <a:tblGrid>
                <a:gridCol w="1923330">
                  <a:extLst>
                    <a:ext uri="{9D8B030D-6E8A-4147-A177-3AD203B41FA5}">
                      <a16:colId xmlns:a16="http://schemas.microsoft.com/office/drawing/2014/main" val="3071452395"/>
                    </a:ext>
                  </a:extLst>
                </a:gridCol>
                <a:gridCol w="1342653">
                  <a:extLst>
                    <a:ext uri="{9D8B030D-6E8A-4147-A177-3AD203B41FA5}">
                      <a16:colId xmlns:a16="http://schemas.microsoft.com/office/drawing/2014/main" val="606235735"/>
                    </a:ext>
                  </a:extLst>
                </a:gridCol>
              </a:tblGrid>
              <a:tr h="0">
                <a:tc>
                  <a:txBody>
                    <a:bodyPr/>
                    <a:lstStyle/>
                    <a:p>
                      <a:r>
                        <a:rPr lang="en-US"/>
                        <a:t>Temp Range (K)</a:t>
                      </a:r>
                    </a:p>
                  </a:txBody>
                  <a:tcPr/>
                </a:tc>
                <a:tc>
                  <a:txBody>
                    <a:bodyPr/>
                    <a:lstStyle/>
                    <a:p>
                      <a:r>
                        <a:rPr lang="en-US"/>
                        <a:t>H (kJ/mol)</a:t>
                      </a:r>
                    </a:p>
                  </a:txBody>
                  <a:tcPr/>
                </a:tc>
                <a:extLst>
                  <a:ext uri="{0D108BD9-81ED-4DB2-BD59-A6C34878D82A}">
                    <a16:rowId xmlns:a16="http://schemas.microsoft.com/office/drawing/2014/main" val="2453037510"/>
                  </a:ext>
                </a:extLst>
              </a:tr>
              <a:tr h="370840">
                <a:tc>
                  <a:txBody>
                    <a:bodyPr/>
                    <a:lstStyle/>
                    <a:p>
                      <a:r>
                        <a:rPr lang="en-US"/>
                        <a:t>0-1184</a:t>
                      </a:r>
                    </a:p>
                  </a:txBody>
                  <a:tcPr/>
                </a:tc>
                <a:tc>
                  <a:txBody>
                    <a:bodyPr/>
                    <a:lstStyle/>
                    <a:p>
                      <a:r>
                        <a:rPr lang="en-US"/>
                        <a:t>26.960</a:t>
                      </a:r>
                    </a:p>
                  </a:txBody>
                  <a:tcPr/>
                </a:tc>
                <a:extLst>
                  <a:ext uri="{0D108BD9-81ED-4DB2-BD59-A6C34878D82A}">
                    <a16:rowId xmlns:a16="http://schemas.microsoft.com/office/drawing/2014/main" val="2767259428"/>
                  </a:ext>
                </a:extLst>
              </a:tr>
              <a:tr h="370840">
                <a:tc>
                  <a:txBody>
                    <a:bodyPr/>
                    <a:lstStyle/>
                    <a:p>
                      <a:r>
                        <a:rPr lang="en-US"/>
                        <a:t>1184-1665</a:t>
                      </a:r>
                    </a:p>
                  </a:txBody>
                  <a:tcPr/>
                </a:tc>
                <a:tc>
                  <a:txBody>
                    <a:bodyPr/>
                    <a:lstStyle/>
                    <a:p>
                      <a:r>
                        <a:rPr lang="en-US"/>
                        <a:t>33.619</a:t>
                      </a:r>
                    </a:p>
                  </a:txBody>
                  <a:tcPr/>
                </a:tc>
                <a:extLst>
                  <a:ext uri="{0D108BD9-81ED-4DB2-BD59-A6C34878D82A}">
                    <a16:rowId xmlns:a16="http://schemas.microsoft.com/office/drawing/2014/main" val="1340064596"/>
                  </a:ext>
                </a:extLst>
              </a:tr>
              <a:tr h="370840">
                <a:tc>
                  <a:txBody>
                    <a:bodyPr/>
                    <a:lstStyle/>
                    <a:p>
                      <a:r>
                        <a:rPr lang="en-US"/>
                        <a:t>1665-1700</a:t>
                      </a:r>
                    </a:p>
                  </a:txBody>
                  <a:tcPr/>
                </a:tc>
                <a:tc>
                  <a:txBody>
                    <a:bodyPr/>
                    <a:lstStyle/>
                    <a:p>
                      <a:r>
                        <a:rPr lang="en-US"/>
                        <a:t>52.621</a:t>
                      </a:r>
                    </a:p>
                  </a:txBody>
                  <a:tcPr/>
                </a:tc>
                <a:extLst>
                  <a:ext uri="{0D108BD9-81ED-4DB2-BD59-A6C34878D82A}">
                    <a16:rowId xmlns:a16="http://schemas.microsoft.com/office/drawing/2014/main" val="1685480354"/>
                  </a:ext>
                </a:extLst>
              </a:tr>
              <a:tr h="370840">
                <a:tc>
                  <a:txBody>
                    <a:bodyPr/>
                    <a:lstStyle/>
                    <a:p>
                      <a:r>
                        <a:rPr lang="en-US"/>
                        <a:t>Sum:</a:t>
                      </a:r>
                    </a:p>
                  </a:txBody>
                  <a:tcPr/>
                </a:tc>
                <a:tc>
                  <a:txBody>
                    <a:bodyPr/>
                    <a:lstStyle/>
                    <a:p>
                      <a:r>
                        <a:rPr lang="en-US"/>
                        <a:t>113.2</a:t>
                      </a:r>
                    </a:p>
                  </a:txBody>
                  <a:tcPr/>
                </a:tc>
                <a:extLst>
                  <a:ext uri="{0D108BD9-81ED-4DB2-BD59-A6C34878D82A}">
                    <a16:rowId xmlns:a16="http://schemas.microsoft.com/office/drawing/2014/main" val="427920489"/>
                  </a:ext>
                </a:extLst>
              </a:tr>
            </a:tbl>
          </a:graphicData>
        </a:graphic>
      </p:graphicFrame>
      <p:sp>
        <p:nvSpPr>
          <p:cNvPr id="11" name="TextBox 10">
            <a:extLst>
              <a:ext uri="{FF2B5EF4-FFF2-40B4-BE49-F238E27FC236}">
                <a16:creationId xmlns:a16="http://schemas.microsoft.com/office/drawing/2014/main" id="{176BA30C-8409-3BDF-4716-B942C2C74361}"/>
              </a:ext>
            </a:extLst>
          </p:cNvPr>
          <p:cNvSpPr txBox="1"/>
          <p:nvPr/>
        </p:nvSpPr>
        <p:spPr>
          <a:xfrm>
            <a:off x="4677246" y="3387216"/>
            <a:ext cx="2820772" cy="477054"/>
          </a:xfrm>
          <a:prstGeom prst="rect">
            <a:avLst/>
          </a:prstGeom>
          <a:noFill/>
        </p:spPr>
        <p:txBody>
          <a:bodyPr wrap="none" rtlCol="0">
            <a:spAutoFit/>
          </a:bodyPr>
          <a:lstStyle/>
          <a:p>
            <a:r>
              <a:rPr lang="en-US" sz="2500" u="sng"/>
              <a:t>NIST </a:t>
            </a:r>
            <a:r>
              <a:rPr lang="en-US" sz="2500" u="sng" err="1"/>
              <a:t>WebBook</a:t>
            </a:r>
            <a:r>
              <a:rPr lang="en-US" sz="2500" u="sng"/>
              <a:t> Iron</a:t>
            </a:r>
          </a:p>
        </p:txBody>
      </p:sp>
      <p:sp>
        <p:nvSpPr>
          <p:cNvPr id="12" name="TextBox 11">
            <a:extLst>
              <a:ext uri="{FF2B5EF4-FFF2-40B4-BE49-F238E27FC236}">
                <a16:creationId xmlns:a16="http://schemas.microsoft.com/office/drawing/2014/main" id="{14DC4F8D-2BE8-1736-62A4-C7723993757B}"/>
              </a:ext>
            </a:extLst>
          </p:cNvPr>
          <p:cNvSpPr txBox="1"/>
          <p:nvPr/>
        </p:nvSpPr>
        <p:spPr>
          <a:xfrm>
            <a:off x="8733052" y="3409407"/>
            <a:ext cx="2410019" cy="477054"/>
          </a:xfrm>
          <a:prstGeom prst="rect">
            <a:avLst/>
          </a:prstGeom>
          <a:noFill/>
        </p:spPr>
        <p:txBody>
          <a:bodyPr wrap="none" rtlCol="0">
            <a:spAutoFit/>
          </a:bodyPr>
          <a:lstStyle/>
          <a:p>
            <a:r>
              <a:rPr lang="en-US" sz="2500" u="sng"/>
              <a:t>JANAF-NIST Iron</a:t>
            </a:r>
          </a:p>
        </p:txBody>
      </p:sp>
      <p:pic>
        <p:nvPicPr>
          <p:cNvPr id="14" name="Picture 13">
            <a:extLst>
              <a:ext uri="{FF2B5EF4-FFF2-40B4-BE49-F238E27FC236}">
                <a16:creationId xmlns:a16="http://schemas.microsoft.com/office/drawing/2014/main" id="{11BCCEAC-1587-7C8A-F52C-1CDEF7807DC2}"/>
              </a:ext>
            </a:extLst>
          </p:cNvPr>
          <p:cNvPicPr>
            <a:picLocks noChangeAspect="1"/>
          </p:cNvPicPr>
          <p:nvPr/>
        </p:nvPicPr>
        <p:blipFill>
          <a:blip r:embed="rId5"/>
          <a:stretch>
            <a:fillRect/>
          </a:stretch>
        </p:blipFill>
        <p:spPr>
          <a:xfrm>
            <a:off x="4230362" y="2678199"/>
            <a:ext cx="7811321" cy="562825"/>
          </a:xfrm>
          <a:prstGeom prst="rect">
            <a:avLst/>
          </a:prstGeom>
        </p:spPr>
      </p:pic>
      <p:pic>
        <p:nvPicPr>
          <p:cNvPr id="15" name="Picture 14">
            <a:extLst>
              <a:ext uri="{FF2B5EF4-FFF2-40B4-BE49-F238E27FC236}">
                <a16:creationId xmlns:a16="http://schemas.microsoft.com/office/drawing/2014/main" id="{7236CDBE-60D0-26B4-BDB2-3E29CDB0FC51}"/>
              </a:ext>
            </a:extLst>
          </p:cNvPr>
          <p:cNvPicPr>
            <a:picLocks noChangeAspect="1"/>
          </p:cNvPicPr>
          <p:nvPr/>
        </p:nvPicPr>
        <p:blipFill>
          <a:blip r:embed="rId6"/>
          <a:srcRect t="23569" b="63021"/>
          <a:stretch>
            <a:fillRect/>
          </a:stretch>
        </p:blipFill>
        <p:spPr>
          <a:xfrm>
            <a:off x="4234172" y="1932228"/>
            <a:ext cx="7807511" cy="726601"/>
          </a:xfrm>
          <a:prstGeom prst="rect">
            <a:avLst/>
          </a:prstGeom>
        </p:spPr>
      </p:pic>
    </p:spTree>
    <p:extLst>
      <p:ext uri="{BB962C8B-B14F-4D97-AF65-F5344CB8AC3E}">
        <p14:creationId xmlns:p14="http://schemas.microsoft.com/office/powerpoint/2010/main" val="990459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7903EF-3327-C760-B72D-FC18D795D67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32B5831-8361-908D-2845-060A11F715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11018B-7F32-B217-87C3-A21E093CF60B}"/>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ED456E9C-9CC0-4EBD-1A1A-5636993CB5FB}"/>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0B008950-DA74-D5C2-66D8-2E3D4B415E44}"/>
              </a:ext>
            </a:extLst>
          </p:cNvPr>
          <p:cNvSpPr txBox="1">
            <a:spLocks/>
          </p:cNvSpPr>
          <p:nvPr/>
        </p:nvSpPr>
        <p:spPr>
          <a:xfrm>
            <a:off x="211600" y="2766332"/>
            <a:ext cx="3673755" cy="2257952"/>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Inlet stream at STP… almost</a:t>
            </a:r>
          </a:p>
          <a:p>
            <a:pPr marL="571500" indent="-571500">
              <a:buFont typeface="Arial" panose="020B0604020202020204" pitchFamily="34" charset="0"/>
              <a:buChar char="•"/>
            </a:pPr>
            <a:r>
              <a:rPr lang="en-US" sz="3000">
                <a:solidFill>
                  <a:srgbClr val="FFFFFF"/>
                </a:solidFill>
              </a:rPr>
              <a:t>Values from NIST </a:t>
            </a:r>
            <a:r>
              <a:rPr lang="en-US" sz="3000" err="1">
                <a:solidFill>
                  <a:srgbClr val="FFFFFF"/>
                </a:solidFill>
              </a:rPr>
              <a:t>WebBook</a:t>
            </a:r>
            <a:endParaRPr lang="en-US" sz="3000">
              <a:solidFill>
                <a:srgbClr val="FFFFFF"/>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E61F3C-FE6F-AA50-BA81-3F61AC3FB826}"/>
                  </a:ext>
                </a:extLst>
              </p:cNvPr>
              <p:cNvSpPr txBox="1"/>
              <p:nvPr/>
            </p:nvSpPr>
            <p:spPr>
              <a:xfrm>
                <a:off x="4066477" y="0"/>
                <a:ext cx="8132950" cy="1436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3600" i="1" smtClean="0">
                              <a:latin typeface="Cambria Math" panose="02040503050406030204" pitchFamily="18" charset="0"/>
                            </a:rPr>
                          </m:ctrlPr>
                        </m:naryPr>
                        <m:sub>
                          <m:r>
                            <m:rPr>
                              <m:brk m:alnAt="7"/>
                            </m:rPr>
                            <a:rPr lang="en-US" sz="3600" i="1">
                              <a:latin typeface="Cambria Math" panose="02040503050406030204" pitchFamily="18" charset="0"/>
                            </a:rPr>
                            <m:t>𝑖</m:t>
                          </m:r>
                          <m:r>
                            <a:rPr lang="en-US" sz="3600" i="1">
                              <a:latin typeface="Cambria Math" panose="02040503050406030204" pitchFamily="18" charset="0"/>
                            </a:rPr>
                            <m:t>𝑛</m:t>
                          </m:r>
                        </m:sub>
                        <m:sup/>
                        <m:e>
                          <m:sSub>
                            <m:sSubPr>
                              <m:ctrlPr>
                                <a:rPr lang="en-US" sz="3600" i="1">
                                  <a:latin typeface="Cambria Math" panose="02040503050406030204" pitchFamily="18" charset="0"/>
                                </a:rPr>
                              </m:ctrlPr>
                            </m:sSubPr>
                            <m:e>
                              <m:r>
                                <a:rPr lang="en-US" sz="3600" i="1">
                                  <a:latin typeface="Cambria Math" panose="02040503050406030204" pitchFamily="18" charset="0"/>
                                </a:rPr>
                                <m:t>𝑛</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𝐻</m:t>
                              </m:r>
                            </m:e>
                            <m:sub>
                              <m:r>
                                <a:rPr lang="en-US" sz="3600" i="1">
                                  <a:latin typeface="Cambria Math" panose="02040503050406030204" pitchFamily="18" charset="0"/>
                                </a:rPr>
                                <m:t>𝑖</m:t>
                              </m:r>
                            </m:sub>
                          </m:sSub>
                        </m:e>
                      </m:nary>
                    </m:oMath>
                  </m:oMathPara>
                </a14:m>
                <a:endParaRPr lang="en-US" sz="3600"/>
              </a:p>
            </p:txBody>
          </p:sp>
        </mc:Choice>
        <mc:Fallback xmlns="">
          <p:sp>
            <p:nvSpPr>
              <p:cNvPr id="9" name="TextBox 8">
                <a:extLst>
                  <a:ext uri="{FF2B5EF4-FFF2-40B4-BE49-F238E27FC236}">
                    <a16:creationId xmlns:a16="http://schemas.microsoft.com/office/drawing/2014/main" id="{B4E61F3C-FE6F-AA50-BA81-3F61AC3FB826}"/>
                  </a:ext>
                </a:extLst>
              </p:cNvPr>
              <p:cNvSpPr txBox="1">
                <a:spLocks noRot="1" noChangeAspect="1" noMove="1" noResize="1" noEditPoints="1" noAdjustHandles="1" noChangeArrowheads="1" noChangeShapeType="1" noTextEdit="1"/>
              </p:cNvSpPr>
              <p:nvPr/>
            </p:nvSpPr>
            <p:spPr>
              <a:xfrm>
                <a:off x="4066477" y="0"/>
                <a:ext cx="8132950" cy="1436612"/>
              </a:xfrm>
              <a:prstGeom prst="rect">
                <a:avLst/>
              </a:prstGeom>
              <a:blipFill>
                <a:blip r:embed="rId2"/>
                <a:stretch>
                  <a:fillRect/>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347C4008-1A1D-1C40-BE8A-636320CAED91}"/>
              </a:ext>
            </a:extLst>
          </p:cNvPr>
          <p:cNvPicPr>
            <a:picLocks noChangeAspect="1"/>
          </p:cNvPicPr>
          <p:nvPr/>
        </p:nvPicPr>
        <p:blipFill>
          <a:blip r:embed="rId3"/>
          <a:stretch>
            <a:fillRect/>
          </a:stretch>
        </p:blipFill>
        <p:spPr>
          <a:xfrm>
            <a:off x="4221488" y="1431503"/>
            <a:ext cx="3634485" cy="2757532"/>
          </a:xfrm>
          <a:prstGeom prst="rect">
            <a:avLst/>
          </a:prstGeom>
        </p:spPr>
      </p:pic>
      <p:pic>
        <p:nvPicPr>
          <p:cNvPr id="5" name="Picture 4">
            <a:extLst>
              <a:ext uri="{FF2B5EF4-FFF2-40B4-BE49-F238E27FC236}">
                <a16:creationId xmlns:a16="http://schemas.microsoft.com/office/drawing/2014/main" id="{31FED322-11E2-7447-39C8-8D70F72D0B4E}"/>
              </a:ext>
            </a:extLst>
          </p:cNvPr>
          <p:cNvPicPr>
            <a:picLocks noChangeAspect="1"/>
          </p:cNvPicPr>
          <p:nvPr/>
        </p:nvPicPr>
        <p:blipFill>
          <a:blip r:embed="rId4"/>
          <a:stretch>
            <a:fillRect/>
          </a:stretch>
        </p:blipFill>
        <p:spPr>
          <a:xfrm>
            <a:off x="7148399" y="3982351"/>
            <a:ext cx="4551988" cy="2578764"/>
          </a:xfrm>
          <a:prstGeom prst="rect">
            <a:avLst/>
          </a:prstGeom>
        </p:spPr>
      </p:pic>
    </p:spTree>
    <p:extLst>
      <p:ext uri="{BB962C8B-B14F-4D97-AF65-F5344CB8AC3E}">
        <p14:creationId xmlns:p14="http://schemas.microsoft.com/office/powerpoint/2010/main" val="2480149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F6372F-9D4A-60EF-D152-0E679A41BA0C}"/>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BCF58D05-DF7C-F5AA-13F8-3A29C7437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F7274F-6B35-97F6-28AA-957400061052}"/>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5F672639-A661-12E1-BEF9-00E892CDC7CF}"/>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0E32DDA8-A17A-6EF1-5A2C-BE75EAAE32E7}"/>
              </a:ext>
            </a:extLst>
          </p:cNvPr>
          <p:cNvSpPr txBox="1">
            <a:spLocks/>
          </p:cNvSpPr>
          <p:nvPr/>
        </p:nvSpPr>
        <p:spPr>
          <a:xfrm>
            <a:off x="211600" y="2766331"/>
            <a:ext cx="3673755" cy="325101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Inlet stream NOT at STP</a:t>
            </a:r>
          </a:p>
          <a:p>
            <a:pPr marL="571500" indent="-571500">
              <a:buFont typeface="Arial" panose="020B0604020202020204" pitchFamily="34" charset="0"/>
              <a:buChar char="•"/>
            </a:pPr>
            <a:r>
              <a:rPr lang="en-US" sz="3000">
                <a:solidFill>
                  <a:srgbClr val="FFFFFF"/>
                </a:solidFill>
              </a:rPr>
              <a:t>Values from NIST </a:t>
            </a:r>
            <a:r>
              <a:rPr lang="en-US" sz="3000" err="1">
                <a:solidFill>
                  <a:srgbClr val="FFFFFF"/>
                </a:solidFill>
              </a:rPr>
              <a:t>WebBook</a:t>
            </a:r>
            <a:endParaRPr lang="en-US" sz="3000">
              <a:solidFill>
                <a:srgbClr val="FFFFFF"/>
              </a:solidFill>
            </a:endParaRPr>
          </a:p>
          <a:p>
            <a:pPr marL="571500" indent="-571500">
              <a:buFont typeface="Arial" panose="020B0604020202020204" pitchFamily="34" charset="0"/>
              <a:buChar char="•"/>
            </a:pPr>
            <a:r>
              <a:rPr lang="en-US" sz="3000">
                <a:solidFill>
                  <a:srgbClr val="FFFFFF"/>
                </a:solidFill>
              </a:rPr>
              <a:t>Heat of fusion was not accounted for</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9CB168-E92F-4FEE-17F2-75A3E6DA4AC6}"/>
                  </a:ext>
                </a:extLst>
              </p:cNvPr>
              <p:cNvSpPr txBox="1"/>
              <p:nvPr/>
            </p:nvSpPr>
            <p:spPr>
              <a:xfrm>
                <a:off x="4066477" y="0"/>
                <a:ext cx="8132950" cy="14366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3600" i="1" smtClean="0">
                              <a:latin typeface="Cambria Math" panose="02040503050406030204" pitchFamily="18" charset="0"/>
                            </a:rPr>
                          </m:ctrlPr>
                        </m:naryPr>
                        <m:sub>
                          <m:r>
                            <m:rPr>
                              <m:brk m:alnAt="7"/>
                            </m:rPr>
                            <a:rPr lang="en-US" sz="3600" i="1">
                              <a:latin typeface="Cambria Math" panose="02040503050406030204" pitchFamily="18" charset="0"/>
                            </a:rPr>
                            <m:t>𝑖</m:t>
                          </m:r>
                          <m:r>
                            <a:rPr lang="en-US" sz="3600" i="1">
                              <a:latin typeface="Cambria Math" panose="02040503050406030204" pitchFamily="18" charset="0"/>
                            </a:rPr>
                            <m:t>𝑛</m:t>
                          </m:r>
                        </m:sub>
                        <m:sup/>
                        <m:e>
                          <m:sSub>
                            <m:sSubPr>
                              <m:ctrlPr>
                                <a:rPr lang="en-US" sz="3600" i="1">
                                  <a:latin typeface="Cambria Math" panose="02040503050406030204" pitchFamily="18" charset="0"/>
                                </a:rPr>
                              </m:ctrlPr>
                            </m:sSubPr>
                            <m:e>
                              <m:r>
                                <a:rPr lang="en-US" sz="3600" i="1">
                                  <a:latin typeface="Cambria Math" panose="02040503050406030204" pitchFamily="18" charset="0"/>
                                </a:rPr>
                                <m:t>𝑛</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𝐻</m:t>
                              </m:r>
                            </m:e>
                            <m:sub>
                              <m:r>
                                <a:rPr lang="en-US" sz="3600" i="1">
                                  <a:latin typeface="Cambria Math" panose="02040503050406030204" pitchFamily="18" charset="0"/>
                                </a:rPr>
                                <m:t>𝑖</m:t>
                              </m:r>
                            </m:sub>
                          </m:sSub>
                        </m:e>
                      </m:nary>
                    </m:oMath>
                  </m:oMathPara>
                </a14:m>
                <a:endParaRPr lang="en-US" sz="3600"/>
              </a:p>
            </p:txBody>
          </p:sp>
        </mc:Choice>
        <mc:Fallback xmlns="">
          <p:sp>
            <p:nvSpPr>
              <p:cNvPr id="9" name="TextBox 8">
                <a:extLst>
                  <a:ext uri="{FF2B5EF4-FFF2-40B4-BE49-F238E27FC236}">
                    <a16:creationId xmlns:a16="http://schemas.microsoft.com/office/drawing/2014/main" id="{DE9CB168-E92F-4FEE-17F2-75A3E6DA4AC6}"/>
                  </a:ext>
                </a:extLst>
              </p:cNvPr>
              <p:cNvSpPr txBox="1">
                <a:spLocks noRot="1" noChangeAspect="1" noMove="1" noResize="1" noEditPoints="1" noAdjustHandles="1" noChangeArrowheads="1" noChangeShapeType="1" noTextEdit="1"/>
              </p:cNvSpPr>
              <p:nvPr/>
            </p:nvSpPr>
            <p:spPr>
              <a:xfrm>
                <a:off x="4066477" y="0"/>
                <a:ext cx="8132950" cy="143661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E2D9BD8-2041-CFA4-E30E-5E560E62B2AD}"/>
                  </a:ext>
                </a:extLst>
              </p:cNvPr>
              <p:cNvSpPr txBox="1"/>
              <p:nvPr/>
            </p:nvSpPr>
            <p:spPr>
              <a:xfrm>
                <a:off x="3658903" y="4474721"/>
                <a:ext cx="8479465" cy="13190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smtClean="0">
                              <a:latin typeface="Cambria Math" panose="02040503050406030204" pitchFamily="18" charset="0"/>
                            </a:rPr>
                          </m:ctrlPr>
                        </m:sSubSupPr>
                        <m:e>
                          <m:d>
                            <m:dPr>
                              <m:begChr m:val=""/>
                              <m:endChr m:val="|"/>
                              <m:ctrlPr>
                                <a:rPr lang="en-US" sz="1800"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𝑎</m:t>
                                  </m:r>
                                </m:num>
                                <m:den>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den>
                              </m:f>
                              <m:r>
                                <a:rPr lang="en-US" i="1">
                                  <a:latin typeface="Cambria Math" panose="02040503050406030204" pitchFamily="18" charset="0"/>
                                </a:rPr>
                                <m:t>𝑇</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𝑏</m:t>
                                  </m:r>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den>
                              </m:f>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2</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𝑐</m:t>
                                  </m:r>
                                </m:num>
                                <m:den>
                                  <m:r>
                                    <a:rPr lang="en-US" i="1">
                                      <a:latin typeface="Cambria Math" panose="02040503050406030204" pitchFamily="18" charset="0"/>
                                    </a:rPr>
                                    <m:t>3∗</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9</m:t>
                                      </m:r>
                                    </m:sup>
                                  </m:sSup>
                                </m:den>
                              </m:f>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3</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num>
                                <m:den>
                                  <m:r>
                                    <a:rPr lang="en-US" i="1">
                                      <a:latin typeface="Cambria Math" panose="02040503050406030204" pitchFamily="18" charset="0"/>
                                    </a:rPr>
                                    <m:t>4∗</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12</m:t>
                                      </m:r>
                                    </m:sup>
                                  </m:sSup>
                                </m:den>
                              </m:f>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4</m:t>
                                  </m:r>
                                </m:sup>
                              </m:sSup>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𝑒</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3</m:t>
                                      </m:r>
                                    </m:sup>
                                  </m:sSup>
                                </m:num>
                                <m:den>
                                  <m:r>
                                    <a:rPr lang="en-US" i="1">
                                      <a:latin typeface="Cambria Math" panose="02040503050406030204" pitchFamily="18" charset="0"/>
                                    </a:rPr>
                                    <m:t>𝑇</m:t>
                                  </m:r>
                                </m:den>
                              </m:f>
                              <m:r>
                                <a:rPr lang="en-US" i="1">
                                  <a:latin typeface="Cambria Math" panose="02040503050406030204" pitchFamily="18" charset="0"/>
                                </a:rPr>
                                <m:t>+</m:t>
                              </m:r>
                              <m:r>
                                <a:rPr lang="en-US" i="1">
                                  <a:latin typeface="Cambria Math" panose="02040503050406030204" pitchFamily="18" charset="0"/>
                                </a:rPr>
                                <m:t>𝑐𝑜𝑛𝑠𝑡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𝑖𝑛</m:t>
                                  </m:r>
                                </m:sub>
                              </m:sSub>
                            </m:e>
                          </m:d>
                        </m:e>
                        <m:sub>
                          <m:r>
                            <a:rPr lang="en-US" sz="1800" b="0" i="1" smtClean="0">
                              <a:latin typeface="Cambria Math" panose="02040503050406030204" pitchFamily="18" charset="0"/>
                            </a:rPr>
                            <m:t>298.15</m:t>
                          </m:r>
                        </m:sub>
                        <m:sup>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𝑇</m:t>
                              </m:r>
                            </m:e>
                            <m:sub>
                              <m:r>
                                <a:rPr lang="en-US" sz="1800" b="0" i="1" smtClean="0">
                                  <a:latin typeface="Cambria Math" panose="02040503050406030204" pitchFamily="18" charset="0"/>
                                </a:rPr>
                                <m:t>𝑖𝑛</m:t>
                              </m:r>
                            </m:sub>
                          </m:sSub>
                        </m:sup>
                      </m:sSubSup>
                    </m:oMath>
                  </m:oMathPara>
                </a14:m>
                <a:endParaRPr lang="en-US" sz="1800" b="0"/>
              </a:p>
              <a:p>
                <a:pPr/>
                <a14:m>
                  <m:oMathPara xmlns:m="http://schemas.openxmlformats.org/officeDocument/2006/math">
                    <m:oMathParaPr>
                      <m:jc m:val="centerGroup"/>
                    </m:oMathParaPr>
                    <m:oMath xmlns:m="http://schemas.openxmlformats.org/officeDocument/2006/math">
                      <m:sSub>
                        <m:sSubPr>
                          <m:ctrlPr>
                            <a:rPr lang="en-US" sz="2700" b="1" i="1" smtClean="0">
                              <a:latin typeface="Cambria Math" panose="02040503050406030204" pitchFamily="18" charset="0"/>
                            </a:rPr>
                          </m:ctrlPr>
                        </m:sSubPr>
                        <m:e>
                          <m:r>
                            <a:rPr lang="en-US" sz="2700" b="1" i="1" smtClean="0">
                              <a:latin typeface="Cambria Math" panose="02040503050406030204" pitchFamily="18" charset="0"/>
                            </a:rPr>
                            <m:t>𝑻</m:t>
                          </m:r>
                        </m:e>
                        <m:sub>
                          <m:r>
                            <a:rPr lang="en-US" sz="2700" b="1" i="1" smtClean="0">
                              <a:latin typeface="Cambria Math" panose="02040503050406030204" pitchFamily="18" charset="0"/>
                            </a:rPr>
                            <m:t>𝒊𝒏</m:t>
                          </m:r>
                        </m:sub>
                      </m:sSub>
                      <m:r>
                        <a:rPr lang="en-US" sz="2700" b="1" i="1" smtClean="0">
                          <a:latin typeface="Cambria Math" panose="02040503050406030204" pitchFamily="18" charset="0"/>
                        </a:rPr>
                        <m:t>=</m:t>
                      </m:r>
                      <m:r>
                        <a:rPr lang="en-US" sz="2700" b="1" i="1" smtClean="0">
                          <a:latin typeface="Cambria Math" panose="02040503050406030204" pitchFamily="18" charset="0"/>
                        </a:rPr>
                        <m:t>𝟑𝟐𝟒</m:t>
                      </m:r>
                      <m:r>
                        <a:rPr lang="en-US" sz="2700" b="1" i="1" smtClean="0">
                          <a:latin typeface="Cambria Math" panose="02040503050406030204" pitchFamily="18" charset="0"/>
                        </a:rPr>
                        <m:t>.</m:t>
                      </m:r>
                      <m:r>
                        <a:rPr lang="en-US" sz="2700" b="1" i="1" smtClean="0">
                          <a:latin typeface="Cambria Math" panose="02040503050406030204" pitchFamily="18" charset="0"/>
                        </a:rPr>
                        <m:t>𝟏𝟕𝟓</m:t>
                      </m:r>
                      <m:r>
                        <a:rPr lang="en-US" sz="2700" b="1" i="1" smtClean="0">
                          <a:latin typeface="Cambria Math" panose="02040503050406030204" pitchFamily="18" charset="0"/>
                        </a:rPr>
                        <m:t> °</m:t>
                      </m:r>
                      <m:r>
                        <a:rPr lang="en-US" sz="2700" b="1" i="1" smtClean="0">
                          <a:latin typeface="Cambria Math" panose="02040503050406030204" pitchFamily="18" charset="0"/>
                        </a:rPr>
                        <m:t>𝑲</m:t>
                      </m:r>
                      <m:r>
                        <a:rPr lang="en-US" sz="2700" b="1" i="1" smtClean="0">
                          <a:latin typeface="Cambria Math" panose="02040503050406030204" pitchFamily="18" charset="0"/>
                        </a:rPr>
                        <m:t>=</m:t>
                      </m:r>
                      <m:r>
                        <a:rPr lang="en-US" sz="2700" b="1" i="1" smtClean="0">
                          <a:latin typeface="Cambria Math" panose="02040503050406030204" pitchFamily="18" charset="0"/>
                        </a:rPr>
                        <m:t>𝟓𝟏</m:t>
                      </m:r>
                      <m:r>
                        <a:rPr lang="en-US" sz="2700" b="1" i="1" smtClean="0">
                          <a:latin typeface="Cambria Math" panose="02040503050406030204" pitchFamily="18" charset="0"/>
                        </a:rPr>
                        <m:t>.</m:t>
                      </m:r>
                      <m:r>
                        <a:rPr lang="en-US" sz="2700" b="1" i="1" smtClean="0">
                          <a:latin typeface="Cambria Math" panose="02040503050406030204" pitchFamily="18" charset="0"/>
                        </a:rPr>
                        <m:t>𝟎𝟐𝟓</m:t>
                      </m:r>
                      <m:r>
                        <a:rPr lang="en-US" sz="2700" b="1" i="1" smtClean="0">
                          <a:latin typeface="Cambria Math" panose="02040503050406030204" pitchFamily="18" charset="0"/>
                        </a:rPr>
                        <m:t> °</m:t>
                      </m:r>
                      <m:r>
                        <a:rPr lang="en-US" sz="2700" b="1" i="1" smtClean="0">
                          <a:latin typeface="Cambria Math" panose="02040503050406030204" pitchFamily="18" charset="0"/>
                        </a:rPr>
                        <m:t>𝑪</m:t>
                      </m:r>
                    </m:oMath>
                  </m:oMathPara>
                </a14:m>
                <a:endParaRPr lang="en-US" sz="2700" b="1"/>
              </a:p>
            </p:txBody>
          </p:sp>
        </mc:Choice>
        <mc:Fallback xmlns="">
          <p:sp>
            <p:nvSpPr>
              <p:cNvPr id="6" name="TextBox 5">
                <a:extLst>
                  <a:ext uri="{FF2B5EF4-FFF2-40B4-BE49-F238E27FC236}">
                    <a16:creationId xmlns:a16="http://schemas.microsoft.com/office/drawing/2014/main" id="{DE2D9BD8-2041-CFA4-E30E-5E560E62B2AD}"/>
                  </a:ext>
                </a:extLst>
              </p:cNvPr>
              <p:cNvSpPr txBox="1">
                <a:spLocks noRot="1" noChangeAspect="1" noMove="1" noResize="1" noEditPoints="1" noAdjustHandles="1" noChangeArrowheads="1" noChangeShapeType="1" noTextEdit="1"/>
              </p:cNvSpPr>
              <p:nvPr/>
            </p:nvSpPr>
            <p:spPr>
              <a:xfrm>
                <a:off x="3658903" y="4474721"/>
                <a:ext cx="8479465" cy="1319015"/>
              </a:xfrm>
              <a:prstGeom prst="rect">
                <a:avLst/>
              </a:prstGeom>
              <a:blipFill>
                <a:blip r:embed="rId4"/>
                <a:stretch>
                  <a:fillRect/>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51F4230E-7401-27F4-DCD1-BDC6135087CD}"/>
              </a:ext>
            </a:extLst>
          </p:cNvPr>
          <p:cNvPicPr>
            <a:picLocks noChangeAspect="1"/>
          </p:cNvPicPr>
          <p:nvPr/>
        </p:nvPicPr>
        <p:blipFill>
          <a:blip r:embed="rId5"/>
          <a:stretch>
            <a:fillRect/>
          </a:stretch>
        </p:blipFill>
        <p:spPr>
          <a:xfrm>
            <a:off x="4864047" y="1544020"/>
            <a:ext cx="6537810" cy="2810461"/>
          </a:xfrm>
          <a:prstGeom prst="rect">
            <a:avLst/>
          </a:prstGeom>
        </p:spPr>
      </p:pic>
    </p:spTree>
    <p:extLst>
      <p:ext uri="{BB962C8B-B14F-4D97-AF65-F5344CB8AC3E}">
        <p14:creationId xmlns:p14="http://schemas.microsoft.com/office/powerpoint/2010/main" val="576846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4481-A52E-3335-7903-8C04D9667C71}"/>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D1741E60-B830-6528-3FE0-DF5901181DC8}"/>
              </a:ext>
            </a:extLst>
          </p:cNvPr>
          <p:cNvSpPr/>
          <p:nvPr/>
        </p:nvSpPr>
        <p:spPr>
          <a:xfrm>
            <a:off x="2070110" y="1437591"/>
            <a:ext cx="7956760" cy="4014191"/>
          </a:xfrm>
          <a:prstGeom prst="rect">
            <a:avLst/>
          </a:prstGeom>
          <a:noFill/>
          <a:ln w="76200">
            <a:solidFill>
              <a:schemeClr val="tx2">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08" name="Group 107">
            <a:extLst>
              <a:ext uri="{FF2B5EF4-FFF2-40B4-BE49-F238E27FC236}">
                <a16:creationId xmlns:a16="http://schemas.microsoft.com/office/drawing/2014/main" id="{7DE8A94B-3618-4C28-93C6-08DDCE08C051}"/>
              </a:ext>
            </a:extLst>
          </p:cNvPr>
          <p:cNvGrpSpPr/>
          <p:nvPr/>
        </p:nvGrpSpPr>
        <p:grpSpPr>
          <a:xfrm>
            <a:off x="189101" y="3394452"/>
            <a:ext cx="11813798" cy="3367976"/>
            <a:chOff x="21000" y="3383942"/>
            <a:chExt cx="11813798" cy="3367976"/>
          </a:xfrm>
        </p:grpSpPr>
        <p:cxnSp>
          <p:nvCxnSpPr>
            <p:cNvPr id="72" name="Elbow Connector 71">
              <a:extLst>
                <a:ext uri="{FF2B5EF4-FFF2-40B4-BE49-F238E27FC236}">
                  <a16:creationId xmlns:a16="http://schemas.microsoft.com/office/drawing/2014/main" id="{7AADB24F-7128-5EEE-44AD-E4D99656C177}"/>
                </a:ext>
              </a:extLst>
            </p:cNvPr>
            <p:cNvCxnSpPr>
              <a:cxnSpLocks/>
            </p:cNvCxnSpPr>
            <p:nvPr/>
          </p:nvCxnSpPr>
          <p:spPr>
            <a:xfrm rot="16200000" flipV="1">
              <a:off x="5978374" y="1085965"/>
              <a:ext cx="45058" cy="4641011"/>
            </a:xfrm>
            <a:prstGeom prst="bentConnector3">
              <a:avLst>
                <a:gd name="adj1" fmla="val 3664368"/>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A15A712A-BA3C-E5CD-3B83-5A752E155B7B}"/>
                </a:ext>
              </a:extLst>
            </p:cNvPr>
            <p:cNvCxnSpPr>
              <a:cxnSpLocks/>
            </p:cNvCxnSpPr>
            <p:nvPr/>
          </p:nvCxnSpPr>
          <p:spPr>
            <a:xfrm>
              <a:off x="21000" y="4334351"/>
              <a:ext cx="2445108" cy="0"/>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588920F2-03E4-882D-5BF4-D74272F74B46}"/>
                </a:ext>
              </a:extLst>
            </p:cNvPr>
            <p:cNvCxnSpPr>
              <a:cxnSpLocks/>
            </p:cNvCxnSpPr>
            <p:nvPr/>
          </p:nvCxnSpPr>
          <p:spPr>
            <a:xfrm>
              <a:off x="33780" y="3819338"/>
              <a:ext cx="2432328" cy="8099"/>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8747930B-D80A-FD7A-395D-C762D81B6FAF}"/>
                </a:ext>
              </a:extLst>
            </p:cNvPr>
            <p:cNvCxnSpPr>
              <a:cxnSpLocks/>
            </p:cNvCxnSpPr>
            <p:nvPr/>
          </p:nvCxnSpPr>
          <p:spPr>
            <a:xfrm>
              <a:off x="4894684" y="4050493"/>
              <a:ext cx="2212435" cy="22529"/>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6CAF6A5E-A009-8F2A-64A5-0B8F3218F600}"/>
                </a:ext>
              </a:extLst>
            </p:cNvPr>
            <p:cNvCxnSpPr>
              <a:cxnSpLocks/>
            </p:cNvCxnSpPr>
            <p:nvPr/>
          </p:nvCxnSpPr>
          <p:spPr>
            <a:xfrm>
              <a:off x="9535696" y="4084168"/>
              <a:ext cx="2299102" cy="10773"/>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F5A924F2-F116-38AB-2F54-CD64C8E6E060}"/>
                </a:ext>
              </a:extLst>
            </p:cNvPr>
            <p:cNvCxnSpPr>
              <a:cxnSpLocks/>
            </p:cNvCxnSpPr>
            <p:nvPr/>
          </p:nvCxnSpPr>
          <p:spPr>
            <a:xfrm>
              <a:off x="8310032" y="4717043"/>
              <a:ext cx="0" cy="2034875"/>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grpSp>
        <p:nvGrpSpPr>
          <p:cNvPr id="69" name="Group 68">
            <a:extLst>
              <a:ext uri="{FF2B5EF4-FFF2-40B4-BE49-F238E27FC236}">
                <a16:creationId xmlns:a16="http://schemas.microsoft.com/office/drawing/2014/main" id="{CA35A635-E7F4-703D-352B-D3E3073F7694}"/>
              </a:ext>
            </a:extLst>
          </p:cNvPr>
          <p:cNvGrpSpPr/>
          <p:nvPr/>
        </p:nvGrpSpPr>
        <p:grpSpPr>
          <a:xfrm>
            <a:off x="2634210" y="3394452"/>
            <a:ext cx="7069587" cy="1333101"/>
            <a:chOff x="2429272" y="2748731"/>
            <a:chExt cx="7069587" cy="1333101"/>
          </a:xfrm>
        </p:grpSpPr>
        <p:sp>
          <p:nvSpPr>
            <p:cNvPr id="4" name="Rectangle: Rounded Corners 3">
              <a:extLst>
                <a:ext uri="{FF2B5EF4-FFF2-40B4-BE49-F238E27FC236}">
                  <a16:creationId xmlns:a16="http://schemas.microsoft.com/office/drawing/2014/main" id="{0D1F0207-DAFF-0B43-3853-D5B0590E6956}"/>
                </a:ext>
              </a:extLst>
            </p:cNvPr>
            <p:cNvSpPr/>
            <p:nvPr/>
          </p:nvSpPr>
          <p:spPr>
            <a:xfrm>
              <a:off x="2429272" y="2748731"/>
              <a:ext cx="2428575" cy="13331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Basic Oxygen Furnace</a:t>
              </a:r>
            </a:p>
          </p:txBody>
        </p:sp>
        <p:sp>
          <p:nvSpPr>
            <p:cNvPr id="5" name="Rectangle: Rounded Corners 4">
              <a:extLst>
                <a:ext uri="{FF2B5EF4-FFF2-40B4-BE49-F238E27FC236}">
                  <a16:creationId xmlns:a16="http://schemas.microsoft.com/office/drawing/2014/main" id="{AD981E28-C6FB-A8AB-2D0D-4B617DCFC3F1}"/>
                </a:ext>
              </a:extLst>
            </p:cNvPr>
            <p:cNvSpPr/>
            <p:nvPr/>
          </p:nvSpPr>
          <p:spPr>
            <a:xfrm>
              <a:off x="7070282" y="2793789"/>
              <a:ext cx="2428577" cy="12880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t>Separator</a:t>
              </a:r>
            </a:p>
          </p:txBody>
        </p:sp>
      </p:grpSp>
      <p:grpSp>
        <p:nvGrpSpPr>
          <p:cNvPr id="68" name="Group 67">
            <a:extLst>
              <a:ext uri="{FF2B5EF4-FFF2-40B4-BE49-F238E27FC236}">
                <a16:creationId xmlns:a16="http://schemas.microsoft.com/office/drawing/2014/main" id="{A3903B76-B8FC-CC41-8EA5-0D48C7195B22}"/>
              </a:ext>
            </a:extLst>
          </p:cNvPr>
          <p:cNvGrpSpPr/>
          <p:nvPr/>
        </p:nvGrpSpPr>
        <p:grpSpPr>
          <a:xfrm>
            <a:off x="358560" y="4573659"/>
            <a:ext cx="1388477" cy="1906219"/>
            <a:chOff x="173074" y="4008994"/>
            <a:chExt cx="1388477" cy="1906219"/>
          </a:xfrm>
        </p:grpSpPr>
        <p:sp>
          <p:nvSpPr>
            <p:cNvPr id="35" name="Rectangle: Rounded Corners 34">
              <a:extLst>
                <a:ext uri="{FF2B5EF4-FFF2-40B4-BE49-F238E27FC236}">
                  <a16:creationId xmlns:a16="http://schemas.microsoft.com/office/drawing/2014/main" id="{D0ED7543-E8C4-C2B4-85F8-8F06AEBED484}"/>
                </a:ext>
              </a:extLst>
            </p:cNvPr>
            <p:cNvSpPr/>
            <p:nvPr/>
          </p:nvSpPr>
          <p:spPr>
            <a:xfrm>
              <a:off x="173074" y="4008994"/>
              <a:ext cx="1388477" cy="1906219"/>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TextBox 31">
              <a:extLst>
                <a:ext uri="{FF2B5EF4-FFF2-40B4-BE49-F238E27FC236}">
                  <a16:creationId xmlns:a16="http://schemas.microsoft.com/office/drawing/2014/main" id="{FE249120-F5D7-BDCB-FD1D-A1C204846285}"/>
                </a:ext>
              </a:extLst>
            </p:cNvPr>
            <p:cNvSpPr txBox="1"/>
            <p:nvPr/>
          </p:nvSpPr>
          <p:spPr>
            <a:xfrm>
              <a:off x="232993" y="4119731"/>
              <a:ext cx="1270211" cy="1677382"/>
            </a:xfrm>
            <a:prstGeom prst="rect">
              <a:avLst/>
            </a:prstGeom>
            <a:noFill/>
          </p:spPr>
          <p:txBody>
            <a:bodyPr wrap="square" rtlCol="0" anchor="ctr">
              <a:spAutoFit/>
            </a:bodyPr>
            <a:lstStyle/>
            <a:p>
              <a:pPr algn="ctr"/>
              <a:r>
                <a:rPr lang="en-US" sz="1200" u="sng"/>
                <a:t>Pig Iron Stream</a:t>
              </a:r>
            </a:p>
            <a:p>
              <a:pPr algn="ctr"/>
              <a:endParaRPr lang="en-US" sz="800" u="sng"/>
            </a:p>
            <a:p>
              <a:pPr algn="ctr" fontAlgn="base"/>
              <a:r>
                <a:rPr lang="en-US" sz="1200"/>
                <a:t>C: 4.05% </a:t>
              </a:r>
            </a:p>
            <a:p>
              <a:pPr algn="ctr" fontAlgn="base"/>
              <a:r>
                <a:rPr lang="en-US" sz="1200"/>
                <a:t>S: 0.04% </a:t>
              </a:r>
            </a:p>
            <a:p>
              <a:pPr algn="ctr" fontAlgn="base"/>
              <a:r>
                <a:rPr lang="en-US" sz="1200"/>
                <a:t>Si: 0.5% </a:t>
              </a:r>
            </a:p>
            <a:p>
              <a:pPr algn="ctr" fontAlgn="base"/>
              <a:r>
                <a:rPr lang="en-US" sz="1200"/>
                <a:t>Mn: 0.8% </a:t>
              </a:r>
            </a:p>
            <a:p>
              <a:pPr algn="ctr" fontAlgn="base"/>
              <a:r>
                <a:rPr lang="en-US" sz="1200"/>
                <a:t>P: 0.05% </a:t>
              </a:r>
            </a:p>
            <a:p>
              <a:pPr algn="ctr" fontAlgn="base"/>
              <a:r>
                <a:rPr lang="en-US" sz="1200"/>
                <a:t>Ti: 0.00% </a:t>
              </a:r>
            </a:p>
            <a:p>
              <a:pPr algn="ctr" fontAlgn="base"/>
              <a:r>
                <a:rPr lang="en-US" sz="1200"/>
                <a:t>Fe: 95.0% </a:t>
              </a:r>
            </a:p>
          </p:txBody>
        </p:sp>
      </p:grpSp>
      <p:grpSp>
        <p:nvGrpSpPr>
          <p:cNvPr id="88" name="Group 87">
            <a:extLst>
              <a:ext uri="{FF2B5EF4-FFF2-40B4-BE49-F238E27FC236}">
                <a16:creationId xmlns:a16="http://schemas.microsoft.com/office/drawing/2014/main" id="{CA655750-D0FC-C4A3-7AAA-C050E7C6A8E7}"/>
              </a:ext>
            </a:extLst>
          </p:cNvPr>
          <p:cNvGrpSpPr/>
          <p:nvPr/>
        </p:nvGrpSpPr>
        <p:grpSpPr>
          <a:xfrm>
            <a:off x="376166" y="2231021"/>
            <a:ext cx="1388477" cy="1400804"/>
            <a:chOff x="120649" y="2411018"/>
            <a:chExt cx="1668386" cy="1026491"/>
          </a:xfrm>
        </p:grpSpPr>
        <p:sp>
          <p:nvSpPr>
            <p:cNvPr id="34" name="Rectangle: Rounded Corners 33">
              <a:extLst>
                <a:ext uri="{FF2B5EF4-FFF2-40B4-BE49-F238E27FC236}">
                  <a16:creationId xmlns:a16="http://schemas.microsoft.com/office/drawing/2014/main" id="{2CC44D41-7A38-8D18-C565-43429E4B9DB1}"/>
                </a:ext>
              </a:extLst>
            </p:cNvPr>
            <p:cNvSpPr/>
            <p:nvPr/>
          </p:nvSpPr>
          <p:spPr>
            <a:xfrm>
              <a:off x="120649" y="2411018"/>
              <a:ext cx="1668386" cy="971198"/>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3" name="TextBox 32">
              <a:extLst>
                <a:ext uri="{FF2B5EF4-FFF2-40B4-BE49-F238E27FC236}">
                  <a16:creationId xmlns:a16="http://schemas.microsoft.com/office/drawing/2014/main" id="{271C0F1B-4092-6F72-4177-52C5F7AA07EE}"/>
                </a:ext>
              </a:extLst>
            </p:cNvPr>
            <p:cNvSpPr txBox="1"/>
            <p:nvPr/>
          </p:nvSpPr>
          <p:spPr>
            <a:xfrm>
              <a:off x="190204" y="2422602"/>
              <a:ext cx="1592827" cy="1014907"/>
            </a:xfrm>
            <a:prstGeom prst="rect">
              <a:avLst/>
            </a:prstGeom>
            <a:noFill/>
          </p:spPr>
          <p:txBody>
            <a:bodyPr wrap="square" rtlCol="0" anchor="ctr">
              <a:spAutoFit/>
            </a:bodyPr>
            <a:lstStyle/>
            <a:p>
              <a:pPr algn="ctr"/>
              <a:r>
                <a:rPr lang="en-US" sz="1200" u="sng"/>
                <a:t>Stream 1</a:t>
              </a:r>
            </a:p>
            <a:p>
              <a:pPr algn="ctr"/>
              <a:br>
                <a:rPr lang="en-US" sz="1200"/>
              </a:br>
              <a:r>
                <a:rPr lang="en-US" sz="1200"/>
                <a:t>CaO: 100%</a:t>
              </a:r>
            </a:p>
            <a:p>
              <a:pPr algn="ctr"/>
              <a:r>
                <a:rPr lang="en-US" sz="1200"/>
                <a:t>Cr: 99.17%</a:t>
              </a:r>
            </a:p>
            <a:p>
              <a:pPr algn="ctr"/>
              <a:r>
                <a:rPr lang="en-US" sz="1200"/>
                <a:t>Ni 95%</a:t>
              </a:r>
            </a:p>
            <a:p>
              <a:pPr algn="ctr"/>
              <a:r>
                <a:rPr lang="en-US" sz="1200"/>
                <a:t>Mo 99.95</a:t>
              </a:r>
            </a:p>
            <a:p>
              <a:pPr algn="ctr"/>
              <a:r>
                <a:rPr lang="en-US" sz="1200"/>
                <a:t>Inert</a:t>
              </a:r>
            </a:p>
          </p:txBody>
        </p:sp>
      </p:grpSp>
      <p:grpSp>
        <p:nvGrpSpPr>
          <p:cNvPr id="70" name="Group 69">
            <a:extLst>
              <a:ext uri="{FF2B5EF4-FFF2-40B4-BE49-F238E27FC236}">
                <a16:creationId xmlns:a16="http://schemas.microsoft.com/office/drawing/2014/main" id="{8CD73B52-06B0-EA3B-E782-4FF730D3C876}"/>
              </a:ext>
            </a:extLst>
          </p:cNvPr>
          <p:cNvGrpSpPr/>
          <p:nvPr/>
        </p:nvGrpSpPr>
        <p:grpSpPr>
          <a:xfrm>
            <a:off x="5394733" y="4577820"/>
            <a:ext cx="1402531" cy="1794773"/>
            <a:chOff x="5272434" y="4393096"/>
            <a:chExt cx="1402531" cy="1794773"/>
          </a:xfrm>
        </p:grpSpPr>
        <p:sp>
          <p:nvSpPr>
            <p:cNvPr id="8" name="Rectangle: Rounded Corners 34">
              <a:extLst>
                <a:ext uri="{FF2B5EF4-FFF2-40B4-BE49-F238E27FC236}">
                  <a16:creationId xmlns:a16="http://schemas.microsoft.com/office/drawing/2014/main" id="{85BCBD09-1D51-0B59-621C-CC267C57E1DD}"/>
                </a:ext>
              </a:extLst>
            </p:cNvPr>
            <p:cNvSpPr/>
            <p:nvPr/>
          </p:nvSpPr>
          <p:spPr>
            <a:xfrm>
              <a:off x="5272434" y="4393096"/>
              <a:ext cx="1402531" cy="1794773"/>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9" name="TextBox 8">
              <a:extLst>
                <a:ext uri="{FF2B5EF4-FFF2-40B4-BE49-F238E27FC236}">
                  <a16:creationId xmlns:a16="http://schemas.microsoft.com/office/drawing/2014/main" id="{25D4BFFB-8843-3604-D372-A1B884DB4EB4}"/>
                </a:ext>
              </a:extLst>
            </p:cNvPr>
            <p:cNvSpPr txBox="1"/>
            <p:nvPr/>
          </p:nvSpPr>
          <p:spPr>
            <a:xfrm>
              <a:off x="5353083" y="4628762"/>
              <a:ext cx="1241231" cy="1323439"/>
            </a:xfrm>
            <a:prstGeom prst="rect">
              <a:avLst/>
            </a:prstGeom>
            <a:noFill/>
          </p:spPr>
          <p:txBody>
            <a:bodyPr wrap="square" rtlCol="0" anchor="ctr">
              <a:spAutoFit/>
            </a:bodyPr>
            <a:lstStyle/>
            <a:p>
              <a:pPr algn="ctr"/>
              <a:r>
                <a:rPr lang="en-US" sz="1200" u="sng"/>
                <a:t>Stream 3</a:t>
              </a:r>
            </a:p>
            <a:p>
              <a:pPr algn="ctr"/>
              <a:endParaRPr lang="en-US" sz="800"/>
            </a:p>
            <a:p>
              <a:pPr algn="ctr" fontAlgn="base"/>
              <a:r>
                <a:rPr lang="en-US" sz="1200"/>
                <a:t>Reactants</a:t>
              </a:r>
            </a:p>
            <a:p>
              <a:pPr algn="ctr" fontAlgn="base"/>
              <a:r>
                <a:rPr lang="en-US" sz="1200"/>
                <a:t>Steel</a:t>
              </a:r>
            </a:p>
            <a:p>
              <a:pPr algn="ctr" fontAlgn="base"/>
              <a:r>
                <a:rPr lang="en-US" sz="1200"/>
                <a:t>Slag</a:t>
              </a:r>
            </a:p>
            <a:p>
              <a:pPr algn="ctr" fontAlgn="base"/>
              <a:r>
                <a:rPr lang="en-US" sz="1200"/>
                <a:t>Gases</a:t>
              </a:r>
            </a:p>
            <a:p>
              <a:pPr algn="ctr" fontAlgn="base"/>
              <a:r>
                <a:rPr lang="en-US" sz="1200"/>
                <a:t>Inert</a:t>
              </a:r>
            </a:p>
          </p:txBody>
        </p:sp>
      </p:grpSp>
      <p:grpSp>
        <p:nvGrpSpPr>
          <p:cNvPr id="66" name="Group 65">
            <a:extLst>
              <a:ext uri="{FF2B5EF4-FFF2-40B4-BE49-F238E27FC236}">
                <a16:creationId xmlns:a16="http://schemas.microsoft.com/office/drawing/2014/main" id="{939CFC59-58B3-6967-1D08-28FA516268CA}"/>
              </a:ext>
            </a:extLst>
          </p:cNvPr>
          <p:cNvGrpSpPr/>
          <p:nvPr/>
        </p:nvGrpSpPr>
        <p:grpSpPr>
          <a:xfrm>
            <a:off x="10287970" y="2437461"/>
            <a:ext cx="1527864" cy="1500245"/>
            <a:chOff x="10311860" y="746853"/>
            <a:chExt cx="1527864" cy="1500245"/>
          </a:xfrm>
        </p:grpSpPr>
        <p:sp>
          <p:nvSpPr>
            <p:cNvPr id="10" name="Rectangle: Rounded Corners 34">
              <a:extLst>
                <a:ext uri="{FF2B5EF4-FFF2-40B4-BE49-F238E27FC236}">
                  <a16:creationId xmlns:a16="http://schemas.microsoft.com/office/drawing/2014/main" id="{B6C78987-5275-A89C-A4F8-CB6C2ED48770}"/>
                </a:ext>
              </a:extLst>
            </p:cNvPr>
            <p:cNvSpPr/>
            <p:nvPr/>
          </p:nvSpPr>
          <p:spPr>
            <a:xfrm>
              <a:off x="10311860" y="746853"/>
              <a:ext cx="1527864" cy="1500245"/>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TextBox 11">
              <a:extLst>
                <a:ext uri="{FF2B5EF4-FFF2-40B4-BE49-F238E27FC236}">
                  <a16:creationId xmlns:a16="http://schemas.microsoft.com/office/drawing/2014/main" id="{B927AF34-F375-9D82-4FF5-72B5A2C6D788}"/>
                </a:ext>
              </a:extLst>
            </p:cNvPr>
            <p:cNvSpPr txBox="1"/>
            <p:nvPr/>
          </p:nvSpPr>
          <p:spPr>
            <a:xfrm>
              <a:off x="10452619" y="781265"/>
              <a:ext cx="1241231" cy="1384995"/>
            </a:xfrm>
            <a:prstGeom prst="rect">
              <a:avLst/>
            </a:prstGeom>
            <a:noFill/>
          </p:spPr>
          <p:txBody>
            <a:bodyPr wrap="square" rtlCol="0" anchor="ctr">
              <a:spAutoFit/>
            </a:bodyPr>
            <a:lstStyle/>
            <a:p>
              <a:pPr algn="ctr"/>
              <a:r>
                <a:rPr lang="en-US" sz="1200"/>
                <a:t>Product Stream (SS136)</a:t>
              </a:r>
            </a:p>
            <a:p>
              <a:pPr algn="ctr" fontAlgn="base"/>
              <a:r>
                <a:rPr lang="en-US" sz="1200"/>
                <a:t>Fe: 70%</a:t>
              </a:r>
            </a:p>
            <a:p>
              <a:pPr algn="ctr" fontAlgn="base"/>
              <a:r>
                <a:rPr lang="en-US" sz="1200"/>
                <a:t>Cr: 17.92%</a:t>
              </a:r>
            </a:p>
            <a:p>
              <a:pPr algn="ctr" fontAlgn="base"/>
              <a:r>
                <a:rPr lang="en-US" sz="1200"/>
                <a:t>Ni: 11%</a:t>
              </a:r>
            </a:p>
            <a:p>
              <a:pPr algn="ctr" fontAlgn="base"/>
              <a:r>
                <a:rPr lang="en-US" sz="1200"/>
                <a:t>Mo: 2%</a:t>
              </a:r>
            </a:p>
            <a:p>
              <a:pPr algn="ctr" fontAlgn="base"/>
              <a:r>
                <a:rPr lang="en-US" sz="1200"/>
                <a:t>C: 0.07%</a:t>
              </a:r>
            </a:p>
          </p:txBody>
        </p:sp>
      </p:grpSp>
      <p:grpSp>
        <p:nvGrpSpPr>
          <p:cNvPr id="65" name="Group 64">
            <a:extLst>
              <a:ext uri="{FF2B5EF4-FFF2-40B4-BE49-F238E27FC236}">
                <a16:creationId xmlns:a16="http://schemas.microsoft.com/office/drawing/2014/main" id="{8B3062BA-0A77-B59A-6225-3054E011BB50}"/>
              </a:ext>
            </a:extLst>
          </p:cNvPr>
          <p:cNvGrpSpPr/>
          <p:nvPr/>
        </p:nvGrpSpPr>
        <p:grpSpPr>
          <a:xfrm>
            <a:off x="8929363" y="5497614"/>
            <a:ext cx="1885067" cy="971185"/>
            <a:chOff x="8644657" y="4844074"/>
            <a:chExt cx="1885067" cy="971185"/>
          </a:xfrm>
        </p:grpSpPr>
        <p:sp>
          <p:nvSpPr>
            <p:cNvPr id="14" name="Rectangle: Rounded Corners 33">
              <a:extLst>
                <a:ext uri="{FF2B5EF4-FFF2-40B4-BE49-F238E27FC236}">
                  <a16:creationId xmlns:a16="http://schemas.microsoft.com/office/drawing/2014/main" id="{358ED13F-1DE2-01C3-E495-120755D5AA9C}"/>
                </a:ext>
              </a:extLst>
            </p:cNvPr>
            <p:cNvSpPr/>
            <p:nvPr/>
          </p:nvSpPr>
          <p:spPr>
            <a:xfrm>
              <a:off x="8644657" y="4844074"/>
              <a:ext cx="1885067" cy="97118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5" name="TextBox 14">
              <a:extLst>
                <a:ext uri="{FF2B5EF4-FFF2-40B4-BE49-F238E27FC236}">
                  <a16:creationId xmlns:a16="http://schemas.microsoft.com/office/drawing/2014/main" id="{36811205-52A6-0AF4-4B40-4311195162E5}"/>
                </a:ext>
              </a:extLst>
            </p:cNvPr>
            <p:cNvSpPr txBox="1"/>
            <p:nvPr/>
          </p:nvSpPr>
          <p:spPr>
            <a:xfrm>
              <a:off x="8859783" y="4944945"/>
              <a:ext cx="1454814" cy="769441"/>
            </a:xfrm>
            <a:prstGeom prst="rect">
              <a:avLst/>
            </a:prstGeom>
            <a:noFill/>
          </p:spPr>
          <p:txBody>
            <a:bodyPr wrap="square" rtlCol="0" anchor="ctr">
              <a:spAutoFit/>
            </a:bodyPr>
            <a:lstStyle/>
            <a:p>
              <a:pPr algn="ctr"/>
              <a:r>
                <a:rPr lang="en-US" sz="1200" u="sng"/>
                <a:t>Purge Stream</a:t>
              </a:r>
            </a:p>
            <a:p>
              <a:pPr algn="ctr"/>
              <a:endParaRPr lang="en-US" sz="800" u="sng"/>
            </a:p>
            <a:p>
              <a:pPr algn="ctr"/>
              <a:r>
                <a:rPr lang="en-US" sz="1200"/>
                <a:t>   CO	Slag</a:t>
              </a:r>
            </a:p>
            <a:p>
              <a:pPr algn="ctr"/>
              <a:r>
                <a:rPr lang="en-US" sz="1200"/>
                <a:t>Inert	O2</a:t>
              </a:r>
            </a:p>
          </p:txBody>
        </p:sp>
      </p:grpSp>
      <p:grpSp>
        <p:nvGrpSpPr>
          <p:cNvPr id="36" name="Group 35">
            <a:extLst>
              <a:ext uri="{FF2B5EF4-FFF2-40B4-BE49-F238E27FC236}">
                <a16:creationId xmlns:a16="http://schemas.microsoft.com/office/drawing/2014/main" id="{FAF631F5-B63D-8A4F-7490-EA124CB5000D}"/>
              </a:ext>
            </a:extLst>
          </p:cNvPr>
          <p:cNvGrpSpPr/>
          <p:nvPr/>
        </p:nvGrpSpPr>
        <p:grpSpPr>
          <a:xfrm>
            <a:off x="4500818" y="2110617"/>
            <a:ext cx="2129365" cy="777334"/>
            <a:chOff x="3928327" y="393035"/>
            <a:chExt cx="2129365" cy="777334"/>
          </a:xfrm>
        </p:grpSpPr>
        <p:grpSp>
          <p:nvGrpSpPr>
            <p:cNvPr id="19" name="Group 18">
              <a:extLst>
                <a:ext uri="{FF2B5EF4-FFF2-40B4-BE49-F238E27FC236}">
                  <a16:creationId xmlns:a16="http://schemas.microsoft.com/office/drawing/2014/main" id="{BCDFA72C-126A-01FA-3B4D-F47FE8E52855}"/>
                </a:ext>
              </a:extLst>
            </p:cNvPr>
            <p:cNvGrpSpPr/>
            <p:nvPr/>
          </p:nvGrpSpPr>
          <p:grpSpPr>
            <a:xfrm>
              <a:off x="3928327" y="393035"/>
              <a:ext cx="2129365" cy="777334"/>
              <a:chOff x="2496703" y="452350"/>
              <a:chExt cx="4189558" cy="971185"/>
            </a:xfrm>
          </p:grpSpPr>
          <p:sp>
            <p:nvSpPr>
              <p:cNvPr id="3" name="Rectangle: Rounded Corners 33">
                <a:extLst>
                  <a:ext uri="{FF2B5EF4-FFF2-40B4-BE49-F238E27FC236}">
                    <a16:creationId xmlns:a16="http://schemas.microsoft.com/office/drawing/2014/main" id="{6D1A6FB8-2C6E-9295-7134-8CFEFD5ADACE}"/>
                  </a:ext>
                </a:extLst>
              </p:cNvPr>
              <p:cNvSpPr/>
              <p:nvPr/>
            </p:nvSpPr>
            <p:spPr>
              <a:xfrm>
                <a:off x="2496703" y="452350"/>
                <a:ext cx="4189558" cy="971185"/>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 name="TextBox 5">
                <a:extLst>
                  <a:ext uri="{FF2B5EF4-FFF2-40B4-BE49-F238E27FC236}">
                    <a16:creationId xmlns:a16="http://schemas.microsoft.com/office/drawing/2014/main" id="{01BCC15B-5F0B-B6B9-DA6D-26626E509D95}"/>
                  </a:ext>
                </a:extLst>
              </p:cNvPr>
              <p:cNvSpPr txBox="1"/>
              <p:nvPr/>
            </p:nvSpPr>
            <p:spPr>
              <a:xfrm>
                <a:off x="2574715" y="649545"/>
                <a:ext cx="2272549" cy="576795"/>
              </a:xfrm>
              <a:prstGeom prst="rect">
                <a:avLst/>
              </a:prstGeom>
              <a:noFill/>
            </p:spPr>
            <p:txBody>
              <a:bodyPr wrap="square" rtlCol="0">
                <a:spAutoFit/>
              </a:bodyPr>
              <a:lstStyle/>
              <a:p>
                <a:pPr algn="ctr"/>
                <a:r>
                  <a:rPr lang="en-US" sz="1200"/>
                  <a:t>Recycle Stream</a:t>
                </a:r>
              </a:p>
            </p:txBody>
          </p:sp>
        </p:grpSp>
        <p:sp>
          <p:nvSpPr>
            <p:cNvPr id="31" name="TextBox 30">
              <a:extLst>
                <a:ext uri="{FF2B5EF4-FFF2-40B4-BE49-F238E27FC236}">
                  <a16:creationId xmlns:a16="http://schemas.microsoft.com/office/drawing/2014/main" id="{00F228D5-7207-6A33-0FED-CD74AC6D90B7}"/>
                </a:ext>
              </a:extLst>
            </p:cNvPr>
            <p:cNvSpPr txBox="1"/>
            <p:nvPr/>
          </p:nvSpPr>
          <p:spPr>
            <a:xfrm>
              <a:off x="4993009" y="530061"/>
              <a:ext cx="891407" cy="461665"/>
            </a:xfrm>
            <a:prstGeom prst="rect">
              <a:avLst/>
            </a:prstGeom>
            <a:noFill/>
          </p:spPr>
          <p:txBody>
            <a:bodyPr wrap="square" rtlCol="0">
              <a:spAutoFit/>
            </a:bodyPr>
            <a:lstStyle/>
            <a:p>
              <a:pPr algn="ctr"/>
              <a:r>
                <a:rPr lang="en-US" sz="1200"/>
                <a:t>Recycle Ratio: 3:1</a:t>
              </a:r>
            </a:p>
          </p:txBody>
        </p:sp>
      </p:grpSp>
      <p:sp>
        <p:nvSpPr>
          <p:cNvPr id="67" name="Title 1">
            <a:extLst>
              <a:ext uri="{FF2B5EF4-FFF2-40B4-BE49-F238E27FC236}">
                <a16:creationId xmlns:a16="http://schemas.microsoft.com/office/drawing/2014/main" id="{2A6D76AC-C970-79AF-458F-D2A06E9A0916}"/>
              </a:ext>
            </a:extLst>
          </p:cNvPr>
          <p:cNvSpPr txBox="1">
            <a:spLocks/>
          </p:cNvSpPr>
          <p:nvPr/>
        </p:nvSpPr>
        <p:spPr>
          <a:xfrm>
            <a:off x="288750" y="317653"/>
            <a:ext cx="4489638" cy="82200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a:t>Block Flow Diagram</a:t>
            </a:r>
          </a:p>
        </p:txBody>
      </p:sp>
      <p:grpSp>
        <p:nvGrpSpPr>
          <p:cNvPr id="2" name="Group 1">
            <a:extLst>
              <a:ext uri="{FF2B5EF4-FFF2-40B4-BE49-F238E27FC236}">
                <a16:creationId xmlns:a16="http://schemas.microsoft.com/office/drawing/2014/main" id="{B8E5CFA4-94AF-DA01-4E46-E6A4A76A8F6B}"/>
              </a:ext>
            </a:extLst>
          </p:cNvPr>
          <p:cNvGrpSpPr/>
          <p:nvPr/>
        </p:nvGrpSpPr>
        <p:grpSpPr>
          <a:xfrm>
            <a:off x="7139380" y="1969660"/>
            <a:ext cx="1110969" cy="1125473"/>
            <a:chOff x="5272434" y="4376582"/>
            <a:chExt cx="1402531" cy="1863954"/>
          </a:xfrm>
          <a:solidFill>
            <a:srgbClr val="84E291"/>
          </a:solidFill>
        </p:grpSpPr>
        <p:sp>
          <p:nvSpPr>
            <p:cNvPr id="7" name="Rectangle: Rounded Corners 34">
              <a:extLst>
                <a:ext uri="{FF2B5EF4-FFF2-40B4-BE49-F238E27FC236}">
                  <a16:creationId xmlns:a16="http://schemas.microsoft.com/office/drawing/2014/main" id="{FADC06AB-B9CA-FE9F-5CEA-A2228D807A01}"/>
                </a:ext>
              </a:extLst>
            </p:cNvPr>
            <p:cNvSpPr/>
            <p:nvPr/>
          </p:nvSpPr>
          <p:spPr>
            <a:xfrm>
              <a:off x="5272434" y="4393096"/>
              <a:ext cx="1402531" cy="179477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E8240B1C-D864-5794-FF48-2357952EB256}"/>
                </a:ext>
              </a:extLst>
            </p:cNvPr>
            <p:cNvSpPr txBox="1"/>
            <p:nvPr/>
          </p:nvSpPr>
          <p:spPr>
            <a:xfrm>
              <a:off x="5310971" y="4376582"/>
              <a:ext cx="1325455" cy="1863954"/>
            </a:xfrm>
            <a:prstGeom prst="rect">
              <a:avLst/>
            </a:prstGeom>
            <a:noFill/>
          </p:spPr>
          <p:txBody>
            <a:bodyPr wrap="square" rtlCol="0" anchor="ctr">
              <a:spAutoFit/>
            </a:bodyPr>
            <a:lstStyle/>
            <a:p>
              <a:pPr algn="ctr"/>
              <a:r>
                <a:rPr lang="en-US" sz="1200" u="sng"/>
                <a:t>Recycle Stream</a:t>
              </a:r>
            </a:p>
            <a:p>
              <a:pPr algn="ctr"/>
              <a:endParaRPr lang="en-US" sz="800"/>
            </a:p>
            <a:p>
              <a:pPr algn="ctr" fontAlgn="base"/>
              <a:r>
                <a:rPr lang="en-US" sz="1200"/>
                <a:t>Impure Iron, Ni, Cr, Mo, </a:t>
              </a:r>
            </a:p>
          </p:txBody>
        </p:sp>
      </p:grpSp>
      <p:sp>
        <p:nvSpPr>
          <p:cNvPr id="13" name="TextBox 12">
            <a:extLst>
              <a:ext uri="{FF2B5EF4-FFF2-40B4-BE49-F238E27FC236}">
                <a16:creationId xmlns:a16="http://schemas.microsoft.com/office/drawing/2014/main" id="{FE7141CD-A3B7-B96D-F53F-09281468F472}"/>
              </a:ext>
            </a:extLst>
          </p:cNvPr>
          <p:cNvSpPr txBox="1"/>
          <p:nvPr/>
        </p:nvSpPr>
        <p:spPr>
          <a:xfrm>
            <a:off x="263773" y="1663266"/>
            <a:ext cx="1810432" cy="523220"/>
          </a:xfrm>
          <a:prstGeom prst="rect">
            <a:avLst/>
          </a:prstGeom>
          <a:noFill/>
        </p:spPr>
        <p:txBody>
          <a:bodyPr wrap="none" rtlCol="0">
            <a:spAutoFit/>
          </a:bodyPr>
          <a:lstStyle/>
          <a:p>
            <a:r>
              <a:rPr lang="en-US" sz="2500"/>
              <a:t>25</a:t>
            </a:r>
            <a:r>
              <a:rPr lang="en-US" sz="2800"/>
              <a:t>°</a:t>
            </a:r>
            <a:r>
              <a:rPr lang="en-US" sz="2500"/>
              <a:t>C, 1atm</a:t>
            </a:r>
          </a:p>
        </p:txBody>
      </p:sp>
      <p:sp>
        <p:nvSpPr>
          <p:cNvPr id="16" name="TextBox 15">
            <a:extLst>
              <a:ext uri="{FF2B5EF4-FFF2-40B4-BE49-F238E27FC236}">
                <a16:creationId xmlns:a16="http://schemas.microsoft.com/office/drawing/2014/main" id="{5DB1D0E2-5454-1CEC-D41A-ED4B9C8FCCC8}"/>
              </a:ext>
            </a:extLst>
          </p:cNvPr>
          <p:cNvSpPr txBox="1"/>
          <p:nvPr/>
        </p:nvSpPr>
        <p:spPr>
          <a:xfrm>
            <a:off x="2140302" y="2845880"/>
            <a:ext cx="926857" cy="477054"/>
          </a:xfrm>
          <a:prstGeom prst="rect">
            <a:avLst/>
          </a:prstGeom>
          <a:noFill/>
        </p:spPr>
        <p:txBody>
          <a:bodyPr wrap="none" rtlCol="0">
            <a:spAutoFit/>
          </a:bodyPr>
          <a:lstStyle/>
          <a:p>
            <a:r>
              <a:rPr lang="en-US" sz="2500"/>
              <a:t>51 </a:t>
            </a:r>
            <a:r>
              <a:rPr lang="en-US" sz="2400"/>
              <a:t>°</a:t>
            </a:r>
            <a:r>
              <a:rPr lang="en-US" sz="2500"/>
              <a:t>C</a:t>
            </a:r>
          </a:p>
        </p:txBody>
      </p:sp>
      <p:sp>
        <p:nvSpPr>
          <p:cNvPr id="17" name="TextBox 16">
            <a:extLst>
              <a:ext uri="{FF2B5EF4-FFF2-40B4-BE49-F238E27FC236}">
                <a16:creationId xmlns:a16="http://schemas.microsoft.com/office/drawing/2014/main" id="{CD2E15BC-63F8-08FB-A5CD-5DABE4F04B8A}"/>
              </a:ext>
            </a:extLst>
          </p:cNvPr>
          <p:cNvSpPr txBox="1"/>
          <p:nvPr/>
        </p:nvSpPr>
        <p:spPr>
          <a:xfrm>
            <a:off x="5517152" y="3511729"/>
            <a:ext cx="1204176" cy="477054"/>
          </a:xfrm>
          <a:prstGeom prst="rect">
            <a:avLst/>
          </a:prstGeom>
          <a:noFill/>
        </p:spPr>
        <p:txBody>
          <a:bodyPr wrap="none" rtlCol="0">
            <a:spAutoFit/>
          </a:bodyPr>
          <a:lstStyle/>
          <a:p>
            <a:r>
              <a:rPr lang="en-US" sz="2500"/>
              <a:t>1700</a:t>
            </a:r>
            <a:r>
              <a:rPr lang="en-US" sz="2400"/>
              <a:t>°</a:t>
            </a:r>
            <a:r>
              <a:rPr lang="en-US" sz="2500"/>
              <a:t>C</a:t>
            </a:r>
          </a:p>
        </p:txBody>
      </p:sp>
      <p:sp>
        <p:nvSpPr>
          <p:cNvPr id="18" name="TextBox 17">
            <a:extLst>
              <a:ext uri="{FF2B5EF4-FFF2-40B4-BE49-F238E27FC236}">
                <a16:creationId xmlns:a16="http://schemas.microsoft.com/office/drawing/2014/main" id="{12525AB5-0925-23DD-38B6-A51CC705D8CF}"/>
              </a:ext>
            </a:extLst>
          </p:cNvPr>
          <p:cNvSpPr txBox="1"/>
          <p:nvPr/>
        </p:nvSpPr>
        <p:spPr>
          <a:xfrm>
            <a:off x="10358818" y="4177616"/>
            <a:ext cx="1204176" cy="477054"/>
          </a:xfrm>
          <a:prstGeom prst="rect">
            <a:avLst/>
          </a:prstGeom>
          <a:noFill/>
        </p:spPr>
        <p:txBody>
          <a:bodyPr wrap="none" rtlCol="0">
            <a:spAutoFit/>
          </a:bodyPr>
          <a:lstStyle/>
          <a:p>
            <a:r>
              <a:rPr lang="en-US" sz="2500"/>
              <a:t>1700</a:t>
            </a:r>
            <a:r>
              <a:rPr lang="en-US" sz="2400"/>
              <a:t>°</a:t>
            </a:r>
            <a:r>
              <a:rPr lang="en-US" sz="2500"/>
              <a:t>C</a:t>
            </a:r>
          </a:p>
        </p:txBody>
      </p:sp>
      <p:sp>
        <p:nvSpPr>
          <p:cNvPr id="20" name="TextBox 19">
            <a:extLst>
              <a:ext uri="{FF2B5EF4-FFF2-40B4-BE49-F238E27FC236}">
                <a16:creationId xmlns:a16="http://schemas.microsoft.com/office/drawing/2014/main" id="{89595221-F774-25FF-2C29-46F46F036497}"/>
              </a:ext>
            </a:extLst>
          </p:cNvPr>
          <p:cNvSpPr txBox="1"/>
          <p:nvPr/>
        </p:nvSpPr>
        <p:spPr>
          <a:xfrm>
            <a:off x="8516309" y="2995522"/>
            <a:ext cx="1204176" cy="477054"/>
          </a:xfrm>
          <a:prstGeom prst="rect">
            <a:avLst/>
          </a:prstGeom>
          <a:noFill/>
        </p:spPr>
        <p:txBody>
          <a:bodyPr wrap="none" rtlCol="0">
            <a:spAutoFit/>
          </a:bodyPr>
          <a:lstStyle/>
          <a:p>
            <a:r>
              <a:rPr lang="en-US" sz="2500"/>
              <a:t>1700</a:t>
            </a:r>
            <a:r>
              <a:rPr lang="en-US" sz="2400"/>
              <a:t>°</a:t>
            </a:r>
            <a:r>
              <a:rPr lang="en-US" sz="2500"/>
              <a:t>C</a:t>
            </a:r>
          </a:p>
        </p:txBody>
      </p:sp>
      <p:sp>
        <p:nvSpPr>
          <p:cNvPr id="21" name="TextBox 20">
            <a:extLst>
              <a:ext uri="{FF2B5EF4-FFF2-40B4-BE49-F238E27FC236}">
                <a16:creationId xmlns:a16="http://schemas.microsoft.com/office/drawing/2014/main" id="{2259A42A-FFB2-F261-EF44-8BB546F28879}"/>
              </a:ext>
            </a:extLst>
          </p:cNvPr>
          <p:cNvSpPr txBox="1"/>
          <p:nvPr/>
        </p:nvSpPr>
        <p:spPr>
          <a:xfrm>
            <a:off x="7193306" y="5831501"/>
            <a:ext cx="1204176" cy="477054"/>
          </a:xfrm>
          <a:prstGeom prst="rect">
            <a:avLst/>
          </a:prstGeom>
          <a:noFill/>
        </p:spPr>
        <p:txBody>
          <a:bodyPr wrap="none" rtlCol="0">
            <a:spAutoFit/>
          </a:bodyPr>
          <a:lstStyle/>
          <a:p>
            <a:r>
              <a:rPr lang="en-US" sz="2500"/>
              <a:t>1700</a:t>
            </a:r>
            <a:r>
              <a:rPr lang="en-US" sz="2400"/>
              <a:t>°</a:t>
            </a:r>
            <a:r>
              <a:rPr lang="en-US" sz="2500"/>
              <a:t>C</a:t>
            </a:r>
          </a:p>
        </p:txBody>
      </p:sp>
    </p:spTree>
    <p:extLst>
      <p:ext uri="{BB962C8B-B14F-4D97-AF65-F5344CB8AC3E}">
        <p14:creationId xmlns:p14="http://schemas.microsoft.com/office/powerpoint/2010/main" val="1521055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5747F5-3A30-C6BC-7877-82749761375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67C46F40-E2F0-8D14-F9E9-E50826CAAD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D1658F5-2792-E709-5EC2-9F84B343C56D}"/>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4BF4A4D4-C728-3426-FEEA-489268454DB9}"/>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ADDE4A76-B252-5E4E-56F4-4383C73333E2}"/>
              </a:ext>
            </a:extLst>
          </p:cNvPr>
          <p:cNvSpPr txBox="1">
            <a:spLocks/>
          </p:cNvSpPr>
          <p:nvPr/>
        </p:nvSpPr>
        <p:spPr>
          <a:xfrm>
            <a:off x="216310" y="2766332"/>
            <a:ext cx="3842739" cy="2582416"/>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Things melt!</a:t>
            </a:r>
          </a:p>
          <a:p>
            <a:pPr marL="571500" indent="-571500">
              <a:buFont typeface="Arial" panose="020B0604020202020204" pitchFamily="34" charset="0"/>
              <a:buChar char="•"/>
            </a:pPr>
            <a:r>
              <a:rPr lang="en-US" sz="3000">
                <a:solidFill>
                  <a:srgbClr val="FFFFFF"/>
                </a:solidFill>
              </a:rPr>
              <a:t>NIST breaks up values</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3B71E43C-366C-030B-6609-461C13A4F835}"/>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3600" i="1">
                              <a:latin typeface="Cambria Math" panose="02040503050406030204" pitchFamily="18" charset="0"/>
                            </a:rPr>
                          </m:ctrlPr>
                        </m:naryPr>
                        <m:sub>
                          <m:r>
                            <m:rPr>
                              <m:brk m:alnAt="7"/>
                            </m:rPr>
                            <a:rPr lang="en-US" sz="3600" i="1">
                              <a:latin typeface="Cambria Math" panose="02040503050406030204" pitchFamily="18" charset="0"/>
                            </a:rPr>
                            <m:t>𝑚</m:t>
                          </m:r>
                          <m:r>
                            <a:rPr lang="en-US" sz="3600" i="1">
                              <a:latin typeface="Cambria Math" panose="02040503050406030204" pitchFamily="18" charset="0"/>
                            </a:rPr>
                            <m:t>𝑒𝑙𝑡</m:t>
                          </m:r>
                        </m:sub>
                        <m:sup/>
                        <m:e>
                          <m:sSub>
                            <m:sSubPr>
                              <m:ctrlPr>
                                <a:rPr lang="en-US" sz="3600" i="1">
                                  <a:latin typeface="Cambria Math" panose="02040503050406030204" pitchFamily="18" charset="0"/>
                                </a:rPr>
                              </m:ctrlPr>
                            </m:sSubPr>
                            <m:e>
                              <m:r>
                                <a:rPr lang="en-US" sz="3600" i="1">
                                  <a:latin typeface="Cambria Math" panose="02040503050406030204" pitchFamily="18" charset="0"/>
                                </a:rPr>
                                <m:t>𝑛</m:t>
                              </m:r>
                            </m:e>
                            <m:sub>
                              <m:r>
                                <a:rPr lang="en-US" sz="3600" i="1">
                                  <a:latin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𝐻</m:t>
                              </m:r>
                            </m:e>
                            <m: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𝑓</m:t>
                                  </m:r>
                                </m:e>
                                <m:sub>
                                  <m:r>
                                    <a:rPr lang="en-US" sz="3600" i="1">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𝑙</m:t>
                                  </m:r>
                                  <m:r>
                                    <a:rPr lang="en-US" sz="3600" i="1">
                                      <a:latin typeface="Cambria Math" panose="02040503050406030204" pitchFamily="18" charset="0"/>
                                      <a:ea typeface="Cambria Math" panose="02040503050406030204" pitchFamily="18" charset="0"/>
                                    </a:rPr>
                                    <m:t>)</m:t>
                                  </m:r>
                                </m:sub>
                              </m:sSub>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3B71E43C-366C-030B-6609-461C13A4F835}"/>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77C99D80-9497-BAE9-9B08-CDC8127712CD}"/>
              </a:ext>
            </a:extLst>
          </p:cNvPr>
          <p:cNvSpPr txBox="1">
            <a:spLocks/>
          </p:cNvSpPr>
          <p:nvPr/>
        </p:nvSpPr>
        <p:spPr>
          <a:xfrm>
            <a:off x="4059048" y="1741356"/>
            <a:ext cx="8132951" cy="51166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500"/>
          </a:p>
        </p:txBody>
      </p:sp>
      <p:pic>
        <p:nvPicPr>
          <p:cNvPr id="10" name="Picture 9">
            <a:extLst>
              <a:ext uri="{FF2B5EF4-FFF2-40B4-BE49-F238E27FC236}">
                <a16:creationId xmlns:a16="http://schemas.microsoft.com/office/drawing/2014/main" id="{2EB40FD3-515F-1CF9-C971-D1A8047C239E}"/>
              </a:ext>
            </a:extLst>
          </p:cNvPr>
          <p:cNvPicPr>
            <a:picLocks noChangeAspect="1"/>
          </p:cNvPicPr>
          <p:nvPr/>
        </p:nvPicPr>
        <p:blipFill>
          <a:blip r:embed="rId4"/>
          <a:srcRect r="84831"/>
          <a:stretch>
            <a:fillRect/>
          </a:stretch>
        </p:blipFill>
        <p:spPr>
          <a:xfrm>
            <a:off x="6488805" y="1455174"/>
            <a:ext cx="1334128" cy="5363962"/>
          </a:xfrm>
          <a:prstGeom prst="rect">
            <a:avLst/>
          </a:prstGeom>
        </p:spPr>
      </p:pic>
      <p:pic>
        <p:nvPicPr>
          <p:cNvPr id="3" name="Picture 2">
            <a:extLst>
              <a:ext uri="{FF2B5EF4-FFF2-40B4-BE49-F238E27FC236}">
                <a16:creationId xmlns:a16="http://schemas.microsoft.com/office/drawing/2014/main" id="{7F5BDB20-3B36-4F27-3AA3-E26BC561D227}"/>
              </a:ext>
            </a:extLst>
          </p:cNvPr>
          <p:cNvPicPr>
            <a:picLocks noChangeAspect="1"/>
          </p:cNvPicPr>
          <p:nvPr/>
        </p:nvPicPr>
        <p:blipFill>
          <a:blip r:embed="rId4"/>
          <a:srcRect l="89426" t="-151" r="-371" b="151"/>
          <a:stretch>
            <a:fillRect/>
          </a:stretch>
        </p:blipFill>
        <p:spPr>
          <a:xfrm>
            <a:off x="7822933" y="1455174"/>
            <a:ext cx="962571" cy="5363962"/>
          </a:xfrm>
          <a:prstGeom prst="rect">
            <a:avLst/>
          </a:prstGeom>
        </p:spPr>
      </p:pic>
    </p:spTree>
    <p:extLst>
      <p:ext uri="{BB962C8B-B14F-4D97-AF65-F5344CB8AC3E}">
        <p14:creationId xmlns:p14="http://schemas.microsoft.com/office/powerpoint/2010/main" val="1729378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DAFA59-6291-D0BD-3BE5-34D10A33D76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78BF5B14-65F1-9ED3-07DD-768C37D8F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FECFE2-7BA2-7D8E-4235-4B0E478A8C67}"/>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2331E75A-9886-76EB-166B-AAF07EC211D7}"/>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D6BDCEDB-239E-90C0-787C-3FF96F06EEAF}"/>
              </a:ext>
            </a:extLst>
          </p:cNvPr>
          <p:cNvSpPr txBox="1">
            <a:spLocks/>
          </p:cNvSpPr>
          <p:nvPr/>
        </p:nvSpPr>
        <p:spPr>
          <a:xfrm>
            <a:off x="176981" y="2766332"/>
            <a:ext cx="3882069" cy="1835164"/>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a:solidFill>
                  <a:srgbClr val="FFFFFF"/>
                </a:solidFill>
                <a:latin typeface="+mn-lt"/>
              </a:rPr>
              <a:t>Calculate outlet stream from 51</a:t>
            </a:r>
            <a:r>
              <a:rPr lang="en-US" sz="2400">
                <a:solidFill>
                  <a:schemeClr val="bg1"/>
                </a:solidFill>
              </a:rPr>
              <a:t>°</a:t>
            </a:r>
            <a:r>
              <a:rPr lang="en-US" sz="2400">
                <a:solidFill>
                  <a:srgbClr val="FFFFFF"/>
                </a:solidFill>
                <a:latin typeface="+mn-lt"/>
              </a:rPr>
              <a:t>C to 1700</a:t>
            </a:r>
            <a:r>
              <a:rPr lang="en-US" sz="2400">
                <a:solidFill>
                  <a:schemeClr val="bg1"/>
                </a:solidFill>
              </a:rPr>
              <a:t>°</a:t>
            </a:r>
            <a:r>
              <a:rPr lang="en-US" sz="2400">
                <a:solidFill>
                  <a:srgbClr val="FFFFFF"/>
                </a:solidFill>
                <a:latin typeface="+mn-lt"/>
              </a:rPr>
              <a:t>C</a:t>
            </a:r>
          </a:p>
          <a:p>
            <a:pPr marL="571500" indent="-571500">
              <a:buFont typeface="Arial" panose="020B0604020202020204" pitchFamily="34" charset="0"/>
              <a:buChar char="•"/>
            </a:pPr>
            <a:endParaRPr lang="en-US" sz="2400">
              <a:solidFill>
                <a:srgbClr val="FFFFFF"/>
              </a:solidFill>
              <a:latin typeface="+mn-lt"/>
            </a:endParaRPr>
          </a:p>
          <a:p>
            <a:pPr marL="571500" indent="-571500">
              <a:buFont typeface="Arial" panose="020B0604020202020204" pitchFamily="34" charset="0"/>
              <a:buChar char="•"/>
            </a:pPr>
            <a:endParaRPr lang="en-US" sz="2400">
              <a:solidFill>
                <a:srgbClr val="FFFFFF"/>
              </a:solidFill>
              <a:latin typeface="+mn-lt"/>
            </a:endParaRPr>
          </a:p>
          <a:p>
            <a:endParaRPr lang="en-US" sz="2400">
              <a:solidFill>
                <a:srgbClr val="FFFFFF"/>
              </a:solidFill>
              <a:latin typeface="+mn-lt"/>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90C9E516-887F-BA2B-C00D-FDAABD4435CA}"/>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3500" i="1" smtClean="0">
                              <a:latin typeface="Cambria Math" panose="02040503050406030204" pitchFamily="18" charset="0"/>
                            </a:rPr>
                          </m:ctrlPr>
                        </m:naryPr>
                        <m:sub>
                          <m:r>
                            <m:rPr>
                              <m:brk m:alnAt="7"/>
                            </m:rPr>
                            <a:rPr lang="en-US" sz="3500" i="1" smtClean="0">
                              <a:latin typeface="Cambria Math" panose="02040503050406030204" pitchFamily="18" charset="0"/>
                            </a:rPr>
                            <m:t>𝑜</m:t>
                          </m:r>
                          <m:r>
                            <a:rPr lang="en-US" sz="3500" i="1" smtClean="0">
                              <a:latin typeface="Cambria Math" panose="02040503050406030204" pitchFamily="18" charset="0"/>
                            </a:rPr>
                            <m:t>𝑢𝑡</m:t>
                          </m:r>
                        </m:sub>
                        <m:sup/>
                        <m:e>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𝑛</m:t>
                              </m:r>
                            </m:e>
                            <m:sub>
                              <m:r>
                                <a:rPr lang="en-US" sz="3500" i="1" smtClean="0">
                                  <a:latin typeface="Cambria Math" panose="02040503050406030204" pitchFamily="18" charset="0"/>
                                </a:rPr>
                                <m:t>𝑖</m:t>
                              </m:r>
                            </m:sub>
                          </m:sSub>
                          <m:sSub>
                            <m:sSubPr>
                              <m:ctrlPr>
                                <a:rPr lang="en-US" sz="3500" i="1" smtClean="0">
                                  <a:latin typeface="Cambria Math" panose="02040503050406030204" pitchFamily="18" charset="0"/>
                                </a:rPr>
                              </m:ctrlPr>
                            </m:sSubPr>
                            <m:e>
                              <m:r>
                                <a:rPr lang="en-US" sz="3500" i="1" smtClean="0">
                                  <a:latin typeface="Cambria Math" panose="02040503050406030204" pitchFamily="18" charset="0"/>
                                </a:rPr>
                                <m:t>𝐻</m:t>
                              </m:r>
                            </m:e>
                            <m:sub>
                              <m:r>
                                <a:rPr lang="en-US" sz="3500" i="1" smtClean="0">
                                  <a:latin typeface="Cambria Math" panose="02040503050406030204" pitchFamily="18" charset="0"/>
                                </a:rPr>
                                <m:t>𝑖</m:t>
                              </m:r>
                            </m:sub>
                          </m:sSub>
                        </m:e>
                      </m:nary>
                      <m:r>
                        <a:rPr lang="en-US" sz="3500" b="0" i="1" smtClean="0">
                          <a:latin typeface="Cambria Math" panose="02040503050406030204" pitchFamily="18" charset="0"/>
                        </a:rPr>
                        <m:t>+</m:t>
                      </m:r>
                      <m:nary>
                        <m:naryPr>
                          <m:chr m:val="∑"/>
                          <m:supHide m:val="on"/>
                          <m:ctrlPr>
                            <a:rPr lang="en-US" sz="3200" i="1">
                              <a:latin typeface="Cambria Math" panose="02040503050406030204" pitchFamily="18" charset="0"/>
                            </a:rPr>
                          </m:ctrlPr>
                        </m:naryPr>
                        <m:sub>
                          <m:r>
                            <m:rPr>
                              <m:brk m:alnAt="7"/>
                            </m:rPr>
                            <a:rPr lang="en-US" sz="3200" i="1">
                              <a:latin typeface="Cambria Math" panose="02040503050406030204" pitchFamily="18" charset="0"/>
                            </a:rPr>
                            <m:t>𝑚</m:t>
                          </m:r>
                          <m:r>
                            <a:rPr lang="en-US" sz="3200" i="1">
                              <a:latin typeface="Cambria Math" panose="02040503050406030204" pitchFamily="18" charset="0"/>
                            </a:rPr>
                            <m:t>𝑒𝑙𝑡</m:t>
                          </m:r>
                        </m:sub>
                        <m:sup/>
                        <m:e>
                          <m:sSub>
                            <m:sSubPr>
                              <m:ctrlPr>
                                <a:rPr lang="en-US" sz="3200" i="1">
                                  <a:latin typeface="Cambria Math" panose="02040503050406030204" pitchFamily="18" charset="0"/>
                                </a:rPr>
                              </m:ctrlPr>
                            </m:sSubPr>
                            <m:e>
                              <m:r>
                                <a:rPr lang="en-US" sz="3200" i="1">
                                  <a:latin typeface="Cambria Math" panose="02040503050406030204" pitchFamily="18" charset="0"/>
                                </a:rPr>
                                <m:t>𝑛</m:t>
                              </m:r>
                            </m:e>
                            <m:sub>
                              <m:r>
                                <a:rPr lang="en-US" sz="3200" i="1">
                                  <a:latin typeface="Cambria Math" panose="02040503050406030204" pitchFamily="18" charset="0"/>
                                </a:rPr>
                                <m:t>𝑖</m:t>
                              </m:r>
                            </m:sub>
                          </m:s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𝐻</m:t>
                              </m:r>
                            </m:e>
                            <m:sub>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𝑓</m:t>
                                  </m:r>
                                </m:e>
                                <m:sub>
                                  <m:r>
                                    <a:rPr lang="en-US" sz="3200" i="1">
                                      <a:latin typeface="Cambria Math" panose="02040503050406030204" pitchFamily="18" charset="0"/>
                                      <a:ea typeface="Cambria Math" panose="02040503050406030204" pitchFamily="18" charset="0"/>
                                    </a:rPr>
                                    <m:t>(</m:t>
                                  </m:r>
                                  <m:r>
                                    <a:rPr lang="en-US" sz="3200" i="1">
                                      <a:latin typeface="Cambria Math" panose="02040503050406030204" pitchFamily="18" charset="0"/>
                                      <a:ea typeface="Cambria Math" panose="02040503050406030204" pitchFamily="18" charset="0"/>
                                    </a:rPr>
                                    <m:t>𝑙</m:t>
                                  </m:r>
                                  <m:r>
                                    <a:rPr lang="en-US" sz="3200" i="1">
                                      <a:latin typeface="Cambria Math" panose="02040503050406030204" pitchFamily="18" charset="0"/>
                                      <a:ea typeface="Cambria Math" panose="02040503050406030204" pitchFamily="18" charset="0"/>
                                    </a:rPr>
                                    <m:t>)</m:t>
                                  </m:r>
                                </m:sub>
                              </m:sSub>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90C9E516-887F-BA2B-C00D-FDAABD4435CA}"/>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37F1B81C-8EDF-EDEA-2F46-C7DA63269A20}"/>
              </a:ext>
            </a:extLst>
          </p:cNvPr>
          <p:cNvSpPr txBox="1"/>
          <p:nvPr/>
        </p:nvSpPr>
        <p:spPr>
          <a:xfrm>
            <a:off x="5376296" y="5584723"/>
            <a:ext cx="5233805" cy="646331"/>
          </a:xfrm>
          <a:prstGeom prst="rect">
            <a:avLst/>
          </a:prstGeom>
          <a:noFill/>
        </p:spPr>
        <p:txBody>
          <a:bodyPr wrap="none" rtlCol="0">
            <a:spAutoFit/>
          </a:bodyPr>
          <a:lstStyle/>
          <a:p>
            <a:r>
              <a:rPr lang="en-US" sz="3600" b="1"/>
              <a:t>237,715.567 kJ/kg SS316</a:t>
            </a:r>
          </a:p>
        </p:txBody>
      </p:sp>
      <p:pic>
        <p:nvPicPr>
          <p:cNvPr id="17" name="Picture 16">
            <a:extLst>
              <a:ext uri="{FF2B5EF4-FFF2-40B4-BE49-F238E27FC236}">
                <a16:creationId xmlns:a16="http://schemas.microsoft.com/office/drawing/2014/main" id="{40BB4E9F-9FA6-D5B7-CC49-0F50460127E0}"/>
              </a:ext>
            </a:extLst>
          </p:cNvPr>
          <p:cNvPicPr>
            <a:picLocks noChangeAspect="1"/>
          </p:cNvPicPr>
          <p:nvPr/>
        </p:nvPicPr>
        <p:blipFill>
          <a:blip r:embed="rId4"/>
          <a:srcRect l="15261"/>
          <a:stretch>
            <a:fillRect/>
          </a:stretch>
        </p:blipFill>
        <p:spPr>
          <a:xfrm>
            <a:off x="5331602" y="1397812"/>
            <a:ext cx="5323191" cy="4244274"/>
          </a:xfrm>
          <a:prstGeom prst="rect">
            <a:avLst/>
          </a:prstGeom>
        </p:spPr>
      </p:pic>
    </p:spTree>
    <p:extLst>
      <p:ext uri="{BB962C8B-B14F-4D97-AF65-F5344CB8AC3E}">
        <p14:creationId xmlns:p14="http://schemas.microsoft.com/office/powerpoint/2010/main" val="1643069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DC5826-D6A8-0B2E-7BE1-A54C832880FF}"/>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9796E75E-7F28-BC97-16AE-1B2B89D3BF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A07CCC3-AE1A-9055-8DED-8442ACDE3D40}"/>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FF62F951-89C3-53B8-58D2-F593D9F4B752}"/>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E8004A05-FE51-B173-F295-C919D84CC351}"/>
              </a:ext>
            </a:extLst>
          </p:cNvPr>
          <p:cNvSpPr txBox="1">
            <a:spLocks/>
          </p:cNvSpPr>
          <p:nvPr/>
        </p:nvSpPr>
        <p:spPr>
          <a:xfrm>
            <a:off x="147484" y="2766332"/>
            <a:ext cx="3911565" cy="290688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Heat of reaction</a:t>
            </a:r>
          </a:p>
          <a:p>
            <a:pPr marL="571500" indent="-571500">
              <a:buFont typeface="Arial" panose="020B0604020202020204" pitchFamily="34" charset="0"/>
              <a:buChar char="•"/>
            </a:pPr>
            <a:r>
              <a:rPr lang="en-US" sz="3000">
                <a:solidFill>
                  <a:srgbClr val="FFFFFF"/>
                </a:solidFill>
              </a:rPr>
              <a:t>Products – reactants</a:t>
            </a:r>
          </a:p>
          <a:p>
            <a:pPr marL="571500" indent="-571500">
              <a:buFont typeface="Arial" panose="020B0604020202020204" pitchFamily="34" charset="0"/>
              <a:buChar char="•"/>
            </a:pPr>
            <a:r>
              <a:rPr lang="en-US" sz="3000">
                <a:solidFill>
                  <a:srgbClr val="FFFFFF"/>
                </a:solidFill>
              </a:rPr>
              <a:t>Extent of reaction calculated using FPY</a:t>
            </a:r>
          </a:p>
          <a:p>
            <a:pPr marL="571500" indent="-571500">
              <a:buFont typeface="Arial" panose="020B0604020202020204" pitchFamily="34" charset="0"/>
              <a:buChar char="•"/>
            </a:pPr>
            <a:r>
              <a:rPr lang="en-US" sz="3000">
                <a:solidFill>
                  <a:srgbClr val="FFFFFF"/>
                </a:solidFill>
              </a:rPr>
              <a:t>NIST </a:t>
            </a:r>
            <a:r>
              <a:rPr lang="en-US" sz="3000" err="1">
                <a:solidFill>
                  <a:srgbClr val="FFFFFF"/>
                </a:solidFill>
              </a:rPr>
              <a:t>WebBook</a:t>
            </a:r>
            <a:endParaRPr lang="en-US" sz="3000">
              <a:solidFill>
                <a:srgbClr val="FFFFFF"/>
              </a:solidFill>
            </a:endParaRP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53136A6-5AC1-0E55-FF52-00B1EE21E595}"/>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3500" i="1">
                              <a:latin typeface="Cambria Math" panose="02040503050406030204" pitchFamily="18" charset="0"/>
                            </a:rPr>
                          </m:ctrlPr>
                        </m:naryPr>
                        <m:sub>
                          <m:r>
                            <m:rPr>
                              <m:brk m:alnAt="7"/>
                            </m:rPr>
                            <a:rPr lang="en-US" sz="3500" i="1">
                              <a:latin typeface="Cambria Math" panose="02040503050406030204" pitchFamily="18" charset="0"/>
                            </a:rPr>
                            <m:t>𝑟</m:t>
                          </m:r>
                          <m:r>
                            <a:rPr lang="en-US" sz="3500" i="1">
                              <a:latin typeface="Cambria Math" panose="02040503050406030204" pitchFamily="18" charset="0"/>
                            </a:rPr>
                            <m:t>𝑥𝑛</m:t>
                          </m:r>
                        </m:sub>
                        <m:sup/>
                        <m:e>
                          <m:r>
                            <a:rPr lang="en-US" sz="3500" i="1">
                              <a:latin typeface="Cambria Math" panose="02040503050406030204" pitchFamily="18" charset="0"/>
                              <a:ea typeface="Cambria Math" panose="02040503050406030204" pitchFamily="18" charset="0"/>
                            </a:rPr>
                            <m:t>𝜉</m:t>
                          </m:r>
                          <m:sSub>
                            <m:sSubPr>
                              <m:ctrlPr>
                                <a:rPr lang="en-US" sz="3500" i="1">
                                  <a:latin typeface="Cambria Math" panose="02040503050406030204" pitchFamily="18" charset="0"/>
                                  <a:ea typeface="Cambria Math" panose="02040503050406030204" pitchFamily="18" charset="0"/>
                                </a:rPr>
                              </m:ctrlPr>
                            </m:sSubPr>
                            <m:e>
                              <m:r>
                                <a:rPr lang="en-US" sz="3500" i="1">
                                  <a:latin typeface="Cambria Math" panose="02040503050406030204" pitchFamily="18" charset="0"/>
                                  <a:ea typeface="Cambria Math" panose="02040503050406030204" pitchFamily="18" charset="0"/>
                                </a:rPr>
                                <m:t>𝐻</m:t>
                              </m:r>
                            </m:e>
                            <m:sub>
                              <m:r>
                                <a:rPr lang="en-US" sz="3500" i="1">
                                  <a:latin typeface="Cambria Math" panose="02040503050406030204" pitchFamily="18" charset="0"/>
                                  <a:ea typeface="Cambria Math" panose="02040503050406030204" pitchFamily="18" charset="0"/>
                                </a:rPr>
                                <m:t>𝑟𝑥𝑛</m:t>
                              </m:r>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753136A6-5AC1-0E55-FF52-00B1EE21E595}"/>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F1060FB3-2F9B-436B-D5AE-CD800CA27DB0}"/>
              </a:ext>
            </a:extLst>
          </p:cNvPr>
          <p:cNvSpPr txBox="1">
            <a:spLocks/>
          </p:cNvSpPr>
          <p:nvPr/>
        </p:nvSpPr>
        <p:spPr>
          <a:xfrm>
            <a:off x="4059048" y="1741356"/>
            <a:ext cx="8132951" cy="51166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5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CF443D-934B-CEC4-3FD7-67641135CC5E}"/>
                  </a:ext>
                </a:extLst>
              </p:cNvPr>
              <p:cNvSpPr txBox="1">
                <a:spLocks/>
              </p:cNvSpPr>
              <p:nvPr/>
            </p:nvSpPr>
            <p:spPr>
              <a:xfrm>
                <a:off x="4051621" y="1893939"/>
                <a:ext cx="8132951" cy="19738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𝐻</m:t>
                          </m:r>
                        </m:e>
                        <m:sub>
                          <m:r>
                            <a:rPr lang="en-US" sz="3500" b="0" i="1" smtClean="0">
                              <a:latin typeface="Cambria Math" panose="02040503050406030204" pitchFamily="18" charset="0"/>
                            </a:rPr>
                            <m:t>𝑟𝑥𝑛</m:t>
                          </m:r>
                        </m:sub>
                      </m:sSub>
                      <m:r>
                        <a:rPr lang="en-US" sz="3500" b="0" i="1" smtClean="0">
                          <a:latin typeface="Cambria Math" panose="02040503050406030204" pitchFamily="18" charset="0"/>
                        </a:rPr>
                        <m:t>=</m:t>
                      </m:r>
                      <m:nary>
                        <m:naryPr>
                          <m:chr m:val="∑"/>
                          <m:supHide m:val="on"/>
                          <m:ctrlPr>
                            <a:rPr lang="en-US" sz="3500" b="0" i="1" smtClean="0">
                              <a:latin typeface="Cambria Math" panose="02040503050406030204" pitchFamily="18" charset="0"/>
                            </a:rPr>
                          </m:ctrlPr>
                        </m:naryPr>
                        <m:sub>
                          <m:r>
                            <m:rPr>
                              <m:brk m:alnAt="7"/>
                            </m:rPr>
                            <a:rPr lang="en-US" sz="3500" b="0" i="1" smtClean="0">
                              <a:latin typeface="Cambria Math" panose="02040503050406030204" pitchFamily="18" charset="0"/>
                            </a:rPr>
                            <m:t>𝑝</m:t>
                          </m:r>
                          <m:r>
                            <a:rPr lang="en-US" sz="3500" b="0" i="1" smtClean="0">
                              <a:latin typeface="Cambria Math" panose="02040503050406030204" pitchFamily="18" charset="0"/>
                            </a:rPr>
                            <m:t>𝑟𝑜𝑑</m:t>
                          </m:r>
                        </m:sub>
                        <m:sup/>
                        <m:e>
                          <m:r>
                            <a:rPr lang="en-US" sz="3500" b="0" i="1" smtClean="0">
                              <a:latin typeface="Cambria Math" panose="02040503050406030204" pitchFamily="18" charset="0"/>
                            </a:rPr>
                            <m:t>𝑣</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𝐻</m:t>
                              </m:r>
                            </m:e>
                            <m:sub>
                              <m:r>
                                <a:rPr lang="en-US" sz="3500" b="0" i="1" smtClean="0">
                                  <a:latin typeface="Cambria Math" panose="02040503050406030204" pitchFamily="18" charset="0"/>
                                </a:rPr>
                                <m:t>𝑓</m:t>
                              </m:r>
                            </m:sub>
                          </m:sSub>
                        </m:e>
                      </m:nary>
                      <m:r>
                        <a:rPr lang="en-US" sz="3500" b="0" i="1" smtClean="0">
                          <a:latin typeface="Cambria Math" panose="02040503050406030204" pitchFamily="18" charset="0"/>
                        </a:rPr>
                        <m:t>−</m:t>
                      </m:r>
                      <m:nary>
                        <m:naryPr>
                          <m:chr m:val="∑"/>
                          <m:supHide m:val="on"/>
                          <m:ctrlPr>
                            <a:rPr lang="en-US" sz="3500" i="1">
                              <a:latin typeface="Cambria Math" panose="02040503050406030204" pitchFamily="18" charset="0"/>
                            </a:rPr>
                          </m:ctrlPr>
                        </m:naryPr>
                        <m:sub>
                          <m:r>
                            <a:rPr lang="en-US" sz="3500" b="0" i="1" smtClean="0">
                              <a:latin typeface="Cambria Math" panose="02040503050406030204" pitchFamily="18" charset="0"/>
                            </a:rPr>
                            <m:t>𝑟𝑒𝑎𝑐𝑡</m:t>
                          </m:r>
                        </m:sub>
                        <m:sup/>
                        <m:e>
                          <m:r>
                            <a:rPr lang="en-US" sz="3500" i="1">
                              <a:latin typeface="Cambria Math" panose="02040503050406030204" pitchFamily="18" charset="0"/>
                            </a:rPr>
                            <m:t>𝑣</m:t>
                          </m:r>
                          <m:sSub>
                            <m:sSubPr>
                              <m:ctrlPr>
                                <a:rPr lang="en-US" sz="3500" i="1">
                                  <a:latin typeface="Cambria Math" panose="02040503050406030204" pitchFamily="18" charset="0"/>
                                </a:rPr>
                              </m:ctrlPr>
                            </m:sSubPr>
                            <m:e>
                              <m:r>
                                <a:rPr lang="en-US" sz="3500" i="1">
                                  <a:latin typeface="Cambria Math" panose="02040503050406030204" pitchFamily="18" charset="0"/>
                                </a:rPr>
                                <m:t>𝐻</m:t>
                              </m:r>
                            </m:e>
                            <m:sub>
                              <m:r>
                                <a:rPr lang="en-US" sz="3500" i="1">
                                  <a:latin typeface="Cambria Math" panose="02040503050406030204" pitchFamily="18" charset="0"/>
                                </a:rPr>
                                <m:t>𝑓</m:t>
                              </m:r>
                            </m:sub>
                          </m:sSub>
                        </m:e>
                      </m:nary>
                    </m:oMath>
                  </m:oMathPara>
                </a14:m>
                <a:endParaRPr lang="en-US" sz="3500"/>
              </a:p>
              <a:p>
                <a:pPr marL="0" indent="0" algn="ctr">
                  <a:buNone/>
                </a:pPr>
                <a:r>
                  <a:rPr lang="en-US" sz="3500"/>
                  <a:t>Used the FPC to calculate moles reacted</a:t>
                </a:r>
              </a:p>
            </p:txBody>
          </p:sp>
        </mc:Choice>
        <mc:Fallback xmlns="">
          <p:sp>
            <p:nvSpPr>
              <p:cNvPr id="3" name="Content Placeholder 2">
                <a:extLst>
                  <a:ext uri="{FF2B5EF4-FFF2-40B4-BE49-F238E27FC236}">
                    <a16:creationId xmlns:a16="http://schemas.microsoft.com/office/drawing/2014/main" id="{F4CF443D-934B-CEC4-3FD7-67641135CC5E}"/>
                  </a:ext>
                </a:extLst>
              </p:cNvPr>
              <p:cNvSpPr txBox="1">
                <a:spLocks noRot="1" noChangeAspect="1" noMove="1" noResize="1" noEditPoints="1" noAdjustHandles="1" noChangeArrowheads="1" noChangeShapeType="1" noTextEdit="1"/>
              </p:cNvSpPr>
              <p:nvPr/>
            </p:nvSpPr>
            <p:spPr>
              <a:xfrm>
                <a:off x="4051621" y="1893939"/>
                <a:ext cx="8132951" cy="1973823"/>
              </a:xfrm>
              <a:prstGeom prst="rect">
                <a:avLst/>
              </a:prstGeom>
              <a:blipFill>
                <a:blip r:embed="rId4"/>
                <a:stretch>
                  <a:fillRect l="-1349" r="-1274" b="-9288"/>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85A46F6E-79E2-458A-43B4-C299D7D72BC6}"/>
              </a:ext>
            </a:extLst>
          </p:cNvPr>
          <p:cNvPicPr>
            <a:picLocks noChangeAspect="1"/>
          </p:cNvPicPr>
          <p:nvPr/>
        </p:nvPicPr>
        <p:blipFill>
          <a:blip r:embed="rId5"/>
          <a:stretch>
            <a:fillRect/>
          </a:stretch>
        </p:blipFill>
        <p:spPr>
          <a:xfrm>
            <a:off x="4094513" y="3867762"/>
            <a:ext cx="8104913" cy="1545479"/>
          </a:xfrm>
          <a:prstGeom prst="rect">
            <a:avLst/>
          </a:prstGeom>
        </p:spPr>
      </p:pic>
      <p:sp>
        <p:nvSpPr>
          <p:cNvPr id="12" name="TextBox 11">
            <a:extLst>
              <a:ext uri="{FF2B5EF4-FFF2-40B4-BE49-F238E27FC236}">
                <a16:creationId xmlns:a16="http://schemas.microsoft.com/office/drawing/2014/main" id="{A80A9EC4-AACE-A39B-FCDA-DFEAE21187B6}"/>
              </a:ext>
            </a:extLst>
          </p:cNvPr>
          <p:cNvSpPr txBox="1"/>
          <p:nvPr/>
        </p:nvSpPr>
        <p:spPr>
          <a:xfrm>
            <a:off x="5376296" y="5584723"/>
            <a:ext cx="5144037" cy="646331"/>
          </a:xfrm>
          <a:prstGeom prst="rect">
            <a:avLst/>
          </a:prstGeom>
          <a:noFill/>
        </p:spPr>
        <p:txBody>
          <a:bodyPr wrap="none" rtlCol="0">
            <a:spAutoFit/>
          </a:bodyPr>
          <a:lstStyle/>
          <a:p>
            <a:r>
              <a:rPr lang="en-US" sz="3600" b="1"/>
              <a:t>-27,892.619 kJ/kg SS316</a:t>
            </a:r>
          </a:p>
        </p:txBody>
      </p:sp>
    </p:spTree>
    <p:extLst>
      <p:ext uri="{BB962C8B-B14F-4D97-AF65-F5344CB8AC3E}">
        <p14:creationId xmlns:p14="http://schemas.microsoft.com/office/powerpoint/2010/main" val="4209470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E17FCF-4D66-5362-7D6B-0C50A1F3AAF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8FD8CC97-1136-650B-4062-2A46E3326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449516-A61D-EC6A-1549-10F3A50FC9DA}"/>
              </a:ext>
            </a:extLst>
          </p:cNvPr>
          <p:cNvSpPr>
            <a:spLocks noGrp="1"/>
          </p:cNvSpPr>
          <p:nvPr>
            <p:ph type="title"/>
          </p:nvPr>
        </p:nvSpPr>
        <p:spPr>
          <a:xfrm>
            <a:off x="571459" y="1693052"/>
            <a:ext cx="3087444" cy="661259"/>
          </a:xfrm>
        </p:spPr>
        <p:txBody>
          <a:bodyPr vert="horz" lIns="91440" tIns="45720" rIns="91440" bIns="45720" rtlCol="0" anchor="t">
            <a:normAutofit fontScale="90000"/>
          </a:bodyPr>
          <a:lstStyle/>
          <a:p>
            <a:pPr algn="ctr"/>
            <a:r>
              <a:rPr lang="en-US" sz="4000" kern="1200">
                <a:solidFill>
                  <a:srgbClr val="FFFFFF"/>
                </a:solidFill>
                <a:latin typeface="+mj-lt"/>
                <a:ea typeface="+mj-ea"/>
                <a:cs typeface="+mj-cs"/>
              </a:rPr>
              <a:t>Energy Balance</a:t>
            </a:r>
          </a:p>
        </p:txBody>
      </p:sp>
      <p:cxnSp>
        <p:nvCxnSpPr>
          <p:cNvPr id="7" name="Straight Connector 6">
            <a:extLst>
              <a:ext uri="{FF2B5EF4-FFF2-40B4-BE49-F238E27FC236}">
                <a16:creationId xmlns:a16="http://schemas.microsoft.com/office/drawing/2014/main" id="{77891DEE-46A5-5329-48B3-35937739F52F}"/>
              </a:ext>
            </a:extLst>
          </p:cNvPr>
          <p:cNvCxnSpPr/>
          <p:nvPr/>
        </p:nvCxnSpPr>
        <p:spPr>
          <a:xfrm>
            <a:off x="571459" y="2560321"/>
            <a:ext cx="3087445" cy="0"/>
          </a:xfrm>
          <a:prstGeom prst="line">
            <a:avLst/>
          </a:prstGeom>
          <a:ln w="38100">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Title 1">
            <a:extLst>
              <a:ext uri="{FF2B5EF4-FFF2-40B4-BE49-F238E27FC236}">
                <a16:creationId xmlns:a16="http://schemas.microsoft.com/office/drawing/2014/main" id="{674039B6-94D2-7342-C632-F441D60AB917}"/>
              </a:ext>
            </a:extLst>
          </p:cNvPr>
          <p:cNvSpPr txBox="1">
            <a:spLocks/>
          </p:cNvSpPr>
          <p:nvPr/>
        </p:nvSpPr>
        <p:spPr>
          <a:xfrm>
            <a:off x="216310" y="2766332"/>
            <a:ext cx="3842739" cy="290688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en-US" sz="3000">
                <a:solidFill>
                  <a:srgbClr val="FFFFFF"/>
                </a:solidFill>
              </a:rPr>
              <a:t>Scale it up!</a:t>
            </a:r>
          </a:p>
          <a:p>
            <a:pPr marL="571500" indent="-571500">
              <a:buFont typeface="Arial" panose="020B0604020202020204" pitchFamily="34" charset="0"/>
              <a:buChar char="•"/>
            </a:pPr>
            <a:r>
              <a:rPr lang="en-US" sz="3000">
                <a:solidFill>
                  <a:srgbClr val="FFFFFF"/>
                </a:solidFill>
              </a:rPr>
              <a:t>Endothermic</a:t>
            </a:r>
          </a:p>
          <a:p>
            <a:pPr marL="571500" indent="-571500">
              <a:buFont typeface="Arial" panose="020B0604020202020204" pitchFamily="34" charset="0"/>
              <a:buChar char="•"/>
            </a:pPr>
            <a:r>
              <a:rPr lang="en-US" sz="3000">
                <a:solidFill>
                  <a:srgbClr val="FFFFFF"/>
                </a:solidFill>
              </a:rPr>
              <a:t>A higher recycle ratio will yield a lower value</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AD180415-0CA8-9AF7-C737-90BD11216513}"/>
                  </a:ext>
                </a:extLst>
              </p:cNvPr>
              <p:cNvSpPr txBox="1">
                <a:spLocks/>
              </p:cNvSpPr>
              <p:nvPr/>
            </p:nvSpPr>
            <p:spPr>
              <a:xfrm>
                <a:off x="4059050" y="0"/>
                <a:ext cx="8132950" cy="14551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3600" i="1" smtClean="0">
                              <a:latin typeface="Cambria Math" panose="02040503050406030204" pitchFamily="18" charset="0"/>
                            </a:rPr>
                          </m:ctrlPr>
                        </m:naryPr>
                        <m:sub>
                          <m:r>
                            <m:rPr>
                              <m:brk m:alnAt="7"/>
                            </m:rPr>
                            <a:rPr lang="en-US" sz="3600" i="1">
                              <a:latin typeface="Cambria Math" panose="02040503050406030204" pitchFamily="18" charset="0"/>
                            </a:rPr>
                            <m:t>𝑜</m:t>
                          </m:r>
                          <m:r>
                            <a:rPr lang="en-US" sz="3600" i="1">
                              <a:latin typeface="Cambria Math" panose="02040503050406030204" pitchFamily="18" charset="0"/>
                            </a:rPr>
                            <m:t>𝑢𝑡</m:t>
                          </m:r>
                        </m:sub>
                        <m:sup/>
                        <m:e>
                          <m:sSub>
                            <m:sSubPr>
                              <m:ctrlPr>
                                <a:rPr lang="en-US" sz="3600" i="1">
                                  <a:latin typeface="Cambria Math" panose="02040503050406030204" pitchFamily="18" charset="0"/>
                                </a:rPr>
                              </m:ctrlPr>
                            </m:sSubPr>
                            <m:e>
                              <m:r>
                                <a:rPr lang="en-US" sz="3600" i="1">
                                  <a:latin typeface="Cambria Math" panose="02040503050406030204" pitchFamily="18" charset="0"/>
                                </a:rPr>
                                <m:t>𝑛</m:t>
                              </m:r>
                            </m:e>
                            <m:sub>
                              <m:r>
                                <a:rPr lang="en-US" sz="3600" i="1">
                                  <a:latin typeface="Cambria Math" panose="02040503050406030204" pitchFamily="18" charset="0"/>
                                </a:rPr>
                                <m:t>𝑖</m:t>
                              </m:r>
                            </m:sub>
                          </m:sSub>
                          <m:sSub>
                            <m:sSubPr>
                              <m:ctrlPr>
                                <a:rPr lang="en-US" sz="3600" i="1">
                                  <a:latin typeface="Cambria Math" panose="02040503050406030204" pitchFamily="18" charset="0"/>
                                </a:rPr>
                              </m:ctrlPr>
                            </m:sSubPr>
                            <m:e>
                              <m:r>
                                <a:rPr lang="en-US" sz="3600" i="1">
                                  <a:latin typeface="Cambria Math" panose="02040503050406030204" pitchFamily="18" charset="0"/>
                                </a:rPr>
                                <m:t>𝐻</m:t>
                              </m:r>
                            </m:e>
                            <m:sub>
                              <m:r>
                                <a:rPr lang="en-US" sz="3600" i="1">
                                  <a:latin typeface="Cambria Math" panose="02040503050406030204" pitchFamily="18" charset="0"/>
                                </a:rPr>
                                <m:t>𝑖</m:t>
                              </m:r>
                            </m:sub>
                          </m:sSub>
                        </m:e>
                      </m:nary>
                      <m:r>
                        <a:rPr lang="en-US" sz="3600" i="1">
                          <a:latin typeface="Cambria Math" panose="02040503050406030204" pitchFamily="18" charset="0"/>
                        </a:rPr>
                        <m:t>+</m:t>
                      </m:r>
                      <m:nary>
                        <m:naryPr>
                          <m:chr m:val="∑"/>
                          <m:supHide m:val="on"/>
                          <m:ctrlPr>
                            <a:rPr lang="en-US" sz="3600" i="1">
                              <a:latin typeface="Cambria Math" panose="02040503050406030204" pitchFamily="18" charset="0"/>
                            </a:rPr>
                          </m:ctrlPr>
                        </m:naryPr>
                        <m:sub>
                          <m:r>
                            <m:rPr>
                              <m:brk m:alnAt="7"/>
                            </m:rPr>
                            <a:rPr lang="en-US" sz="3600" i="1">
                              <a:latin typeface="Cambria Math" panose="02040503050406030204" pitchFamily="18" charset="0"/>
                            </a:rPr>
                            <m:t>𝑚</m:t>
                          </m:r>
                          <m:r>
                            <a:rPr lang="en-US" sz="3600" i="1">
                              <a:latin typeface="Cambria Math" panose="02040503050406030204" pitchFamily="18" charset="0"/>
                            </a:rPr>
                            <m:t>𝑒𝑙𝑡</m:t>
                          </m:r>
                        </m:sub>
                        <m:sup/>
                        <m:e>
                          <m:sSub>
                            <m:sSubPr>
                              <m:ctrlPr>
                                <a:rPr lang="en-US" sz="3600" i="1">
                                  <a:latin typeface="Cambria Math" panose="02040503050406030204" pitchFamily="18" charset="0"/>
                                </a:rPr>
                              </m:ctrlPr>
                            </m:sSubPr>
                            <m:e>
                              <m:r>
                                <a:rPr lang="en-US" sz="3600" i="1">
                                  <a:latin typeface="Cambria Math" panose="02040503050406030204" pitchFamily="18" charset="0"/>
                                </a:rPr>
                                <m:t>𝑛</m:t>
                              </m:r>
                            </m:e>
                            <m:sub>
                              <m:r>
                                <a:rPr lang="en-US" sz="3600" i="1">
                                  <a:latin typeface="Cambria Math" panose="02040503050406030204" pitchFamily="18" charset="0"/>
                                </a:rPr>
                                <m:t>𝑖</m:t>
                              </m:r>
                            </m:sub>
                          </m:s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𝐻</m:t>
                              </m:r>
                            </m:e>
                            <m:sub>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𝑓</m:t>
                                  </m:r>
                                </m:e>
                                <m:sub>
                                  <m:r>
                                    <a:rPr lang="en-US" sz="3600" i="1">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𝑙</m:t>
                                  </m:r>
                                  <m:r>
                                    <a:rPr lang="en-US" sz="3600" i="1">
                                      <a:latin typeface="Cambria Math" panose="02040503050406030204" pitchFamily="18" charset="0"/>
                                      <a:ea typeface="Cambria Math" panose="02040503050406030204" pitchFamily="18" charset="0"/>
                                    </a:rPr>
                                    <m:t>)</m:t>
                                  </m:r>
                                </m:sub>
                              </m:sSub>
                            </m:sub>
                          </m:sSub>
                        </m:e>
                      </m:nary>
                      <m:r>
                        <a:rPr lang="en-US" sz="3600" b="0" i="1" smtClean="0">
                          <a:latin typeface="Cambria Math" panose="02040503050406030204" pitchFamily="18" charset="0"/>
                          <a:ea typeface="Cambria Math" panose="02040503050406030204" pitchFamily="18" charset="0"/>
                        </a:rPr>
                        <m:t>+</m:t>
                      </m:r>
                      <m:nary>
                        <m:naryPr>
                          <m:chr m:val="∑"/>
                          <m:supHide m:val="on"/>
                          <m:ctrlPr>
                            <a:rPr lang="en-US" sz="3600" i="1">
                              <a:latin typeface="Cambria Math" panose="02040503050406030204" pitchFamily="18" charset="0"/>
                            </a:rPr>
                          </m:ctrlPr>
                        </m:naryPr>
                        <m:sub>
                          <m:r>
                            <m:rPr>
                              <m:brk m:alnAt="7"/>
                            </m:rPr>
                            <a:rPr lang="en-US" sz="3600" i="1">
                              <a:latin typeface="Cambria Math" panose="02040503050406030204" pitchFamily="18" charset="0"/>
                            </a:rPr>
                            <m:t>𝑟</m:t>
                          </m:r>
                          <m:r>
                            <a:rPr lang="en-US" sz="3600" i="1">
                              <a:latin typeface="Cambria Math" panose="02040503050406030204" pitchFamily="18" charset="0"/>
                            </a:rPr>
                            <m:t>𝑥𝑛</m:t>
                          </m:r>
                        </m:sub>
                        <m:sup/>
                        <m:e>
                          <m:r>
                            <a:rPr lang="en-US" sz="3600" i="1">
                              <a:latin typeface="Cambria Math" panose="02040503050406030204" pitchFamily="18" charset="0"/>
                              <a:ea typeface="Cambria Math" panose="02040503050406030204" pitchFamily="18" charset="0"/>
                            </a:rPr>
                            <m:t>𝜉</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𝐻</m:t>
                              </m:r>
                            </m:e>
                            <m:sub>
                              <m:r>
                                <a:rPr lang="en-US" sz="3600" i="1">
                                  <a:latin typeface="Cambria Math" panose="02040503050406030204" pitchFamily="18" charset="0"/>
                                  <a:ea typeface="Cambria Math" panose="02040503050406030204" pitchFamily="18" charset="0"/>
                                </a:rPr>
                                <m:t>𝑟𝑥𝑛</m:t>
                              </m:r>
                            </m:sub>
                          </m:sSub>
                        </m:e>
                      </m:nary>
                    </m:oMath>
                  </m:oMathPara>
                </a14:m>
                <a:endParaRPr lang="en-US" sz="3500"/>
              </a:p>
            </p:txBody>
          </p:sp>
        </mc:Choice>
        <mc:Fallback xmlns="">
          <p:sp>
            <p:nvSpPr>
              <p:cNvPr id="8" name="Content Placeholder 2">
                <a:extLst>
                  <a:ext uri="{FF2B5EF4-FFF2-40B4-BE49-F238E27FC236}">
                    <a16:creationId xmlns:a16="http://schemas.microsoft.com/office/drawing/2014/main" id="{AD180415-0CA8-9AF7-C737-90BD11216513}"/>
                  </a:ext>
                </a:extLst>
              </p:cNvPr>
              <p:cNvSpPr txBox="1">
                <a:spLocks noRot="1" noChangeAspect="1" noMove="1" noResize="1" noEditPoints="1" noAdjustHandles="1" noChangeArrowheads="1" noChangeShapeType="1" noTextEdit="1"/>
              </p:cNvSpPr>
              <p:nvPr/>
            </p:nvSpPr>
            <p:spPr>
              <a:xfrm>
                <a:off x="4059050" y="0"/>
                <a:ext cx="8132950" cy="1455174"/>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C182101D-47CA-2BFC-4C9A-8E9CD90D939D}"/>
              </a:ext>
            </a:extLst>
          </p:cNvPr>
          <p:cNvSpPr txBox="1">
            <a:spLocks/>
          </p:cNvSpPr>
          <p:nvPr/>
        </p:nvSpPr>
        <p:spPr>
          <a:xfrm>
            <a:off x="4059048" y="1741356"/>
            <a:ext cx="8132951" cy="511664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350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694C50-6872-07C6-4E31-D6548AEC48C2}"/>
                  </a:ext>
                </a:extLst>
              </p:cNvPr>
              <p:cNvSpPr txBox="1"/>
              <p:nvPr/>
            </p:nvSpPr>
            <p:spPr>
              <a:xfrm>
                <a:off x="4791492" y="1741356"/>
                <a:ext cx="6829049" cy="4630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3600" i="1" smtClean="0">
                              <a:latin typeface="Cambria Math" panose="02040503050406030204" pitchFamily="18" charset="0"/>
                            </a:rPr>
                          </m:ctrlPr>
                        </m:dPr>
                        <m:e>
                          <m:r>
                            <a:rPr lang="en-US" sz="3600" b="0" i="1" smtClean="0">
                              <a:latin typeface="Cambria Math" panose="02040503050406030204" pitchFamily="18" charset="0"/>
                            </a:rPr>
                            <m:t>237715.567−27892.619</m:t>
                          </m:r>
                        </m:e>
                      </m:d>
                      <m:f>
                        <m:fPr>
                          <m:ctrlPr>
                            <a:rPr lang="en-US" sz="3600" i="1" smtClean="0">
                              <a:latin typeface="Cambria Math" panose="02040503050406030204" pitchFamily="18" charset="0"/>
                            </a:rPr>
                          </m:ctrlPr>
                        </m:fPr>
                        <m:num>
                          <m:r>
                            <a:rPr lang="en-US" sz="3600" b="0" i="1" smtClean="0">
                              <a:latin typeface="Cambria Math" panose="02040503050406030204" pitchFamily="18" charset="0"/>
                            </a:rPr>
                            <m:t>𝑘𝐽</m:t>
                          </m:r>
                        </m:num>
                        <m:den>
                          <m:r>
                            <a:rPr lang="en-US" sz="3600" b="0" i="1" smtClean="0">
                              <a:latin typeface="Cambria Math" panose="02040503050406030204" pitchFamily="18" charset="0"/>
                            </a:rPr>
                            <m:t>𝑘𝑔</m:t>
                          </m:r>
                        </m:den>
                      </m:f>
                      <m:r>
                        <a:rPr lang="en-US" sz="3600" b="0" i="1" smtClean="0">
                          <a:latin typeface="Cambria Math" panose="02040503050406030204" pitchFamily="18" charset="0"/>
                        </a:rPr>
                        <m:t>=</m:t>
                      </m:r>
                    </m:oMath>
                  </m:oMathPara>
                </a14:m>
                <a:endParaRPr lang="en-US" sz="3600"/>
              </a:p>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209,822.95</m:t>
                      </m:r>
                      <m:f>
                        <m:fPr>
                          <m:ctrlPr>
                            <a:rPr lang="en-US" sz="3600" i="1" smtClean="0">
                              <a:latin typeface="Cambria Math" panose="02040503050406030204" pitchFamily="18" charset="0"/>
                            </a:rPr>
                          </m:ctrlPr>
                        </m:fPr>
                        <m:num>
                          <m:r>
                            <a:rPr lang="en-US" sz="3600" b="0" i="1" smtClean="0">
                              <a:latin typeface="Cambria Math" panose="02040503050406030204" pitchFamily="18" charset="0"/>
                            </a:rPr>
                            <m:t>𝑘𝐽</m:t>
                          </m:r>
                        </m:num>
                        <m:den>
                          <m:r>
                            <a:rPr lang="en-US" sz="3600" b="0" i="1" smtClean="0">
                              <a:latin typeface="Cambria Math" panose="02040503050406030204" pitchFamily="18" charset="0"/>
                            </a:rPr>
                            <m:t>𝑘𝑔</m:t>
                          </m:r>
                        </m:den>
                      </m:f>
                    </m:oMath>
                  </m:oMathPara>
                </a14:m>
                <a:endParaRPr lang="en-US" sz="3600"/>
              </a:p>
              <a:p>
                <a:pPr algn="ctr"/>
                <a:r>
                  <a:rPr lang="en-US" sz="3600"/>
                  <a:t>Scale up to 1000 kg/day</a:t>
                </a:r>
              </a:p>
              <a:p>
                <a:pPr algn="ctr"/>
                <a:endParaRPr lang="en-US" sz="3600" b="1"/>
              </a:p>
              <a:p>
                <a:pPr algn="ctr"/>
                <a14:m>
                  <m:oMathPara xmlns:m="http://schemas.openxmlformats.org/officeDocument/2006/math">
                    <m:oMathParaPr>
                      <m:jc m:val="centerGroup"/>
                    </m:oMathParaPr>
                    <m:oMath xmlns:m="http://schemas.openxmlformats.org/officeDocument/2006/math">
                      <m:r>
                        <a:rPr lang="en-US" sz="3600" b="1" i="1">
                          <a:latin typeface="Cambria Math" panose="02040503050406030204" pitchFamily="18" charset="0"/>
                        </a:rPr>
                        <m:t>𝟐𝟎𝟗</m:t>
                      </m:r>
                      <m:r>
                        <a:rPr lang="en-US" sz="3600" b="1" i="1" smtClean="0">
                          <a:latin typeface="Cambria Math" panose="02040503050406030204" pitchFamily="18" charset="0"/>
                        </a:rPr>
                        <m:t>,</m:t>
                      </m:r>
                      <m:r>
                        <a:rPr lang="en-US" sz="3600" b="1" i="1">
                          <a:latin typeface="Cambria Math" panose="02040503050406030204" pitchFamily="18" charset="0"/>
                        </a:rPr>
                        <m:t>𝟖𝟐𝟐</m:t>
                      </m:r>
                      <m:r>
                        <a:rPr lang="en-US" sz="3600" b="1" i="1" smtClean="0">
                          <a:latin typeface="Cambria Math" panose="02040503050406030204" pitchFamily="18" charset="0"/>
                        </a:rPr>
                        <m:t>.</m:t>
                      </m:r>
                      <m:r>
                        <a:rPr lang="en-US" sz="3600" b="1" i="1">
                          <a:latin typeface="Cambria Math" panose="02040503050406030204" pitchFamily="18" charset="0"/>
                        </a:rPr>
                        <m:t>𝟗𝟓</m:t>
                      </m:r>
                      <m:f>
                        <m:fPr>
                          <m:ctrlPr>
                            <a:rPr lang="en-US" sz="3600" b="1" i="1" smtClean="0">
                              <a:latin typeface="Cambria Math" panose="02040503050406030204" pitchFamily="18" charset="0"/>
                            </a:rPr>
                          </m:ctrlPr>
                        </m:fPr>
                        <m:num>
                          <m:r>
                            <a:rPr lang="en-US" sz="3600" b="1" i="1" smtClean="0">
                              <a:latin typeface="Cambria Math" panose="02040503050406030204" pitchFamily="18" charset="0"/>
                            </a:rPr>
                            <m:t>𝑴𝑱</m:t>
                          </m:r>
                        </m:num>
                        <m:den>
                          <m:r>
                            <a:rPr lang="en-US" sz="3600" b="1" i="1" smtClean="0">
                              <a:latin typeface="Cambria Math" panose="02040503050406030204" pitchFamily="18" charset="0"/>
                            </a:rPr>
                            <m:t>𝒅𝒂𝒚</m:t>
                          </m:r>
                        </m:den>
                      </m:f>
                    </m:oMath>
                  </m:oMathPara>
                </a14:m>
                <a:endParaRPr lang="en-US" sz="3600" b="1"/>
              </a:p>
            </p:txBody>
          </p:sp>
        </mc:Choice>
        <mc:Fallback xmlns="">
          <p:sp>
            <p:nvSpPr>
              <p:cNvPr id="12" name="TextBox 11">
                <a:extLst>
                  <a:ext uri="{FF2B5EF4-FFF2-40B4-BE49-F238E27FC236}">
                    <a16:creationId xmlns:a16="http://schemas.microsoft.com/office/drawing/2014/main" id="{96694C50-6872-07C6-4E31-D6548AEC48C2}"/>
                  </a:ext>
                </a:extLst>
              </p:cNvPr>
              <p:cNvSpPr txBox="1">
                <a:spLocks noRot="1" noChangeAspect="1" noMove="1" noResize="1" noEditPoints="1" noAdjustHandles="1" noChangeArrowheads="1" noChangeShapeType="1" noTextEdit="1"/>
              </p:cNvSpPr>
              <p:nvPr/>
            </p:nvSpPr>
            <p:spPr>
              <a:xfrm>
                <a:off x="4791492" y="1741356"/>
                <a:ext cx="6829049" cy="463017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424092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24E8ED-5937-92D8-BD28-E97DB450DC9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4202AA1-E254-4B6E-EAEE-17CE13A655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C648AF52-D472-1E96-E3E1-30F0FDCBD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04CE62B6-3798-C726-B2FE-53F26FEA9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8C093DC-515C-6E0C-586D-956CFD6712AF}"/>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Atom &amp; Process Economy</a:t>
            </a:r>
          </a:p>
        </p:txBody>
      </p:sp>
      <p:sp>
        <p:nvSpPr>
          <p:cNvPr id="13" name="Rectangle 12">
            <a:extLst>
              <a:ext uri="{FF2B5EF4-FFF2-40B4-BE49-F238E27FC236}">
                <a16:creationId xmlns:a16="http://schemas.microsoft.com/office/drawing/2014/main" id="{91C9DB44-6036-D42E-1640-FD72EA0F4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410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FBF2C3-96C8-07D8-A207-E5A745271E3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97E4C8-A62D-32C0-32B3-6E7D046F3D1E}"/>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Atom Economy Calculations</a:t>
            </a:r>
          </a:p>
        </p:txBody>
      </p:sp>
      <p:sp>
        <p:nvSpPr>
          <p:cNvPr id="4" name="TextBox 3">
            <a:extLst>
              <a:ext uri="{FF2B5EF4-FFF2-40B4-BE49-F238E27FC236}">
                <a16:creationId xmlns:a16="http://schemas.microsoft.com/office/drawing/2014/main" id="{0150E07E-2139-3294-9FB6-4A42BD913D2A}"/>
              </a:ext>
            </a:extLst>
          </p:cNvPr>
          <p:cNvSpPr txBox="1"/>
          <p:nvPr/>
        </p:nvSpPr>
        <p:spPr>
          <a:xfrm>
            <a:off x="638881" y="1932508"/>
            <a:ext cx="10909643" cy="68740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ts val="1000"/>
              </a:spcBef>
            </a:pPr>
            <a:r>
              <a:rPr lang="en-US" sz="3200" kern="1200">
                <a:solidFill>
                  <a:schemeClr val="tx1"/>
                </a:solidFill>
                <a:latin typeface="+mn-lt"/>
                <a:ea typeface="+mn-ea"/>
                <a:cs typeface="+mn-cs"/>
              </a:rPr>
              <a:t>Total Mass - 90.82% </a:t>
            </a:r>
          </a:p>
        </p:txBody>
      </p:sp>
      <p:sp>
        <p:nvSpPr>
          <p:cNvPr id="14"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E914C01A-D9CB-14AE-1F58-6E8B13F96D3B}"/>
              </a:ext>
            </a:extLst>
          </p:cNvPr>
          <p:cNvGraphicFramePr>
            <a:graphicFrameLocks noGrp="1"/>
          </p:cNvGraphicFramePr>
          <p:nvPr>
            <p:extLst>
              <p:ext uri="{D42A27DB-BD31-4B8C-83A1-F6EECF244321}">
                <p14:modId xmlns:p14="http://schemas.microsoft.com/office/powerpoint/2010/main" val="3720869954"/>
              </p:ext>
            </p:extLst>
          </p:nvPr>
        </p:nvGraphicFramePr>
        <p:xfrm>
          <a:off x="952278" y="2633472"/>
          <a:ext cx="10284398" cy="3586360"/>
        </p:xfrm>
        <a:graphic>
          <a:graphicData uri="http://schemas.openxmlformats.org/drawingml/2006/table">
            <a:tbl>
              <a:tblPr firstRow="1" bandRow="1"/>
              <a:tblGrid>
                <a:gridCol w="2097158">
                  <a:extLst>
                    <a:ext uri="{9D8B030D-6E8A-4147-A177-3AD203B41FA5}">
                      <a16:colId xmlns:a16="http://schemas.microsoft.com/office/drawing/2014/main" val="3424169312"/>
                    </a:ext>
                  </a:extLst>
                </a:gridCol>
                <a:gridCol w="2539503">
                  <a:extLst>
                    <a:ext uri="{9D8B030D-6E8A-4147-A177-3AD203B41FA5}">
                      <a16:colId xmlns:a16="http://schemas.microsoft.com/office/drawing/2014/main" val="2266090252"/>
                    </a:ext>
                  </a:extLst>
                </a:gridCol>
                <a:gridCol w="2708015">
                  <a:extLst>
                    <a:ext uri="{9D8B030D-6E8A-4147-A177-3AD203B41FA5}">
                      <a16:colId xmlns:a16="http://schemas.microsoft.com/office/drawing/2014/main" val="1201353103"/>
                    </a:ext>
                  </a:extLst>
                </a:gridCol>
                <a:gridCol w="2939722">
                  <a:extLst>
                    <a:ext uri="{9D8B030D-6E8A-4147-A177-3AD203B41FA5}">
                      <a16:colId xmlns:a16="http://schemas.microsoft.com/office/drawing/2014/main" val="1052241083"/>
                    </a:ext>
                  </a:extLst>
                </a:gridCol>
              </a:tblGrid>
              <a:tr h="448295">
                <a:tc>
                  <a:txBody>
                    <a:bodyPr/>
                    <a:lstStyle/>
                    <a:p>
                      <a:pPr algn="l" fontAlgn="b">
                        <a:buNone/>
                      </a:pPr>
                      <a:r>
                        <a:rPr lang="en-US" sz="2200" b="0" i="0" u="none" strike="noStrike">
                          <a:solidFill>
                            <a:srgbClr val="000000"/>
                          </a:solidFill>
                          <a:effectLst/>
                          <a:latin typeface="Aptos Narrow" panose="020B0004020202020204" pitchFamily="34" charset="0"/>
                        </a:rPr>
                        <a:t>Species</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2200" b="0" i="0" u="none" strike="noStrike">
                          <a:solidFill>
                            <a:srgbClr val="000000"/>
                          </a:solidFill>
                          <a:effectLst/>
                          <a:latin typeface="Aptos Narrow" panose="020B0004020202020204" pitchFamily="34" charset="0"/>
                        </a:rPr>
                        <a:t>Mass</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2200" b="0" i="0" u="none" strike="noStrike">
                          <a:solidFill>
                            <a:srgbClr val="000000"/>
                          </a:solidFill>
                          <a:effectLst/>
                          <a:latin typeface="Aptos Narrow" panose="020B0004020202020204" pitchFamily="34" charset="0"/>
                        </a:rPr>
                        <a:t>Mol. Mass</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US" sz="2200" b="0" i="0" u="none" strike="noStrike">
                          <a:solidFill>
                            <a:srgbClr val="000000"/>
                          </a:solidFill>
                          <a:effectLst/>
                          <a:latin typeface="Aptos Narrow" panose="020B0004020202020204" pitchFamily="34" charset="0"/>
                        </a:rPr>
                        <a:t>Moles</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4587"/>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Pig Iron:</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731.9358096</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15.1194157</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15.1194157</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121763257"/>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Lime:</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1.056078811</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56.077</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0.018832655</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687227997"/>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Cr:</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180.7583249</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51.996</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3.476389048</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997497479"/>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Ni:</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112.8853595</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58.693</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1.923318956</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068480945"/>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Mo:</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20.69439233</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95.95</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buNone/>
                      </a:pPr>
                      <a:r>
                        <a:rPr lang="en-US" sz="2200" b="0" i="0" u="none" strike="noStrike">
                          <a:solidFill>
                            <a:srgbClr val="000000"/>
                          </a:solidFill>
                          <a:effectLst/>
                          <a:latin typeface="Aptos Narrow" panose="020B0004020202020204" pitchFamily="34" charset="0"/>
                        </a:rPr>
                        <a:t>0.21567892</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295781090"/>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O2:</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en-US" sz="2200" b="0" i="0" u="none" strike="noStrike">
                          <a:solidFill>
                            <a:srgbClr val="000000"/>
                          </a:solidFill>
                          <a:effectLst/>
                          <a:latin typeface="Aptos Narrow" panose="020B0004020202020204" pitchFamily="34" charset="0"/>
                        </a:rPr>
                        <a:t>56.61296979</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en-US" sz="2200" b="0" i="0" u="none" strike="noStrike">
                          <a:solidFill>
                            <a:srgbClr val="000000"/>
                          </a:solidFill>
                          <a:effectLst/>
                          <a:latin typeface="Aptos Narrow" panose="020B0004020202020204" pitchFamily="34" charset="0"/>
                        </a:rPr>
                        <a:t>31.998</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1.769265885</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4228878"/>
                  </a:ext>
                </a:extLst>
              </a:tr>
              <a:tr h="448295">
                <a:tc>
                  <a:txBody>
                    <a:bodyPr/>
                    <a:lstStyle/>
                    <a:p>
                      <a:pPr algn="l" fontAlgn="b">
                        <a:buNone/>
                      </a:pPr>
                      <a:r>
                        <a:rPr lang="en-US" sz="2200" b="0" i="0" u="none" strike="noStrike">
                          <a:solidFill>
                            <a:srgbClr val="000000"/>
                          </a:solidFill>
                          <a:effectLst/>
                          <a:latin typeface="Aptos Narrow" panose="020B0004020202020204" pitchFamily="34" charset="0"/>
                        </a:rPr>
                        <a:t>Total:</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US" sz="2200" b="0" i="0" u="none" strike="noStrike">
                          <a:solidFill>
                            <a:srgbClr val="000000"/>
                          </a:solidFill>
                          <a:effectLst/>
                          <a:latin typeface="Aptos Narrow" panose="020B0004020202020204" pitchFamily="34" charset="0"/>
                        </a:rPr>
                        <a:t>1103.942935</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US" sz="2200" b="0" i="0" u="none" strike="noStrike">
                          <a:solidFill>
                            <a:srgbClr val="000000"/>
                          </a:solidFill>
                          <a:effectLst/>
                          <a:latin typeface="Aptos Narrow" panose="020B0004020202020204" pitchFamily="34" charset="0"/>
                        </a:rPr>
                        <a:t>49.01424231</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buNone/>
                      </a:pPr>
                      <a:r>
                        <a:rPr lang="en-US" sz="2200" b="0" i="0" u="none" strike="noStrike">
                          <a:solidFill>
                            <a:srgbClr val="000000"/>
                          </a:solidFill>
                          <a:effectLst/>
                          <a:latin typeface="Aptos Narrow" panose="020B0004020202020204" pitchFamily="34" charset="0"/>
                        </a:rPr>
                        <a:t>22.52290116</a:t>
                      </a:r>
                    </a:p>
                  </a:txBody>
                  <a:tcPr marL="5909" marR="5909" marT="5909" marB="56716"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4503407"/>
                  </a:ext>
                </a:extLst>
              </a:tr>
            </a:tbl>
          </a:graphicData>
        </a:graphic>
      </p:graphicFrame>
    </p:spTree>
    <p:extLst>
      <p:ext uri="{BB962C8B-B14F-4D97-AF65-F5344CB8AC3E}">
        <p14:creationId xmlns:p14="http://schemas.microsoft.com/office/powerpoint/2010/main" val="32554132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78AD03-0DC2-46DB-66F4-5600E5615648}"/>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E68E94-3BCC-591C-3C6A-BB901620DFAF}"/>
              </a:ext>
            </a:extLst>
          </p:cNvPr>
          <p:cNvSpPr>
            <a:spLocks noGrp="1"/>
          </p:cNvSpPr>
          <p:nvPr>
            <p:ph type="title"/>
          </p:nvPr>
        </p:nvSpPr>
        <p:spPr>
          <a:xfrm>
            <a:off x="433705" y="627368"/>
            <a:ext cx="9219418" cy="664720"/>
          </a:xfrm>
        </p:spPr>
        <p:txBody>
          <a:bodyPr vert="horz" lIns="91440" tIns="45720" rIns="91440" bIns="45720" rtlCol="0" anchor="b">
            <a:noAutofit/>
          </a:bodyPr>
          <a:lstStyle/>
          <a:p>
            <a:r>
              <a:rPr lang="en-US" sz="4000" kern="1200">
                <a:solidFill>
                  <a:schemeClr val="tx1"/>
                </a:solidFill>
                <a:latin typeface="+mj-lt"/>
                <a:ea typeface="+mj-ea"/>
                <a:cs typeface="+mj-cs"/>
              </a:rPr>
              <a:t>Process Economy Calculations</a:t>
            </a:r>
          </a:p>
        </p:txBody>
      </p:sp>
      <p:sp>
        <p:nvSpPr>
          <p:cNvPr id="40"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33705" y="1438653"/>
            <a:ext cx="9144000" cy="18288"/>
          </a:xfrm>
          <a:custGeom>
            <a:avLst/>
            <a:gdLst>
              <a:gd name="csX0" fmla="*/ 0 w 9144000"/>
              <a:gd name="csY0" fmla="*/ 0 h 18288"/>
              <a:gd name="csX1" fmla="*/ 378823 w 9144000"/>
              <a:gd name="csY1" fmla="*/ 0 h 18288"/>
              <a:gd name="csX2" fmla="*/ 940526 w 9144000"/>
              <a:gd name="csY2" fmla="*/ 0 h 18288"/>
              <a:gd name="csX3" fmla="*/ 1319349 w 9144000"/>
              <a:gd name="csY3" fmla="*/ 0 h 18288"/>
              <a:gd name="csX4" fmla="*/ 1972491 w 9144000"/>
              <a:gd name="csY4" fmla="*/ 0 h 18288"/>
              <a:gd name="csX5" fmla="*/ 2534194 w 9144000"/>
              <a:gd name="csY5" fmla="*/ 0 h 18288"/>
              <a:gd name="csX6" fmla="*/ 3278777 w 9144000"/>
              <a:gd name="csY6" fmla="*/ 0 h 18288"/>
              <a:gd name="csX7" fmla="*/ 4114800 w 9144000"/>
              <a:gd name="csY7" fmla="*/ 0 h 18288"/>
              <a:gd name="csX8" fmla="*/ 4767943 w 9144000"/>
              <a:gd name="csY8" fmla="*/ 0 h 18288"/>
              <a:gd name="csX9" fmla="*/ 5603966 w 9144000"/>
              <a:gd name="csY9" fmla="*/ 0 h 18288"/>
              <a:gd name="csX10" fmla="*/ 6257109 w 9144000"/>
              <a:gd name="csY10" fmla="*/ 0 h 18288"/>
              <a:gd name="csX11" fmla="*/ 6635931 w 9144000"/>
              <a:gd name="csY11" fmla="*/ 0 h 18288"/>
              <a:gd name="csX12" fmla="*/ 7106194 w 9144000"/>
              <a:gd name="csY12" fmla="*/ 0 h 18288"/>
              <a:gd name="csX13" fmla="*/ 7942217 w 9144000"/>
              <a:gd name="csY13" fmla="*/ 0 h 18288"/>
              <a:gd name="csX14" fmla="*/ 9144000 w 9144000"/>
              <a:gd name="csY14" fmla="*/ 0 h 18288"/>
              <a:gd name="csX15" fmla="*/ 9144000 w 9144000"/>
              <a:gd name="csY15" fmla="*/ 18288 h 18288"/>
              <a:gd name="csX16" fmla="*/ 8490857 w 9144000"/>
              <a:gd name="csY16" fmla="*/ 18288 h 18288"/>
              <a:gd name="csX17" fmla="*/ 7837714 w 9144000"/>
              <a:gd name="csY17" fmla="*/ 18288 h 18288"/>
              <a:gd name="csX18" fmla="*/ 7276011 w 9144000"/>
              <a:gd name="csY18" fmla="*/ 18288 h 18288"/>
              <a:gd name="csX19" fmla="*/ 6805749 w 9144000"/>
              <a:gd name="csY19" fmla="*/ 18288 h 18288"/>
              <a:gd name="csX20" fmla="*/ 5969726 w 9144000"/>
              <a:gd name="csY20" fmla="*/ 18288 h 18288"/>
              <a:gd name="csX21" fmla="*/ 5316583 w 9144000"/>
              <a:gd name="csY21" fmla="*/ 18288 h 18288"/>
              <a:gd name="csX22" fmla="*/ 4572000 w 9144000"/>
              <a:gd name="csY22" fmla="*/ 18288 h 18288"/>
              <a:gd name="csX23" fmla="*/ 4193177 w 9144000"/>
              <a:gd name="csY23" fmla="*/ 18288 h 18288"/>
              <a:gd name="csX24" fmla="*/ 3722914 w 9144000"/>
              <a:gd name="csY24" fmla="*/ 18288 h 18288"/>
              <a:gd name="csX25" fmla="*/ 3069771 w 9144000"/>
              <a:gd name="csY25" fmla="*/ 18288 h 18288"/>
              <a:gd name="csX26" fmla="*/ 2325189 w 9144000"/>
              <a:gd name="csY26" fmla="*/ 18288 h 18288"/>
              <a:gd name="csX27" fmla="*/ 1946366 w 9144000"/>
              <a:gd name="csY27" fmla="*/ 18288 h 18288"/>
              <a:gd name="csX28" fmla="*/ 1567543 w 9144000"/>
              <a:gd name="csY28" fmla="*/ 18288 h 18288"/>
              <a:gd name="csX29" fmla="*/ 914400 w 9144000"/>
              <a:gd name="csY29" fmla="*/ 18288 h 18288"/>
              <a:gd name="csX30" fmla="*/ 0 w 9144000"/>
              <a:gd name="csY30" fmla="*/ 18288 h 18288"/>
              <a:gd name="csX31" fmla="*/ 0 w 9144000"/>
              <a:gd name="csY3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144000" h="18288" fill="none" extrusionOk="0">
                <a:moveTo>
                  <a:pt x="0" y="0"/>
                </a:moveTo>
                <a:cubicBezTo>
                  <a:pt x="90253" y="-11100"/>
                  <a:pt x="232695" y="-7457"/>
                  <a:pt x="378823" y="0"/>
                </a:cubicBezTo>
                <a:cubicBezTo>
                  <a:pt x="524951" y="7457"/>
                  <a:pt x="690314" y="16986"/>
                  <a:pt x="940526" y="0"/>
                </a:cubicBezTo>
                <a:cubicBezTo>
                  <a:pt x="1190738" y="-16986"/>
                  <a:pt x="1237693" y="-6938"/>
                  <a:pt x="1319349" y="0"/>
                </a:cubicBezTo>
                <a:cubicBezTo>
                  <a:pt x="1401005" y="6938"/>
                  <a:pt x="1778211" y="31607"/>
                  <a:pt x="1972491" y="0"/>
                </a:cubicBezTo>
                <a:cubicBezTo>
                  <a:pt x="2166771" y="-31607"/>
                  <a:pt x="2410298" y="19037"/>
                  <a:pt x="2534194" y="0"/>
                </a:cubicBezTo>
                <a:cubicBezTo>
                  <a:pt x="2658090" y="-19037"/>
                  <a:pt x="3029431" y="6885"/>
                  <a:pt x="3278777" y="0"/>
                </a:cubicBezTo>
                <a:cubicBezTo>
                  <a:pt x="3528123" y="-6885"/>
                  <a:pt x="3790025" y="-258"/>
                  <a:pt x="4114800" y="0"/>
                </a:cubicBezTo>
                <a:cubicBezTo>
                  <a:pt x="4439575" y="258"/>
                  <a:pt x="4484460" y="26716"/>
                  <a:pt x="4767943" y="0"/>
                </a:cubicBezTo>
                <a:cubicBezTo>
                  <a:pt x="5051426" y="-26716"/>
                  <a:pt x="5244070" y="-29404"/>
                  <a:pt x="5603966" y="0"/>
                </a:cubicBezTo>
                <a:cubicBezTo>
                  <a:pt x="5963862" y="29404"/>
                  <a:pt x="6009570" y="30793"/>
                  <a:pt x="6257109" y="0"/>
                </a:cubicBezTo>
                <a:cubicBezTo>
                  <a:pt x="6504648" y="-30793"/>
                  <a:pt x="6547496" y="10458"/>
                  <a:pt x="6635931" y="0"/>
                </a:cubicBezTo>
                <a:cubicBezTo>
                  <a:pt x="6724366" y="-10458"/>
                  <a:pt x="6875642" y="19923"/>
                  <a:pt x="7106194" y="0"/>
                </a:cubicBezTo>
                <a:cubicBezTo>
                  <a:pt x="7336746" y="-19923"/>
                  <a:pt x="7643176" y="-11048"/>
                  <a:pt x="7942217" y="0"/>
                </a:cubicBezTo>
                <a:cubicBezTo>
                  <a:pt x="8241258" y="11048"/>
                  <a:pt x="8873927" y="-46333"/>
                  <a:pt x="9144000" y="0"/>
                </a:cubicBezTo>
                <a:cubicBezTo>
                  <a:pt x="9143315" y="4437"/>
                  <a:pt x="9144530" y="10717"/>
                  <a:pt x="9144000" y="18288"/>
                </a:cubicBezTo>
                <a:cubicBezTo>
                  <a:pt x="8991214" y="5474"/>
                  <a:pt x="8701221" y="-7135"/>
                  <a:pt x="8490857" y="18288"/>
                </a:cubicBezTo>
                <a:cubicBezTo>
                  <a:pt x="8280493" y="43711"/>
                  <a:pt x="8112431" y="-3822"/>
                  <a:pt x="7837714" y="18288"/>
                </a:cubicBezTo>
                <a:cubicBezTo>
                  <a:pt x="7562997" y="40398"/>
                  <a:pt x="7419893" y="-767"/>
                  <a:pt x="7276011" y="18288"/>
                </a:cubicBezTo>
                <a:cubicBezTo>
                  <a:pt x="7132129" y="37343"/>
                  <a:pt x="7003239" y="29929"/>
                  <a:pt x="6805749" y="18288"/>
                </a:cubicBezTo>
                <a:cubicBezTo>
                  <a:pt x="6608259" y="6647"/>
                  <a:pt x="6368428" y="11349"/>
                  <a:pt x="5969726" y="18288"/>
                </a:cubicBezTo>
                <a:cubicBezTo>
                  <a:pt x="5571024" y="25227"/>
                  <a:pt x="5641085" y="-6232"/>
                  <a:pt x="5316583" y="18288"/>
                </a:cubicBezTo>
                <a:cubicBezTo>
                  <a:pt x="4992081" y="42808"/>
                  <a:pt x="4805413" y="-5258"/>
                  <a:pt x="4572000" y="18288"/>
                </a:cubicBezTo>
                <a:cubicBezTo>
                  <a:pt x="4338587" y="41834"/>
                  <a:pt x="4369436" y="10973"/>
                  <a:pt x="4193177" y="18288"/>
                </a:cubicBezTo>
                <a:cubicBezTo>
                  <a:pt x="4016918" y="25603"/>
                  <a:pt x="3908821" y="25198"/>
                  <a:pt x="3722914" y="18288"/>
                </a:cubicBezTo>
                <a:cubicBezTo>
                  <a:pt x="3537007" y="11378"/>
                  <a:pt x="3345564" y="3149"/>
                  <a:pt x="3069771" y="18288"/>
                </a:cubicBezTo>
                <a:cubicBezTo>
                  <a:pt x="2793978" y="33427"/>
                  <a:pt x="2622774" y="24656"/>
                  <a:pt x="2325189" y="18288"/>
                </a:cubicBezTo>
                <a:cubicBezTo>
                  <a:pt x="2027604" y="11920"/>
                  <a:pt x="2065796" y="32546"/>
                  <a:pt x="1946366" y="18288"/>
                </a:cubicBezTo>
                <a:cubicBezTo>
                  <a:pt x="1826936" y="4030"/>
                  <a:pt x="1717480" y="13280"/>
                  <a:pt x="1567543" y="18288"/>
                </a:cubicBezTo>
                <a:cubicBezTo>
                  <a:pt x="1417606" y="23296"/>
                  <a:pt x="1224617" y="17619"/>
                  <a:pt x="914400" y="18288"/>
                </a:cubicBezTo>
                <a:cubicBezTo>
                  <a:pt x="604183" y="18957"/>
                  <a:pt x="411871" y="-18673"/>
                  <a:pt x="0" y="18288"/>
                </a:cubicBezTo>
                <a:cubicBezTo>
                  <a:pt x="-540" y="12521"/>
                  <a:pt x="894" y="7749"/>
                  <a:pt x="0" y="0"/>
                </a:cubicBezTo>
                <a:close/>
              </a:path>
              <a:path w="9144000" h="18288" stroke="0" extrusionOk="0">
                <a:moveTo>
                  <a:pt x="0" y="0"/>
                </a:moveTo>
                <a:cubicBezTo>
                  <a:pt x="227645" y="-8999"/>
                  <a:pt x="267223" y="9893"/>
                  <a:pt x="470263" y="0"/>
                </a:cubicBezTo>
                <a:cubicBezTo>
                  <a:pt x="673303" y="-9893"/>
                  <a:pt x="734827" y="-5077"/>
                  <a:pt x="849086" y="0"/>
                </a:cubicBezTo>
                <a:cubicBezTo>
                  <a:pt x="963345" y="5077"/>
                  <a:pt x="1210088" y="20036"/>
                  <a:pt x="1319349" y="0"/>
                </a:cubicBezTo>
                <a:cubicBezTo>
                  <a:pt x="1428610" y="-20036"/>
                  <a:pt x="1717102" y="-12551"/>
                  <a:pt x="1972491" y="0"/>
                </a:cubicBezTo>
                <a:cubicBezTo>
                  <a:pt x="2227880" y="12551"/>
                  <a:pt x="2427749" y="-6912"/>
                  <a:pt x="2717074" y="0"/>
                </a:cubicBezTo>
                <a:cubicBezTo>
                  <a:pt x="3006399" y="6912"/>
                  <a:pt x="3188456" y="30467"/>
                  <a:pt x="3553097" y="0"/>
                </a:cubicBezTo>
                <a:cubicBezTo>
                  <a:pt x="3917738" y="-30467"/>
                  <a:pt x="3978617" y="34086"/>
                  <a:pt x="4389120" y="0"/>
                </a:cubicBezTo>
                <a:cubicBezTo>
                  <a:pt x="4799623" y="-34086"/>
                  <a:pt x="4832654" y="7874"/>
                  <a:pt x="4950823" y="0"/>
                </a:cubicBezTo>
                <a:cubicBezTo>
                  <a:pt x="5068992" y="-7874"/>
                  <a:pt x="5434166" y="35281"/>
                  <a:pt x="5695406" y="0"/>
                </a:cubicBezTo>
                <a:cubicBezTo>
                  <a:pt x="5956646" y="-35281"/>
                  <a:pt x="6146279" y="2203"/>
                  <a:pt x="6348549" y="0"/>
                </a:cubicBezTo>
                <a:cubicBezTo>
                  <a:pt x="6550819" y="-2203"/>
                  <a:pt x="6730697" y="-24506"/>
                  <a:pt x="6910251" y="0"/>
                </a:cubicBezTo>
                <a:cubicBezTo>
                  <a:pt x="7089805" y="24506"/>
                  <a:pt x="7485056" y="-11810"/>
                  <a:pt x="7654834" y="0"/>
                </a:cubicBezTo>
                <a:cubicBezTo>
                  <a:pt x="7824612" y="11810"/>
                  <a:pt x="7912249" y="2758"/>
                  <a:pt x="8033657" y="0"/>
                </a:cubicBezTo>
                <a:cubicBezTo>
                  <a:pt x="8155065" y="-2758"/>
                  <a:pt x="8907191" y="46100"/>
                  <a:pt x="9144000" y="0"/>
                </a:cubicBezTo>
                <a:cubicBezTo>
                  <a:pt x="9144095" y="8251"/>
                  <a:pt x="9143874" y="12333"/>
                  <a:pt x="9144000" y="18288"/>
                </a:cubicBezTo>
                <a:cubicBezTo>
                  <a:pt x="9010533" y="35541"/>
                  <a:pt x="8627499" y="581"/>
                  <a:pt x="8490857" y="18288"/>
                </a:cubicBezTo>
                <a:cubicBezTo>
                  <a:pt x="8354215" y="35995"/>
                  <a:pt x="8235076" y="20508"/>
                  <a:pt x="8020594" y="18288"/>
                </a:cubicBezTo>
                <a:cubicBezTo>
                  <a:pt x="7806112" y="16068"/>
                  <a:pt x="7532967" y="4229"/>
                  <a:pt x="7276011" y="18288"/>
                </a:cubicBezTo>
                <a:cubicBezTo>
                  <a:pt x="7019055" y="32347"/>
                  <a:pt x="7012064" y="32783"/>
                  <a:pt x="6897189" y="18288"/>
                </a:cubicBezTo>
                <a:cubicBezTo>
                  <a:pt x="6782314" y="3793"/>
                  <a:pt x="6532387" y="7962"/>
                  <a:pt x="6244046" y="18288"/>
                </a:cubicBezTo>
                <a:cubicBezTo>
                  <a:pt x="5955705" y="28614"/>
                  <a:pt x="5907215" y="1113"/>
                  <a:pt x="5773783" y="18288"/>
                </a:cubicBezTo>
                <a:cubicBezTo>
                  <a:pt x="5640351" y="35463"/>
                  <a:pt x="5132797" y="-19329"/>
                  <a:pt x="4937760" y="18288"/>
                </a:cubicBezTo>
                <a:cubicBezTo>
                  <a:pt x="4742723" y="55905"/>
                  <a:pt x="4735773" y="4882"/>
                  <a:pt x="4558937" y="18288"/>
                </a:cubicBezTo>
                <a:cubicBezTo>
                  <a:pt x="4382101" y="31694"/>
                  <a:pt x="4192784" y="-7142"/>
                  <a:pt x="3905794" y="18288"/>
                </a:cubicBezTo>
                <a:cubicBezTo>
                  <a:pt x="3618804" y="43718"/>
                  <a:pt x="3676131" y="6615"/>
                  <a:pt x="3526971" y="18288"/>
                </a:cubicBezTo>
                <a:cubicBezTo>
                  <a:pt x="3377811" y="29961"/>
                  <a:pt x="3216692" y="6338"/>
                  <a:pt x="3056709" y="18288"/>
                </a:cubicBezTo>
                <a:cubicBezTo>
                  <a:pt x="2896726" y="30238"/>
                  <a:pt x="2682964" y="49297"/>
                  <a:pt x="2312126" y="18288"/>
                </a:cubicBezTo>
                <a:cubicBezTo>
                  <a:pt x="1941288" y="-12721"/>
                  <a:pt x="1821446" y="40608"/>
                  <a:pt x="1476103" y="18288"/>
                </a:cubicBezTo>
                <a:cubicBezTo>
                  <a:pt x="1130760" y="-4032"/>
                  <a:pt x="1230791" y="-134"/>
                  <a:pt x="1005840" y="18288"/>
                </a:cubicBezTo>
                <a:cubicBezTo>
                  <a:pt x="780889" y="36710"/>
                  <a:pt x="334790" y="-28768"/>
                  <a:pt x="0" y="18288"/>
                </a:cubicBezTo>
                <a:cubicBezTo>
                  <a:pt x="641" y="14236"/>
                  <a:pt x="889" y="755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9AFD289-0BFB-55D5-448B-8BECFFDA3C78}"/>
              </a:ext>
            </a:extLst>
          </p:cNvPr>
          <p:cNvSpPr txBox="1"/>
          <p:nvPr/>
        </p:nvSpPr>
        <p:spPr>
          <a:xfrm>
            <a:off x="433705" y="6153655"/>
            <a:ext cx="40012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156082"/>
                </a:solidFill>
              </a:rPr>
              <a:t>Profit (yearly): $38,665.89</a:t>
            </a:r>
          </a:p>
        </p:txBody>
      </p:sp>
      <p:graphicFrame>
        <p:nvGraphicFramePr>
          <p:cNvPr id="4" name="Table 3">
            <a:extLst>
              <a:ext uri="{FF2B5EF4-FFF2-40B4-BE49-F238E27FC236}">
                <a16:creationId xmlns:a16="http://schemas.microsoft.com/office/drawing/2014/main" id="{CDF9907A-290D-60CE-98A7-296E7982CCC6}"/>
              </a:ext>
            </a:extLst>
          </p:cNvPr>
          <p:cNvGraphicFramePr>
            <a:graphicFrameLocks noGrp="1"/>
          </p:cNvGraphicFramePr>
          <p:nvPr>
            <p:extLst>
              <p:ext uri="{D42A27DB-BD31-4B8C-83A1-F6EECF244321}">
                <p14:modId xmlns:p14="http://schemas.microsoft.com/office/powerpoint/2010/main" val="2393124315"/>
              </p:ext>
            </p:extLst>
          </p:nvPr>
        </p:nvGraphicFramePr>
        <p:xfrm>
          <a:off x="420453" y="1789043"/>
          <a:ext cx="11020357" cy="4364616"/>
        </p:xfrm>
        <a:graphic>
          <a:graphicData uri="http://schemas.openxmlformats.org/drawingml/2006/table">
            <a:tbl>
              <a:tblPr/>
              <a:tblGrid>
                <a:gridCol w="1069361">
                  <a:extLst>
                    <a:ext uri="{9D8B030D-6E8A-4147-A177-3AD203B41FA5}">
                      <a16:colId xmlns:a16="http://schemas.microsoft.com/office/drawing/2014/main" val="4269528637"/>
                    </a:ext>
                  </a:extLst>
                </a:gridCol>
                <a:gridCol w="1267391">
                  <a:extLst>
                    <a:ext uri="{9D8B030D-6E8A-4147-A177-3AD203B41FA5}">
                      <a16:colId xmlns:a16="http://schemas.microsoft.com/office/drawing/2014/main" val="746127409"/>
                    </a:ext>
                  </a:extLst>
                </a:gridCol>
                <a:gridCol w="1232736">
                  <a:extLst>
                    <a:ext uri="{9D8B030D-6E8A-4147-A177-3AD203B41FA5}">
                      <a16:colId xmlns:a16="http://schemas.microsoft.com/office/drawing/2014/main" val="2925166250"/>
                    </a:ext>
                  </a:extLst>
                </a:gridCol>
                <a:gridCol w="1683253">
                  <a:extLst>
                    <a:ext uri="{9D8B030D-6E8A-4147-A177-3AD203B41FA5}">
                      <a16:colId xmlns:a16="http://schemas.microsoft.com/office/drawing/2014/main" val="4070281391"/>
                    </a:ext>
                  </a:extLst>
                </a:gridCol>
                <a:gridCol w="1326799">
                  <a:extLst>
                    <a:ext uri="{9D8B030D-6E8A-4147-A177-3AD203B41FA5}">
                      <a16:colId xmlns:a16="http://schemas.microsoft.com/office/drawing/2014/main" val="426679305"/>
                    </a:ext>
                  </a:extLst>
                </a:gridCol>
                <a:gridCol w="1366406">
                  <a:extLst>
                    <a:ext uri="{9D8B030D-6E8A-4147-A177-3AD203B41FA5}">
                      <a16:colId xmlns:a16="http://schemas.microsoft.com/office/drawing/2014/main" val="1024971737"/>
                    </a:ext>
                  </a:extLst>
                </a:gridCol>
                <a:gridCol w="1247587">
                  <a:extLst>
                    <a:ext uri="{9D8B030D-6E8A-4147-A177-3AD203B41FA5}">
                      <a16:colId xmlns:a16="http://schemas.microsoft.com/office/drawing/2014/main" val="418152819"/>
                    </a:ext>
                  </a:extLst>
                </a:gridCol>
                <a:gridCol w="1826824">
                  <a:extLst>
                    <a:ext uri="{9D8B030D-6E8A-4147-A177-3AD203B41FA5}">
                      <a16:colId xmlns:a16="http://schemas.microsoft.com/office/drawing/2014/main" val="2485258075"/>
                    </a:ext>
                  </a:extLst>
                </a:gridCol>
              </a:tblGrid>
              <a:tr h="363718">
                <a:tc>
                  <a:txBody>
                    <a:bodyPr/>
                    <a:lstStyle/>
                    <a:p>
                      <a:pPr algn="l" fontAlgn="b"/>
                      <a:r>
                        <a:rPr lang="en-US" sz="1800" b="0" i="0" u="none" strike="noStrike">
                          <a:solidFill>
                            <a:srgbClr val="000000"/>
                          </a:solidFill>
                          <a:effectLst/>
                          <a:latin typeface="Aptos Narrow" panose="020B0004020202020204" pitchFamily="34" charset="0"/>
                        </a:rPr>
                        <a:t>Species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Price (USD)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Per Unit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Per Unit (g)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Mass Req</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Cost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Upscaled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err="1">
                          <a:solidFill>
                            <a:srgbClr val="000000"/>
                          </a:solidFill>
                          <a:effectLst/>
                          <a:latin typeface="Aptos Narrow" panose="020B0004020202020204" pitchFamily="34" charset="0"/>
                        </a:rPr>
                        <a:t>Upsc</a:t>
                      </a:r>
                      <a:r>
                        <a:rPr lang="en-US" sz="1800" b="0" i="0" u="none" strike="noStrike">
                          <a:solidFill>
                            <a:srgbClr val="000000"/>
                          </a:solidFill>
                          <a:effectLst/>
                          <a:latin typeface="Aptos Narrow" panose="020B0004020202020204" pitchFamily="34" charset="0"/>
                        </a:rPr>
                        <a:t>./year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6299957"/>
                  </a:ext>
                </a:extLst>
              </a:tr>
              <a:tr h="363718">
                <a:tc>
                  <a:txBody>
                    <a:bodyPr/>
                    <a:lstStyle/>
                    <a:p>
                      <a:pPr algn="l" fontAlgn="b"/>
                      <a:r>
                        <a:rPr lang="en-US" sz="1800" b="0" i="0" u="none" strike="noStrike">
                          <a:solidFill>
                            <a:srgbClr val="000000"/>
                          </a:solidFill>
                          <a:effectLst/>
                          <a:latin typeface="Aptos Narrow" panose="020B0004020202020204" pitchFamily="34" charset="0"/>
                        </a:rPr>
                        <a:t>Pig Iron: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$300.00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ton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$0.0003000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731.93581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$0.22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$219.58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$80,146.97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244566655"/>
                  </a:ext>
                </a:extLst>
              </a:tr>
              <a:tr h="363718">
                <a:tc>
                  <a:txBody>
                    <a:bodyPr/>
                    <a:lstStyle/>
                    <a:p>
                      <a:pPr algn="l" fontAlgn="b"/>
                      <a:r>
                        <a:rPr lang="en-US" sz="1800" b="0" i="0" u="none" strike="noStrike">
                          <a:solidFill>
                            <a:srgbClr val="000000"/>
                          </a:solidFill>
                          <a:effectLst/>
                          <a:latin typeface="Aptos Narrow" panose="020B0004020202020204" pitchFamily="34" charset="0"/>
                        </a:rPr>
                        <a:t>Lime: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ton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$0.0000200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1.05607881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$7.71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75506459"/>
                  </a:ext>
                </a:extLst>
              </a:tr>
              <a:tr h="363718">
                <a:tc>
                  <a:txBody>
                    <a:bodyPr/>
                    <a:lstStyle/>
                    <a:p>
                      <a:pPr algn="l" fontAlgn="b"/>
                      <a:r>
                        <a:rPr lang="en-US" sz="1800" b="0" i="0" u="none" strike="noStrike">
                          <a:solidFill>
                            <a:srgbClr val="000000"/>
                          </a:solidFill>
                          <a:effectLst/>
                          <a:latin typeface="Aptos Narrow" panose="020B0004020202020204" pitchFamily="34" charset="0"/>
                        </a:rPr>
                        <a:t>Cr: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kg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$0.0100000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180.758325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$1.81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$1,807.58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$659,767.89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001704088"/>
                  </a:ext>
                </a:extLst>
              </a:tr>
              <a:tr h="363718">
                <a:tc>
                  <a:txBody>
                    <a:bodyPr/>
                    <a:lstStyle/>
                    <a:p>
                      <a:pPr algn="l" fontAlgn="b"/>
                      <a:r>
                        <a:rPr lang="en-US" sz="1800" b="0" i="0" u="none" strike="noStrike">
                          <a:solidFill>
                            <a:srgbClr val="000000"/>
                          </a:solidFill>
                          <a:effectLst/>
                          <a:latin typeface="Aptos Narrow" panose="020B0004020202020204" pitchFamily="34" charset="0"/>
                        </a:rPr>
                        <a:t>Ni:</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kg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$0.0200000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112.885359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$2.26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$2,257.71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$824,063.12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51072350"/>
                  </a:ext>
                </a:extLst>
              </a:tr>
              <a:tr h="363718">
                <a:tc>
                  <a:txBody>
                    <a:bodyPr/>
                    <a:lstStyle/>
                    <a:p>
                      <a:pPr algn="l" fontAlgn="b"/>
                      <a:r>
                        <a:rPr lang="en-US" sz="1800" b="0" i="0" u="none" strike="noStrike">
                          <a:solidFill>
                            <a:srgbClr val="000000"/>
                          </a:solidFill>
                          <a:effectLst/>
                          <a:latin typeface="Aptos Narrow" panose="020B0004020202020204" pitchFamily="34" charset="0"/>
                        </a:rPr>
                        <a:t>Mo:</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$78.00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kg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$0.0780000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20.6943923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$1.61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$1,614.16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$589,169.35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086718121"/>
                  </a:ext>
                </a:extLst>
              </a:tr>
              <a:tr h="363718">
                <a:tc>
                  <a:txBody>
                    <a:bodyPr/>
                    <a:lstStyle/>
                    <a:p>
                      <a:pPr algn="l" fontAlgn="b"/>
                      <a:r>
                        <a:rPr lang="en-US" sz="1800" b="0" i="0" u="none" strike="noStrike">
                          <a:solidFill>
                            <a:srgbClr val="000000"/>
                          </a:solidFill>
                          <a:effectLst/>
                          <a:latin typeface="Aptos Narrow" panose="020B0004020202020204" pitchFamily="34" charset="0"/>
                        </a:rPr>
                        <a:t>O2: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56.6129698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446033050"/>
                  </a:ext>
                </a:extLst>
              </a:tr>
              <a:tr h="363718">
                <a:tc>
                  <a:txBody>
                    <a:bodyPr/>
                    <a:lstStyle/>
                    <a:p>
                      <a:pPr algn="l" fontAlgn="b"/>
                      <a:r>
                        <a:rPr lang="en-US" sz="1800" b="0" i="0" u="none" strike="noStrike">
                          <a:solidFill>
                            <a:srgbClr val="000000"/>
                          </a:solidFill>
                          <a:effectLst/>
                          <a:latin typeface="Aptos Narrow" panose="020B0004020202020204" pitchFamily="34" charset="0"/>
                        </a:rPr>
                        <a:t>Totals: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$0.1083200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$5.90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$5,899.05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$2,153,155.04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521779"/>
                  </a:ext>
                </a:extLst>
              </a:tr>
              <a:tr h="363718">
                <a:tc>
                  <a:txBody>
                    <a:bodyPr/>
                    <a:lstStyle/>
                    <a:p>
                      <a:pPr algn="l" fontAlgn="b"/>
                      <a:r>
                        <a:rPr lang="en-US" sz="1800" b="0" i="0" u="none" strike="noStrike">
                          <a:solidFill>
                            <a:srgbClr val="000000"/>
                          </a:solidFill>
                          <a:effectLst/>
                          <a:latin typeface="Aptos Narrow" panose="020B0004020202020204" pitchFamily="34" charset="0"/>
                        </a:rPr>
                        <a:t>Products: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Produced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Revenue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657313887"/>
                  </a:ext>
                </a:extLst>
              </a:tr>
              <a:tr h="363718">
                <a:tc>
                  <a:txBody>
                    <a:bodyPr/>
                    <a:lstStyle/>
                    <a:p>
                      <a:pPr algn="l" fontAlgn="b"/>
                      <a:r>
                        <a:rPr lang="en-US" sz="1800" b="0" i="0" u="none" strike="noStrike">
                          <a:solidFill>
                            <a:srgbClr val="000000"/>
                          </a:solidFill>
                          <a:effectLst/>
                          <a:latin typeface="Aptos Narrow" panose="020B0004020202020204" pitchFamily="34" charset="0"/>
                        </a:rPr>
                        <a:t>SS316: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$6,000.00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ton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$0.0060000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$6.00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$6,000.00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$2,190,000.00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594825405"/>
                  </a:ext>
                </a:extLst>
              </a:tr>
              <a:tr h="363718">
                <a:tc>
                  <a:txBody>
                    <a:bodyPr/>
                    <a:lstStyle/>
                    <a:p>
                      <a:pPr algn="l" fontAlgn="b"/>
                      <a:r>
                        <a:rPr lang="en-US" sz="1800" b="0" i="0" u="none" strike="noStrike">
                          <a:solidFill>
                            <a:srgbClr val="000000"/>
                          </a:solidFill>
                          <a:effectLst/>
                          <a:latin typeface="Aptos Narrow" panose="020B0004020202020204" pitchFamily="34" charset="0"/>
                        </a:rPr>
                        <a:t>Slag: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$60.00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800" b="0" i="0" u="none" strike="noStrike">
                          <a:solidFill>
                            <a:srgbClr val="000000"/>
                          </a:solidFill>
                          <a:effectLst/>
                          <a:latin typeface="Aptos Narrow" panose="020B0004020202020204" pitchFamily="34" charset="0"/>
                        </a:rPr>
                        <a:t>ton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$0.0000600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83.1475951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$4.99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800" b="0" i="0" u="none" strike="noStrike">
                          <a:solidFill>
                            <a:srgbClr val="000000"/>
                          </a:solidFill>
                          <a:effectLst/>
                          <a:latin typeface="Aptos Narrow" panose="020B0004020202020204" pitchFamily="34" charset="0"/>
                        </a:rPr>
                        <a:t>$1,820.93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876569264"/>
                  </a:ext>
                </a:extLst>
              </a:tr>
              <a:tr h="363718">
                <a:tc>
                  <a:txBody>
                    <a:bodyPr/>
                    <a:lstStyle/>
                    <a:p>
                      <a:pPr algn="l" fontAlgn="b"/>
                      <a:r>
                        <a:rPr lang="en-US" sz="1800" b="0" i="0" u="none" strike="noStrike">
                          <a:solidFill>
                            <a:srgbClr val="000000"/>
                          </a:solidFill>
                          <a:effectLst/>
                          <a:latin typeface="Aptos Narrow" panose="020B0004020202020204" pitchFamily="34" charset="0"/>
                        </a:rPr>
                        <a:t>Totals: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800" b="0"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$0.0060600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r>
                        <a:rPr lang="en-US" sz="1800" b="0" i="0" u="none" strike="noStrike">
                          <a:solidFill>
                            <a:srgbClr val="000000"/>
                          </a:solidFill>
                          <a:effectLst/>
                          <a:latin typeface="Aptos Narrow" panose="020B0004020202020204" pitchFamily="34" charset="0"/>
                        </a:rPr>
                        <a:t>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$6.00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$6,004.99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800" b="0" i="0" u="none" strike="noStrike">
                          <a:solidFill>
                            <a:srgbClr val="000000"/>
                          </a:solidFill>
                          <a:effectLst/>
                          <a:latin typeface="Aptos Narrow" panose="020B0004020202020204" pitchFamily="34" charset="0"/>
                        </a:rPr>
                        <a:t>$2,191,820.93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1537119"/>
                  </a:ext>
                </a:extLst>
              </a:tr>
            </a:tbl>
          </a:graphicData>
        </a:graphic>
      </p:graphicFrame>
    </p:spTree>
    <p:extLst>
      <p:ext uri="{BB962C8B-B14F-4D97-AF65-F5344CB8AC3E}">
        <p14:creationId xmlns:p14="http://schemas.microsoft.com/office/powerpoint/2010/main" val="1041846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5D43A4-054C-A663-F506-0CB12E615BB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509F495-62BD-EB16-EFB6-1E878735F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8205552D-A2E3-71B8-5B48-949715D9D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1B3606D8-7F12-DF2E-9DC7-16E067CDF9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BA82290-1D54-F9B4-CB60-CA48034EF072}"/>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Real Life Applications</a:t>
            </a:r>
          </a:p>
        </p:txBody>
      </p:sp>
      <p:sp>
        <p:nvSpPr>
          <p:cNvPr id="13" name="Rectangle 12">
            <a:extLst>
              <a:ext uri="{FF2B5EF4-FFF2-40B4-BE49-F238E27FC236}">
                <a16:creationId xmlns:a16="http://schemas.microsoft.com/office/drawing/2014/main" id="{45D09622-9628-A9ED-FBA7-5077926F9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9169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7DD2F86-EC77-0B1C-449A-5265EB5647B3}"/>
              </a:ext>
            </a:extLst>
          </p:cNvPr>
          <p:cNvSpPr>
            <a:spLocks noGrp="1"/>
          </p:cNvSpPr>
          <p:nvPr>
            <p:ph type="title"/>
          </p:nvPr>
        </p:nvSpPr>
        <p:spPr>
          <a:xfrm>
            <a:off x="1137034" y="609597"/>
            <a:ext cx="9392421" cy="1330841"/>
          </a:xfrm>
        </p:spPr>
        <p:txBody>
          <a:bodyPr>
            <a:normAutofit/>
          </a:bodyPr>
          <a:lstStyle/>
          <a:p>
            <a:r>
              <a:rPr lang="en-US"/>
              <a:t>Location</a:t>
            </a:r>
          </a:p>
        </p:txBody>
      </p:sp>
      <p:sp>
        <p:nvSpPr>
          <p:cNvPr id="3" name="Content Placeholder 2">
            <a:extLst>
              <a:ext uri="{FF2B5EF4-FFF2-40B4-BE49-F238E27FC236}">
                <a16:creationId xmlns:a16="http://schemas.microsoft.com/office/drawing/2014/main" id="{D9DBC0F0-AE06-5180-4608-BABF5C131DB9}"/>
              </a:ext>
            </a:extLst>
          </p:cNvPr>
          <p:cNvSpPr>
            <a:spLocks noGrp="1"/>
          </p:cNvSpPr>
          <p:nvPr>
            <p:ph idx="1"/>
          </p:nvPr>
        </p:nvSpPr>
        <p:spPr>
          <a:xfrm>
            <a:off x="835378" y="2198362"/>
            <a:ext cx="5260622" cy="3917773"/>
          </a:xfrm>
        </p:spPr>
        <p:txBody>
          <a:bodyPr vert="horz" lIns="91440" tIns="45720" rIns="91440" bIns="45720" rtlCol="0" anchor="t">
            <a:normAutofit/>
          </a:bodyPr>
          <a:lstStyle/>
          <a:p>
            <a:pPr>
              <a:buFontTx/>
              <a:buChar char="-"/>
            </a:pPr>
            <a:r>
              <a:rPr lang="en-US" sz="2000"/>
              <a:t>Coega SEZ, South Africa</a:t>
            </a:r>
          </a:p>
          <a:p>
            <a:pPr>
              <a:buFontTx/>
              <a:buChar char="-"/>
            </a:pPr>
            <a:r>
              <a:rPr lang="en-US" sz="2000"/>
              <a:t>Low cost for alloys and pig iron</a:t>
            </a:r>
          </a:p>
          <a:p>
            <a:pPr>
              <a:buFontTx/>
              <a:buChar char="-"/>
            </a:pPr>
            <a:r>
              <a:rPr lang="en-US" sz="2000"/>
              <a:t>High selling price of SS316</a:t>
            </a:r>
          </a:p>
          <a:p>
            <a:pPr>
              <a:buFontTx/>
              <a:buChar char="-"/>
            </a:pPr>
            <a:r>
              <a:rPr lang="en-US" sz="2000"/>
              <a:t>Port city; can export easily</a:t>
            </a:r>
          </a:p>
          <a:p>
            <a:pPr>
              <a:buFontTx/>
              <a:buChar char="-"/>
            </a:pPr>
            <a:r>
              <a:rPr lang="en-US" sz="2000"/>
              <a:t>Economic incentives in SEZs</a:t>
            </a:r>
          </a:p>
          <a:p>
            <a:pPr>
              <a:buFontTx/>
              <a:buChar char="-"/>
            </a:pPr>
            <a:r>
              <a:rPr lang="en-US" sz="2000"/>
              <a:t>Proximity to potential clients</a:t>
            </a:r>
          </a:p>
        </p:txBody>
      </p:sp>
      <p:pic>
        <p:nvPicPr>
          <p:cNvPr id="4" name="Picture 3" descr="Southern African Ports | Maritime Economics SA Grade 11">
            <a:extLst>
              <a:ext uri="{FF2B5EF4-FFF2-40B4-BE49-F238E27FC236}">
                <a16:creationId xmlns:a16="http://schemas.microsoft.com/office/drawing/2014/main" id="{2B7CFCBC-693B-70A6-7616-11517D42BC07}"/>
              </a:ext>
            </a:extLst>
          </p:cNvPr>
          <p:cNvPicPr>
            <a:picLocks noChangeAspect="1"/>
          </p:cNvPicPr>
          <p:nvPr/>
        </p:nvPicPr>
        <p:blipFill>
          <a:blip r:embed="rId3"/>
          <a:stretch>
            <a:fillRect/>
          </a:stretch>
        </p:blipFill>
        <p:spPr>
          <a:xfrm>
            <a:off x="6798443" y="2061611"/>
            <a:ext cx="4968221" cy="3342476"/>
          </a:xfrm>
          <a:prstGeom prst="rect">
            <a:avLst/>
          </a:prstGeom>
        </p:spPr>
      </p:pic>
      <p:sp>
        <p:nvSpPr>
          <p:cNvPr id="23" name="Freeform: Shape 2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Graphic 4" descr="Marker with solid fill">
            <a:extLst>
              <a:ext uri="{FF2B5EF4-FFF2-40B4-BE49-F238E27FC236}">
                <a16:creationId xmlns:a16="http://schemas.microsoft.com/office/drawing/2014/main" id="{9E5FEC90-50F1-D3A1-641B-C7331D014B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60833" y="3753352"/>
            <a:ext cx="454325" cy="454325"/>
          </a:xfrm>
          <a:prstGeom prst="rect">
            <a:avLst/>
          </a:prstGeom>
        </p:spPr>
      </p:pic>
      <p:pic>
        <p:nvPicPr>
          <p:cNvPr id="6" name="Picture 5" descr="Hella marine | World leaders in maritime lighting and innovation">
            <a:extLst>
              <a:ext uri="{FF2B5EF4-FFF2-40B4-BE49-F238E27FC236}">
                <a16:creationId xmlns:a16="http://schemas.microsoft.com/office/drawing/2014/main" id="{AC6E5DDB-6F5B-30E6-AEF8-64335BA787D0}"/>
              </a:ext>
            </a:extLst>
          </p:cNvPr>
          <p:cNvPicPr>
            <a:picLocks noChangeAspect="1"/>
          </p:cNvPicPr>
          <p:nvPr/>
        </p:nvPicPr>
        <p:blipFill>
          <a:blip r:embed="rId6"/>
          <a:stretch>
            <a:fillRect/>
          </a:stretch>
        </p:blipFill>
        <p:spPr>
          <a:xfrm>
            <a:off x="3047999" y="4756403"/>
            <a:ext cx="1821182" cy="1071373"/>
          </a:xfrm>
          <a:prstGeom prst="rect">
            <a:avLst/>
          </a:prstGeom>
        </p:spPr>
      </p:pic>
      <p:pic>
        <p:nvPicPr>
          <p:cNvPr id="7" name="Picture 6" descr="Cemza 'Engineered Cement' - IDIDTHAT.co">
            <a:extLst>
              <a:ext uri="{FF2B5EF4-FFF2-40B4-BE49-F238E27FC236}">
                <a16:creationId xmlns:a16="http://schemas.microsoft.com/office/drawing/2014/main" id="{DE86644C-38D0-F5B8-98E8-AD2AA0F58508}"/>
              </a:ext>
            </a:extLst>
          </p:cNvPr>
          <p:cNvPicPr>
            <a:picLocks noChangeAspect="1"/>
          </p:cNvPicPr>
          <p:nvPr/>
        </p:nvPicPr>
        <p:blipFill>
          <a:blip r:embed="rId7"/>
          <a:stretch>
            <a:fillRect/>
          </a:stretch>
        </p:blipFill>
        <p:spPr>
          <a:xfrm>
            <a:off x="1135380" y="4754880"/>
            <a:ext cx="1546860" cy="1074420"/>
          </a:xfrm>
          <a:prstGeom prst="rect">
            <a:avLst/>
          </a:prstGeom>
        </p:spPr>
      </p:pic>
    </p:spTree>
    <p:extLst>
      <p:ext uri="{BB962C8B-B14F-4D97-AF65-F5344CB8AC3E}">
        <p14:creationId xmlns:p14="http://schemas.microsoft.com/office/powerpoint/2010/main" val="33496835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01FB-D48F-F4BD-E000-F12B0D2F4177}"/>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C4D8F78-B8E0-E1D2-D770-39C5D8ABCDA0}"/>
              </a:ext>
            </a:extLst>
          </p:cNvPr>
          <p:cNvSpPr>
            <a:spLocks noGrp="1"/>
          </p:cNvSpPr>
          <p:nvPr>
            <p:ph idx="1"/>
          </p:nvPr>
        </p:nvSpPr>
        <p:spPr>
          <a:xfrm>
            <a:off x="5943600" y="486756"/>
            <a:ext cx="2463800" cy="1089474"/>
          </a:xfrm>
        </p:spPr>
        <p:txBody>
          <a:bodyPr>
            <a:normAutofit/>
          </a:bodyPr>
          <a:lstStyle/>
          <a:p>
            <a:pPr marL="0" indent="0">
              <a:buNone/>
            </a:pPr>
            <a:r>
              <a:rPr lang="en-US" sz="2000"/>
              <a:t>Scaling the Process economy up from small scale:</a:t>
            </a:r>
          </a:p>
          <a:p>
            <a:pPr marL="0" indent="0">
              <a:buNone/>
            </a:pPr>
            <a:endParaRPr lang="en-US" sz="2000"/>
          </a:p>
        </p:txBody>
      </p:sp>
      <p:sp>
        <p:nvSpPr>
          <p:cNvPr id="2" name="Title 1">
            <a:extLst>
              <a:ext uri="{FF2B5EF4-FFF2-40B4-BE49-F238E27FC236}">
                <a16:creationId xmlns:a16="http://schemas.microsoft.com/office/drawing/2014/main" id="{20025095-CCE8-CF4F-79AC-9EF93D4F7E7C}"/>
              </a:ext>
            </a:extLst>
          </p:cNvPr>
          <p:cNvSpPr>
            <a:spLocks noGrp="1"/>
          </p:cNvSpPr>
          <p:nvPr>
            <p:ph type="title"/>
          </p:nvPr>
        </p:nvSpPr>
        <p:spPr>
          <a:xfrm>
            <a:off x="482600" y="618902"/>
            <a:ext cx="2667000" cy="1105853"/>
          </a:xfrm>
        </p:spPr>
        <p:txBody>
          <a:bodyPr/>
          <a:lstStyle/>
          <a:p>
            <a:r>
              <a:rPr lang="en-US"/>
              <a:t>Ideal Profit</a:t>
            </a:r>
          </a:p>
        </p:txBody>
      </p:sp>
      <p:graphicFrame>
        <p:nvGraphicFramePr>
          <p:cNvPr id="9" name="Table 8">
            <a:extLst>
              <a:ext uri="{FF2B5EF4-FFF2-40B4-BE49-F238E27FC236}">
                <a16:creationId xmlns:a16="http://schemas.microsoft.com/office/drawing/2014/main" id="{A39F440D-6B67-882C-1CFE-7BE6B0187FEE}"/>
              </a:ext>
            </a:extLst>
          </p:cNvPr>
          <p:cNvGraphicFramePr>
            <a:graphicFrameLocks noGrp="1"/>
          </p:cNvGraphicFramePr>
          <p:nvPr>
            <p:extLst>
              <p:ext uri="{D42A27DB-BD31-4B8C-83A1-F6EECF244321}">
                <p14:modId xmlns:p14="http://schemas.microsoft.com/office/powerpoint/2010/main" val="1215459902"/>
              </p:ext>
            </p:extLst>
          </p:nvPr>
        </p:nvGraphicFramePr>
        <p:xfrm>
          <a:off x="482600" y="1821653"/>
          <a:ext cx="11061700" cy="4166799"/>
        </p:xfrm>
        <a:graphic>
          <a:graphicData uri="http://schemas.openxmlformats.org/drawingml/2006/table">
            <a:tbl>
              <a:tblPr/>
              <a:tblGrid>
                <a:gridCol w="1073856">
                  <a:extLst>
                    <a:ext uri="{9D8B030D-6E8A-4147-A177-3AD203B41FA5}">
                      <a16:colId xmlns:a16="http://schemas.microsoft.com/office/drawing/2014/main" val="305392368"/>
                    </a:ext>
                  </a:extLst>
                </a:gridCol>
                <a:gridCol w="1267745">
                  <a:extLst>
                    <a:ext uri="{9D8B030D-6E8A-4147-A177-3AD203B41FA5}">
                      <a16:colId xmlns:a16="http://schemas.microsoft.com/office/drawing/2014/main" val="1949750195"/>
                    </a:ext>
                  </a:extLst>
                </a:gridCol>
                <a:gridCol w="1237916">
                  <a:extLst>
                    <a:ext uri="{9D8B030D-6E8A-4147-A177-3AD203B41FA5}">
                      <a16:colId xmlns:a16="http://schemas.microsoft.com/office/drawing/2014/main" val="883937218"/>
                    </a:ext>
                  </a:extLst>
                </a:gridCol>
                <a:gridCol w="1690327">
                  <a:extLst>
                    <a:ext uri="{9D8B030D-6E8A-4147-A177-3AD203B41FA5}">
                      <a16:colId xmlns:a16="http://schemas.microsoft.com/office/drawing/2014/main" val="190439576"/>
                    </a:ext>
                  </a:extLst>
                </a:gridCol>
                <a:gridCol w="1332376">
                  <a:extLst>
                    <a:ext uri="{9D8B030D-6E8A-4147-A177-3AD203B41FA5}">
                      <a16:colId xmlns:a16="http://schemas.microsoft.com/office/drawing/2014/main" val="2808925794"/>
                    </a:ext>
                  </a:extLst>
                </a:gridCol>
                <a:gridCol w="1372148">
                  <a:extLst>
                    <a:ext uri="{9D8B030D-6E8A-4147-A177-3AD203B41FA5}">
                      <a16:colId xmlns:a16="http://schemas.microsoft.com/office/drawing/2014/main" val="2049538606"/>
                    </a:ext>
                  </a:extLst>
                </a:gridCol>
                <a:gridCol w="1252830">
                  <a:extLst>
                    <a:ext uri="{9D8B030D-6E8A-4147-A177-3AD203B41FA5}">
                      <a16:colId xmlns:a16="http://schemas.microsoft.com/office/drawing/2014/main" val="2560158640"/>
                    </a:ext>
                  </a:extLst>
                </a:gridCol>
                <a:gridCol w="1834502">
                  <a:extLst>
                    <a:ext uri="{9D8B030D-6E8A-4147-A177-3AD203B41FA5}">
                      <a16:colId xmlns:a16="http://schemas.microsoft.com/office/drawing/2014/main" val="2685185309"/>
                    </a:ext>
                  </a:extLst>
                </a:gridCol>
              </a:tblGrid>
              <a:tr h="418419">
                <a:tc gridSpan="2">
                  <a:txBody>
                    <a:bodyPr/>
                    <a:lstStyle/>
                    <a:p>
                      <a:pPr algn="l" fontAlgn="b"/>
                      <a:r>
                        <a:rPr lang="en-US" sz="1600" b="0" i="0" u="none" strike="noStrike">
                          <a:solidFill>
                            <a:srgbClr val="000000"/>
                          </a:solidFill>
                          <a:effectLst/>
                          <a:latin typeface="Aptos Narrow"/>
                        </a:rPr>
                        <a:t>Costs Analysis</a:t>
                      </a:r>
                    </a:p>
                  </a:txBody>
                  <a:tcPr marL="136173" marR="136173" marT="68087" marB="68087"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728814"/>
                  </a:ext>
                </a:extLst>
              </a:tr>
              <a:tr h="312365">
                <a:tc>
                  <a:txBody>
                    <a:bodyPr/>
                    <a:lstStyle/>
                    <a:p>
                      <a:pPr algn="l" fontAlgn="b"/>
                      <a:r>
                        <a:rPr lang="en-US" sz="1600" b="1" i="0" u="none" strike="noStrike">
                          <a:solidFill>
                            <a:srgbClr val="000000"/>
                          </a:solidFill>
                          <a:effectLst/>
                          <a:latin typeface="Aptos Narrow"/>
                        </a:rPr>
                        <a:t>Species</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Price (USD)</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Per Unit</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Per Unit (g)</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Mass Req</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Cost</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Upscaled</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Upsc./year</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9709227"/>
                  </a:ext>
                </a:extLst>
              </a:tr>
              <a:tr h="312365">
                <a:tc>
                  <a:txBody>
                    <a:bodyPr/>
                    <a:lstStyle/>
                    <a:p>
                      <a:pPr algn="l" fontAlgn="b"/>
                      <a:r>
                        <a:rPr lang="en-US" sz="1600" b="0" i="0" u="none" strike="noStrike">
                          <a:solidFill>
                            <a:srgbClr val="000000"/>
                          </a:solidFill>
                          <a:effectLst/>
                          <a:latin typeface="Aptos Narrow"/>
                        </a:rPr>
                        <a:t>Pig Iron:</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$250.00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r>
                        <a:rPr lang="en-US" sz="1600" b="0" i="0" u="none" strike="noStrike">
                          <a:solidFill>
                            <a:srgbClr val="000000"/>
                          </a:solidFill>
                          <a:effectLst/>
                          <a:latin typeface="Aptos Narrow"/>
                        </a:rPr>
                        <a:t>ton</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$0.0002500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731.93581</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$0.18</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$182.98</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$66,789.14</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081517255"/>
                  </a:ext>
                </a:extLst>
              </a:tr>
              <a:tr h="312365">
                <a:tc>
                  <a:txBody>
                    <a:bodyPr/>
                    <a:lstStyle/>
                    <a:p>
                      <a:pPr algn="l" fontAlgn="b"/>
                      <a:r>
                        <a:rPr lang="en-US" sz="1600" b="0" i="0" u="none" strike="noStrike">
                          <a:solidFill>
                            <a:srgbClr val="000000"/>
                          </a:solidFill>
                          <a:effectLst/>
                          <a:latin typeface="Aptos Narrow"/>
                        </a:rPr>
                        <a:t>Lime:</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$20.00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600" b="0" i="0" u="none" strike="noStrike">
                          <a:solidFill>
                            <a:srgbClr val="000000"/>
                          </a:solidFill>
                          <a:effectLst/>
                          <a:latin typeface="Aptos Narrow"/>
                        </a:rPr>
                        <a:t>ton</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$0.0000200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1.05607881</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$0.02</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$7.71</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428648011"/>
                  </a:ext>
                </a:extLst>
              </a:tr>
              <a:tr h="312365">
                <a:tc>
                  <a:txBody>
                    <a:bodyPr/>
                    <a:lstStyle/>
                    <a:p>
                      <a:pPr algn="l" fontAlgn="b"/>
                      <a:r>
                        <a:rPr lang="en-US" sz="1600" b="0" i="0" u="none" strike="noStrike">
                          <a:solidFill>
                            <a:srgbClr val="000000"/>
                          </a:solidFill>
                          <a:effectLst/>
                          <a:latin typeface="Aptos Narrow"/>
                        </a:rPr>
                        <a:t>Cr:</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$5.00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600" b="0" i="0" u="none" strike="noStrike">
                          <a:solidFill>
                            <a:srgbClr val="000000"/>
                          </a:solidFill>
                          <a:effectLst/>
                          <a:latin typeface="Aptos Narrow"/>
                        </a:rPr>
                        <a:t>kg</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$0.0050000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180.758325</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$0.90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$903.79</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$329,883.94</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510035015"/>
                  </a:ext>
                </a:extLst>
              </a:tr>
              <a:tr h="312365">
                <a:tc>
                  <a:txBody>
                    <a:bodyPr/>
                    <a:lstStyle/>
                    <a:p>
                      <a:pPr algn="l" fontAlgn="b"/>
                      <a:r>
                        <a:rPr lang="en-US" sz="1600" b="0" i="0" u="none" strike="noStrike">
                          <a:solidFill>
                            <a:srgbClr val="000000"/>
                          </a:solidFill>
                          <a:effectLst/>
                          <a:latin typeface="Aptos Narrow"/>
                        </a:rPr>
                        <a:t>Ni:</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600" b="0" i="0" u="none" strike="noStrike">
                          <a:solidFill>
                            <a:srgbClr val="000000"/>
                          </a:solidFill>
                          <a:effectLst/>
                          <a:latin typeface="Aptos Narrow"/>
                        </a:rPr>
                        <a:t>kg</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$0.0100000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112.885359</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$1.13</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$1,128.85</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$412,031.56</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195082339"/>
                  </a:ext>
                </a:extLst>
              </a:tr>
              <a:tr h="312365">
                <a:tc>
                  <a:txBody>
                    <a:bodyPr/>
                    <a:lstStyle/>
                    <a:p>
                      <a:pPr algn="l" fontAlgn="b"/>
                      <a:r>
                        <a:rPr lang="en-US" sz="1600" b="0" i="0" u="none" strike="noStrike">
                          <a:solidFill>
                            <a:srgbClr val="000000"/>
                          </a:solidFill>
                          <a:effectLst/>
                          <a:latin typeface="Aptos Narrow"/>
                        </a:rPr>
                        <a:t>Mo:</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$55.00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600" b="0" i="0" u="none" strike="noStrike">
                          <a:solidFill>
                            <a:srgbClr val="000000"/>
                          </a:solidFill>
                          <a:effectLst/>
                          <a:latin typeface="Aptos Narrow"/>
                        </a:rPr>
                        <a:t>kg</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$0.0550000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20.6943923</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$1.14</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$1,138.19</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$415,439.93</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860752672"/>
                  </a:ext>
                </a:extLst>
              </a:tr>
              <a:tr h="312365">
                <a:tc>
                  <a:txBody>
                    <a:bodyPr/>
                    <a:lstStyle/>
                    <a:p>
                      <a:pPr algn="l" fontAlgn="b"/>
                      <a:r>
                        <a:rPr lang="en-US" sz="1600" b="0" i="0" u="none" strike="noStrike">
                          <a:solidFill>
                            <a:srgbClr val="000000"/>
                          </a:solidFill>
                          <a:effectLst/>
                          <a:latin typeface="Aptos Narrow"/>
                        </a:rPr>
                        <a:t>O2:</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g</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$0.0000000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56.6129698</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817451060"/>
                  </a:ext>
                </a:extLst>
              </a:tr>
              <a:tr h="312365">
                <a:tc>
                  <a:txBody>
                    <a:bodyPr/>
                    <a:lstStyle/>
                    <a:p>
                      <a:pPr algn="l" fontAlgn="b"/>
                      <a:r>
                        <a:rPr lang="en-US" sz="1600" b="0" i="0" u="none" strike="noStrike">
                          <a:solidFill>
                            <a:srgbClr val="000000"/>
                          </a:solidFill>
                          <a:effectLst/>
                          <a:latin typeface="Aptos Narrow"/>
                        </a:rPr>
                        <a:t>Totals:</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$0.0702700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$3.35</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$3,353.84</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$1,224,152.28</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712611"/>
                  </a:ext>
                </a:extLst>
              </a:tr>
              <a:tr h="312365">
                <a:tc>
                  <a:txBody>
                    <a:bodyPr/>
                    <a:lstStyle/>
                    <a:p>
                      <a:pPr algn="l" fontAlgn="b"/>
                      <a:r>
                        <a:rPr lang="en-US" sz="1600" b="1" i="0" u="none" strike="noStrike">
                          <a:solidFill>
                            <a:srgbClr val="000000"/>
                          </a:solidFill>
                          <a:effectLst/>
                          <a:latin typeface="Aptos Narrow"/>
                        </a:rPr>
                        <a:t>Products:</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Produced</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US" sz="1600" b="0" i="0" u="none" strike="noStrike">
                          <a:solidFill>
                            <a:srgbClr val="000000"/>
                          </a:solidFill>
                          <a:effectLst/>
                          <a:latin typeface="Aptos Narrow"/>
                        </a:rPr>
                        <a:t>Revenue</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2062967"/>
                  </a:ext>
                </a:extLst>
              </a:tr>
              <a:tr h="312365">
                <a:tc>
                  <a:txBody>
                    <a:bodyPr/>
                    <a:lstStyle/>
                    <a:p>
                      <a:pPr algn="l" fontAlgn="b"/>
                      <a:r>
                        <a:rPr lang="en-US" sz="1600" b="0" i="0" u="none" strike="noStrike">
                          <a:solidFill>
                            <a:srgbClr val="000000"/>
                          </a:solidFill>
                          <a:effectLst/>
                          <a:latin typeface="Aptos Narrow"/>
                        </a:rPr>
                        <a:t>SS316:</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$6,000.00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l" fontAlgn="b"/>
                      <a:r>
                        <a:rPr lang="en-US" sz="1600" b="0" i="0" u="none" strike="noStrike">
                          <a:solidFill>
                            <a:srgbClr val="000000"/>
                          </a:solidFill>
                          <a:effectLst/>
                          <a:latin typeface="Aptos Narrow"/>
                        </a:rPr>
                        <a:t>ton</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$0.0060000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1000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$6.00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$6,000.00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lgn="r" fontAlgn="b"/>
                      <a:r>
                        <a:rPr lang="en-US" sz="1600" b="0" i="0" u="none" strike="noStrike">
                          <a:solidFill>
                            <a:srgbClr val="000000"/>
                          </a:solidFill>
                          <a:effectLst/>
                          <a:latin typeface="Aptos Narrow"/>
                        </a:rPr>
                        <a:t>$2,190,000.00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82018828"/>
                  </a:ext>
                </a:extLst>
              </a:tr>
              <a:tr h="312365">
                <a:tc>
                  <a:txBody>
                    <a:bodyPr/>
                    <a:lstStyle/>
                    <a:p>
                      <a:pPr algn="l" fontAlgn="b"/>
                      <a:r>
                        <a:rPr lang="en-US" sz="1600" b="0" i="0" u="none" strike="noStrike">
                          <a:solidFill>
                            <a:srgbClr val="000000"/>
                          </a:solidFill>
                          <a:effectLst/>
                          <a:latin typeface="Aptos Narrow"/>
                        </a:rPr>
                        <a:t>Slag:</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$60.00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l" fontAlgn="b"/>
                      <a:r>
                        <a:rPr lang="en-US" sz="1600" b="0" i="0" u="none" strike="noStrike">
                          <a:solidFill>
                            <a:srgbClr val="000000"/>
                          </a:solidFill>
                          <a:effectLst/>
                          <a:latin typeface="Aptos Narrow"/>
                        </a:rPr>
                        <a:t>ton</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$0.0000600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83.1475951</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$0.00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$4.99</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fontAlgn="b"/>
                      <a:r>
                        <a:rPr lang="en-US" sz="1600" b="0" i="0" u="none" strike="noStrike">
                          <a:solidFill>
                            <a:srgbClr val="000000"/>
                          </a:solidFill>
                          <a:effectLst/>
                          <a:latin typeface="Aptos Narrow"/>
                        </a:rPr>
                        <a:t>$1,820.93</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11128337"/>
                  </a:ext>
                </a:extLst>
              </a:tr>
              <a:tr h="312365">
                <a:tc>
                  <a:txBody>
                    <a:bodyPr/>
                    <a:lstStyle/>
                    <a:p>
                      <a:pPr algn="l" fontAlgn="b"/>
                      <a:r>
                        <a:rPr lang="en-US" sz="1600" b="0" i="0" u="none" strike="noStrike">
                          <a:solidFill>
                            <a:srgbClr val="000000"/>
                          </a:solidFill>
                          <a:effectLst/>
                          <a:latin typeface="Aptos Narrow"/>
                        </a:rPr>
                        <a:t>Totals:</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$0.0060600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$6.00</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$6,004.99</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600" b="0" i="0" u="none" strike="noStrike">
                          <a:solidFill>
                            <a:srgbClr val="000000"/>
                          </a:solidFill>
                          <a:effectLst/>
                          <a:latin typeface="Aptos Narrow"/>
                        </a:rPr>
                        <a:t>$2,191,820.93</a:t>
                      </a:r>
                    </a:p>
                  </a:txBody>
                  <a:tcPr marL="14185" marR="14185" marT="1418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860490"/>
                  </a:ext>
                </a:extLst>
              </a:tr>
            </a:tbl>
          </a:graphicData>
        </a:graphic>
      </p:graphicFrame>
      <p:graphicFrame>
        <p:nvGraphicFramePr>
          <p:cNvPr id="10" name="Table 9">
            <a:extLst>
              <a:ext uri="{FF2B5EF4-FFF2-40B4-BE49-F238E27FC236}">
                <a16:creationId xmlns:a16="http://schemas.microsoft.com/office/drawing/2014/main" id="{625AFF1B-91EC-0BC8-00FF-CCD0536316FA}"/>
              </a:ext>
            </a:extLst>
          </p:cNvPr>
          <p:cNvGraphicFramePr>
            <a:graphicFrameLocks noGrp="1"/>
          </p:cNvGraphicFramePr>
          <p:nvPr>
            <p:extLst>
              <p:ext uri="{D42A27DB-BD31-4B8C-83A1-F6EECF244321}">
                <p14:modId xmlns:p14="http://schemas.microsoft.com/office/powerpoint/2010/main" val="2324196897"/>
              </p:ext>
            </p:extLst>
          </p:nvPr>
        </p:nvGraphicFramePr>
        <p:xfrm>
          <a:off x="8407400" y="486756"/>
          <a:ext cx="3136900" cy="1089474"/>
        </p:xfrm>
        <a:graphic>
          <a:graphicData uri="http://schemas.openxmlformats.org/drawingml/2006/table">
            <a:tbl>
              <a:tblPr/>
              <a:tblGrid>
                <a:gridCol w="1081690">
                  <a:extLst>
                    <a:ext uri="{9D8B030D-6E8A-4147-A177-3AD203B41FA5}">
                      <a16:colId xmlns:a16="http://schemas.microsoft.com/office/drawing/2014/main" val="2052462659"/>
                    </a:ext>
                  </a:extLst>
                </a:gridCol>
                <a:gridCol w="1174406">
                  <a:extLst>
                    <a:ext uri="{9D8B030D-6E8A-4147-A177-3AD203B41FA5}">
                      <a16:colId xmlns:a16="http://schemas.microsoft.com/office/drawing/2014/main" val="3926265451"/>
                    </a:ext>
                  </a:extLst>
                </a:gridCol>
                <a:gridCol w="880804">
                  <a:extLst>
                    <a:ext uri="{9D8B030D-6E8A-4147-A177-3AD203B41FA5}">
                      <a16:colId xmlns:a16="http://schemas.microsoft.com/office/drawing/2014/main" val="3206481980"/>
                    </a:ext>
                  </a:extLst>
                </a:gridCol>
              </a:tblGrid>
              <a:tr h="257814">
                <a:tc>
                  <a:txBody>
                    <a:bodyPr/>
                    <a:lstStyle/>
                    <a:p>
                      <a:pPr algn="l" fontAlgn="b"/>
                      <a:r>
                        <a:rPr lang="en-US" sz="1100" b="0" i="0" u="none" strike="noStrike">
                          <a:solidFill>
                            <a:srgbClr val="000000"/>
                          </a:solidFill>
                          <a:effectLst/>
                          <a:latin typeface="Aptos Narrow"/>
                        </a:rPr>
                        <a:t>Upsale:</a:t>
                      </a:r>
                    </a:p>
                  </a:txBody>
                  <a:tcPr marL="9525" marR="9525" marT="952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a:rPr>
                        <a:t>1000 kg/day</a:t>
                      </a:r>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857914"/>
                  </a:ext>
                </a:extLst>
              </a:tr>
              <a:tr h="277220">
                <a:tc>
                  <a:txBody>
                    <a:bodyPr/>
                    <a:lstStyle/>
                    <a:p>
                      <a:pPr algn="l" fontAlgn="b"/>
                      <a:r>
                        <a:rPr lang="en-US" sz="1100" b="0" i="0" u="none" strike="noStrike">
                          <a:solidFill>
                            <a:srgbClr val="000000"/>
                          </a:solidFill>
                          <a:effectLst/>
                          <a:latin typeface="Aptos Narrow"/>
                        </a:rPr>
                        <a:t>Conversions:</a:t>
                      </a:r>
                    </a:p>
                  </a:txBody>
                  <a:tcPr marL="9525" marR="9525" marT="9525"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9704338"/>
                  </a:ext>
                </a:extLst>
              </a:tr>
              <a:tr h="277220">
                <a:tc gridSpan="2">
                  <a:txBody>
                    <a:bodyPr/>
                    <a:lstStyle/>
                    <a:p>
                      <a:pPr algn="l" fontAlgn="b"/>
                      <a:r>
                        <a:rPr lang="en-US" sz="1100" b="0" i="0" u="none" strike="noStrike">
                          <a:solidFill>
                            <a:srgbClr val="000000"/>
                          </a:solidFill>
                          <a:effectLst/>
                          <a:latin typeface="Aptos Narrow"/>
                        </a:rPr>
                        <a:t>Ton -&gt;Kg-&gt; Grams</a:t>
                      </a:r>
                    </a:p>
                  </a:txBody>
                  <a:tcPr marL="9525" marR="9525" marT="9525" marB="0" anchor="b">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a:noFill/>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017137002"/>
                  </a:ext>
                </a:extLst>
              </a:tr>
              <a:tr h="277220">
                <a:tc>
                  <a:txBody>
                    <a:bodyPr/>
                    <a:lstStyle/>
                    <a:p>
                      <a:pPr algn="r" fontAlgn="b"/>
                      <a:r>
                        <a:rPr lang="en-US" sz="1100" b="0" i="0" u="none" strike="noStrike">
                          <a:solidFill>
                            <a:srgbClr val="000000"/>
                          </a:solidFill>
                          <a:effectLst/>
                          <a:latin typeface="Aptos Narrow"/>
                        </a:rPr>
                        <a:t>1</a:t>
                      </a:r>
                    </a:p>
                  </a:txBody>
                  <a:tcPr marL="9525" marR="9525" marT="9525"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a:rPr>
                        <a:t>1000</a:t>
                      </a:r>
                    </a:p>
                  </a:txBody>
                  <a:tcPr marL="9525" marR="9525" marT="9525" marB="0"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Aptos Narrow"/>
                        </a:rPr>
                        <a:t>1000000</a:t>
                      </a:r>
                    </a:p>
                  </a:txBody>
                  <a:tcPr marL="9525" marR="9525" marT="9525"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602658"/>
                  </a:ext>
                </a:extLst>
              </a:tr>
            </a:tbl>
          </a:graphicData>
        </a:graphic>
      </p:graphicFrame>
      <p:sp>
        <p:nvSpPr>
          <p:cNvPr id="3" name="TextBox 2">
            <a:extLst>
              <a:ext uri="{FF2B5EF4-FFF2-40B4-BE49-F238E27FC236}">
                <a16:creationId xmlns:a16="http://schemas.microsoft.com/office/drawing/2014/main" id="{4E8D8D24-0540-1DDB-69F1-2838A22E7A3E}"/>
              </a:ext>
            </a:extLst>
          </p:cNvPr>
          <p:cNvSpPr txBox="1"/>
          <p:nvPr/>
        </p:nvSpPr>
        <p:spPr>
          <a:xfrm>
            <a:off x="482600" y="6128259"/>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aseline="0">
                <a:solidFill>
                  <a:srgbClr val="156082"/>
                </a:solidFill>
                <a:latin typeface="Aptos"/>
              </a:rPr>
              <a:t>Profit (yearly): $</a:t>
            </a:r>
            <a:r>
              <a:rPr lang="en-US">
                <a:solidFill>
                  <a:srgbClr val="156082"/>
                </a:solidFill>
                <a:latin typeface="Aptos"/>
              </a:rPr>
              <a:t>967,668.65</a:t>
            </a:r>
          </a:p>
        </p:txBody>
      </p:sp>
    </p:spTree>
    <p:extLst>
      <p:ext uri="{BB962C8B-B14F-4D97-AF65-F5344CB8AC3E}">
        <p14:creationId xmlns:p14="http://schemas.microsoft.com/office/powerpoint/2010/main" val="3682992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AC5DDF-1922-B4FD-56BE-2B675DB967C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CF54F3E-604D-D9BD-8198-3BD46A485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577EA900-7AF5-7809-4512-4B9F4C21B5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DEABAF63-C143-91C8-FEFF-01B5A2C33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C97247-0DA3-1C85-20B0-513446FB4BD4}"/>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Thank You</a:t>
            </a:r>
          </a:p>
        </p:txBody>
      </p:sp>
      <p:sp>
        <p:nvSpPr>
          <p:cNvPr id="13" name="Rectangle 12">
            <a:extLst>
              <a:ext uri="{FF2B5EF4-FFF2-40B4-BE49-F238E27FC236}">
                <a16:creationId xmlns:a16="http://schemas.microsoft.com/office/drawing/2014/main" id="{3EF2E95D-A32C-382C-D31D-403BA65C0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15455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20AF8-F430-3542-EA6A-D1931AA9316C}"/>
              </a:ext>
            </a:extLst>
          </p:cNvPr>
          <p:cNvSpPr>
            <a:spLocks noGrp="1"/>
          </p:cNvSpPr>
          <p:nvPr>
            <p:ph type="title"/>
          </p:nvPr>
        </p:nvSpPr>
        <p:spPr>
          <a:xfrm>
            <a:off x="0" y="-4762"/>
            <a:ext cx="2931886" cy="657906"/>
          </a:xfrm>
        </p:spPr>
        <p:txBody>
          <a:bodyPr>
            <a:normAutofit fontScale="90000"/>
          </a:bodyPr>
          <a:lstStyle/>
          <a:p>
            <a:r>
              <a:rPr lang="en-US"/>
              <a:t>References</a:t>
            </a:r>
          </a:p>
        </p:txBody>
      </p:sp>
      <p:sp>
        <p:nvSpPr>
          <p:cNvPr id="4" name="Content Placeholder 2">
            <a:extLst>
              <a:ext uri="{FF2B5EF4-FFF2-40B4-BE49-F238E27FC236}">
                <a16:creationId xmlns:a16="http://schemas.microsoft.com/office/drawing/2014/main" id="{3F8CCD92-BC70-4079-A7A9-D02161EBC539}"/>
              </a:ext>
            </a:extLst>
          </p:cNvPr>
          <p:cNvSpPr txBox="1">
            <a:spLocks/>
          </p:cNvSpPr>
          <p:nvPr/>
        </p:nvSpPr>
        <p:spPr>
          <a:xfrm>
            <a:off x="6096000" y="1825625"/>
            <a:ext cx="52578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600"/>
          </a:p>
        </p:txBody>
      </p:sp>
      <p:sp>
        <p:nvSpPr>
          <p:cNvPr id="5" name="TextBox 4">
            <a:extLst>
              <a:ext uri="{FF2B5EF4-FFF2-40B4-BE49-F238E27FC236}">
                <a16:creationId xmlns:a16="http://schemas.microsoft.com/office/drawing/2014/main" id="{F6412937-F6B0-4880-CB2E-8106D05CFF45}"/>
              </a:ext>
            </a:extLst>
          </p:cNvPr>
          <p:cNvSpPr txBox="1"/>
          <p:nvPr/>
        </p:nvSpPr>
        <p:spPr>
          <a:xfrm>
            <a:off x="487135" y="599011"/>
            <a:ext cx="11217729" cy="5632311"/>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pPr>
            <a:r>
              <a:rPr lang="en-US" sz="1200"/>
              <a:t>Asia for Educators, C. U. (n.d.). </a:t>
            </a:r>
            <a:r>
              <a:rPr lang="en-US" sz="1200" i="1"/>
              <a:t>China in 1000 CE</a:t>
            </a:r>
            <a:r>
              <a:rPr lang="en-US" sz="1200"/>
              <a:t>. Song Dynasty China | Asia for Educators. </a:t>
            </a:r>
            <a:r>
              <a:rPr lang="en-US" sz="1200">
                <a:hlinkClick r:id="rId2"/>
              </a:rPr>
              <a:t>https://afe.easia.columbia.edu/songdynasty-module/econ-rev-iron-steel.html</a:t>
            </a:r>
            <a:r>
              <a:rPr lang="en-US" sz="1200"/>
              <a:t> (slide 5)</a:t>
            </a:r>
          </a:p>
          <a:p>
            <a:pPr marL="171450" indent="-171450">
              <a:buFont typeface="Arial" panose="020B0604020202020204" pitchFamily="34" charset="0"/>
              <a:buChar char="•"/>
            </a:pPr>
            <a:r>
              <a:rPr lang="en-US" sz="1200">
                <a:ea typeface="Roboto"/>
                <a:cs typeface="Roboto"/>
              </a:rPr>
              <a:t>AMC. (2025, Mar 5). </a:t>
            </a:r>
            <a:r>
              <a:rPr lang="en-US" sz="1200" i="1">
                <a:ea typeface="Roboto"/>
                <a:cs typeface="Roboto"/>
              </a:rPr>
              <a:t>What is stainless steel 316? uses, grades, and composition. </a:t>
            </a:r>
            <a:r>
              <a:rPr lang="en-US" sz="1200">
                <a:ea typeface="Roboto"/>
                <a:cs typeface="Roboto"/>
              </a:rPr>
              <a:t>Amardeep Steel Centre. </a:t>
            </a:r>
            <a:r>
              <a:rPr lang="en-US" sz="1200">
                <a:solidFill>
                  <a:srgbClr val="0066CC"/>
                </a:solidFill>
                <a:ea typeface="Roboto"/>
                <a:cs typeface="Roboto"/>
                <a:hlinkClick r:id="rId3"/>
              </a:rPr>
              <a:t>https://www.amardeepsteel.com/blog/what-is-stainless-steel-316-uses-grades-and-composition.html</a:t>
            </a:r>
            <a:r>
              <a:rPr lang="en-US" sz="1200">
                <a:ea typeface="Roboto"/>
                <a:cs typeface="Roboto"/>
              </a:rPr>
              <a:t> </a:t>
            </a:r>
            <a:r>
              <a:rPr lang="en-US" sz="1200"/>
              <a:t>(slide 39)</a:t>
            </a:r>
          </a:p>
          <a:p>
            <a:pPr marL="171450" indent="-171450">
              <a:buFont typeface="Arial" panose="020B0604020202020204" pitchFamily="34" charset="0"/>
              <a:buChar char="•"/>
            </a:pPr>
            <a:r>
              <a:rPr lang="en-US" sz="1200" i="1">
                <a:ea typeface="Roboto"/>
                <a:cs typeface="Roboto"/>
              </a:rPr>
              <a:t>Benefits of operating within special economic zones</a:t>
            </a:r>
            <a:r>
              <a:rPr lang="en-US" sz="1200">
                <a:ea typeface="Roboto"/>
                <a:cs typeface="Roboto"/>
              </a:rPr>
              <a:t> (2025). </a:t>
            </a:r>
            <a:r>
              <a:rPr lang="en-US" sz="1200" err="1">
                <a:ea typeface="Roboto"/>
                <a:cs typeface="Roboto"/>
              </a:rPr>
              <a:t>investSA</a:t>
            </a:r>
            <a:r>
              <a:rPr lang="en-US" sz="1200">
                <a:ea typeface="Roboto"/>
                <a:cs typeface="Roboto"/>
              </a:rPr>
              <a:t>. </a:t>
            </a:r>
            <a:r>
              <a:rPr lang="en-US" sz="1200">
                <a:solidFill>
                  <a:srgbClr val="0066CC"/>
                </a:solidFill>
                <a:ea typeface="Roboto"/>
                <a:cs typeface="Roboto"/>
                <a:hlinkClick r:id="rId4"/>
              </a:rPr>
              <a:t>https://www.investsa.gov.za/special-economic-zones/</a:t>
            </a:r>
            <a:r>
              <a:rPr lang="en-US" sz="1200">
                <a:ea typeface="Roboto"/>
                <a:cs typeface="Roboto"/>
              </a:rPr>
              <a:t> (slide 39)</a:t>
            </a:r>
          </a:p>
          <a:p>
            <a:pPr marL="171450" indent="-171450">
              <a:buFont typeface="Arial" panose="020B0604020202020204" pitchFamily="34" charset="0"/>
              <a:buChar char="•"/>
            </a:pPr>
            <a:r>
              <a:rPr lang="en-US" sz="1200" i="1" err="1">
                <a:ea typeface="Roboto"/>
                <a:cs typeface="Roboto"/>
              </a:rPr>
              <a:t>Cemza</a:t>
            </a:r>
            <a:r>
              <a:rPr lang="en-US" sz="1200" i="1">
                <a:ea typeface="Roboto"/>
                <a:cs typeface="Roboto"/>
              </a:rPr>
              <a:t> cement products</a:t>
            </a:r>
            <a:r>
              <a:rPr lang="en-US" sz="1200">
                <a:ea typeface="Roboto"/>
                <a:cs typeface="Roboto"/>
              </a:rPr>
              <a:t> (2025). </a:t>
            </a:r>
            <a:r>
              <a:rPr lang="en-US" sz="1200" err="1">
                <a:ea typeface="Roboto"/>
                <a:cs typeface="Roboto"/>
              </a:rPr>
              <a:t>Cemza</a:t>
            </a:r>
            <a:r>
              <a:rPr lang="en-US" sz="1200">
                <a:ea typeface="Roboto"/>
                <a:cs typeface="Roboto"/>
              </a:rPr>
              <a:t> Engineered Cement. </a:t>
            </a:r>
            <a:r>
              <a:rPr lang="en-US" sz="1200">
                <a:solidFill>
                  <a:srgbClr val="0066CC"/>
                </a:solidFill>
                <a:ea typeface="Roboto"/>
                <a:cs typeface="Roboto"/>
                <a:hlinkClick r:id="rId5"/>
              </a:rPr>
              <a:t>https://cemza.co/cement-products/</a:t>
            </a:r>
            <a:r>
              <a:rPr lang="en-US" sz="1200">
                <a:ea typeface="Roboto"/>
                <a:cs typeface="Roboto"/>
              </a:rPr>
              <a:t> (slide 39)</a:t>
            </a:r>
            <a:endParaRPr lang="en-US" sz="1200"/>
          </a:p>
          <a:p>
            <a:pPr marL="171450" indent="-171450">
              <a:buFont typeface="Arial" panose="020B0604020202020204" pitchFamily="34" charset="0"/>
              <a:buChar char="•"/>
            </a:pPr>
            <a:r>
              <a:rPr lang="en-US" sz="1200"/>
              <a:t>Henry Bessemer | Biography, inventions, &amp; facts | </a:t>
            </a:r>
            <a:r>
              <a:rPr lang="en-US" sz="1200" err="1"/>
              <a:t>britannica</a:t>
            </a:r>
            <a:r>
              <a:rPr lang="en-US" sz="1200"/>
              <a:t>. (n.d.-a). </a:t>
            </a:r>
            <a:r>
              <a:rPr lang="en-US" sz="1200">
                <a:hlinkClick r:id="rId6"/>
              </a:rPr>
              <a:t>https://www.britannica.com/biography/Henry-Bessemer</a:t>
            </a:r>
            <a:r>
              <a:rPr lang="en-US" sz="1200"/>
              <a:t> (slide 4)</a:t>
            </a:r>
          </a:p>
          <a:p>
            <a:pPr marL="171450" indent="-171450">
              <a:buFont typeface="Arial" panose="020B0604020202020204" pitchFamily="34" charset="0"/>
              <a:buChar char="•"/>
            </a:pPr>
            <a:r>
              <a:rPr lang="en-US" sz="1200" i="1">
                <a:ea typeface="Roboto"/>
                <a:cs typeface="Roboto"/>
              </a:rPr>
              <a:t>Iron ore production in south </a:t>
            </a:r>
            <a:r>
              <a:rPr lang="en-US" sz="1200" i="1" err="1">
                <a:ea typeface="Roboto"/>
                <a:cs typeface="Roboto"/>
              </a:rPr>
              <a:t>africa</a:t>
            </a:r>
            <a:r>
              <a:rPr lang="en-US" sz="1200" i="1">
                <a:ea typeface="Roboto"/>
                <a:cs typeface="Roboto"/>
              </a:rPr>
              <a:t> and major projects</a:t>
            </a:r>
            <a:r>
              <a:rPr lang="en-US" sz="1200">
                <a:ea typeface="Roboto"/>
                <a:cs typeface="Roboto"/>
              </a:rPr>
              <a:t> (2024, Aug 23). Mining Technology. </a:t>
            </a:r>
            <a:r>
              <a:rPr lang="en-US" sz="1200">
                <a:solidFill>
                  <a:srgbClr val="0066CC"/>
                </a:solidFill>
                <a:ea typeface="Roboto"/>
                <a:cs typeface="Roboto"/>
                <a:hlinkClick r:id="rId7"/>
              </a:rPr>
              <a:t>https://www.mining-technology.com/data-insights/iron-ore-in-south-africa/?cf-view</a:t>
            </a:r>
            <a:r>
              <a:rPr lang="en-US" sz="1200">
                <a:ea typeface="Roboto"/>
                <a:cs typeface="Roboto"/>
              </a:rPr>
              <a:t> (slide 39)</a:t>
            </a:r>
            <a:endParaRPr lang="en-US" sz="1200"/>
          </a:p>
          <a:p>
            <a:pPr marL="171450" indent="-171450">
              <a:buFont typeface="Arial" panose="020B0604020202020204" pitchFamily="34" charset="0"/>
              <a:buChar char="•"/>
            </a:pPr>
            <a:r>
              <a:rPr lang="en-US" sz="1200" err="1"/>
              <a:t>Kadezabek</a:t>
            </a:r>
            <a:r>
              <a:rPr lang="en-US" sz="1200"/>
              <a:t>, S. (2025, June 11). </a:t>
            </a:r>
            <a:r>
              <a:rPr lang="en-US" sz="1200" i="1"/>
              <a:t>History of steel: Ancient invention to modern innovations</a:t>
            </a:r>
            <a:r>
              <a:rPr lang="en-US" sz="1200"/>
              <a:t>. Service Steel Warehouse. </a:t>
            </a:r>
            <a:r>
              <a:rPr lang="en-US" sz="1200">
                <a:hlinkClick r:id="rId8"/>
              </a:rPr>
              <a:t>https://www.servicesteel.org/resources/history-of-steel</a:t>
            </a:r>
            <a:r>
              <a:rPr lang="en-US" sz="1200"/>
              <a:t> (slide 5)</a:t>
            </a:r>
          </a:p>
          <a:p>
            <a:pPr marL="171450" indent="-171450">
              <a:buFont typeface="Arial" panose="020B0604020202020204" pitchFamily="34" charset="0"/>
              <a:buChar char="•"/>
            </a:pPr>
            <a:r>
              <a:rPr lang="en-US" sz="1200"/>
              <a:t>Materials processing | definition, examples, types, &amp; facts | </a:t>
            </a:r>
            <a:r>
              <a:rPr lang="en-US" sz="1200" err="1"/>
              <a:t>britannica</a:t>
            </a:r>
            <a:r>
              <a:rPr lang="en-US" sz="1200"/>
              <a:t>. (n.d.-c). </a:t>
            </a:r>
            <a:r>
              <a:rPr lang="en-US" sz="1200">
                <a:hlinkClick r:id="rId9"/>
              </a:rPr>
              <a:t>https://www.britannica.com/technology/materials-processing</a:t>
            </a:r>
            <a:r>
              <a:rPr lang="en-US" sz="1200"/>
              <a:t> (slide 3)</a:t>
            </a:r>
          </a:p>
          <a:p>
            <a:pPr marL="171450" indent="-171450">
              <a:buFont typeface="Arial" panose="020B0604020202020204" pitchFamily="34" charset="0"/>
              <a:buChar char="•"/>
            </a:pPr>
            <a:r>
              <a:rPr lang="en-US" sz="1200" i="1"/>
              <a:t>Maximizing efficiency and safety in pharmaceutical research and manufacturing with Stainless Steel</a:t>
            </a:r>
            <a:r>
              <a:rPr lang="en-US" sz="1200"/>
              <a:t>. The Stainless Steel Solution: Enhancing Pharmaceutical Manufacturing and Research Safety. (n.d.). </a:t>
            </a:r>
            <a:r>
              <a:rPr lang="en-US" sz="1200">
                <a:hlinkClick r:id="rId10"/>
              </a:rPr>
              <a:t>https://www.unifiedalloys.com/blog/stainless-steel-benefits-pharma</a:t>
            </a:r>
            <a:r>
              <a:rPr lang="en-US" sz="1200"/>
              <a:t>  (slide 6)</a:t>
            </a:r>
          </a:p>
          <a:p>
            <a:pPr marL="171450" indent="-171450">
              <a:buFont typeface="Arial" panose="020B0604020202020204" pitchFamily="34" charset="0"/>
              <a:buChar char="•"/>
            </a:pPr>
            <a:r>
              <a:rPr lang="en-US" sz="1200"/>
              <a:t>Metallurgy - iron, steel, alloy | </a:t>
            </a:r>
            <a:r>
              <a:rPr lang="en-US" sz="1200" err="1"/>
              <a:t>britannica</a:t>
            </a:r>
            <a:r>
              <a:rPr lang="en-US" sz="1200"/>
              <a:t>. (n.d.-d). </a:t>
            </a:r>
            <a:r>
              <a:rPr lang="en-US" sz="1200">
                <a:hlinkClick r:id="rId11"/>
              </a:rPr>
              <a:t>https://www.britannica.com/science/metallurgy/Ferrous-metals</a:t>
            </a:r>
            <a:r>
              <a:rPr lang="en-US" sz="1200"/>
              <a:t> (slide 4)</a:t>
            </a:r>
          </a:p>
          <a:p>
            <a:pPr marL="171450" indent="-171450">
              <a:buFont typeface="Arial" panose="020B0604020202020204" pitchFamily="34" charset="0"/>
              <a:buChar char="•"/>
            </a:pPr>
            <a:r>
              <a:rPr lang="en-US" sz="1200"/>
              <a:t>Metals, A. (2023, July 18). </a:t>
            </a:r>
            <a:r>
              <a:rPr lang="en-US" sz="1200" i="1"/>
              <a:t>Why 316 stainless steel is optimal for Food Processing Equipment</a:t>
            </a:r>
            <a:r>
              <a:rPr lang="en-US" sz="1200"/>
              <a:t>. Alliant Metals Inc. </a:t>
            </a:r>
            <a:r>
              <a:rPr lang="en-US" sz="1200">
                <a:hlinkClick r:id="rId12"/>
              </a:rPr>
              <a:t>https://alliantmetals.com/316-stainless-steel-the-optimum-choice-food-processing/</a:t>
            </a:r>
            <a:r>
              <a:rPr lang="en-US" sz="1200"/>
              <a:t> (slide 6)</a:t>
            </a:r>
          </a:p>
          <a:p>
            <a:pPr marL="171450" indent="-171450">
              <a:buFont typeface="Arial" panose="020B0604020202020204" pitchFamily="34" charset="0"/>
              <a:buChar char="•"/>
            </a:pPr>
            <a:r>
              <a:rPr lang="en-US" sz="1200" i="1">
                <a:ea typeface="Roboto"/>
                <a:cs typeface="Roboto"/>
              </a:rPr>
              <a:t>SEZ investments</a:t>
            </a:r>
            <a:r>
              <a:rPr lang="en-US" sz="1200">
                <a:ea typeface="Roboto"/>
                <a:cs typeface="Roboto"/>
              </a:rPr>
              <a:t> (2025). COEGA. </a:t>
            </a:r>
            <a:r>
              <a:rPr lang="en-US" sz="1200">
                <a:solidFill>
                  <a:srgbClr val="0066CC"/>
                </a:solidFill>
                <a:ea typeface="Roboto"/>
                <a:cs typeface="Roboto"/>
                <a:hlinkClick r:id="rId13"/>
              </a:rPr>
              <a:t>https://www.coega.co.za/site/sez-investments</a:t>
            </a:r>
            <a:r>
              <a:rPr lang="en-US" sz="1200">
                <a:ea typeface="Roboto"/>
                <a:cs typeface="Roboto"/>
              </a:rPr>
              <a:t> (slide 39)</a:t>
            </a:r>
          </a:p>
          <a:p>
            <a:pPr marL="171450" indent="-171450">
              <a:buFont typeface="Arial" panose="020B0604020202020204" pitchFamily="34" charset="0"/>
              <a:buChar char="•"/>
            </a:pPr>
            <a:r>
              <a:rPr lang="en-US" sz="1200" i="1">
                <a:ea typeface="Roboto"/>
                <a:cs typeface="Roboto"/>
              </a:rPr>
              <a:t>South </a:t>
            </a:r>
            <a:r>
              <a:rPr lang="en-US" sz="1200" i="1" err="1">
                <a:ea typeface="Roboto"/>
                <a:cs typeface="Roboto"/>
              </a:rPr>
              <a:t>africa</a:t>
            </a:r>
            <a:r>
              <a:rPr lang="en-US" sz="1200" i="1">
                <a:ea typeface="Roboto"/>
                <a:cs typeface="Roboto"/>
              </a:rPr>
              <a:t> exports by country</a:t>
            </a:r>
            <a:r>
              <a:rPr lang="en-US" sz="1200">
                <a:ea typeface="Roboto"/>
                <a:cs typeface="Roboto"/>
              </a:rPr>
              <a:t> (2025). </a:t>
            </a:r>
            <a:r>
              <a:rPr lang="en-US" sz="1200">
                <a:solidFill>
                  <a:srgbClr val="0066CC"/>
                </a:solidFill>
                <a:ea typeface="Roboto"/>
                <a:cs typeface="Roboto"/>
                <a:hlinkClick r:id="rId14"/>
              </a:rPr>
              <a:t>https://tradingeconomics.com/south-africa/exports-by-country</a:t>
            </a:r>
            <a:r>
              <a:rPr lang="en-US" sz="1200">
                <a:ea typeface="Roboto"/>
                <a:cs typeface="Roboto"/>
              </a:rPr>
              <a:t> (slide 39)</a:t>
            </a:r>
            <a:endParaRPr lang="en-US" sz="1200"/>
          </a:p>
          <a:p>
            <a:pPr marL="171450" indent="-171450">
              <a:buFont typeface="Arial" panose="020B0604020202020204" pitchFamily="34" charset="0"/>
              <a:buChar char="•"/>
            </a:pPr>
            <a:r>
              <a:rPr lang="en-US" sz="1200"/>
              <a:t>Srinivasan, S. (n.d.). </a:t>
            </a:r>
            <a:r>
              <a:rPr lang="en-US" sz="1200" i="1"/>
              <a:t>Wootz Steel: An Advanced Material of the Ancient World</a:t>
            </a:r>
            <a:r>
              <a:rPr lang="en-US" sz="1200"/>
              <a:t>. Wootz Steel: An advanced material of the Ancient World. </a:t>
            </a:r>
            <a:r>
              <a:rPr lang="en-US" sz="1200">
                <a:hlinkClick r:id="rId15"/>
              </a:rPr>
              <a:t>https://dtrinkle.matse.illinois.edu/MatSE584/articles/wootz_advanced_material/wootz_steel.html</a:t>
            </a:r>
            <a:r>
              <a:rPr lang="en-US" sz="1200"/>
              <a:t> (slide 5)</a:t>
            </a:r>
          </a:p>
          <a:p>
            <a:pPr marL="171450" indent="-171450">
              <a:buFont typeface="Arial" panose="020B0604020202020204" pitchFamily="34" charset="0"/>
              <a:buChar char="•"/>
            </a:pPr>
            <a:r>
              <a:rPr lang="en-US" sz="1200" i="1"/>
              <a:t>Stainless steel use in marine applications</a:t>
            </a:r>
            <a:r>
              <a:rPr lang="en-US" sz="1200"/>
              <a:t>. Stainless Steel Use in Marine Application - Unified Alloys. (n.d.). </a:t>
            </a:r>
            <a:r>
              <a:rPr lang="en-US" sz="1200">
                <a:hlinkClick r:id="rId16"/>
              </a:rPr>
              <a:t>https://www.unifiedalloys.com/blog/stainless-steel-marine-applications</a:t>
            </a:r>
            <a:r>
              <a:rPr lang="en-US" sz="1200"/>
              <a:t>  (slide 6)</a:t>
            </a:r>
          </a:p>
          <a:p>
            <a:pPr marL="171450" indent="-171450">
              <a:buFont typeface="Arial" panose="020B0604020202020204" pitchFamily="34" charset="0"/>
              <a:buChar char="•"/>
            </a:pPr>
            <a:r>
              <a:rPr lang="en-US" sz="1200"/>
              <a:t>Stone-working and the earliest steel in Iberia: Scientific analyses and experimental replications of Final bronze age stelae and tools - </a:t>
            </a:r>
            <a:r>
              <a:rPr lang="en-US" sz="1200" err="1"/>
              <a:t>sciencedirect</a:t>
            </a:r>
            <a:r>
              <a:rPr lang="en-US" sz="1200"/>
              <a:t>. (n.d.-e). </a:t>
            </a:r>
            <a:r>
              <a:rPr lang="en-US" sz="1200">
                <a:hlinkClick r:id="rId17"/>
              </a:rPr>
              <a:t>https://www.sciencedirect.com/science/article/abs/pii/S0305440323000201</a:t>
            </a:r>
            <a:r>
              <a:rPr lang="en-US" sz="1200"/>
              <a:t> (slide 5)</a:t>
            </a:r>
          </a:p>
          <a:p>
            <a:pPr marL="171450" indent="-171450">
              <a:buFont typeface="Arial" panose="020B0604020202020204" pitchFamily="34" charset="0"/>
              <a:buChar char="•"/>
            </a:pPr>
            <a:r>
              <a:rPr lang="en-US" sz="1200" i="1"/>
              <a:t>What is stainless steel 316?: Uses, grades, and composition</a:t>
            </a:r>
            <a:r>
              <a:rPr lang="en-US" sz="1200"/>
              <a:t>. What is Stainless Steel 316?: Uses, Grades, and Composition. (n.d.). </a:t>
            </a:r>
            <a:r>
              <a:rPr lang="en-US" sz="1200">
                <a:hlinkClick r:id="rId3"/>
              </a:rPr>
              <a:t>https://www.amardeepsteel.com/blog/what-is-stainless-steel-316-uses-grades-and-composition.html</a:t>
            </a:r>
            <a:r>
              <a:rPr lang="en-US" sz="1200"/>
              <a:t>  (slide 6)</a:t>
            </a:r>
          </a:p>
          <a:p>
            <a:pPr marL="171450" indent="-171450">
              <a:buFont typeface="Arial" panose="020B0604020202020204" pitchFamily="34" charset="0"/>
              <a:buChar char="•"/>
            </a:pPr>
            <a:r>
              <a:rPr lang="en-US" sz="1200"/>
              <a:t>Wikimedia Foundation. (2025a, April 18). </a:t>
            </a:r>
            <a:r>
              <a:rPr lang="en-US" sz="1200" i="1"/>
              <a:t>Robert Durrer</a:t>
            </a:r>
            <a:r>
              <a:rPr lang="en-US" sz="1200"/>
              <a:t>. Wikipedia. </a:t>
            </a:r>
            <a:r>
              <a:rPr lang="en-US" sz="1200">
                <a:hlinkClick r:id="rId18"/>
              </a:rPr>
              <a:t>https://en.wikipedia.org/wiki/Robert_Durrer</a:t>
            </a:r>
            <a:r>
              <a:rPr lang="en-US" sz="1200"/>
              <a:t> (slide 4)   </a:t>
            </a:r>
          </a:p>
          <a:p>
            <a:pPr marL="171450" indent="-171450">
              <a:buFont typeface="Arial" panose="020B0604020202020204" pitchFamily="34" charset="0"/>
              <a:buChar char="•"/>
            </a:pPr>
            <a:r>
              <a:rPr lang="en-US" sz="1200"/>
              <a:t>Wikimedia Foundation. (2025b, October 27). </a:t>
            </a:r>
            <a:r>
              <a:rPr lang="en-US" sz="1200" i="1"/>
              <a:t>Wootz Steel</a:t>
            </a:r>
            <a:r>
              <a:rPr lang="en-US" sz="1200"/>
              <a:t>. Wikipedia. </a:t>
            </a:r>
            <a:r>
              <a:rPr lang="en-US" sz="1200">
                <a:hlinkClick r:id="rId19"/>
              </a:rPr>
              <a:t>https://en.wikipedia.org/wiki/Wootz_steel</a:t>
            </a:r>
            <a:r>
              <a:rPr lang="en-US" sz="1200"/>
              <a:t>  (slide 5)</a:t>
            </a:r>
          </a:p>
          <a:p>
            <a:pPr marL="171450" indent="-171450">
              <a:buFont typeface="Arial" panose="020B0604020202020204" pitchFamily="34" charset="0"/>
              <a:buChar char="•"/>
            </a:pPr>
            <a:r>
              <a:rPr lang="en-US" sz="1200" err="1"/>
              <a:t>WorldAtlas</a:t>
            </a:r>
            <a:r>
              <a:rPr lang="en-US" sz="1200"/>
              <a:t>. (2021, February 25). </a:t>
            </a:r>
            <a:r>
              <a:rPr lang="en-US" sz="1200" i="1"/>
              <a:t>Austria Maps &amp; Facts</a:t>
            </a:r>
            <a:r>
              <a:rPr lang="en-US" sz="1200"/>
              <a:t>. </a:t>
            </a:r>
            <a:r>
              <a:rPr lang="en-US" sz="1200">
                <a:hlinkClick r:id="rId20"/>
              </a:rPr>
              <a:t>https://www.worldatlas.com/maps/austria</a:t>
            </a:r>
            <a:r>
              <a:rPr lang="en-US" sz="1200"/>
              <a:t> (slide 3) </a:t>
            </a:r>
          </a:p>
        </p:txBody>
      </p:sp>
    </p:spTree>
    <p:extLst>
      <p:ext uri="{BB962C8B-B14F-4D97-AF65-F5344CB8AC3E}">
        <p14:creationId xmlns:p14="http://schemas.microsoft.com/office/powerpoint/2010/main" val="1647936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4A557CA1C696B4FB7CF2AEB8CE13A51" ma:contentTypeVersion="6" ma:contentTypeDescription="Create a new document." ma:contentTypeScope="" ma:versionID="388168c0959e6b490edb02146d74a7fb">
  <xsd:schema xmlns:xsd="http://www.w3.org/2001/XMLSchema" xmlns:xs="http://www.w3.org/2001/XMLSchema" xmlns:p="http://schemas.microsoft.com/office/2006/metadata/properties" xmlns:ns3="d93ffbf1-7f85-49bf-96ee-6adcaf52f9c2" targetNamespace="http://schemas.microsoft.com/office/2006/metadata/properties" ma:root="true" ma:fieldsID="833d1ce8525601e6e37d6f1de57438d9" ns3:_="">
    <xsd:import namespace="d93ffbf1-7f85-49bf-96ee-6adcaf52f9c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3ffbf1-7f85-49bf-96ee-6adcaf52f9c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93ffbf1-7f85-49bf-96ee-6adcaf52f9c2" xsi:nil="true"/>
  </documentManagement>
</p:properties>
</file>

<file path=customXml/itemProps1.xml><?xml version="1.0" encoding="utf-8"?>
<ds:datastoreItem xmlns:ds="http://schemas.openxmlformats.org/officeDocument/2006/customXml" ds:itemID="{2CDB92A3-0B50-47E3-A19C-82372A163A7F}">
  <ds:schemaRefs>
    <ds:schemaRef ds:uri="d93ffbf1-7f85-49bf-96ee-6adcaf52f9c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C4E22D3-7C6B-4ECD-A556-F64B05CFDCAE}">
  <ds:schemaRefs>
    <ds:schemaRef ds:uri="http://schemas.microsoft.com/sharepoint/v3/contenttype/forms"/>
  </ds:schemaRefs>
</ds:datastoreItem>
</file>

<file path=customXml/itemProps3.xml><?xml version="1.0" encoding="utf-8"?>
<ds:datastoreItem xmlns:ds="http://schemas.openxmlformats.org/officeDocument/2006/customXml" ds:itemID="{0B7EC211-2B25-449D-B195-866906523A52}">
  <ds:schemaRefs>
    <ds:schemaRef ds:uri="d93ffbf1-7f85-49bf-96ee-6adcaf52f9c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4016</Words>
  <Application>Microsoft Office PowerPoint</Application>
  <PresentationFormat>Widescreen</PresentationFormat>
  <Paragraphs>1047</Paragraphs>
  <Slides>42</Slides>
  <Notes>22</Notes>
  <HiddenSlides>3</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Linz-Donawitz Process  (for SS316, at 98% Purity)</vt:lpstr>
      <vt:lpstr>Background &amp; Relevance</vt:lpstr>
      <vt:lpstr>Linz-Donawitz (LD) Process History</vt:lpstr>
      <vt:lpstr>PowerPoint Presentation</vt:lpstr>
      <vt:lpstr>Steel History: in General</vt:lpstr>
      <vt:lpstr>Stainless Steel SS316 </vt:lpstr>
      <vt:lpstr>Reaction Process</vt:lpstr>
      <vt:lpstr>Problem Statement</vt:lpstr>
      <vt:lpstr>Assumptions</vt:lpstr>
      <vt:lpstr>Mass Balance</vt:lpstr>
      <vt:lpstr>Chemical Equations</vt:lpstr>
      <vt:lpstr>Composition of Pig Iron Impurities During Reaction</vt:lpstr>
      <vt:lpstr>Recycle Ratio</vt:lpstr>
      <vt:lpstr>PowerPoint Presentation</vt:lpstr>
      <vt:lpstr>Reagent Breakdown</vt:lpstr>
      <vt:lpstr>PowerPoint Presentation</vt:lpstr>
      <vt:lpstr>Stream Compositions</vt:lpstr>
      <vt:lpstr>PowerPoint Presentation</vt:lpstr>
      <vt:lpstr>Energy Balance</vt:lpstr>
      <vt:lpstr>PowerPoint Presentation</vt:lpstr>
      <vt:lpstr>Assumptions</vt:lpstr>
      <vt:lpstr>Energy Balance</vt:lpstr>
      <vt:lpstr>Energy Balance</vt:lpstr>
      <vt:lpstr>Energy Balance</vt:lpstr>
      <vt:lpstr>Energy Balance</vt:lpstr>
      <vt:lpstr>Energy Balance</vt:lpstr>
      <vt:lpstr>Energy Balance</vt:lpstr>
      <vt:lpstr>Energy Balance</vt:lpstr>
      <vt:lpstr>Energy Balance</vt:lpstr>
      <vt:lpstr>PowerPoint Presentation</vt:lpstr>
      <vt:lpstr>Energy Balance</vt:lpstr>
      <vt:lpstr>Energy Balance</vt:lpstr>
      <vt:lpstr>Energy Balance</vt:lpstr>
      <vt:lpstr>Energy Balance</vt:lpstr>
      <vt:lpstr>Atom &amp; Process Economy</vt:lpstr>
      <vt:lpstr>Atom Economy Calculations</vt:lpstr>
      <vt:lpstr>Process Economy Calculations</vt:lpstr>
      <vt:lpstr>Real Life Applications</vt:lpstr>
      <vt:lpstr>Location</vt:lpstr>
      <vt:lpstr>Ideal Profit</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Logan Kuhn</dc:creator>
  <cp:lastModifiedBy>Robinson Bui</cp:lastModifiedBy>
  <cp:revision>4</cp:revision>
  <dcterms:created xsi:type="dcterms:W3CDTF">2025-11-03T19:56:20Z</dcterms:created>
  <dcterms:modified xsi:type="dcterms:W3CDTF">2025-12-23T04:58:32Z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0x01010074A557CA1C696B4FB7CF2AEB8CE13A51</vt:lpwstr>
  </property>
</Properties>
</file>